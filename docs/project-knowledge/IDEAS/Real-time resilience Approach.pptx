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0"/>
  </p:notesMasterIdLst>
  <p:sldIdLst>
    <p:sldId id="263" r:id="rId5"/>
    <p:sldId id="2145706674" r:id="rId6"/>
    <p:sldId id="2145706672" r:id="rId7"/>
    <p:sldId id="2145706673" r:id="rId8"/>
    <p:sldId id="2145706676" r:id="rId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4"/>
            <p14:sldId id="2145706672"/>
            <p14:sldId id="2145706673"/>
            <p14:sldId id="2145706676"/>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C9604C-A4DE-4999-B156-E9B11E5C96F1}" v="2" dt="2026-03-31T05:19:28.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solidFill>
            </a:endParaRPr>
          </a:p>
          <a:p>
            <a:pPr algn="ctr"/>
            <a:endParaRPr lang="en-US" sz="1000" dirty="0">
              <a:solidFill>
                <a:schemeClr val="tx1"/>
              </a:solidFill>
            </a:endParaRPr>
          </a:p>
          <a:p>
            <a:pPr algn="ctr"/>
            <a:endParaRPr lang="en-US" sz="1000" dirty="0">
              <a:solidFill>
                <a:schemeClr val="tx1"/>
              </a:solidFill>
            </a:endParaRPr>
          </a:p>
          <a:p>
            <a:pPr algn="ctr"/>
            <a:endParaRPr lang="en-US" sz="1000" dirty="0">
              <a:solidFill>
                <a:schemeClr val="tx1"/>
              </a:solidFill>
            </a:endParaRPr>
          </a:p>
          <a:p>
            <a:endParaRPr lang="en-US" sz="1000" dirty="0">
              <a:solidFill>
                <a:schemeClr val="tx1"/>
              </a:solidFill>
            </a:endParaRPr>
          </a:p>
          <a:p>
            <a:r>
              <a:rPr lang="en-US" sz="1000" dirty="0">
                <a:solidFill>
                  <a:schemeClr val="tx1"/>
                </a:solidFill>
              </a:rPr>
              <a:t>Control Room Team, </a:t>
            </a:r>
          </a:p>
          <a:p>
            <a:r>
              <a:rPr lang="en-US" sz="1000" dirty="0">
                <a:solidFill>
                  <a:schemeClr val="tx1"/>
                </a:solidFill>
              </a:rPr>
              <a:t>Engineering &amp; Planning,</a:t>
            </a:r>
          </a:p>
          <a:p>
            <a:r>
              <a:rPr lang="en-US" sz="1000" dirty="0">
                <a:solidFill>
                  <a:schemeClr val="tx1"/>
                </a:solidFill>
              </a:rPr>
              <a:t> Field Operations,</a:t>
            </a:r>
          </a:p>
          <a:p>
            <a:r>
              <a:rPr lang="en-US" sz="1000" dirty="0">
                <a:solidFill>
                  <a:schemeClr val="tx1"/>
                </a:solidFill>
              </a:rPr>
              <a:t>DER Ecosystem,</a:t>
            </a:r>
          </a:p>
          <a:p>
            <a:r>
              <a:rPr lang="en-US" sz="1000" dirty="0">
                <a:solidFill>
                  <a:schemeClr val="tx1"/>
                </a:solidFill>
              </a:rPr>
              <a:t> IT &amp; Digital, </a:t>
            </a:r>
          </a:p>
          <a:p>
            <a:r>
              <a:rPr lang="en-US" sz="1000" dirty="0">
                <a:solidFill>
                  <a:schemeClr val="tx1"/>
                </a:solidFill>
              </a:rPr>
              <a:t>Regulatory &amp; Business,</a:t>
            </a:r>
          </a:p>
          <a:p>
            <a:r>
              <a:rPr lang="en-US" sz="1000" dirty="0">
                <a:solidFill>
                  <a:schemeClr val="tx1"/>
                </a:solidFill>
              </a:rPr>
              <a:t>Consumers &amp; Partners</a:t>
            </a:r>
          </a:p>
          <a:p>
            <a:pPr algn="ctr"/>
            <a:endParaRPr lang="en-US" sz="1000" dirty="0">
              <a:solidFill>
                <a:schemeClr val="tx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355822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10176915" y="3566696"/>
            <a:ext cx="1209283" cy="263791"/>
          </a:xfrm>
          <a:prstGeom prst="rect">
            <a:avLst/>
          </a:prstGeom>
          <a:noFill/>
        </p:spPr>
        <p:txBody>
          <a:bodyPr vert="horz" wrap="none" lIns="90000" tIns="46800" rIns="90000" bIns="46800" rtlCol="0" anchor="ctr">
            <a:spAutoFit/>
          </a:bodyPr>
          <a:lstStyle/>
          <a:p>
            <a:pPr algn="l">
              <a:spcBef>
                <a:spcPct val="0"/>
              </a:spcBef>
            </a:pPr>
            <a:r>
              <a:rPr lang="en-US" sz="1100" dirty="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2" name="TextBox 1">
            <a:extLst>
              <a:ext uri="{FF2B5EF4-FFF2-40B4-BE49-F238E27FC236}">
                <a16:creationId xmlns:a16="http://schemas.microsoft.com/office/drawing/2014/main" id="{EED64611-FB7F-70E6-AD35-A2731391FC7B}"/>
              </a:ext>
            </a:extLst>
          </p:cNvPr>
          <p:cNvSpPr txBox="1"/>
          <p:nvPr/>
        </p:nvSpPr>
        <p:spPr>
          <a:xfrm>
            <a:off x="3671432" y="944883"/>
            <a:ext cx="2386467" cy="2156617"/>
          </a:xfrm>
          <a:prstGeom prst="rect">
            <a:avLst/>
          </a:prstGeom>
          <a:noFill/>
        </p:spPr>
        <p:txBody>
          <a:bodyPr vert="horz" wrap="square" lIns="90000" tIns="46800" rIns="90000" bIns="46800" rtlCol="0" anchor="ctr">
            <a:spAutoFit/>
          </a:bodyPr>
          <a:lstStyle/>
          <a:p>
            <a:endParaRPr lang="en-US" sz="1000" dirty="0"/>
          </a:p>
          <a:p>
            <a:r>
              <a:rPr lang="en-US" sz="1000" dirty="0"/>
              <a:t>Renewable volatility &amp; DER unpredictability</a:t>
            </a:r>
          </a:p>
          <a:p>
            <a:endParaRPr lang="en-US" sz="1000" dirty="0"/>
          </a:p>
          <a:p>
            <a:pPr marL="628650" lvl="1" indent="-171450">
              <a:buFont typeface="Arial" panose="020B0604020202020204" pitchFamily="34" charset="0"/>
              <a:buChar char="•"/>
            </a:pPr>
            <a:r>
              <a:rPr lang="en-US" sz="1000" dirty="0"/>
              <a:t>Operator overload &amp; manual processes</a:t>
            </a:r>
          </a:p>
          <a:p>
            <a:pPr marL="628650" lvl="1" indent="-171450">
              <a:buFont typeface="Arial" panose="020B0604020202020204" pitchFamily="34" charset="0"/>
              <a:buChar char="•"/>
            </a:pPr>
            <a:r>
              <a:rPr lang="en-US" sz="1000" dirty="0"/>
              <a:t>Slow contingency analysis &amp; lack of automation</a:t>
            </a:r>
          </a:p>
          <a:p>
            <a:pPr marL="628650" lvl="1" indent="-171450">
              <a:buFont typeface="Arial" panose="020B0604020202020204" pitchFamily="34" charset="0"/>
              <a:buChar char="•"/>
            </a:pPr>
            <a:r>
              <a:rPr lang="en-US" sz="1000" dirty="0"/>
              <a:t>High congestion, overloads &amp; voltage issues</a:t>
            </a:r>
          </a:p>
          <a:p>
            <a:pPr marL="628650" lvl="1" indent="-171450">
              <a:buFont typeface="Arial" panose="020B0604020202020204" pitchFamily="34" charset="0"/>
              <a:buChar char="•"/>
            </a:pPr>
            <a:r>
              <a:rPr lang="en-US" sz="1000" dirty="0"/>
              <a:t>Strict safety, compliance &amp; audit requirements</a:t>
            </a:r>
          </a:p>
          <a:p>
            <a:pPr algn="l">
              <a:spcBef>
                <a:spcPct val="0"/>
              </a:spcBef>
            </a:pPr>
            <a:endParaRPr lang="en-IN" sz="1400" dirty="0" err="1"/>
          </a:p>
        </p:txBody>
      </p:sp>
      <p:sp>
        <p:nvSpPr>
          <p:cNvPr id="3" name="TextBox 2">
            <a:extLst>
              <a:ext uri="{FF2B5EF4-FFF2-40B4-BE49-F238E27FC236}">
                <a16:creationId xmlns:a16="http://schemas.microsoft.com/office/drawing/2014/main" id="{5B727F2C-88FD-F0D4-F831-1BC0452B748E}"/>
              </a:ext>
            </a:extLst>
          </p:cNvPr>
          <p:cNvSpPr txBox="1"/>
          <p:nvPr/>
        </p:nvSpPr>
        <p:spPr>
          <a:xfrm>
            <a:off x="283134" y="4905877"/>
            <a:ext cx="2878993" cy="1325620"/>
          </a:xfrm>
          <a:prstGeom prst="rect">
            <a:avLst/>
          </a:prstGeom>
          <a:noFill/>
        </p:spPr>
        <p:txBody>
          <a:bodyPr vert="horz" wrap="square" lIns="90000" tIns="46800" rIns="90000" bIns="46800" rtlCol="0" anchor="ctr">
            <a:spAutoFit/>
          </a:bodyPr>
          <a:lstStyle/>
          <a:p>
            <a:r>
              <a:rPr lang="en-IN" sz="1000" dirty="0"/>
              <a:t>Telemetry ingestion (SCADA/EMS/PMU/DER)</a:t>
            </a:r>
          </a:p>
          <a:p>
            <a:pPr marL="628650" lvl="1" indent="-171450">
              <a:buFont typeface="Arial" panose="020B0604020202020204" pitchFamily="34" charset="0"/>
              <a:buChar char="•"/>
            </a:pPr>
            <a:r>
              <a:rPr lang="en-IN" sz="1000" dirty="0"/>
              <a:t>Weather + forecast integration</a:t>
            </a:r>
          </a:p>
          <a:p>
            <a:pPr marL="628650" lvl="1" indent="-171450">
              <a:buFont typeface="Arial" panose="020B0604020202020204" pitchFamily="34" charset="0"/>
              <a:buChar char="•"/>
            </a:pPr>
            <a:r>
              <a:rPr lang="en-IN" sz="1000" dirty="0"/>
              <a:t>Contingency simulation &amp; predictive overload analysis</a:t>
            </a:r>
          </a:p>
          <a:p>
            <a:pPr marL="628650" lvl="1" indent="-171450">
              <a:buFont typeface="Arial" panose="020B0604020202020204" pitchFamily="34" charset="0"/>
              <a:buChar char="•"/>
            </a:pPr>
            <a:r>
              <a:rPr lang="en-IN" sz="1000" dirty="0"/>
              <a:t>Voltage/VAR analysis &amp; switching recommendation</a:t>
            </a:r>
          </a:p>
          <a:p>
            <a:pPr marL="628650" lvl="1" indent="-171450">
              <a:buFont typeface="Arial" panose="020B0604020202020204" pitchFamily="34" charset="0"/>
              <a:buChar char="•"/>
            </a:pPr>
            <a:r>
              <a:rPr lang="en-IN" sz="1000" dirty="0"/>
              <a:t>Operator advisory with confidence scoring</a:t>
            </a:r>
          </a:p>
        </p:txBody>
      </p:sp>
      <p:sp>
        <p:nvSpPr>
          <p:cNvPr id="4" name="TextBox 3">
            <a:extLst>
              <a:ext uri="{FF2B5EF4-FFF2-40B4-BE49-F238E27FC236}">
                <a16:creationId xmlns:a16="http://schemas.microsoft.com/office/drawing/2014/main" id="{7C84502E-E5D6-9A23-A050-B07BAA902431}"/>
              </a:ext>
            </a:extLst>
          </p:cNvPr>
          <p:cNvSpPr txBox="1"/>
          <p:nvPr/>
        </p:nvSpPr>
        <p:spPr>
          <a:xfrm>
            <a:off x="3639312" y="4877914"/>
            <a:ext cx="3643764" cy="1848840"/>
          </a:xfrm>
          <a:prstGeom prst="rect">
            <a:avLst/>
          </a:prstGeom>
          <a:noFill/>
        </p:spPr>
        <p:txBody>
          <a:bodyPr vert="horz" wrap="square" lIns="90000" tIns="46800" rIns="90000" bIns="46800" rtlCol="0" anchor="ctr">
            <a:spAutoFit/>
          </a:bodyPr>
          <a:lstStyle/>
          <a:p>
            <a:r>
              <a:rPr lang="en-IN" sz="1000" dirty="0"/>
              <a:t>AI Foundry datasets + governed RAG knowledge base</a:t>
            </a:r>
          </a:p>
          <a:p>
            <a:pPr marL="628650" lvl="1" indent="-171450">
              <a:buFont typeface="Arial" panose="020B0604020202020204" pitchFamily="34" charset="0"/>
              <a:buChar char="•"/>
            </a:pPr>
            <a:r>
              <a:rPr lang="en-IN" sz="1000" dirty="0"/>
              <a:t>Python load-flow &amp; rule-based simulation tools</a:t>
            </a:r>
          </a:p>
          <a:p>
            <a:pPr marL="628650" lvl="1" indent="-171450">
              <a:buFont typeface="Arial" panose="020B0604020202020204" pitchFamily="34" charset="0"/>
              <a:buChar char="•"/>
            </a:pPr>
            <a:r>
              <a:rPr lang="en-IN" sz="1000" dirty="0"/>
              <a:t>LLM + Tools hybrid reasoning for accuracy</a:t>
            </a:r>
          </a:p>
          <a:p>
            <a:pPr marL="628650" lvl="1" indent="-171450">
              <a:buFont typeface="Arial" panose="020B0604020202020204" pitchFamily="34" charset="0"/>
              <a:buChar char="•"/>
            </a:pPr>
            <a:r>
              <a:rPr lang="en-IN" sz="1000" dirty="0"/>
              <a:t>Agent orchestration &amp; telemetry triggers</a:t>
            </a:r>
          </a:p>
          <a:p>
            <a:pPr marL="628650" lvl="1" indent="-171450">
              <a:buFont typeface="Arial" panose="020B0604020202020204" pitchFamily="34" charset="0"/>
              <a:buChar char="•"/>
            </a:pPr>
            <a:r>
              <a:rPr lang="en-IN" sz="1000" dirty="0"/>
              <a:t>Monitoring, guardrails &amp; safety validation</a:t>
            </a:r>
          </a:p>
          <a:p>
            <a:r>
              <a:rPr lang="en-US" sz="1000" dirty="0"/>
              <a:t>Data Collection Agent</a:t>
            </a:r>
          </a:p>
          <a:p>
            <a:pPr marL="628650" lvl="1" indent="-171450">
              <a:buFont typeface="Arial" panose="020B0604020202020204" pitchFamily="34" charset="0"/>
              <a:buChar char="•"/>
            </a:pPr>
            <a:r>
              <a:rPr lang="en-US" sz="1000" dirty="0"/>
              <a:t>Contingency Simulation Agent</a:t>
            </a:r>
          </a:p>
          <a:p>
            <a:pPr marL="628650" lvl="1" indent="-171450">
              <a:buFont typeface="Arial" panose="020B0604020202020204" pitchFamily="34" charset="0"/>
              <a:buChar char="•"/>
            </a:pPr>
            <a:r>
              <a:rPr lang="en-US" sz="1000" dirty="0"/>
              <a:t>Operator Advisor Agent</a:t>
            </a:r>
          </a:p>
          <a:p>
            <a:pPr marL="628650" lvl="1" indent="-171450">
              <a:buFont typeface="Arial" panose="020B0604020202020204" pitchFamily="34" charset="0"/>
              <a:buChar char="•"/>
            </a:pPr>
            <a:r>
              <a:rPr lang="en-US" sz="1000" dirty="0"/>
              <a:t>Governed RAG for SOPs, topology &amp; safety rules</a:t>
            </a:r>
          </a:p>
          <a:p>
            <a:pPr marL="628650" lvl="1" indent="-171450">
              <a:buFont typeface="Arial" panose="020B0604020202020204" pitchFamily="34" charset="0"/>
              <a:buChar char="•"/>
            </a:pPr>
            <a:endParaRPr lang="en-IN" sz="1000" dirty="0"/>
          </a:p>
          <a:p>
            <a:pPr algn="l">
              <a:spcBef>
                <a:spcPct val="0"/>
              </a:spcBef>
            </a:pPr>
            <a:endParaRPr lang="en-IN" sz="1400" dirty="0" err="1"/>
          </a:p>
        </p:txBody>
      </p:sp>
      <p:graphicFrame>
        <p:nvGraphicFramePr>
          <p:cNvPr id="6" name="Table 5">
            <a:extLst>
              <a:ext uri="{FF2B5EF4-FFF2-40B4-BE49-F238E27FC236}">
                <a16:creationId xmlns:a16="http://schemas.microsoft.com/office/drawing/2014/main" id="{3EAF015D-1F7D-C789-E091-5916DCA545E1}"/>
              </a:ext>
            </a:extLst>
          </p:cNvPr>
          <p:cNvGraphicFramePr>
            <a:graphicFrameLocks noGrp="1"/>
          </p:cNvGraphicFramePr>
          <p:nvPr>
            <p:extLst>
              <p:ext uri="{D42A27DB-BD31-4B8C-83A1-F6EECF244321}">
                <p14:modId xmlns:p14="http://schemas.microsoft.com/office/powerpoint/2010/main" val="2270859065"/>
              </p:ext>
            </p:extLst>
          </p:nvPr>
        </p:nvGraphicFramePr>
        <p:xfrm>
          <a:off x="6266683" y="1203652"/>
          <a:ext cx="3013793" cy="2186940"/>
        </p:xfrm>
        <a:graphic>
          <a:graphicData uri="http://schemas.openxmlformats.org/drawingml/2006/table">
            <a:tbl>
              <a:tblPr/>
              <a:tblGrid>
                <a:gridCol w="3013793">
                  <a:extLst>
                    <a:ext uri="{9D8B030D-6E8A-4147-A177-3AD203B41FA5}">
                      <a16:colId xmlns:a16="http://schemas.microsoft.com/office/drawing/2014/main" val="2098878717"/>
                    </a:ext>
                  </a:extLst>
                </a:gridCol>
              </a:tblGrid>
              <a:tr h="1709202">
                <a:tc>
                  <a:txBody>
                    <a:bodyPr/>
                    <a:lstStyle/>
                    <a:p>
                      <a:pPr fontAlgn="t">
                        <a:lnSpc>
                          <a:spcPts val="1500"/>
                        </a:lnSpc>
                        <a:buNone/>
                      </a:pPr>
                      <a:r>
                        <a:rPr lang="en-US" sz="1000" kern="1200" dirty="0">
                          <a:solidFill>
                            <a:schemeClr val="tx1"/>
                          </a:solidFill>
                          <a:latin typeface="+mn-lt"/>
                          <a:ea typeface="+mn-ea"/>
                          <a:cs typeface="+mn-cs"/>
                        </a:rPr>
                        <a:t>Microsoft AI Foundry to automatically detect grid risks such as sudden wind generation drops and rising feeder loads. Real‑time SCADA, PMU, weather, and DER telemetry are fused by AI agents that simulate contingencies and instantly recommend safe switching, reconfiguration, and voltage/VAR actions. Instead of operators manually analyzing multiple systems, the AI provides a clear, confidence‑scored action plan improving response time, preventing overloads, and ensuring safe, compliant grid operations.</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482468799"/>
                  </a:ext>
                </a:extLst>
              </a:tr>
            </a:tbl>
          </a:graphicData>
        </a:graphic>
      </p:graphicFrame>
      <p:graphicFrame>
        <p:nvGraphicFramePr>
          <p:cNvPr id="9" name="Table 8">
            <a:extLst>
              <a:ext uri="{FF2B5EF4-FFF2-40B4-BE49-F238E27FC236}">
                <a16:creationId xmlns:a16="http://schemas.microsoft.com/office/drawing/2014/main" id="{C088D6BD-A532-0D71-89B9-8946C97782A4}"/>
              </a:ext>
            </a:extLst>
          </p:cNvPr>
          <p:cNvGraphicFramePr>
            <a:graphicFrameLocks noGrp="1"/>
          </p:cNvGraphicFramePr>
          <p:nvPr>
            <p:extLst>
              <p:ext uri="{D42A27DB-BD31-4B8C-83A1-F6EECF244321}">
                <p14:modId xmlns:p14="http://schemas.microsoft.com/office/powerpoint/2010/main" val="2048881123"/>
              </p:ext>
            </p:extLst>
          </p:nvPr>
        </p:nvGraphicFramePr>
        <p:xfrm>
          <a:off x="9533201" y="947383"/>
          <a:ext cx="2578170" cy="2567940"/>
        </p:xfrm>
        <a:graphic>
          <a:graphicData uri="http://schemas.openxmlformats.org/drawingml/2006/table">
            <a:tbl>
              <a:tblPr/>
              <a:tblGrid>
                <a:gridCol w="2578170">
                  <a:extLst>
                    <a:ext uri="{9D8B030D-6E8A-4147-A177-3AD203B41FA5}">
                      <a16:colId xmlns:a16="http://schemas.microsoft.com/office/drawing/2014/main" val="3140041386"/>
                    </a:ext>
                  </a:extLst>
                </a:gridCol>
              </a:tblGrid>
              <a:tr h="2172261">
                <a:tc>
                  <a:txBody>
                    <a:bodyPr/>
                    <a:lstStyle/>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Sudden wind drops cause rapid feeder loading → overload risk</a:t>
                      </a:r>
                    </a:p>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Voltage and VAR fluctuations triggered by renewable variability</a:t>
                      </a:r>
                    </a:p>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SCADA alarms alert only after thresholds are crossed → delayed response </a:t>
                      </a:r>
                    </a:p>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Manual decision‑making slows contingency resolution</a:t>
                      </a:r>
                    </a:p>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 Asset thermal stress increases fault probability </a:t>
                      </a:r>
                    </a:p>
                    <a:p>
                      <a:pPr marL="171450" indent="-171450" fontAlgn="t">
                        <a:lnSpc>
                          <a:spcPts val="1500"/>
                        </a:lnSpc>
                        <a:buFont typeface="Arial" panose="020B0604020202020204" pitchFamily="34" charset="0"/>
                        <a:buChar char="•"/>
                      </a:pPr>
                      <a:r>
                        <a:rPr lang="en-IN" sz="1000" kern="1200" dirty="0">
                          <a:solidFill>
                            <a:schemeClr val="tx1"/>
                          </a:solidFill>
                          <a:latin typeface="+mn-lt"/>
                          <a:ea typeface="+mn-ea"/>
                          <a:cs typeface="+mn-cs"/>
                        </a:rPr>
                        <a:t>DER curtailment reduces renewable utilization KPIs</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11178887"/>
                  </a:ext>
                </a:extLst>
              </a:tr>
            </a:tbl>
          </a:graphicData>
        </a:graphic>
      </p:graphicFrame>
      <p:graphicFrame>
        <p:nvGraphicFramePr>
          <p:cNvPr id="11" name="Table 10">
            <a:extLst>
              <a:ext uri="{FF2B5EF4-FFF2-40B4-BE49-F238E27FC236}">
                <a16:creationId xmlns:a16="http://schemas.microsoft.com/office/drawing/2014/main" id="{8AE58B3B-254E-1098-9973-C4D1F1681DBD}"/>
              </a:ext>
            </a:extLst>
          </p:cNvPr>
          <p:cNvGraphicFramePr>
            <a:graphicFrameLocks noGrp="1"/>
          </p:cNvGraphicFramePr>
          <p:nvPr>
            <p:extLst>
              <p:ext uri="{D42A27DB-BD31-4B8C-83A1-F6EECF244321}">
                <p14:modId xmlns:p14="http://schemas.microsoft.com/office/powerpoint/2010/main" val="2264717751"/>
              </p:ext>
            </p:extLst>
          </p:nvPr>
        </p:nvGraphicFramePr>
        <p:xfrm>
          <a:off x="9608882" y="3855223"/>
          <a:ext cx="2563062" cy="2377440"/>
        </p:xfrm>
        <a:graphic>
          <a:graphicData uri="http://schemas.openxmlformats.org/drawingml/2006/table">
            <a:tbl>
              <a:tblPr/>
              <a:tblGrid>
                <a:gridCol w="2563062">
                  <a:extLst>
                    <a:ext uri="{9D8B030D-6E8A-4147-A177-3AD203B41FA5}">
                      <a16:colId xmlns:a16="http://schemas.microsoft.com/office/drawing/2014/main" val="2322886795"/>
                    </a:ext>
                  </a:extLst>
                </a:gridCol>
              </a:tblGrid>
              <a:tr h="2042035">
                <a:tc>
                  <a:txBody>
                    <a:bodyPr/>
                    <a:lstStyle/>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Increased outages lead to regulatory penalties</a:t>
                      </a:r>
                    </a:p>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Overloaded feeders and stressed assets create high maintenance cost</a:t>
                      </a:r>
                    </a:p>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Voltage violations harm compliance and audit scores</a:t>
                      </a:r>
                    </a:p>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Slower operator actions increase risk of service disruption</a:t>
                      </a:r>
                    </a:p>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DER curtailment reduces renewable revenue</a:t>
                      </a:r>
                    </a:p>
                    <a:p>
                      <a:pPr fontAlgn="t">
                        <a:lnSpc>
                          <a:spcPts val="1500"/>
                        </a:lnSpc>
                        <a:buFont typeface="Arial" panose="020B0604020202020204" pitchFamily="34" charset="0"/>
                        <a:buChar char="•"/>
                      </a:pPr>
                      <a:r>
                        <a:rPr lang="en-US" sz="1000" kern="1200" dirty="0">
                          <a:solidFill>
                            <a:schemeClr val="tx1"/>
                          </a:solidFill>
                          <a:latin typeface="+mn-lt"/>
                          <a:ea typeface="+mn-ea"/>
                          <a:cs typeface="+mn-cs"/>
                        </a:rPr>
                        <a:t>Poor reliability degrades customer satisfaction and brand trust</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649653818"/>
                  </a:ext>
                </a:extLst>
              </a:tr>
            </a:tbl>
          </a:graphicData>
        </a:graphic>
      </p:graphicFrame>
      <p:sp>
        <p:nvSpPr>
          <p:cNvPr id="12" name="TextBox 11">
            <a:extLst>
              <a:ext uri="{FF2B5EF4-FFF2-40B4-BE49-F238E27FC236}">
                <a16:creationId xmlns:a16="http://schemas.microsoft.com/office/drawing/2014/main" id="{88AD90F1-1B4A-7DDD-5708-9FD88023E8D0}"/>
              </a:ext>
            </a:extLst>
          </p:cNvPr>
          <p:cNvSpPr txBox="1"/>
          <p:nvPr/>
        </p:nvSpPr>
        <p:spPr>
          <a:xfrm>
            <a:off x="368250" y="1098771"/>
            <a:ext cx="2665810" cy="648512"/>
          </a:xfrm>
          <a:prstGeom prst="rect">
            <a:avLst/>
          </a:prstGeom>
          <a:noFill/>
        </p:spPr>
        <p:txBody>
          <a:bodyPr vert="horz" wrap="square" lIns="90000" tIns="46800" rIns="90000" bIns="46800" rtlCol="0" anchor="ctr">
            <a:spAutoFit/>
          </a:bodyPr>
          <a:lstStyle/>
          <a:p>
            <a:pPr>
              <a:spcBef>
                <a:spcPct val="0"/>
              </a:spcBef>
            </a:pPr>
            <a:r>
              <a:rPr lang="en-IN" b="1" dirty="0"/>
              <a:t>Real-time resilience Approach</a:t>
            </a:r>
            <a:endParaRPr lang="en-IN" sz="1400" dirty="0"/>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CA6D75-B704-E263-FD38-A74049228B8D}"/>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680BE98-8EEC-425F-9F6F-B22338D9B4C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8FCEE6FF-48F9-ECBF-EE33-CAA0095C10DA}"/>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690F7EAD-153C-88D1-2F73-042E684E3E71}"/>
              </a:ext>
            </a:extLst>
          </p:cNvPr>
          <p:cNvSpPr>
            <a:spLocks noGrp="1"/>
          </p:cNvSpPr>
          <p:nvPr>
            <p:ph type="title"/>
          </p:nvPr>
        </p:nvSpPr>
        <p:spPr/>
        <p:txBody>
          <a:bodyPr/>
          <a:lstStyle/>
          <a:p>
            <a:r>
              <a:rPr lang="en-US" dirty="0"/>
              <a:t>Use Case Scope in the Business Process</a:t>
            </a:r>
            <a:endParaRPr lang="en-IN" dirty="0"/>
          </a:p>
        </p:txBody>
      </p:sp>
      <p:pic>
        <p:nvPicPr>
          <p:cNvPr id="7" name="Picture 6">
            <a:extLst>
              <a:ext uri="{FF2B5EF4-FFF2-40B4-BE49-F238E27FC236}">
                <a16:creationId xmlns:a16="http://schemas.microsoft.com/office/drawing/2014/main" id="{13C2EA0F-B492-50A4-0E2F-D6C7F541DBA6}"/>
              </a:ext>
            </a:extLst>
          </p:cNvPr>
          <p:cNvPicPr>
            <a:picLocks noChangeAspect="1"/>
          </p:cNvPicPr>
          <p:nvPr/>
        </p:nvPicPr>
        <p:blipFill>
          <a:blip r:embed="rId2"/>
          <a:stretch>
            <a:fillRect/>
          </a:stretch>
        </p:blipFill>
        <p:spPr>
          <a:xfrm>
            <a:off x="321128" y="1371599"/>
            <a:ext cx="6289984" cy="4593771"/>
          </a:xfrm>
          <a:prstGeom prst="rect">
            <a:avLst/>
          </a:prstGeom>
        </p:spPr>
      </p:pic>
      <p:graphicFrame>
        <p:nvGraphicFramePr>
          <p:cNvPr id="8" name="Table 7">
            <a:extLst>
              <a:ext uri="{FF2B5EF4-FFF2-40B4-BE49-F238E27FC236}">
                <a16:creationId xmlns:a16="http://schemas.microsoft.com/office/drawing/2014/main" id="{CC72A7D6-A55E-ABF9-F768-4BBF5C4A578E}"/>
              </a:ext>
            </a:extLst>
          </p:cNvPr>
          <p:cNvGraphicFramePr>
            <a:graphicFrameLocks noGrp="1"/>
          </p:cNvGraphicFramePr>
          <p:nvPr>
            <p:extLst>
              <p:ext uri="{D42A27DB-BD31-4B8C-83A1-F6EECF244321}">
                <p14:modId xmlns:p14="http://schemas.microsoft.com/office/powerpoint/2010/main" val="1285882453"/>
              </p:ext>
            </p:extLst>
          </p:nvPr>
        </p:nvGraphicFramePr>
        <p:xfrm>
          <a:off x="7013449" y="2121408"/>
          <a:ext cx="4629276" cy="3483864"/>
        </p:xfrm>
        <a:graphic>
          <a:graphicData uri="http://schemas.openxmlformats.org/drawingml/2006/table">
            <a:tbl>
              <a:tblPr/>
              <a:tblGrid>
                <a:gridCol w="4629276">
                  <a:extLst>
                    <a:ext uri="{9D8B030D-6E8A-4147-A177-3AD203B41FA5}">
                      <a16:colId xmlns:a16="http://schemas.microsoft.com/office/drawing/2014/main" val="1607207506"/>
                    </a:ext>
                  </a:extLst>
                </a:gridCol>
              </a:tblGrid>
              <a:tr h="3483864">
                <a:tc>
                  <a:txBody>
                    <a:bodyPr/>
                    <a:lstStyle/>
                    <a:p>
                      <a:pPr fontAlgn="t">
                        <a:lnSpc>
                          <a:spcPts val="1500"/>
                        </a:lnSpc>
                        <a:buNone/>
                      </a:pPr>
                      <a:r>
                        <a:rPr lang="en-IN" b="1" i="0" dirty="0">
                          <a:effectLst/>
                          <a:latin typeface="Segoe UI" panose="020B0502040204020203" pitchFamily="34" charset="0"/>
                        </a:rPr>
                        <a:t>L1 Process:</a:t>
                      </a:r>
                      <a:r>
                        <a:rPr lang="en-IN" b="0" i="0" dirty="0">
                          <a:effectLst/>
                          <a:latin typeface="Segoe UI" panose="020B0502040204020203" pitchFamily="34" charset="0"/>
                        </a:rPr>
                        <a:t> Grid Management </a:t>
                      </a:r>
                    </a:p>
                    <a:p>
                      <a:pPr fontAlgn="t">
                        <a:lnSpc>
                          <a:spcPts val="1500"/>
                        </a:lnSpc>
                        <a:buNone/>
                      </a:pPr>
                      <a:endParaRPr lang="en-IN" b="0" i="0" dirty="0">
                        <a:effectLst/>
                        <a:latin typeface="Segoe UI" panose="020B0502040204020203" pitchFamily="34" charset="0"/>
                      </a:endParaRPr>
                    </a:p>
                    <a:p>
                      <a:pPr fontAlgn="t">
                        <a:lnSpc>
                          <a:spcPts val="1500"/>
                        </a:lnSpc>
                        <a:buNone/>
                      </a:pPr>
                      <a:r>
                        <a:rPr lang="en-IN" b="1" i="0" dirty="0">
                          <a:effectLst/>
                          <a:latin typeface="Segoe UI" panose="020B0502040204020203" pitchFamily="34" charset="0"/>
                        </a:rPr>
                        <a:t>L2 Activities:</a:t>
                      </a:r>
                      <a:r>
                        <a:rPr lang="en-IN" b="0" i="0" dirty="0">
                          <a:effectLst/>
                          <a:latin typeface="Segoe UI" panose="020B0502040204020203" pitchFamily="34" charset="0"/>
                        </a:rPr>
                        <a:t> Grid Monitoring → Contingency Analysis </a:t>
                      </a:r>
                    </a:p>
                    <a:p>
                      <a:pPr fontAlgn="t">
                        <a:lnSpc>
                          <a:spcPts val="1500"/>
                        </a:lnSpc>
                        <a:buNone/>
                      </a:pPr>
                      <a:endParaRPr lang="en-IN" b="0" i="0" dirty="0">
                        <a:effectLst/>
                        <a:latin typeface="Segoe UI" panose="020B0502040204020203" pitchFamily="34" charset="0"/>
                      </a:endParaRPr>
                    </a:p>
                    <a:p>
                      <a:pPr fontAlgn="t">
                        <a:lnSpc>
                          <a:spcPts val="1500"/>
                        </a:lnSpc>
                        <a:buNone/>
                      </a:pPr>
                      <a:r>
                        <a:rPr lang="en-IN" b="1" i="0" dirty="0">
                          <a:effectLst/>
                          <a:latin typeface="Segoe UI" panose="020B0502040204020203" pitchFamily="34" charset="0"/>
                        </a:rPr>
                        <a:t>Use Case Scope Highlighted</a:t>
                      </a:r>
                      <a:r>
                        <a:rPr lang="en-IN" b="0" i="0" dirty="0">
                          <a:effectLst/>
                          <a:latin typeface="Segoe UI" panose="020B0502040204020203" pitchFamily="34" charset="0"/>
                        </a:rPr>
                        <a:t> </a:t>
                      </a:r>
                      <a:r>
                        <a:rPr lang="en-IN" b="1" i="0" dirty="0">
                          <a:effectLst/>
                          <a:latin typeface="Segoe UI" panose="020B0502040204020203" pitchFamily="34" charset="0"/>
                        </a:rPr>
                        <a:t>Digital Systems Layer:</a:t>
                      </a:r>
                      <a:r>
                        <a:rPr lang="en-IN" b="0" i="0" dirty="0">
                          <a:effectLst/>
                          <a:latin typeface="Segoe UI" panose="020B0502040204020203" pitchFamily="34" charset="0"/>
                        </a:rPr>
                        <a:t> SCADA/EMS, Weather Data, DER Telemetry </a:t>
                      </a:r>
                    </a:p>
                    <a:p>
                      <a:pPr fontAlgn="t">
                        <a:lnSpc>
                          <a:spcPts val="1500"/>
                        </a:lnSpc>
                        <a:buNone/>
                      </a:pPr>
                      <a:endParaRPr lang="en-IN" b="0" i="0" dirty="0">
                        <a:effectLst/>
                        <a:latin typeface="Segoe UI" panose="020B0502040204020203" pitchFamily="34" charset="0"/>
                      </a:endParaRPr>
                    </a:p>
                    <a:p>
                      <a:pPr fontAlgn="t">
                        <a:lnSpc>
                          <a:spcPts val="1500"/>
                        </a:lnSpc>
                        <a:buNone/>
                      </a:pPr>
                      <a:r>
                        <a:rPr lang="en-IN" b="1" i="0" dirty="0">
                          <a:effectLst/>
                          <a:latin typeface="Segoe UI" panose="020B0502040204020203" pitchFamily="34" charset="0"/>
                        </a:rPr>
                        <a:t>Data &amp; AI Layer:</a:t>
                      </a:r>
                      <a:r>
                        <a:rPr lang="en-IN" b="0" i="0" dirty="0">
                          <a:effectLst/>
                          <a:latin typeface="Segoe UI" panose="020B0502040204020203" pitchFamily="34" charset="0"/>
                        </a:rPr>
                        <a:t> Data Collection → Contingency Simulation → Operator Advisor</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069382387"/>
                  </a:ext>
                </a:extLst>
              </a:tr>
            </a:tbl>
          </a:graphicData>
        </a:graphic>
      </p:graphicFrame>
    </p:spTree>
    <p:extLst>
      <p:ext uri="{BB962C8B-B14F-4D97-AF65-F5344CB8AC3E}">
        <p14:creationId xmlns:p14="http://schemas.microsoft.com/office/powerpoint/2010/main" val="146256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dirty="0"/>
              <a:t>Functional Solution + AI-Human Chemistry</a:t>
            </a:r>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050" noProof="0" dirty="0">
              <a:solidFill>
                <a:schemeClr val="tx1"/>
              </a:solidFill>
            </a:endParaRPr>
          </a:p>
        </p:txBody>
      </p:sp>
      <p:pic>
        <p:nvPicPr>
          <p:cNvPr id="114" name="Picture 113">
            <a:extLst>
              <a:ext uri="{FF2B5EF4-FFF2-40B4-BE49-F238E27FC236}">
                <a16:creationId xmlns:a16="http://schemas.microsoft.com/office/drawing/2014/main" id="{8A170035-0FD4-7162-3D95-5DCDE3F04694}"/>
              </a:ext>
            </a:extLst>
          </p:cNvPr>
          <p:cNvPicPr>
            <a:picLocks noChangeAspect="1"/>
          </p:cNvPicPr>
          <p:nvPr/>
        </p:nvPicPr>
        <p:blipFill>
          <a:blip r:embed="rId2"/>
          <a:stretch>
            <a:fillRect/>
          </a:stretch>
        </p:blipFill>
        <p:spPr>
          <a:xfrm>
            <a:off x="2746308" y="1451295"/>
            <a:ext cx="6279263" cy="4757481"/>
          </a:xfrm>
          <a:prstGeom prst="rect">
            <a:avLst/>
          </a:prstGeom>
        </p:spPr>
      </p:pic>
    </p:spTree>
    <p:extLst>
      <p:ext uri="{BB962C8B-B14F-4D97-AF65-F5344CB8AC3E}">
        <p14:creationId xmlns:p14="http://schemas.microsoft.com/office/powerpoint/2010/main" val="294618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dirty="0"/>
              <a:t>Technical Solution</a:t>
            </a: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pic>
        <p:nvPicPr>
          <p:cNvPr id="8" name="Picture 7">
            <a:extLst>
              <a:ext uri="{FF2B5EF4-FFF2-40B4-BE49-F238E27FC236}">
                <a16:creationId xmlns:a16="http://schemas.microsoft.com/office/drawing/2014/main" id="{EB597193-5282-EEA4-3F9D-0C63FF80D499}"/>
              </a:ext>
            </a:extLst>
          </p:cNvPr>
          <p:cNvPicPr>
            <a:picLocks noChangeAspect="1"/>
          </p:cNvPicPr>
          <p:nvPr/>
        </p:nvPicPr>
        <p:blipFill>
          <a:blip r:embed="rId2"/>
          <a:stretch>
            <a:fillRect/>
          </a:stretch>
        </p:blipFill>
        <p:spPr>
          <a:xfrm>
            <a:off x="1835571" y="1445027"/>
            <a:ext cx="7753711" cy="5105400"/>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775C89-EB92-8C7D-14A7-E982288881D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F242FAC-8F7F-A833-FFA9-A59B84AC867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C82EA83-AA9F-C697-12EA-A262131A6C33}"/>
              </a:ext>
            </a:extLst>
          </p:cNvPr>
          <p:cNvSpPr>
            <a:spLocks noGrp="1"/>
          </p:cNvSpPr>
          <p:nvPr>
            <p:ph type="sldNum" sz="quarter" idx="12"/>
          </p:nvPr>
        </p:nvSpPr>
        <p:spPr/>
        <p:txBody>
          <a:bodyPr/>
          <a:lstStyle/>
          <a:p>
            <a:pPr algn="r"/>
            <a:fld id="{5D9A5160-6218-4E5A-B9E6-B93E3DAE377C}" type="slidenum">
              <a:rPr lang="en-US" smtClean="0"/>
              <a:pPr algn="r"/>
              <a:t>5</a:t>
            </a:fld>
            <a:endParaRPr lang="en-US"/>
          </a:p>
        </p:txBody>
      </p:sp>
      <p:sp>
        <p:nvSpPr>
          <p:cNvPr id="5" name="Title 4">
            <a:extLst>
              <a:ext uri="{FF2B5EF4-FFF2-40B4-BE49-F238E27FC236}">
                <a16:creationId xmlns:a16="http://schemas.microsoft.com/office/drawing/2014/main" id="{C869AFBB-C9AA-46D3-5702-2A74436C545A}"/>
              </a:ext>
            </a:extLst>
          </p:cNvPr>
          <p:cNvSpPr>
            <a:spLocks noGrp="1"/>
          </p:cNvSpPr>
          <p:nvPr>
            <p:ph type="title"/>
          </p:nvPr>
        </p:nvSpPr>
        <p:spPr>
          <a:xfrm>
            <a:off x="4105656" y="324019"/>
            <a:ext cx="7536665" cy="666581"/>
          </a:xfrm>
        </p:spPr>
        <p:txBody>
          <a:bodyPr/>
          <a:lstStyle/>
          <a:p>
            <a:r>
              <a:rPr lang="en-IN" dirty="0"/>
              <a:t>Business Case Proposal</a:t>
            </a:r>
          </a:p>
        </p:txBody>
      </p:sp>
      <p:sp>
        <p:nvSpPr>
          <p:cNvPr id="7" name="TextBox 6">
            <a:extLst>
              <a:ext uri="{FF2B5EF4-FFF2-40B4-BE49-F238E27FC236}">
                <a16:creationId xmlns:a16="http://schemas.microsoft.com/office/drawing/2014/main" id="{511973DE-99F5-814C-FA93-C7895321B59A}"/>
              </a:ext>
            </a:extLst>
          </p:cNvPr>
          <p:cNvSpPr txBox="1"/>
          <p:nvPr/>
        </p:nvSpPr>
        <p:spPr>
          <a:xfrm>
            <a:off x="229043" y="1432019"/>
            <a:ext cx="6094476" cy="4801314"/>
          </a:xfrm>
          <a:prstGeom prst="rect">
            <a:avLst/>
          </a:prstGeom>
          <a:noFill/>
        </p:spPr>
        <p:txBody>
          <a:bodyPr wrap="square">
            <a:spAutoFit/>
          </a:bodyPr>
          <a:lstStyle/>
          <a:p>
            <a:pPr>
              <a:buNone/>
            </a:pPr>
            <a:r>
              <a:rPr lang="en-US" b="1" dirty="0"/>
              <a:t>Business Impact</a:t>
            </a:r>
          </a:p>
          <a:p>
            <a:pPr>
              <a:buFont typeface="Arial" panose="020B0604020202020204" pitchFamily="34" charset="0"/>
              <a:buChar char="•"/>
            </a:pPr>
            <a:r>
              <a:rPr lang="en-US" dirty="0"/>
              <a:t>20–40% faster contingency response</a:t>
            </a:r>
          </a:p>
          <a:p>
            <a:pPr>
              <a:buFont typeface="Arial" panose="020B0604020202020204" pitchFamily="34" charset="0"/>
              <a:buChar char="•"/>
            </a:pPr>
            <a:r>
              <a:rPr lang="en-US" dirty="0"/>
              <a:t>15–25% reduction in outage </a:t>
            </a:r>
            <a:r>
              <a:rPr lang="en-US" dirty="0" err="1"/>
              <a:t>apprcv</a:t>
            </a:r>
            <a:endParaRPr lang="en-US" dirty="0"/>
          </a:p>
          <a:p>
            <a:pPr>
              <a:buFont typeface="Arial" panose="020B0604020202020204" pitchFamily="34" charset="0"/>
              <a:buChar char="•"/>
            </a:pPr>
            <a:r>
              <a:rPr lang="en-US" dirty="0"/>
              <a:t>Productivity gain scoring</a:t>
            </a:r>
          </a:p>
          <a:p>
            <a:pPr>
              <a:buNone/>
            </a:pPr>
            <a:br>
              <a:rPr lang="en-US" dirty="0"/>
            </a:br>
            <a:endParaRPr lang="en-US" dirty="0"/>
          </a:p>
          <a:p>
            <a:pPr>
              <a:buNone/>
            </a:pPr>
            <a:r>
              <a:rPr lang="en-US" b="1" dirty="0"/>
              <a:t>Current Costs / Pain Points</a:t>
            </a:r>
          </a:p>
          <a:p>
            <a:pPr>
              <a:buFont typeface="Arial" panose="020B0604020202020204" pitchFamily="34" charset="0"/>
              <a:buChar char="•"/>
            </a:pPr>
            <a:r>
              <a:rPr lang="en-US" b="1" dirty="0"/>
              <a:t>20–40% faster contingency response time</a:t>
            </a:r>
            <a:endParaRPr lang="en-US" dirty="0"/>
          </a:p>
          <a:p>
            <a:pPr>
              <a:buFont typeface="Arial" panose="020B0604020202020204" pitchFamily="34" charset="0"/>
              <a:buChar char="•"/>
            </a:pPr>
            <a:r>
              <a:rPr lang="en-US" b="1" dirty="0"/>
              <a:t>15–25% reduction in outage duration (SAIDI/SAIFI)</a:t>
            </a:r>
            <a:endParaRPr lang="en-US" dirty="0"/>
          </a:p>
          <a:p>
            <a:pPr>
              <a:buFont typeface="Arial" panose="020B0604020202020204" pitchFamily="34" charset="0"/>
              <a:buChar char="•"/>
            </a:pPr>
            <a:r>
              <a:rPr lang="en-US" b="1" dirty="0"/>
              <a:t>30–50% reduction in manual operator effort</a:t>
            </a:r>
            <a:endParaRPr lang="en-US" dirty="0"/>
          </a:p>
          <a:p>
            <a:pPr>
              <a:buFont typeface="Arial" panose="020B0604020202020204" pitchFamily="34" charset="0"/>
              <a:buChar char="•"/>
            </a:pPr>
            <a:r>
              <a:rPr lang="en-US" b="1" dirty="0"/>
              <a:t>Higher renewable hosting capacity (+10–20%)</a:t>
            </a:r>
            <a:endParaRPr lang="en-US" dirty="0"/>
          </a:p>
          <a:p>
            <a:pPr>
              <a:buNone/>
            </a:pPr>
            <a:br>
              <a:rPr lang="en-US" dirty="0"/>
            </a:br>
            <a:endParaRPr lang="en-US" dirty="0"/>
          </a:p>
          <a:p>
            <a:pPr>
              <a:buNone/>
            </a:pPr>
            <a:r>
              <a:rPr lang="en-US" b="1" dirty="0"/>
              <a:t>Financial Model </a:t>
            </a:r>
          </a:p>
          <a:p>
            <a:pPr>
              <a:buNone/>
            </a:pPr>
            <a:endParaRPr lang="en-US" b="1" dirty="0"/>
          </a:p>
          <a:p>
            <a:pPr marL="285750" indent="-285750">
              <a:buFont typeface="Arial" panose="020B0604020202020204" pitchFamily="34" charset="0"/>
              <a:buChar char="•"/>
            </a:pPr>
            <a:r>
              <a:rPr lang="en-US" dirty="0"/>
              <a:t>Current inefficiencies • </a:t>
            </a:r>
            <a:r>
              <a:rPr lang="en-US" b="1" dirty="0"/>
              <a:t>12–18 months</a:t>
            </a:r>
            <a:endParaRPr lang="en-US" dirty="0"/>
          </a:p>
          <a:p>
            <a:pPr>
              <a:buFont typeface="Arial" panose="020B0604020202020204" pitchFamily="34" charset="0"/>
              <a:buChar char="•"/>
            </a:pPr>
            <a:r>
              <a:rPr lang="en-US" dirty="0"/>
              <a:t>    Avoided outages</a:t>
            </a:r>
          </a:p>
        </p:txBody>
      </p:sp>
    </p:spTree>
    <p:extLst>
      <p:ext uri="{BB962C8B-B14F-4D97-AF65-F5344CB8AC3E}">
        <p14:creationId xmlns:p14="http://schemas.microsoft.com/office/powerpoint/2010/main" val="1522412958"/>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0A0046D-0765-4685-8521-7D1E34B9A377}">
  <ds:schemaRefs>
    <ds:schemaRef ds:uri="http://schemas.microsoft.com/office/2006/documentManagement/types"/>
    <ds:schemaRef ds:uri="http://purl.org/dc/elements/1.1/"/>
    <ds:schemaRef ds:uri="http://schemas.microsoft.com/office/2006/metadata/properties"/>
    <ds:schemaRef ds:uri="289d593b-f9da-44ad-aeed-35e8c5022e75"/>
    <ds:schemaRef ds:uri="http://purl.org/dc/dcmitype/"/>
    <ds:schemaRef ds:uri="http://purl.org/dc/terms/"/>
    <ds:schemaRef ds:uri="http://schemas.microsoft.com/office/infopath/2007/PartnerControls"/>
    <ds:schemaRef ds:uri="http://schemas.openxmlformats.org/package/2006/metadata/core-properties"/>
    <ds:schemaRef ds:uri="71ec4482-8a5f-419e-a3fb-f1ff39837bb1"/>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1566</TotalTime>
  <Words>535</Words>
  <Application>Microsoft Office PowerPoint</Application>
  <PresentationFormat>Widescreen</PresentationFormat>
  <Paragraphs>98</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Arial</vt:lpstr>
      <vt:lpstr>Segoe UI</vt:lpstr>
      <vt:lpstr>System Font Regular</vt:lpstr>
      <vt:lpstr>Ubuntu</vt:lpstr>
      <vt:lpstr>Ubuntu Light</vt:lpstr>
      <vt:lpstr>Ubuntu Medium</vt:lpstr>
      <vt:lpstr>Capgemini_Bright_2025</vt:lpstr>
      <vt:lpstr>PowerPoint Presentation</vt:lpstr>
      <vt:lpstr>Use Case Scope in the Business Process</vt:lpstr>
      <vt:lpstr>Functional Solution + AI-Human Chemistry</vt:lpstr>
      <vt:lpstr>Technical Solution</vt:lpstr>
      <vt:lpstr>Business Case Proposal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Asritha Lekha, Bejagam Rama Rathna</cp:lastModifiedBy>
  <cp:revision>3</cp:revision>
  <dcterms:created xsi:type="dcterms:W3CDTF">2026-02-09T11:16:54Z</dcterms:created>
  <dcterms:modified xsi:type="dcterms:W3CDTF">2026-04-02T10:52:52Z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