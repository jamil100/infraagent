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4" r:id="rId6"/>
    <p:sldId id="268" r:id="rId7"/>
    <p:sldId id="266" r:id="rId8"/>
    <p:sldId id="260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24" y="52"/>
      </p:cViewPr>
      <p:guideLst>
        <p:guide orient="horz" pos="2136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1928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87C06-CCA1-4D61-9189-153F836E42BF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9FF6A4-3467-4CB3-AE7E-85006F9CB579}" type="pres">
      <dgm:prSet presAssocID="{33187C06-CCA1-4D61-9189-153F836E42BF}" presName="root" presStyleCnt="0">
        <dgm:presLayoutVars>
          <dgm:dir/>
          <dgm:resizeHandles val="exact"/>
        </dgm:presLayoutVars>
      </dgm:prSet>
      <dgm:spPr/>
    </dgm:pt>
  </dgm:ptLst>
  <dgm:cxnLst>
    <dgm:cxn modelId="{CF77D65D-0D3E-4A8B-A0A2-2DCCD9EE0FD3}" type="presOf" srcId="{33187C06-CCA1-4D61-9189-153F836E42BF}" destId="{0D9FF6A4-3467-4CB3-AE7E-85006F9CB579}" srcOrd="0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EB8EEA-6FDF-4F36-B09F-C653DB22F42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14C14F-F33B-4EE3-9768-7895ACE0F74F}">
      <dgm:prSet/>
      <dgm:spPr/>
      <dgm:t>
        <a:bodyPr/>
        <a:lstStyle/>
        <a:p>
          <a:r>
            <a:rPr lang="en-US" b="1"/>
            <a:t>Automated Meeting Capture</a:t>
          </a:r>
          <a:endParaRPr lang="en-US"/>
        </a:p>
      </dgm:t>
    </dgm:pt>
    <dgm:pt modelId="{AB142673-5DE5-4E8D-9FCD-2BC061C14173}" type="parTrans" cxnId="{D5FDCFA9-A008-4B26-89CA-5C158FCBA39B}">
      <dgm:prSet/>
      <dgm:spPr/>
      <dgm:t>
        <a:bodyPr/>
        <a:lstStyle/>
        <a:p>
          <a:endParaRPr lang="en-US"/>
        </a:p>
      </dgm:t>
    </dgm:pt>
    <dgm:pt modelId="{3AD4F8CE-6EEE-4E1E-A8C9-A8A808897015}" type="sibTrans" cxnId="{D5FDCFA9-A008-4B26-89CA-5C158FCBA39B}">
      <dgm:prSet/>
      <dgm:spPr/>
      <dgm:t>
        <a:bodyPr/>
        <a:lstStyle/>
        <a:p>
          <a:endParaRPr lang="en-US"/>
        </a:p>
      </dgm:t>
    </dgm:pt>
    <dgm:pt modelId="{B87588F9-4BCF-4246-89FF-AE2A2DCD5491}">
      <dgm:prSet/>
      <dgm:spPr/>
      <dgm:t>
        <a:bodyPr/>
        <a:lstStyle/>
        <a:p>
          <a:r>
            <a:rPr lang="en-US"/>
            <a:t>Collects audio, chat, and notes from Teams or Zoom without manual effort.</a:t>
          </a:r>
        </a:p>
      </dgm:t>
    </dgm:pt>
    <dgm:pt modelId="{90C6F811-E9EE-402A-AC7D-C89195959C30}" type="parTrans" cxnId="{980667B9-374C-4766-ADF6-996E8349298D}">
      <dgm:prSet/>
      <dgm:spPr/>
      <dgm:t>
        <a:bodyPr/>
        <a:lstStyle/>
        <a:p>
          <a:endParaRPr lang="en-US"/>
        </a:p>
      </dgm:t>
    </dgm:pt>
    <dgm:pt modelId="{5B6E5F15-F372-48E3-A254-BA781FB30BC7}" type="sibTrans" cxnId="{980667B9-374C-4766-ADF6-996E8349298D}">
      <dgm:prSet/>
      <dgm:spPr/>
      <dgm:t>
        <a:bodyPr/>
        <a:lstStyle/>
        <a:p>
          <a:endParaRPr lang="en-US"/>
        </a:p>
      </dgm:t>
    </dgm:pt>
    <dgm:pt modelId="{A86A5E82-F645-4430-BFD0-B4054A0A56E5}">
      <dgm:prSet/>
      <dgm:spPr/>
      <dgm:t>
        <a:bodyPr/>
        <a:lstStyle/>
        <a:p>
          <a:r>
            <a:rPr lang="en-US" b="1"/>
            <a:t>AI‑Driven Transcription</a:t>
          </a:r>
          <a:endParaRPr lang="en-US"/>
        </a:p>
      </dgm:t>
    </dgm:pt>
    <dgm:pt modelId="{F440B059-D823-4848-BD30-95E39BC32567}" type="parTrans" cxnId="{37AE7F3D-467C-4B78-8540-0481C628841B}">
      <dgm:prSet/>
      <dgm:spPr/>
      <dgm:t>
        <a:bodyPr/>
        <a:lstStyle/>
        <a:p>
          <a:endParaRPr lang="en-US"/>
        </a:p>
      </dgm:t>
    </dgm:pt>
    <dgm:pt modelId="{1E3E7751-58ED-4495-9AE5-81653F3ECF46}" type="sibTrans" cxnId="{37AE7F3D-467C-4B78-8540-0481C628841B}">
      <dgm:prSet/>
      <dgm:spPr/>
      <dgm:t>
        <a:bodyPr/>
        <a:lstStyle/>
        <a:p>
          <a:endParaRPr lang="en-US"/>
        </a:p>
      </dgm:t>
    </dgm:pt>
    <dgm:pt modelId="{1238ABAB-712E-40D7-B136-B39193EB93B2}">
      <dgm:prSet/>
      <dgm:spPr/>
      <dgm:t>
        <a:bodyPr/>
        <a:lstStyle/>
        <a:p>
          <a:r>
            <a:rPr lang="en-US"/>
            <a:t>Converts conversations into accurate, structured text for downstream processing.</a:t>
          </a:r>
        </a:p>
      </dgm:t>
    </dgm:pt>
    <dgm:pt modelId="{132D20E0-F5D8-457D-846B-164941641A7F}" type="parTrans" cxnId="{568BEA7E-9CAF-4333-865A-1065209D3739}">
      <dgm:prSet/>
      <dgm:spPr/>
      <dgm:t>
        <a:bodyPr/>
        <a:lstStyle/>
        <a:p>
          <a:endParaRPr lang="en-US"/>
        </a:p>
      </dgm:t>
    </dgm:pt>
    <dgm:pt modelId="{2B4775A7-F729-4478-A3FE-8DE43D2EBDCF}" type="sibTrans" cxnId="{568BEA7E-9CAF-4333-865A-1065209D3739}">
      <dgm:prSet/>
      <dgm:spPr/>
      <dgm:t>
        <a:bodyPr/>
        <a:lstStyle/>
        <a:p>
          <a:endParaRPr lang="en-US"/>
        </a:p>
      </dgm:t>
    </dgm:pt>
    <dgm:pt modelId="{01999EC7-3DEF-471B-9F0A-BC9B23532DB4}">
      <dgm:prSet/>
      <dgm:spPr/>
      <dgm:t>
        <a:bodyPr/>
        <a:lstStyle/>
        <a:p>
          <a:r>
            <a:rPr lang="en-US" b="1"/>
            <a:t>Intelligent Summarization</a:t>
          </a:r>
          <a:endParaRPr lang="en-US"/>
        </a:p>
      </dgm:t>
    </dgm:pt>
    <dgm:pt modelId="{C06CBA75-24C6-4CAE-8E86-090E6EEB36D4}" type="parTrans" cxnId="{EC3FAA93-9342-424E-A620-E59683CB6007}">
      <dgm:prSet/>
      <dgm:spPr/>
      <dgm:t>
        <a:bodyPr/>
        <a:lstStyle/>
        <a:p>
          <a:endParaRPr lang="en-US"/>
        </a:p>
      </dgm:t>
    </dgm:pt>
    <dgm:pt modelId="{700BC330-CAC7-4F6A-AE67-593341E842C9}" type="sibTrans" cxnId="{EC3FAA93-9342-424E-A620-E59683CB6007}">
      <dgm:prSet/>
      <dgm:spPr/>
      <dgm:t>
        <a:bodyPr/>
        <a:lstStyle/>
        <a:p>
          <a:endParaRPr lang="en-US"/>
        </a:p>
      </dgm:t>
    </dgm:pt>
    <dgm:pt modelId="{D389ED8E-0B1E-406C-AFFB-D5C691FD3773}">
      <dgm:prSet/>
      <dgm:spPr/>
      <dgm:t>
        <a:bodyPr/>
        <a:lstStyle/>
        <a:p>
          <a:r>
            <a:rPr lang="en-US"/>
            <a:t>Produces concise summaries of key discussions, decisions, and insights.</a:t>
          </a:r>
        </a:p>
      </dgm:t>
    </dgm:pt>
    <dgm:pt modelId="{8DD5CA39-1846-4923-880A-756764D249C5}" type="parTrans" cxnId="{11264C4D-BB1C-44EC-82A3-5F0C5AE319AB}">
      <dgm:prSet/>
      <dgm:spPr/>
      <dgm:t>
        <a:bodyPr/>
        <a:lstStyle/>
        <a:p>
          <a:endParaRPr lang="en-US"/>
        </a:p>
      </dgm:t>
    </dgm:pt>
    <dgm:pt modelId="{00FD741D-AA74-4CF6-BF42-EE2F24364376}" type="sibTrans" cxnId="{11264C4D-BB1C-44EC-82A3-5F0C5AE319AB}">
      <dgm:prSet/>
      <dgm:spPr/>
      <dgm:t>
        <a:bodyPr/>
        <a:lstStyle/>
        <a:p>
          <a:endParaRPr lang="en-US"/>
        </a:p>
      </dgm:t>
    </dgm:pt>
    <dgm:pt modelId="{537E493B-618C-4CB7-B47C-03A7D192F1C9}">
      <dgm:prSet/>
      <dgm:spPr/>
      <dgm:t>
        <a:bodyPr/>
        <a:lstStyle/>
        <a:p>
          <a:r>
            <a:rPr lang="en-US" b="1"/>
            <a:t>Action Item Extraction</a:t>
          </a:r>
          <a:endParaRPr lang="en-US"/>
        </a:p>
      </dgm:t>
    </dgm:pt>
    <dgm:pt modelId="{6FCEB038-7A45-4CE4-A761-6EB9D5F14887}" type="parTrans" cxnId="{A74C6E65-AB1B-4EBD-B8B3-BD292B4D2C43}">
      <dgm:prSet/>
      <dgm:spPr/>
      <dgm:t>
        <a:bodyPr/>
        <a:lstStyle/>
        <a:p>
          <a:endParaRPr lang="en-US"/>
        </a:p>
      </dgm:t>
    </dgm:pt>
    <dgm:pt modelId="{49CA894E-63A8-45D3-822D-1981C3E65CB4}" type="sibTrans" cxnId="{A74C6E65-AB1B-4EBD-B8B3-BD292B4D2C43}">
      <dgm:prSet/>
      <dgm:spPr/>
      <dgm:t>
        <a:bodyPr/>
        <a:lstStyle/>
        <a:p>
          <a:endParaRPr lang="en-US"/>
        </a:p>
      </dgm:t>
    </dgm:pt>
    <dgm:pt modelId="{16027734-4889-49AD-8AE1-1E8D313DC33D}">
      <dgm:prSet/>
      <dgm:spPr/>
      <dgm:t>
        <a:bodyPr/>
        <a:lstStyle/>
        <a:p>
          <a:r>
            <a:rPr lang="en-US"/>
            <a:t>Identifies owners, deadlines, and next steps directly from meeting content.</a:t>
          </a:r>
        </a:p>
      </dgm:t>
    </dgm:pt>
    <dgm:pt modelId="{549A7C5F-E5D9-4A24-BFA8-9ECE4DBAD161}" type="parTrans" cxnId="{57968F50-47E9-44D5-BD1F-849914DF0040}">
      <dgm:prSet/>
      <dgm:spPr/>
      <dgm:t>
        <a:bodyPr/>
        <a:lstStyle/>
        <a:p>
          <a:endParaRPr lang="en-US"/>
        </a:p>
      </dgm:t>
    </dgm:pt>
    <dgm:pt modelId="{5160FEA7-AC39-44F0-A2C8-C4307B4664B0}" type="sibTrans" cxnId="{57968F50-47E9-44D5-BD1F-849914DF0040}">
      <dgm:prSet/>
      <dgm:spPr/>
      <dgm:t>
        <a:bodyPr/>
        <a:lstStyle/>
        <a:p>
          <a:endParaRPr lang="en-US"/>
        </a:p>
      </dgm:t>
    </dgm:pt>
    <dgm:pt modelId="{B30DC4E0-CF9E-4712-BDE9-481708BD5131}">
      <dgm:prSet/>
      <dgm:spPr/>
      <dgm:t>
        <a:bodyPr/>
        <a:lstStyle/>
        <a:p>
          <a:r>
            <a:rPr lang="en-US" b="1"/>
            <a:t>Reasoning‑Based Validation</a:t>
          </a:r>
          <a:endParaRPr lang="en-US"/>
        </a:p>
      </dgm:t>
    </dgm:pt>
    <dgm:pt modelId="{34D0EBE7-3C54-43ED-8C90-A5CC113AE4A9}" type="parTrans" cxnId="{E06C8C40-1A11-4D52-95BF-B78B38AA8ADB}">
      <dgm:prSet/>
      <dgm:spPr/>
      <dgm:t>
        <a:bodyPr/>
        <a:lstStyle/>
        <a:p>
          <a:endParaRPr lang="en-US"/>
        </a:p>
      </dgm:t>
    </dgm:pt>
    <dgm:pt modelId="{BFC3A3D2-91E1-47DD-B719-A5688DA44E3E}" type="sibTrans" cxnId="{E06C8C40-1A11-4D52-95BF-B78B38AA8ADB}">
      <dgm:prSet/>
      <dgm:spPr/>
      <dgm:t>
        <a:bodyPr/>
        <a:lstStyle/>
        <a:p>
          <a:endParaRPr lang="en-US"/>
        </a:p>
      </dgm:t>
    </dgm:pt>
    <dgm:pt modelId="{B97E8574-317F-42F7-A98E-5CF25BA3599F}">
      <dgm:prSet/>
      <dgm:spPr/>
      <dgm:t>
        <a:bodyPr/>
        <a:lstStyle/>
        <a:p>
          <a:r>
            <a:rPr lang="en-US"/>
            <a:t>Ensures tasks are complete, clear, conflict‑free, and ready for execution.</a:t>
          </a:r>
        </a:p>
      </dgm:t>
    </dgm:pt>
    <dgm:pt modelId="{A5B96AB5-B105-4B43-8563-59E25E48ED67}" type="parTrans" cxnId="{BCDDC102-02F3-41C9-8B51-CBCD1D7371BA}">
      <dgm:prSet/>
      <dgm:spPr/>
      <dgm:t>
        <a:bodyPr/>
        <a:lstStyle/>
        <a:p>
          <a:endParaRPr lang="en-US"/>
        </a:p>
      </dgm:t>
    </dgm:pt>
    <dgm:pt modelId="{2F12B18A-B5A6-440C-B1E1-1A440F28F5CB}" type="sibTrans" cxnId="{BCDDC102-02F3-41C9-8B51-CBCD1D7371BA}">
      <dgm:prSet/>
      <dgm:spPr/>
      <dgm:t>
        <a:bodyPr/>
        <a:lstStyle/>
        <a:p>
          <a:endParaRPr lang="en-US"/>
        </a:p>
      </dgm:t>
    </dgm:pt>
    <dgm:pt modelId="{BEDDA455-BE36-4A99-AEFD-E9F3AA0559F6}">
      <dgm:prSet/>
      <dgm:spPr/>
      <dgm:t>
        <a:bodyPr/>
        <a:lstStyle/>
        <a:p>
          <a:r>
            <a:rPr lang="en-US" b="1"/>
            <a:t>Automated Task Creation</a:t>
          </a:r>
          <a:endParaRPr lang="en-US"/>
        </a:p>
      </dgm:t>
    </dgm:pt>
    <dgm:pt modelId="{25F53518-269E-4CBF-BE6C-8E9AF7F00DCC}" type="parTrans" cxnId="{6E2D6E9B-19C3-414F-974A-EA63881E09BC}">
      <dgm:prSet/>
      <dgm:spPr/>
      <dgm:t>
        <a:bodyPr/>
        <a:lstStyle/>
        <a:p>
          <a:endParaRPr lang="en-US"/>
        </a:p>
      </dgm:t>
    </dgm:pt>
    <dgm:pt modelId="{878E517C-9A19-41CB-8303-BFC4FCE724B0}" type="sibTrans" cxnId="{6E2D6E9B-19C3-414F-974A-EA63881E09BC}">
      <dgm:prSet/>
      <dgm:spPr/>
      <dgm:t>
        <a:bodyPr/>
        <a:lstStyle/>
        <a:p>
          <a:endParaRPr lang="en-US"/>
        </a:p>
      </dgm:t>
    </dgm:pt>
    <dgm:pt modelId="{08613FE7-6C6C-475D-BE33-DE32796F65FA}">
      <dgm:prSet/>
      <dgm:spPr/>
      <dgm:t>
        <a:bodyPr/>
        <a:lstStyle/>
        <a:p>
          <a:r>
            <a:rPr lang="en-US"/>
            <a:t>Creates and updates tasks in Jira, Planner, or Confluence with consistent formatting.</a:t>
          </a:r>
        </a:p>
      </dgm:t>
    </dgm:pt>
    <dgm:pt modelId="{5F2C330B-42BB-4D88-8701-A5712A48E3B2}" type="parTrans" cxnId="{DE648A05-BC53-45D2-9D19-5338ED738035}">
      <dgm:prSet/>
      <dgm:spPr/>
      <dgm:t>
        <a:bodyPr/>
        <a:lstStyle/>
        <a:p>
          <a:endParaRPr lang="en-US"/>
        </a:p>
      </dgm:t>
    </dgm:pt>
    <dgm:pt modelId="{72228DD8-DC6A-4362-B110-09C0D1297B30}" type="sibTrans" cxnId="{DE648A05-BC53-45D2-9D19-5338ED738035}">
      <dgm:prSet/>
      <dgm:spPr/>
      <dgm:t>
        <a:bodyPr/>
        <a:lstStyle/>
        <a:p>
          <a:endParaRPr lang="en-US"/>
        </a:p>
      </dgm:t>
    </dgm:pt>
    <dgm:pt modelId="{EC094730-9870-4166-A4F3-B9C69894FED3}">
      <dgm:prSet/>
      <dgm:spPr/>
      <dgm:t>
        <a:bodyPr/>
        <a:lstStyle/>
        <a:p>
          <a:r>
            <a:rPr lang="en-US" b="1"/>
            <a:t>Proactive Follow‑Ups</a:t>
          </a:r>
          <a:endParaRPr lang="en-US"/>
        </a:p>
      </dgm:t>
    </dgm:pt>
    <dgm:pt modelId="{8F364304-2AB1-4B59-89CA-8A9F4BD9AA03}" type="parTrans" cxnId="{8B4108BC-1AFA-4839-A4E5-F09C1149C169}">
      <dgm:prSet/>
      <dgm:spPr/>
      <dgm:t>
        <a:bodyPr/>
        <a:lstStyle/>
        <a:p>
          <a:endParaRPr lang="en-US"/>
        </a:p>
      </dgm:t>
    </dgm:pt>
    <dgm:pt modelId="{22772DFB-7662-466B-89A5-EFE9A0276589}" type="sibTrans" cxnId="{8B4108BC-1AFA-4839-A4E5-F09C1149C169}">
      <dgm:prSet/>
      <dgm:spPr/>
      <dgm:t>
        <a:bodyPr/>
        <a:lstStyle/>
        <a:p>
          <a:endParaRPr lang="en-US"/>
        </a:p>
      </dgm:t>
    </dgm:pt>
    <dgm:pt modelId="{F8E66AF6-C495-41CB-902E-DD1BF2359898}">
      <dgm:prSet/>
      <dgm:spPr/>
      <dgm:t>
        <a:bodyPr/>
        <a:lstStyle/>
        <a:p>
          <a:r>
            <a:rPr lang="en-US"/>
            <a:t>Sends reminders, nudges, and escalations through Outlook or Teams to ensure closure.</a:t>
          </a:r>
        </a:p>
      </dgm:t>
    </dgm:pt>
    <dgm:pt modelId="{4382E473-2CF8-47CF-B35A-91A47DBDE463}" type="parTrans" cxnId="{D2A629D7-AC51-4C6C-B915-80709911DE07}">
      <dgm:prSet/>
      <dgm:spPr/>
      <dgm:t>
        <a:bodyPr/>
        <a:lstStyle/>
        <a:p>
          <a:endParaRPr lang="en-US"/>
        </a:p>
      </dgm:t>
    </dgm:pt>
    <dgm:pt modelId="{2612AF46-B66A-425F-B5DD-6DC2C175F720}" type="sibTrans" cxnId="{D2A629D7-AC51-4C6C-B915-80709911DE07}">
      <dgm:prSet/>
      <dgm:spPr/>
      <dgm:t>
        <a:bodyPr/>
        <a:lstStyle/>
        <a:p>
          <a:endParaRPr lang="en-US"/>
        </a:p>
      </dgm:t>
    </dgm:pt>
    <dgm:pt modelId="{934D2009-A12E-44D9-9886-480CB204C429}" type="pres">
      <dgm:prSet presAssocID="{BAEB8EEA-6FDF-4F36-B09F-C653DB22F42D}" presName="Name0" presStyleCnt="0">
        <dgm:presLayoutVars>
          <dgm:dir/>
          <dgm:animLvl val="lvl"/>
          <dgm:resizeHandles val="exact"/>
        </dgm:presLayoutVars>
      </dgm:prSet>
      <dgm:spPr/>
    </dgm:pt>
    <dgm:pt modelId="{AC9ED469-DFFB-4BE6-AE54-C7C2C877FCD0}" type="pres">
      <dgm:prSet presAssocID="{4F14C14F-F33B-4EE3-9768-7895ACE0F74F}" presName="linNode" presStyleCnt="0"/>
      <dgm:spPr/>
    </dgm:pt>
    <dgm:pt modelId="{26CBD3BD-8040-4763-9F06-66B0E2B44943}" type="pres">
      <dgm:prSet presAssocID="{4F14C14F-F33B-4EE3-9768-7895ACE0F74F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D06264C5-807D-46AC-8A22-8052203A8140}" type="pres">
      <dgm:prSet presAssocID="{4F14C14F-F33B-4EE3-9768-7895ACE0F74F}" presName="descendantText" presStyleLbl="alignAccFollowNode1" presStyleIdx="0" presStyleCnt="7">
        <dgm:presLayoutVars>
          <dgm:bulletEnabled val="1"/>
        </dgm:presLayoutVars>
      </dgm:prSet>
      <dgm:spPr/>
    </dgm:pt>
    <dgm:pt modelId="{11E026E0-DF35-447B-A1E2-030DE234676D}" type="pres">
      <dgm:prSet presAssocID="{3AD4F8CE-6EEE-4E1E-A8C9-A8A808897015}" presName="sp" presStyleCnt="0"/>
      <dgm:spPr/>
    </dgm:pt>
    <dgm:pt modelId="{D49F6EF7-ECD7-4F4F-80ED-FDDF3477512C}" type="pres">
      <dgm:prSet presAssocID="{A86A5E82-F645-4430-BFD0-B4054A0A56E5}" presName="linNode" presStyleCnt="0"/>
      <dgm:spPr/>
    </dgm:pt>
    <dgm:pt modelId="{57490B4D-594F-48C2-B932-FDB80CEC40D3}" type="pres">
      <dgm:prSet presAssocID="{A86A5E82-F645-4430-BFD0-B4054A0A56E5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6B08B0D9-745E-4E02-B1F9-C82E8A986AE9}" type="pres">
      <dgm:prSet presAssocID="{A86A5E82-F645-4430-BFD0-B4054A0A56E5}" presName="descendantText" presStyleLbl="alignAccFollowNode1" presStyleIdx="1" presStyleCnt="7">
        <dgm:presLayoutVars>
          <dgm:bulletEnabled val="1"/>
        </dgm:presLayoutVars>
      </dgm:prSet>
      <dgm:spPr/>
    </dgm:pt>
    <dgm:pt modelId="{FCFFC0CC-3BE8-4E1C-8FD0-1CC9F50E27CB}" type="pres">
      <dgm:prSet presAssocID="{1E3E7751-58ED-4495-9AE5-81653F3ECF46}" presName="sp" presStyleCnt="0"/>
      <dgm:spPr/>
    </dgm:pt>
    <dgm:pt modelId="{A852AB15-6D2B-4CC1-8D83-A9FC2C982B4B}" type="pres">
      <dgm:prSet presAssocID="{01999EC7-3DEF-471B-9F0A-BC9B23532DB4}" presName="linNode" presStyleCnt="0"/>
      <dgm:spPr/>
    </dgm:pt>
    <dgm:pt modelId="{858C1543-23C5-4E14-B5F3-E3DDA927D495}" type="pres">
      <dgm:prSet presAssocID="{01999EC7-3DEF-471B-9F0A-BC9B23532DB4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D94562FC-102D-4350-BB46-1D5AA61BC821}" type="pres">
      <dgm:prSet presAssocID="{01999EC7-3DEF-471B-9F0A-BC9B23532DB4}" presName="descendantText" presStyleLbl="alignAccFollowNode1" presStyleIdx="2" presStyleCnt="7">
        <dgm:presLayoutVars>
          <dgm:bulletEnabled val="1"/>
        </dgm:presLayoutVars>
      </dgm:prSet>
      <dgm:spPr/>
    </dgm:pt>
    <dgm:pt modelId="{272B7D1E-2B3C-452F-875A-7B5291269F0F}" type="pres">
      <dgm:prSet presAssocID="{700BC330-CAC7-4F6A-AE67-593341E842C9}" presName="sp" presStyleCnt="0"/>
      <dgm:spPr/>
    </dgm:pt>
    <dgm:pt modelId="{8669D0B4-EF6C-49A9-941E-3ADB63DE4A92}" type="pres">
      <dgm:prSet presAssocID="{537E493B-618C-4CB7-B47C-03A7D192F1C9}" presName="linNode" presStyleCnt="0"/>
      <dgm:spPr/>
    </dgm:pt>
    <dgm:pt modelId="{EEB61265-4303-4CAD-B321-B33BA2B2A60F}" type="pres">
      <dgm:prSet presAssocID="{537E493B-618C-4CB7-B47C-03A7D192F1C9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9794815C-5261-4F48-8B94-A11D0135A5E5}" type="pres">
      <dgm:prSet presAssocID="{537E493B-618C-4CB7-B47C-03A7D192F1C9}" presName="descendantText" presStyleLbl="alignAccFollowNode1" presStyleIdx="3" presStyleCnt="7">
        <dgm:presLayoutVars>
          <dgm:bulletEnabled val="1"/>
        </dgm:presLayoutVars>
      </dgm:prSet>
      <dgm:spPr/>
    </dgm:pt>
    <dgm:pt modelId="{1A6D6C53-339A-4F9E-A12C-0A699283ABF0}" type="pres">
      <dgm:prSet presAssocID="{49CA894E-63A8-45D3-822D-1981C3E65CB4}" presName="sp" presStyleCnt="0"/>
      <dgm:spPr/>
    </dgm:pt>
    <dgm:pt modelId="{80A143BB-4A40-41B1-9D9F-B5D8BEA7E710}" type="pres">
      <dgm:prSet presAssocID="{B30DC4E0-CF9E-4712-BDE9-481708BD5131}" presName="linNode" presStyleCnt="0"/>
      <dgm:spPr/>
    </dgm:pt>
    <dgm:pt modelId="{B2208526-E29D-483E-9937-98B33742ABAB}" type="pres">
      <dgm:prSet presAssocID="{B30DC4E0-CF9E-4712-BDE9-481708BD5131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9D587460-89F4-45A0-9A20-2025B1E3379B}" type="pres">
      <dgm:prSet presAssocID="{B30DC4E0-CF9E-4712-BDE9-481708BD5131}" presName="descendantText" presStyleLbl="alignAccFollowNode1" presStyleIdx="4" presStyleCnt="7">
        <dgm:presLayoutVars>
          <dgm:bulletEnabled val="1"/>
        </dgm:presLayoutVars>
      </dgm:prSet>
      <dgm:spPr/>
    </dgm:pt>
    <dgm:pt modelId="{9EE9E35F-A4CC-4F21-9925-08C90CE5D47C}" type="pres">
      <dgm:prSet presAssocID="{BFC3A3D2-91E1-47DD-B719-A5688DA44E3E}" presName="sp" presStyleCnt="0"/>
      <dgm:spPr/>
    </dgm:pt>
    <dgm:pt modelId="{9A27A0C5-513B-421F-A793-91C124AEC586}" type="pres">
      <dgm:prSet presAssocID="{BEDDA455-BE36-4A99-AEFD-E9F3AA0559F6}" presName="linNode" presStyleCnt="0"/>
      <dgm:spPr/>
    </dgm:pt>
    <dgm:pt modelId="{73BB5659-E84C-4CBD-B274-3669A0CE598F}" type="pres">
      <dgm:prSet presAssocID="{BEDDA455-BE36-4A99-AEFD-E9F3AA0559F6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9CECA6D5-207E-4EAA-A4C3-2269609FBB8F}" type="pres">
      <dgm:prSet presAssocID="{BEDDA455-BE36-4A99-AEFD-E9F3AA0559F6}" presName="descendantText" presStyleLbl="alignAccFollowNode1" presStyleIdx="5" presStyleCnt="7">
        <dgm:presLayoutVars>
          <dgm:bulletEnabled val="1"/>
        </dgm:presLayoutVars>
      </dgm:prSet>
      <dgm:spPr/>
    </dgm:pt>
    <dgm:pt modelId="{FF774881-AE98-48CC-B3AD-C40F946CD724}" type="pres">
      <dgm:prSet presAssocID="{878E517C-9A19-41CB-8303-BFC4FCE724B0}" presName="sp" presStyleCnt="0"/>
      <dgm:spPr/>
    </dgm:pt>
    <dgm:pt modelId="{C377EFA3-6981-4E7E-AC39-F1FAE9A7AA27}" type="pres">
      <dgm:prSet presAssocID="{EC094730-9870-4166-A4F3-B9C69894FED3}" presName="linNode" presStyleCnt="0"/>
      <dgm:spPr/>
    </dgm:pt>
    <dgm:pt modelId="{69E59516-B2A2-4974-9717-3972C597489E}" type="pres">
      <dgm:prSet presAssocID="{EC094730-9870-4166-A4F3-B9C69894FED3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908D8875-1FA6-427C-B140-9BBDBA660D58}" type="pres">
      <dgm:prSet presAssocID="{EC094730-9870-4166-A4F3-B9C69894FED3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BCDDC102-02F3-41C9-8B51-CBCD1D7371BA}" srcId="{B30DC4E0-CF9E-4712-BDE9-481708BD5131}" destId="{B97E8574-317F-42F7-A98E-5CF25BA3599F}" srcOrd="0" destOrd="0" parTransId="{A5B96AB5-B105-4B43-8563-59E25E48ED67}" sibTransId="{2F12B18A-B5A6-440C-B1E1-1A440F28F5CB}"/>
    <dgm:cxn modelId="{6C8E8205-7DD8-40A5-8AC8-F23E0F083364}" type="presOf" srcId="{1238ABAB-712E-40D7-B136-B39193EB93B2}" destId="{6B08B0D9-745E-4E02-B1F9-C82E8A986AE9}" srcOrd="0" destOrd="0" presId="urn:microsoft.com/office/officeart/2005/8/layout/vList5"/>
    <dgm:cxn modelId="{DE648A05-BC53-45D2-9D19-5338ED738035}" srcId="{BEDDA455-BE36-4A99-AEFD-E9F3AA0559F6}" destId="{08613FE7-6C6C-475D-BE33-DE32796F65FA}" srcOrd="0" destOrd="0" parTransId="{5F2C330B-42BB-4D88-8701-A5712A48E3B2}" sibTransId="{72228DD8-DC6A-4362-B110-09C0D1297B30}"/>
    <dgm:cxn modelId="{3500330F-B685-4369-8FCD-E8A3526CF88C}" type="presOf" srcId="{B87588F9-4BCF-4246-89FF-AE2A2DCD5491}" destId="{D06264C5-807D-46AC-8A22-8052203A8140}" srcOrd="0" destOrd="0" presId="urn:microsoft.com/office/officeart/2005/8/layout/vList5"/>
    <dgm:cxn modelId="{771C7316-BC93-4216-BA77-02DBEB461319}" type="presOf" srcId="{B97E8574-317F-42F7-A98E-5CF25BA3599F}" destId="{9D587460-89F4-45A0-9A20-2025B1E3379B}" srcOrd="0" destOrd="0" presId="urn:microsoft.com/office/officeart/2005/8/layout/vList5"/>
    <dgm:cxn modelId="{43FEC81B-C4E5-42C1-A50A-975C615D7496}" type="presOf" srcId="{BAEB8EEA-6FDF-4F36-B09F-C653DB22F42D}" destId="{934D2009-A12E-44D9-9886-480CB204C429}" srcOrd="0" destOrd="0" presId="urn:microsoft.com/office/officeart/2005/8/layout/vList5"/>
    <dgm:cxn modelId="{2D725839-D968-43BB-9D08-30E684E1A45D}" type="presOf" srcId="{F8E66AF6-C495-41CB-902E-DD1BF2359898}" destId="{908D8875-1FA6-427C-B140-9BBDBA660D58}" srcOrd="0" destOrd="0" presId="urn:microsoft.com/office/officeart/2005/8/layout/vList5"/>
    <dgm:cxn modelId="{37AE7F3D-467C-4B78-8540-0481C628841B}" srcId="{BAEB8EEA-6FDF-4F36-B09F-C653DB22F42D}" destId="{A86A5E82-F645-4430-BFD0-B4054A0A56E5}" srcOrd="1" destOrd="0" parTransId="{F440B059-D823-4848-BD30-95E39BC32567}" sibTransId="{1E3E7751-58ED-4495-9AE5-81653F3ECF46}"/>
    <dgm:cxn modelId="{E06C8C40-1A11-4D52-95BF-B78B38AA8ADB}" srcId="{BAEB8EEA-6FDF-4F36-B09F-C653DB22F42D}" destId="{B30DC4E0-CF9E-4712-BDE9-481708BD5131}" srcOrd="4" destOrd="0" parTransId="{34D0EBE7-3C54-43ED-8C90-A5CC113AE4A9}" sibTransId="{BFC3A3D2-91E1-47DD-B719-A5688DA44E3E}"/>
    <dgm:cxn modelId="{A083B960-0825-4C8A-9256-01D81940C79F}" type="presOf" srcId="{EC094730-9870-4166-A4F3-B9C69894FED3}" destId="{69E59516-B2A2-4974-9717-3972C597489E}" srcOrd="0" destOrd="0" presId="urn:microsoft.com/office/officeart/2005/8/layout/vList5"/>
    <dgm:cxn modelId="{A74C6E65-AB1B-4EBD-B8B3-BD292B4D2C43}" srcId="{BAEB8EEA-6FDF-4F36-B09F-C653DB22F42D}" destId="{537E493B-618C-4CB7-B47C-03A7D192F1C9}" srcOrd="3" destOrd="0" parTransId="{6FCEB038-7A45-4CE4-A761-6EB9D5F14887}" sibTransId="{49CA894E-63A8-45D3-822D-1981C3E65CB4}"/>
    <dgm:cxn modelId="{11264C4D-BB1C-44EC-82A3-5F0C5AE319AB}" srcId="{01999EC7-3DEF-471B-9F0A-BC9B23532DB4}" destId="{D389ED8E-0B1E-406C-AFFB-D5C691FD3773}" srcOrd="0" destOrd="0" parTransId="{8DD5CA39-1846-4923-880A-756764D249C5}" sibTransId="{00FD741D-AA74-4CF6-BF42-EE2F24364376}"/>
    <dgm:cxn modelId="{57968F50-47E9-44D5-BD1F-849914DF0040}" srcId="{537E493B-618C-4CB7-B47C-03A7D192F1C9}" destId="{16027734-4889-49AD-8AE1-1E8D313DC33D}" srcOrd="0" destOrd="0" parTransId="{549A7C5F-E5D9-4A24-BFA8-9ECE4DBAD161}" sibTransId="{5160FEA7-AC39-44F0-A2C8-C4307B4664B0}"/>
    <dgm:cxn modelId="{568BEA7E-9CAF-4333-865A-1065209D3739}" srcId="{A86A5E82-F645-4430-BFD0-B4054A0A56E5}" destId="{1238ABAB-712E-40D7-B136-B39193EB93B2}" srcOrd="0" destOrd="0" parTransId="{132D20E0-F5D8-457D-846B-164941641A7F}" sibTransId="{2B4775A7-F729-4478-A3FE-8DE43D2EBDCF}"/>
    <dgm:cxn modelId="{DC9C4981-47BF-44E1-A7A7-F97BDED2301E}" type="presOf" srcId="{4F14C14F-F33B-4EE3-9768-7895ACE0F74F}" destId="{26CBD3BD-8040-4763-9F06-66B0E2B44943}" srcOrd="0" destOrd="0" presId="urn:microsoft.com/office/officeart/2005/8/layout/vList5"/>
    <dgm:cxn modelId="{D5E20686-30D9-4996-8774-B95BBBB6A1D8}" type="presOf" srcId="{D389ED8E-0B1E-406C-AFFB-D5C691FD3773}" destId="{D94562FC-102D-4350-BB46-1D5AA61BC821}" srcOrd="0" destOrd="0" presId="urn:microsoft.com/office/officeart/2005/8/layout/vList5"/>
    <dgm:cxn modelId="{FD440991-D4AB-44CD-958B-71CE248B9397}" type="presOf" srcId="{537E493B-618C-4CB7-B47C-03A7D192F1C9}" destId="{EEB61265-4303-4CAD-B321-B33BA2B2A60F}" srcOrd="0" destOrd="0" presId="urn:microsoft.com/office/officeart/2005/8/layout/vList5"/>
    <dgm:cxn modelId="{EC3FAA93-9342-424E-A620-E59683CB6007}" srcId="{BAEB8EEA-6FDF-4F36-B09F-C653DB22F42D}" destId="{01999EC7-3DEF-471B-9F0A-BC9B23532DB4}" srcOrd="2" destOrd="0" parTransId="{C06CBA75-24C6-4CAE-8E86-090E6EEB36D4}" sibTransId="{700BC330-CAC7-4F6A-AE67-593341E842C9}"/>
    <dgm:cxn modelId="{85BC1594-61AE-4945-ACD0-7DDE6C153963}" type="presOf" srcId="{B30DC4E0-CF9E-4712-BDE9-481708BD5131}" destId="{B2208526-E29D-483E-9937-98B33742ABAB}" srcOrd="0" destOrd="0" presId="urn:microsoft.com/office/officeart/2005/8/layout/vList5"/>
    <dgm:cxn modelId="{6E2D6E9B-19C3-414F-974A-EA63881E09BC}" srcId="{BAEB8EEA-6FDF-4F36-B09F-C653DB22F42D}" destId="{BEDDA455-BE36-4A99-AEFD-E9F3AA0559F6}" srcOrd="5" destOrd="0" parTransId="{25F53518-269E-4CBF-BE6C-8E9AF7F00DCC}" sibTransId="{878E517C-9A19-41CB-8303-BFC4FCE724B0}"/>
    <dgm:cxn modelId="{D5FDCFA9-A008-4B26-89CA-5C158FCBA39B}" srcId="{BAEB8EEA-6FDF-4F36-B09F-C653DB22F42D}" destId="{4F14C14F-F33B-4EE3-9768-7895ACE0F74F}" srcOrd="0" destOrd="0" parTransId="{AB142673-5DE5-4E8D-9FCD-2BC061C14173}" sibTransId="{3AD4F8CE-6EEE-4E1E-A8C9-A8A808897015}"/>
    <dgm:cxn modelId="{769FE7AA-BA25-4939-B301-C9710374A4B8}" type="presOf" srcId="{16027734-4889-49AD-8AE1-1E8D313DC33D}" destId="{9794815C-5261-4F48-8B94-A11D0135A5E5}" srcOrd="0" destOrd="0" presId="urn:microsoft.com/office/officeart/2005/8/layout/vList5"/>
    <dgm:cxn modelId="{6F4AC3B4-7A6A-4CD0-BF83-94ECC0F2B941}" type="presOf" srcId="{01999EC7-3DEF-471B-9F0A-BC9B23532DB4}" destId="{858C1543-23C5-4E14-B5F3-E3DDA927D495}" srcOrd="0" destOrd="0" presId="urn:microsoft.com/office/officeart/2005/8/layout/vList5"/>
    <dgm:cxn modelId="{980667B9-374C-4766-ADF6-996E8349298D}" srcId="{4F14C14F-F33B-4EE3-9768-7895ACE0F74F}" destId="{B87588F9-4BCF-4246-89FF-AE2A2DCD5491}" srcOrd="0" destOrd="0" parTransId="{90C6F811-E9EE-402A-AC7D-C89195959C30}" sibTransId="{5B6E5F15-F372-48E3-A254-BA781FB30BC7}"/>
    <dgm:cxn modelId="{8B4108BC-1AFA-4839-A4E5-F09C1149C169}" srcId="{BAEB8EEA-6FDF-4F36-B09F-C653DB22F42D}" destId="{EC094730-9870-4166-A4F3-B9C69894FED3}" srcOrd="6" destOrd="0" parTransId="{8F364304-2AB1-4B59-89CA-8A9F4BD9AA03}" sibTransId="{22772DFB-7662-466B-89A5-EFE9A0276589}"/>
    <dgm:cxn modelId="{CF1874D5-B5BA-4575-8AF4-55E1C585FC0D}" type="presOf" srcId="{A86A5E82-F645-4430-BFD0-B4054A0A56E5}" destId="{57490B4D-594F-48C2-B932-FDB80CEC40D3}" srcOrd="0" destOrd="0" presId="urn:microsoft.com/office/officeart/2005/8/layout/vList5"/>
    <dgm:cxn modelId="{D2A629D7-AC51-4C6C-B915-80709911DE07}" srcId="{EC094730-9870-4166-A4F3-B9C69894FED3}" destId="{F8E66AF6-C495-41CB-902E-DD1BF2359898}" srcOrd="0" destOrd="0" parTransId="{4382E473-2CF8-47CF-B35A-91A47DBDE463}" sibTransId="{2612AF46-B66A-425F-B5DD-6DC2C175F720}"/>
    <dgm:cxn modelId="{BF8B5FEE-E361-4F6B-B56E-F1BDE19C925F}" type="presOf" srcId="{08613FE7-6C6C-475D-BE33-DE32796F65FA}" destId="{9CECA6D5-207E-4EAA-A4C3-2269609FBB8F}" srcOrd="0" destOrd="0" presId="urn:microsoft.com/office/officeart/2005/8/layout/vList5"/>
    <dgm:cxn modelId="{81D0EAF0-BDAE-48C9-8A2A-C2263A527C82}" type="presOf" srcId="{BEDDA455-BE36-4A99-AEFD-E9F3AA0559F6}" destId="{73BB5659-E84C-4CBD-B274-3669A0CE598F}" srcOrd="0" destOrd="0" presId="urn:microsoft.com/office/officeart/2005/8/layout/vList5"/>
    <dgm:cxn modelId="{444AFA0D-2B1C-4A00-9093-8CE23D45A613}" type="presParOf" srcId="{934D2009-A12E-44D9-9886-480CB204C429}" destId="{AC9ED469-DFFB-4BE6-AE54-C7C2C877FCD0}" srcOrd="0" destOrd="0" presId="urn:microsoft.com/office/officeart/2005/8/layout/vList5"/>
    <dgm:cxn modelId="{593CFCF2-4671-4EA9-AFA1-3CB9C6670079}" type="presParOf" srcId="{AC9ED469-DFFB-4BE6-AE54-C7C2C877FCD0}" destId="{26CBD3BD-8040-4763-9F06-66B0E2B44943}" srcOrd="0" destOrd="0" presId="urn:microsoft.com/office/officeart/2005/8/layout/vList5"/>
    <dgm:cxn modelId="{86DF8FDB-D89D-4820-8031-8DEC2C48CD87}" type="presParOf" srcId="{AC9ED469-DFFB-4BE6-AE54-C7C2C877FCD0}" destId="{D06264C5-807D-46AC-8A22-8052203A8140}" srcOrd="1" destOrd="0" presId="urn:microsoft.com/office/officeart/2005/8/layout/vList5"/>
    <dgm:cxn modelId="{7B282172-9DF0-40F4-8D93-5D61E70BCAB4}" type="presParOf" srcId="{934D2009-A12E-44D9-9886-480CB204C429}" destId="{11E026E0-DF35-447B-A1E2-030DE234676D}" srcOrd="1" destOrd="0" presId="urn:microsoft.com/office/officeart/2005/8/layout/vList5"/>
    <dgm:cxn modelId="{5A82B6C0-C8ED-4A39-9106-1A768A703AEE}" type="presParOf" srcId="{934D2009-A12E-44D9-9886-480CB204C429}" destId="{D49F6EF7-ECD7-4F4F-80ED-FDDF3477512C}" srcOrd="2" destOrd="0" presId="urn:microsoft.com/office/officeart/2005/8/layout/vList5"/>
    <dgm:cxn modelId="{0FC64699-8B50-438F-A91F-3540319718CA}" type="presParOf" srcId="{D49F6EF7-ECD7-4F4F-80ED-FDDF3477512C}" destId="{57490B4D-594F-48C2-B932-FDB80CEC40D3}" srcOrd="0" destOrd="0" presId="urn:microsoft.com/office/officeart/2005/8/layout/vList5"/>
    <dgm:cxn modelId="{6E663F33-B349-421F-9EC5-491BD4A976CF}" type="presParOf" srcId="{D49F6EF7-ECD7-4F4F-80ED-FDDF3477512C}" destId="{6B08B0D9-745E-4E02-B1F9-C82E8A986AE9}" srcOrd="1" destOrd="0" presId="urn:microsoft.com/office/officeart/2005/8/layout/vList5"/>
    <dgm:cxn modelId="{5B97F10B-FDB8-406C-B257-ADF8EF1532AF}" type="presParOf" srcId="{934D2009-A12E-44D9-9886-480CB204C429}" destId="{FCFFC0CC-3BE8-4E1C-8FD0-1CC9F50E27CB}" srcOrd="3" destOrd="0" presId="urn:microsoft.com/office/officeart/2005/8/layout/vList5"/>
    <dgm:cxn modelId="{00E60553-6626-4A33-A1E7-20C28AA3AAB0}" type="presParOf" srcId="{934D2009-A12E-44D9-9886-480CB204C429}" destId="{A852AB15-6D2B-4CC1-8D83-A9FC2C982B4B}" srcOrd="4" destOrd="0" presId="urn:microsoft.com/office/officeart/2005/8/layout/vList5"/>
    <dgm:cxn modelId="{E5AD105F-5CD6-4E4E-92FD-DA9103312C11}" type="presParOf" srcId="{A852AB15-6D2B-4CC1-8D83-A9FC2C982B4B}" destId="{858C1543-23C5-4E14-B5F3-E3DDA927D495}" srcOrd="0" destOrd="0" presId="urn:microsoft.com/office/officeart/2005/8/layout/vList5"/>
    <dgm:cxn modelId="{97B9476E-D100-497F-A3CE-638426CB3DC7}" type="presParOf" srcId="{A852AB15-6D2B-4CC1-8D83-A9FC2C982B4B}" destId="{D94562FC-102D-4350-BB46-1D5AA61BC821}" srcOrd="1" destOrd="0" presId="urn:microsoft.com/office/officeart/2005/8/layout/vList5"/>
    <dgm:cxn modelId="{B4C4E9FA-0C68-42A3-9CA0-8753D179B931}" type="presParOf" srcId="{934D2009-A12E-44D9-9886-480CB204C429}" destId="{272B7D1E-2B3C-452F-875A-7B5291269F0F}" srcOrd="5" destOrd="0" presId="urn:microsoft.com/office/officeart/2005/8/layout/vList5"/>
    <dgm:cxn modelId="{CC9E57B0-B80D-47C1-A5B6-FBAF7CA6D0E7}" type="presParOf" srcId="{934D2009-A12E-44D9-9886-480CB204C429}" destId="{8669D0B4-EF6C-49A9-941E-3ADB63DE4A92}" srcOrd="6" destOrd="0" presId="urn:microsoft.com/office/officeart/2005/8/layout/vList5"/>
    <dgm:cxn modelId="{578A44D5-9F98-4DB7-95D3-BD32D24615D1}" type="presParOf" srcId="{8669D0B4-EF6C-49A9-941E-3ADB63DE4A92}" destId="{EEB61265-4303-4CAD-B321-B33BA2B2A60F}" srcOrd="0" destOrd="0" presId="urn:microsoft.com/office/officeart/2005/8/layout/vList5"/>
    <dgm:cxn modelId="{B6326CB7-DD3E-4C03-9D42-9D468CA6DEED}" type="presParOf" srcId="{8669D0B4-EF6C-49A9-941E-3ADB63DE4A92}" destId="{9794815C-5261-4F48-8B94-A11D0135A5E5}" srcOrd="1" destOrd="0" presId="urn:microsoft.com/office/officeart/2005/8/layout/vList5"/>
    <dgm:cxn modelId="{8BDA7BDD-1460-4953-B2BA-EA17CD4E1886}" type="presParOf" srcId="{934D2009-A12E-44D9-9886-480CB204C429}" destId="{1A6D6C53-339A-4F9E-A12C-0A699283ABF0}" srcOrd="7" destOrd="0" presId="urn:microsoft.com/office/officeart/2005/8/layout/vList5"/>
    <dgm:cxn modelId="{EAD066F5-F7C5-45E6-B583-2660AC890174}" type="presParOf" srcId="{934D2009-A12E-44D9-9886-480CB204C429}" destId="{80A143BB-4A40-41B1-9D9F-B5D8BEA7E710}" srcOrd="8" destOrd="0" presId="urn:microsoft.com/office/officeart/2005/8/layout/vList5"/>
    <dgm:cxn modelId="{62E7EA14-8E12-47D1-934E-7F30CF9FFFAA}" type="presParOf" srcId="{80A143BB-4A40-41B1-9D9F-B5D8BEA7E710}" destId="{B2208526-E29D-483E-9937-98B33742ABAB}" srcOrd="0" destOrd="0" presId="urn:microsoft.com/office/officeart/2005/8/layout/vList5"/>
    <dgm:cxn modelId="{6A6A33DE-A262-40DF-8A89-1E5C52F30DE6}" type="presParOf" srcId="{80A143BB-4A40-41B1-9D9F-B5D8BEA7E710}" destId="{9D587460-89F4-45A0-9A20-2025B1E3379B}" srcOrd="1" destOrd="0" presId="urn:microsoft.com/office/officeart/2005/8/layout/vList5"/>
    <dgm:cxn modelId="{1C6805AE-96D0-4510-A007-09DB965934C3}" type="presParOf" srcId="{934D2009-A12E-44D9-9886-480CB204C429}" destId="{9EE9E35F-A4CC-4F21-9925-08C90CE5D47C}" srcOrd="9" destOrd="0" presId="urn:microsoft.com/office/officeart/2005/8/layout/vList5"/>
    <dgm:cxn modelId="{E273726C-9981-404C-97FB-1F5F02F00A5B}" type="presParOf" srcId="{934D2009-A12E-44D9-9886-480CB204C429}" destId="{9A27A0C5-513B-421F-A793-91C124AEC586}" srcOrd="10" destOrd="0" presId="urn:microsoft.com/office/officeart/2005/8/layout/vList5"/>
    <dgm:cxn modelId="{DD8718FF-D0DB-45FB-BBD7-F2ACF6D8756D}" type="presParOf" srcId="{9A27A0C5-513B-421F-A793-91C124AEC586}" destId="{73BB5659-E84C-4CBD-B274-3669A0CE598F}" srcOrd="0" destOrd="0" presId="urn:microsoft.com/office/officeart/2005/8/layout/vList5"/>
    <dgm:cxn modelId="{828FE234-C326-4BA8-A689-4E79568F3CAC}" type="presParOf" srcId="{9A27A0C5-513B-421F-A793-91C124AEC586}" destId="{9CECA6D5-207E-4EAA-A4C3-2269609FBB8F}" srcOrd="1" destOrd="0" presId="urn:microsoft.com/office/officeart/2005/8/layout/vList5"/>
    <dgm:cxn modelId="{B2835018-6A5B-4A0D-B1AD-6898FC508914}" type="presParOf" srcId="{934D2009-A12E-44D9-9886-480CB204C429}" destId="{FF774881-AE98-48CC-B3AD-C40F946CD724}" srcOrd="11" destOrd="0" presId="urn:microsoft.com/office/officeart/2005/8/layout/vList5"/>
    <dgm:cxn modelId="{E65733BD-FCCA-4135-8BA2-6A779B9A3328}" type="presParOf" srcId="{934D2009-A12E-44D9-9886-480CB204C429}" destId="{C377EFA3-6981-4E7E-AC39-F1FAE9A7AA27}" srcOrd="12" destOrd="0" presId="urn:microsoft.com/office/officeart/2005/8/layout/vList5"/>
    <dgm:cxn modelId="{35ADA0A3-B590-4229-91D0-8BCDBB33F9D1}" type="presParOf" srcId="{C377EFA3-6981-4E7E-AC39-F1FAE9A7AA27}" destId="{69E59516-B2A2-4974-9717-3972C597489E}" srcOrd="0" destOrd="0" presId="urn:microsoft.com/office/officeart/2005/8/layout/vList5"/>
    <dgm:cxn modelId="{2786C344-2F24-45E1-B6BE-E3C73B773312}" type="presParOf" srcId="{C377EFA3-6981-4E7E-AC39-F1FAE9A7AA27}" destId="{908D8875-1FA6-427C-B140-9BBDBA660D5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264C5-807D-46AC-8A22-8052203A8140}">
      <dsp:nvSpPr>
        <dsp:cNvPr id="0" name=""/>
        <dsp:cNvSpPr/>
      </dsp:nvSpPr>
      <dsp:spPr>
        <a:xfrm rot="5400000">
          <a:off x="4873810" y="-2145494"/>
          <a:ext cx="379177" cy="4765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Collects audio, chat, and notes from Teams or Zoom without manual effort.</a:t>
          </a:r>
        </a:p>
      </dsp:txBody>
      <dsp:txXfrm rot="-5400000">
        <a:off x="2680623" y="66203"/>
        <a:ext cx="4747042" cy="342157"/>
      </dsp:txXfrm>
    </dsp:sp>
    <dsp:sp modelId="{26CBD3BD-8040-4763-9F06-66B0E2B44943}">
      <dsp:nvSpPr>
        <dsp:cNvPr id="0" name=""/>
        <dsp:cNvSpPr/>
      </dsp:nvSpPr>
      <dsp:spPr>
        <a:xfrm>
          <a:off x="0" y="295"/>
          <a:ext cx="2680623" cy="473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Automated Meeting Capture</a:t>
          </a:r>
          <a:endParaRPr lang="en-US" sz="1600" kern="1200"/>
        </a:p>
      </dsp:txBody>
      <dsp:txXfrm>
        <a:off x="23137" y="23432"/>
        <a:ext cx="2634349" cy="427698"/>
      </dsp:txXfrm>
    </dsp:sp>
    <dsp:sp modelId="{6B08B0D9-745E-4E02-B1F9-C82E8A986AE9}">
      <dsp:nvSpPr>
        <dsp:cNvPr id="0" name=""/>
        <dsp:cNvSpPr/>
      </dsp:nvSpPr>
      <dsp:spPr>
        <a:xfrm rot="5400000">
          <a:off x="4873810" y="-1647823"/>
          <a:ext cx="379177" cy="4765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Converts conversations into accurate, structured text for downstream processing.</a:t>
          </a:r>
        </a:p>
      </dsp:txBody>
      <dsp:txXfrm rot="-5400000">
        <a:off x="2680623" y="563874"/>
        <a:ext cx="4747042" cy="342157"/>
      </dsp:txXfrm>
    </dsp:sp>
    <dsp:sp modelId="{57490B4D-594F-48C2-B932-FDB80CEC40D3}">
      <dsp:nvSpPr>
        <dsp:cNvPr id="0" name=""/>
        <dsp:cNvSpPr/>
      </dsp:nvSpPr>
      <dsp:spPr>
        <a:xfrm>
          <a:off x="0" y="497966"/>
          <a:ext cx="2680623" cy="473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AI‑Driven Transcription</a:t>
          </a:r>
          <a:endParaRPr lang="en-US" sz="1600" kern="1200"/>
        </a:p>
      </dsp:txBody>
      <dsp:txXfrm>
        <a:off x="23137" y="521103"/>
        <a:ext cx="2634349" cy="427698"/>
      </dsp:txXfrm>
    </dsp:sp>
    <dsp:sp modelId="{D94562FC-102D-4350-BB46-1D5AA61BC821}">
      <dsp:nvSpPr>
        <dsp:cNvPr id="0" name=""/>
        <dsp:cNvSpPr/>
      </dsp:nvSpPr>
      <dsp:spPr>
        <a:xfrm rot="5400000">
          <a:off x="4873810" y="-1150152"/>
          <a:ext cx="379177" cy="4765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Produces concise summaries of key discussions, decisions, and insights.</a:t>
          </a:r>
        </a:p>
      </dsp:txBody>
      <dsp:txXfrm rot="-5400000">
        <a:off x="2680623" y="1061545"/>
        <a:ext cx="4747042" cy="342157"/>
      </dsp:txXfrm>
    </dsp:sp>
    <dsp:sp modelId="{858C1543-23C5-4E14-B5F3-E3DDA927D495}">
      <dsp:nvSpPr>
        <dsp:cNvPr id="0" name=""/>
        <dsp:cNvSpPr/>
      </dsp:nvSpPr>
      <dsp:spPr>
        <a:xfrm>
          <a:off x="0" y="995637"/>
          <a:ext cx="2680623" cy="473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Intelligent Summarization</a:t>
          </a:r>
          <a:endParaRPr lang="en-US" sz="1600" kern="1200"/>
        </a:p>
      </dsp:txBody>
      <dsp:txXfrm>
        <a:off x="23137" y="1018774"/>
        <a:ext cx="2634349" cy="427698"/>
      </dsp:txXfrm>
    </dsp:sp>
    <dsp:sp modelId="{9794815C-5261-4F48-8B94-A11D0135A5E5}">
      <dsp:nvSpPr>
        <dsp:cNvPr id="0" name=""/>
        <dsp:cNvSpPr/>
      </dsp:nvSpPr>
      <dsp:spPr>
        <a:xfrm rot="5400000">
          <a:off x="4873810" y="-652481"/>
          <a:ext cx="379177" cy="4765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Identifies owners, deadlines, and next steps directly from meeting content.</a:t>
          </a:r>
        </a:p>
      </dsp:txBody>
      <dsp:txXfrm rot="-5400000">
        <a:off x="2680623" y="1559216"/>
        <a:ext cx="4747042" cy="342157"/>
      </dsp:txXfrm>
    </dsp:sp>
    <dsp:sp modelId="{EEB61265-4303-4CAD-B321-B33BA2B2A60F}">
      <dsp:nvSpPr>
        <dsp:cNvPr id="0" name=""/>
        <dsp:cNvSpPr/>
      </dsp:nvSpPr>
      <dsp:spPr>
        <a:xfrm>
          <a:off x="0" y="1493308"/>
          <a:ext cx="2680623" cy="473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Action Item Extraction</a:t>
          </a:r>
          <a:endParaRPr lang="en-US" sz="1600" kern="1200"/>
        </a:p>
      </dsp:txBody>
      <dsp:txXfrm>
        <a:off x="23137" y="1516445"/>
        <a:ext cx="2634349" cy="427698"/>
      </dsp:txXfrm>
    </dsp:sp>
    <dsp:sp modelId="{9D587460-89F4-45A0-9A20-2025B1E3379B}">
      <dsp:nvSpPr>
        <dsp:cNvPr id="0" name=""/>
        <dsp:cNvSpPr/>
      </dsp:nvSpPr>
      <dsp:spPr>
        <a:xfrm rot="5400000">
          <a:off x="4873810" y="-154810"/>
          <a:ext cx="379177" cy="4765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Ensures tasks are complete, clear, conflict‑free, and ready for execution.</a:t>
          </a:r>
        </a:p>
      </dsp:txBody>
      <dsp:txXfrm rot="-5400000">
        <a:off x="2680623" y="2056887"/>
        <a:ext cx="4747042" cy="342157"/>
      </dsp:txXfrm>
    </dsp:sp>
    <dsp:sp modelId="{B2208526-E29D-483E-9937-98B33742ABAB}">
      <dsp:nvSpPr>
        <dsp:cNvPr id="0" name=""/>
        <dsp:cNvSpPr/>
      </dsp:nvSpPr>
      <dsp:spPr>
        <a:xfrm>
          <a:off x="0" y="1990979"/>
          <a:ext cx="2680623" cy="473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Reasoning‑Based Validation</a:t>
          </a:r>
          <a:endParaRPr lang="en-US" sz="1600" kern="1200"/>
        </a:p>
      </dsp:txBody>
      <dsp:txXfrm>
        <a:off x="23137" y="2014116"/>
        <a:ext cx="2634349" cy="427698"/>
      </dsp:txXfrm>
    </dsp:sp>
    <dsp:sp modelId="{9CECA6D5-207E-4EAA-A4C3-2269609FBB8F}">
      <dsp:nvSpPr>
        <dsp:cNvPr id="0" name=""/>
        <dsp:cNvSpPr/>
      </dsp:nvSpPr>
      <dsp:spPr>
        <a:xfrm rot="5400000">
          <a:off x="4873810" y="342859"/>
          <a:ext cx="379177" cy="4765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Creates and updates tasks in Jira, Planner, or Confluence with consistent formatting.</a:t>
          </a:r>
        </a:p>
      </dsp:txBody>
      <dsp:txXfrm rot="-5400000">
        <a:off x="2680623" y="2554556"/>
        <a:ext cx="4747042" cy="342157"/>
      </dsp:txXfrm>
    </dsp:sp>
    <dsp:sp modelId="{73BB5659-E84C-4CBD-B274-3669A0CE598F}">
      <dsp:nvSpPr>
        <dsp:cNvPr id="0" name=""/>
        <dsp:cNvSpPr/>
      </dsp:nvSpPr>
      <dsp:spPr>
        <a:xfrm>
          <a:off x="0" y="2488650"/>
          <a:ext cx="2680623" cy="473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Automated Task Creation</a:t>
          </a:r>
          <a:endParaRPr lang="en-US" sz="1600" kern="1200"/>
        </a:p>
      </dsp:txBody>
      <dsp:txXfrm>
        <a:off x="23137" y="2511787"/>
        <a:ext cx="2634349" cy="427698"/>
      </dsp:txXfrm>
    </dsp:sp>
    <dsp:sp modelId="{908D8875-1FA6-427C-B140-9BBDBA660D58}">
      <dsp:nvSpPr>
        <dsp:cNvPr id="0" name=""/>
        <dsp:cNvSpPr/>
      </dsp:nvSpPr>
      <dsp:spPr>
        <a:xfrm rot="5400000">
          <a:off x="4873810" y="840530"/>
          <a:ext cx="379177" cy="4765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Sends reminders, nudges, and escalations through Outlook or Teams to ensure closure.</a:t>
          </a:r>
        </a:p>
      </dsp:txBody>
      <dsp:txXfrm rot="-5400000">
        <a:off x="2680623" y="3052227"/>
        <a:ext cx="4747042" cy="342157"/>
      </dsp:txXfrm>
    </dsp:sp>
    <dsp:sp modelId="{69E59516-B2A2-4974-9717-3972C597489E}">
      <dsp:nvSpPr>
        <dsp:cNvPr id="0" name=""/>
        <dsp:cNvSpPr/>
      </dsp:nvSpPr>
      <dsp:spPr>
        <a:xfrm>
          <a:off x="0" y="2986321"/>
          <a:ext cx="2680623" cy="4739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Proactive Follow‑Ups</a:t>
          </a:r>
          <a:endParaRPr lang="en-US" sz="1600" kern="1200"/>
        </a:p>
      </dsp:txBody>
      <dsp:txXfrm>
        <a:off x="23137" y="3009458"/>
        <a:ext cx="2634349" cy="427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152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73564-7E95-4043-8C87-571B86AC3E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A9D59-5ECF-4BCE-90C0-42F8D7481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023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err="1"/>
              <a:t>MeetSpark</a:t>
            </a:r>
            <a:r>
              <a:rPr lang="en-US" dirty="0"/>
              <a:t> | </a:t>
            </a:r>
            <a:r>
              <a:rPr lang="en-US" dirty="0" err="1"/>
              <a:t>Nabomita</a:t>
            </a:r>
            <a:r>
              <a:rPr lang="en-US" dirty="0"/>
              <a:t> |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Use Case Description Business – MeetSpark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23070-CF20-DFC5-E8A0-65EA1630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</a:rPr>
              <a:t>MeetSpark |AgentForce|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The Problem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Many action points discussed in meetings go unrecorded. Teams spend significant time summarizing discussions manually.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Conversations are unstructured, making it easy to miss important items and Follow‑ups do require repetitive effort across emails, chats, and task tools.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The Opportunity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Convert unstructured conversations into structured actionable items using reasoning‑capable AI agents by eliminating human dependency for note‑taking, summarization, and action extraction.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Use agentic AI powered by Azure OpenAI + Teams/Outlook + JIRA + SQL + Graph API Actions to automate entire lifecycle tasks.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Agents reason, plan and act within mentioned tools—reducing manual intervention.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Vision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Empower organizations with autonomous, agentic AI → that listens, understands, and converts every meeting into actionable execution.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Drive faster decisions → clearer ownership → and seamless, end‑to‑end execution without manual effort..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39174-751C-C7A5-F527-0CD30E35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27698" y="6455664"/>
            <a:ext cx="20574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© Capgemini 2026. All rights reserved./2026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F8121-A3AB-876A-DF31-2CAFA085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B50B-B416-247F-2224-F2DBB227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D644A20-AFF5-8B44-9C24-B49A49FCA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A70E6E-76EB-9962-3BD3-7AB4A8155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DA8E88-B316-5E05-E377-1AEC6D868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8B169B5-8E06-45E2-D5F1-A3AB11C4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DC5A21-1D43-73FF-EB5D-353EFD15D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70724-8661-BBAE-E4DC-93471241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294538"/>
            <a:ext cx="8186058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</a:rPr>
              <a:t>Functional Use case – </a:t>
            </a:r>
            <a:r>
              <a:rPr lang="en-US" sz="3200" dirty="0" err="1">
                <a:solidFill>
                  <a:srgbClr val="FFFFFF"/>
                </a:solidFill>
              </a:rPr>
              <a:t>MeetSpark</a:t>
            </a:r>
            <a:endParaRPr lang="en-US" sz="3200" dirty="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3664DF8-CB02-0CD5-4695-4FBE69F909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662796"/>
              </p:ext>
            </p:extLst>
          </p:nvPr>
        </p:nvGraphicFramePr>
        <p:xfrm>
          <a:off x="162490" y="2004774"/>
          <a:ext cx="4040188" cy="4558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617FE77-8DC4-E508-20BB-ACBB4C98A10C}"/>
              </a:ext>
            </a:extLst>
          </p:cNvPr>
          <p:cNvSpPr txBox="1"/>
          <p:nvPr/>
        </p:nvSpPr>
        <p:spPr>
          <a:xfrm>
            <a:off x="2551577" y="1780534"/>
            <a:ext cx="4385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Process Covered by </a:t>
            </a:r>
            <a:r>
              <a:rPr lang="en-US" sz="2000" b="1" dirty="0" err="1"/>
              <a:t>MeetSpark</a:t>
            </a:r>
            <a:endParaRPr lang="en-US" sz="2000" b="1" dirty="0"/>
          </a:p>
          <a:p>
            <a:endParaRPr lang="en-US" sz="2000" b="1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6BF9ECC-9314-3932-D4B6-20F0319C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142706AE-75F3-A5CD-5FCD-E264F383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Company Confidential © Capgemini 2026. All rights reserved./2026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C5A3204-603F-C28C-0B34-A34A5FA4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</a:t>
            </a:r>
            <a:r>
              <a:rPr lang="en-US" dirty="0" err="1"/>
              <a:t>AgentForce</a:t>
            </a:r>
            <a:r>
              <a:rPr lang="en-US" dirty="0"/>
              <a:t>| 2026</a:t>
            </a:r>
          </a:p>
        </p:txBody>
      </p:sp>
      <p:graphicFrame>
        <p:nvGraphicFramePr>
          <p:cNvPr id="50" name="Content Placeholder 6">
            <a:extLst>
              <a:ext uri="{FF2B5EF4-FFF2-40B4-BE49-F238E27FC236}">
                <a16:creationId xmlns:a16="http://schemas.microsoft.com/office/drawing/2014/main" id="{1908279A-E50A-EA22-A15D-6BCA64E9E276}"/>
              </a:ext>
            </a:extLst>
          </p:cNvPr>
          <p:cNvGraphicFramePr/>
          <p:nvPr/>
        </p:nvGraphicFramePr>
        <p:xfrm>
          <a:off x="344512" y="2488419"/>
          <a:ext cx="7446176" cy="3460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1174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17DCF-6BDA-B26E-0E45-0AB67354C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20D6C3-3585-2EBE-9738-F66D01C7E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492464-781F-32AF-73F8-ED1DEBB3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A076A5-DC3E-490E-DEFB-E5E8D496D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E3E2F2-06FE-9E2E-7B5B-37BE5CE3D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EF833-2E54-8B20-C90E-9D0DD7305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C3141-5658-FD56-2820-07E41B418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168" y="175352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Use Case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79B3C-28BC-5A70-9841-A31DDBED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67092-812B-F5F2-3212-7117791B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3890A-94F6-F7A6-7C59-F82ECD4B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MeetSpark</a:t>
            </a:r>
            <a:r>
              <a:rPr lang="en-US" dirty="0"/>
              <a:t> |</a:t>
            </a:r>
            <a:r>
              <a:rPr lang="en-US" dirty="0" err="1"/>
              <a:t>AgentForce</a:t>
            </a:r>
            <a:r>
              <a:rPr lang="en-US" dirty="0"/>
              <a:t>| 2026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74064F7-85B6-90EC-DA3E-369E8CE389CB}"/>
              </a:ext>
            </a:extLst>
          </p:cNvPr>
          <p:cNvSpPr txBox="1"/>
          <p:nvPr/>
        </p:nvSpPr>
        <p:spPr>
          <a:xfrm>
            <a:off x="1968878" y="1154904"/>
            <a:ext cx="2199347" cy="1911622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t">
            <a:noAutofit/>
          </a:bodyPr>
          <a:lstStyle/>
          <a:p>
            <a:pPr algn="just">
              <a:spcBef>
                <a:spcPct val="0"/>
              </a:spcBef>
            </a:pPr>
            <a:endParaRPr lang="en-US" sz="750" i="1" dirty="0">
              <a:solidFill>
                <a:schemeClr val="bg2"/>
              </a:solidFill>
            </a:endParaRPr>
          </a:p>
        </p:txBody>
      </p:sp>
      <p:sp>
        <p:nvSpPr>
          <p:cNvPr id="156" name="Rounded Rectangle 6">
            <a:extLst>
              <a:ext uri="{FF2B5EF4-FFF2-40B4-BE49-F238E27FC236}">
                <a16:creationId xmlns:a16="http://schemas.microsoft.com/office/drawing/2014/main" id="{B5A5AA30-01DF-1C2B-88C3-53071ABC69F2}"/>
              </a:ext>
            </a:extLst>
          </p:cNvPr>
          <p:cNvSpPr/>
          <p:nvPr/>
        </p:nvSpPr>
        <p:spPr>
          <a:xfrm>
            <a:off x="2886844" y="2316286"/>
            <a:ext cx="4005029" cy="1601704"/>
          </a:xfrm>
          <a:prstGeom prst="roundRect">
            <a:avLst>
              <a:gd name="adj" fmla="val 5069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>
            <a:outerShdw blurRad="50800" dist="25400" dir="96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B9712A5-CBDE-6689-7A3D-495280CAB804}"/>
              </a:ext>
            </a:extLst>
          </p:cNvPr>
          <p:cNvSpPr/>
          <p:nvPr/>
        </p:nvSpPr>
        <p:spPr>
          <a:xfrm>
            <a:off x="2929993" y="2395463"/>
            <a:ext cx="3856663" cy="1769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6876D44-6091-EC9D-E3D0-00A540676550}"/>
              </a:ext>
            </a:extLst>
          </p:cNvPr>
          <p:cNvSpPr txBox="1"/>
          <p:nvPr/>
        </p:nvSpPr>
        <p:spPr>
          <a:xfrm>
            <a:off x="3113027" y="2400736"/>
            <a:ext cx="408829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>
                <a:solidFill>
                  <a:schemeClr val="bg1"/>
                </a:solidFill>
              </a:rPr>
              <a:t>WHAT</a:t>
            </a:r>
          </a:p>
        </p:txBody>
      </p:sp>
      <p:sp>
        <p:nvSpPr>
          <p:cNvPr id="159" name="Rounded Rectangle 13">
            <a:extLst>
              <a:ext uri="{FF2B5EF4-FFF2-40B4-BE49-F238E27FC236}">
                <a16:creationId xmlns:a16="http://schemas.microsoft.com/office/drawing/2014/main" id="{A198596B-2A83-5D8D-F2C9-31F4E31AC2D4}"/>
              </a:ext>
            </a:extLst>
          </p:cNvPr>
          <p:cNvSpPr/>
          <p:nvPr/>
        </p:nvSpPr>
        <p:spPr>
          <a:xfrm>
            <a:off x="6999261" y="2342263"/>
            <a:ext cx="1932135" cy="3542494"/>
          </a:xfrm>
          <a:prstGeom prst="roundRect">
            <a:avLst>
              <a:gd name="adj" fmla="val 5069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>
            <a:outerShdw blurRad="50800" dist="25400" dir="96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15A7FB4-7C09-DA35-DB48-9004DE5A5201}"/>
              </a:ext>
            </a:extLst>
          </p:cNvPr>
          <p:cNvSpPr/>
          <p:nvPr/>
        </p:nvSpPr>
        <p:spPr>
          <a:xfrm>
            <a:off x="7049320" y="2436808"/>
            <a:ext cx="1851660" cy="16499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4000">
                <a:schemeClr val="accent3">
                  <a:lumMod val="50000"/>
                  <a:lumOff val="50000"/>
                </a:schemeClr>
              </a:gs>
              <a:gs pos="83000">
                <a:schemeClr val="accent3">
                  <a:lumMod val="75000"/>
                  <a:lumOff val="25000"/>
                </a:schemeClr>
              </a:gs>
              <a:gs pos="100000">
                <a:schemeClr val="accent3">
                  <a:lumMod val="75000"/>
                  <a:lumOff val="25000"/>
                </a:schemeClr>
              </a:gs>
            </a:gsLst>
            <a:lin ang="10800000" scaled="1"/>
            <a:tileRect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AF978FD-970D-12E2-554E-0FDAB36D9A02}"/>
              </a:ext>
            </a:extLst>
          </p:cNvPr>
          <p:cNvSpPr txBox="1"/>
          <p:nvPr/>
        </p:nvSpPr>
        <p:spPr>
          <a:xfrm>
            <a:off x="7108790" y="2423837"/>
            <a:ext cx="347915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>
                <a:solidFill>
                  <a:schemeClr val="bg1"/>
                </a:solidFill>
              </a:rPr>
              <a:t>WHY</a:t>
            </a:r>
          </a:p>
        </p:txBody>
      </p:sp>
      <p:sp>
        <p:nvSpPr>
          <p:cNvPr id="162" name="Rounded Rectangle 16">
            <a:extLst>
              <a:ext uri="{FF2B5EF4-FFF2-40B4-BE49-F238E27FC236}">
                <a16:creationId xmlns:a16="http://schemas.microsoft.com/office/drawing/2014/main" id="{73755C3A-7E64-46F9-7825-EE907D04FE58}"/>
              </a:ext>
            </a:extLst>
          </p:cNvPr>
          <p:cNvSpPr/>
          <p:nvPr/>
        </p:nvSpPr>
        <p:spPr>
          <a:xfrm>
            <a:off x="5492635" y="4119808"/>
            <a:ext cx="1442129" cy="1758441"/>
          </a:xfrm>
          <a:prstGeom prst="roundRect">
            <a:avLst>
              <a:gd name="adj" fmla="val 5069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>
            <a:outerShdw blurRad="50800" dist="25400" dir="96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D445B3D-6878-F3E0-2D5F-09B62856E680}"/>
              </a:ext>
            </a:extLst>
          </p:cNvPr>
          <p:cNvSpPr/>
          <p:nvPr/>
        </p:nvSpPr>
        <p:spPr>
          <a:xfrm>
            <a:off x="5536178" y="4168073"/>
            <a:ext cx="1303020" cy="16459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4000">
                <a:schemeClr val="accent4"/>
              </a:gs>
              <a:gs pos="83000">
                <a:schemeClr val="accent4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10800000" scaled="1"/>
            <a:tileRect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6FF675F-C451-51C0-6166-12D11C7B7972}"/>
              </a:ext>
            </a:extLst>
          </p:cNvPr>
          <p:cNvSpPr txBox="1"/>
          <p:nvPr/>
        </p:nvSpPr>
        <p:spPr>
          <a:xfrm>
            <a:off x="5589031" y="4144136"/>
            <a:ext cx="367151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>
                <a:solidFill>
                  <a:schemeClr val="bg1"/>
                </a:solidFill>
              </a:rPr>
              <a:t>WHO</a:t>
            </a:r>
          </a:p>
        </p:txBody>
      </p:sp>
      <p:sp>
        <p:nvSpPr>
          <p:cNvPr id="165" name="Rounded Rectangle 19">
            <a:extLst>
              <a:ext uri="{FF2B5EF4-FFF2-40B4-BE49-F238E27FC236}">
                <a16:creationId xmlns:a16="http://schemas.microsoft.com/office/drawing/2014/main" id="{683DE5B8-7671-99FC-D4C9-DCC3C2CCD865}"/>
              </a:ext>
            </a:extLst>
          </p:cNvPr>
          <p:cNvSpPr/>
          <p:nvPr/>
        </p:nvSpPr>
        <p:spPr>
          <a:xfrm>
            <a:off x="117262" y="4095923"/>
            <a:ext cx="5341817" cy="1758441"/>
          </a:xfrm>
          <a:prstGeom prst="roundRect">
            <a:avLst>
              <a:gd name="adj" fmla="val 5069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>
            <a:outerShdw blurRad="50800" dist="25400" dir="96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86EF16A-3813-8ADD-F24E-76B795F83907}"/>
              </a:ext>
            </a:extLst>
          </p:cNvPr>
          <p:cNvSpPr/>
          <p:nvPr/>
        </p:nvSpPr>
        <p:spPr>
          <a:xfrm>
            <a:off x="143395" y="4135103"/>
            <a:ext cx="5349240" cy="16499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4000">
                <a:schemeClr val="accent6"/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0800000" scaled="1"/>
            <a:tileRect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DFEB942-3C17-8039-6946-145083A2B691}"/>
              </a:ext>
            </a:extLst>
          </p:cNvPr>
          <p:cNvSpPr txBox="1"/>
          <p:nvPr/>
        </p:nvSpPr>
        <p:spPr>
          <a:xfrm>
            <a:off x="248481" y="4108970"/>
            <a:ext cx="367151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>
                <a:solidFill>
                  <a:schemeClr val="bg1"/>
                </a:solidFill>
              </a:rPr>
              <a:t>HOW</a:t>
            </a:r>
          </a:p>
        </p:txBody>
      </p:sp>
      <p:grpSp>
        <p:nvGrpSpPr>
          <p:cNvPr id="168" name="Group 37">
            <a:extLst>
              <a:ext uri="{FF2B5EF4-FFF2-40B4-BE49-F238E27FC236}">
                <a16:creationId xmlns:a16="http://schemas.microsoft.com/office/drawing/2014/main" id="{7F5B0E85-78F6-1EC4-5C44-82A7F7097D1F}"/>
              </a:ext>
            </a:extLst>
          </p:cNvPr>
          <p:cNvGrpSpPr/>
          <p:nvPr/>
        </p:nvGrpSpPr>
        <p:grpSpPr>
          <a:xfrm>
            <a:off x="8705807" y="2421214"/>
            <a:ext cx="195173" cy="180587"/>
            <a:chOff x="5481638" y="2859088"/>
            <a:chExt cx="1231900" cy="1139825"/>
          </a:xfrm>
          <a:solidFill>
            <a:schemeClr val="tx2"/>
          </a:solidFill>
        </p:grpSpPr>
        <p:sp>
          <p:nvSpPr>
            <p:cNvPr id="169" name="Freeform 320">
              <a:extLst>
                <a:ext uri="{FF2B5EF4-FFF2-40B4-BE49-F238E27FC236}">
                  <a16:creationId xmlns:a16="http://schemas.microsoft.com/office/drawing/2014/main" id="{F68DE24A-85FC-7E88-43D6-D86A92BA9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70" name="Freeform 321">
              <a:extLst>
                <a:ext uri="{FF2B5EF4-FFF2-40B4-BE49-F238E27FC236}">
                  <a16:creationId xmlns:a16="http://schemas.microsoft.com/office/drawing/2014/main" id="{EC66C833-ADEB-E885-B2ED-E47415AAA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>
                <a:solidFill>
                  <a:schemeClr val="tx2"/>
                </a:solidFill>
              </a:endParaRPr>
            </a:p>
          </p:txBody>
        </p:sp>
      </p:grpSp>
      <p:sp>
        <p:nvSpPr>
          <p:cNvPr id="171" name="Rounded Rectangle 26">
            <a:extLst>
              <a:ext uri="{FF2B5EF4-FFF2-40B4-BE49-F238E27FC236}">
                <a16:creationId xmlns:a16="http://schemas.microsoft.com/office/drawing/2014/main" id="{ED7F758C-8586-A2FE-2138-93E7C8FA18A3}"/>
              </a:ext>
            </a:extLst>
          </p:cNvPr>
          <p:cNvSpPr/>
          <p:nvPr/>
        </p:nvSpPr>
        <p:spPr>
          <a:xfrm>
            <a:off x="7054267" y="2791658"/>
            <a:ext cx="1783080" cy="19784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E346C9-122C-37BA-71DA-535A19D3D5CA}"/>
              </a:ext>
            </a:extLst>
          </p:cNvPr>
          <p:cNvSpPr txBox="1"/>
          <p:nvPr/>
        </p:nvSpPr>
        <p:spPr>
          <a:xfrm>
            <a:off x="7100619" y="2791658"/>
            <a:ext cx="747063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/>
              <a:t>KPIs Impacted</a:t>
            </a:r>
          </a:p>
        </p:txBody>
      </p:sp>
      <p:sp>
        <p:nvSpPr>
          <p:cNvPr id="173" name="Rounded Rectangle 31">
            <a:extLst>
              <a:ext uri="{FF2B5EF4-FFF2-40B4-BE49-F238E27FC236}">
                <a16:creationId xmlns:a16="http://schemas.microsoft.com/office/drawing/2014/main" id="{D19524C4-D0B7-F86C-5961-D3E7FD527B38}"/>
              </a:ext>
            </a:extLst>
          </p:cNvPr>
          <p:cNvSpPr/>
          <p:nvPr/>
        </p:nvSpPr>
        <p:spPr>
          <a:xfrm>
            <a:off x="7108790" y="4074707"/>
            <a:ext cx="1783080" cy="19784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AC6421F-1981-0016-C2CE-8CE731ABA6E3}"/>
              </a:ext>
            </a:extLst>
          </p:cNvPr>
          <p:cNvSpPr txBox="1"/>
          <p:nvPr/>
        </p:nvSpPr>
        <p:spPr>
          <a:xfrm>
            <a:off x="7150283" y="4064684"/>
            <a:ext cx="832022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/>
              <a:t>Business Impact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DE6D0FC-E98A-4C77-0755-18448AA40319}"/>
              </a:ext>
            </a:extLst>
          </p:cNvPr>
          <p:cNvSpPr txBox="1"/>
          <p:nvPr/>
        </p:nvSpPr>
        <p:spPr>
          <a:xfrm>
            <a:off x="7010071" y="3128556"/>
            <a:ext cx="1870777" cy="817181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050" dirty="0"/>
              <a:t>• On‑time task completion</a:t>
            </a:r>
          </a:p>
          <a:p>
            <a:pPr>
              <a:spcBef>
                <a:spcPct val="0"/>
              </a:spcBef>
            </a:pPr>
            <a:r>
              <a:rPr lang="en-US" sz="1050" dirty="0"/>
              <a:t>• Follow‑up efficiency</a:t>
            </a:r>
          </a:p>
          <a:p>
            <a:pPr>
              <a:spcBef>
                <a:spcPct val="0"/>
              </a:spcBef>
            </a:pPr>
            <a:r>
              <a:rPr lang="en-US" sz="1050" dirty="0"/>
              <a:t>• Accountability score</a:t>
            </a:r>
          </a:p>
        </p:txBody>
      </p:sp>
      <p:sp>
        <p:nvSpPr>
          <p:cNvPr id="176" name="Rounded Rectangle 36">
            <a:extLst>
              <a:ext uri="{FF2B5EF4-FFF2-40B4-BE49-F238E27FC236}">
                <a16:creationId xmlns:a16="http://schemas.microsoft.com/office/drawing/2014/main" id="{8BEDC451-7E39-51D3-80B1-9FDA39C2B237}"/>
              </a:ext>
            </a:extLst>
          </p:cNvPr>
          <p:cNvSpPr/>
          <p:nvPr/>
        </p:nvSpPr>
        <p:spPr>
          <a:xfrm>
            <a:off x="197714" y="4454518"/>
            <a:ext cx="2331720" cy="19784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A757C2F-A85A-0E68-B81F-080FE20D95D8}"/>
              </a:ext>
            </a:extLst>
          </p:cNvPr>
          <p:cNvSpPr txBox="1"/>
          <p:nvPr/>
        </p:nvSpPr>
        <p:spPr>
          <a:xfrm>
            <a:off x="309668" y="4463090"/>
            <a:ext cx="968277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/>
              <a:t>Functional Solution</a:t>
            </a:r>
          </a:p>
        </p:txBody>
      </p:sp>
      <p:sp>
        <p:nvSpPr>
          <p:cNvPr id="178" name="Rounded Rectangle 40">
            <a:extLst>
              <a:ext uri="{FF2B5EF4-FFF2-40B4-BE49-F238E27FC236}">
                <a16:creationId xmlns:a16="http://schemas.microsoft.com/office/drawing/2014/main" id="{1244D7D0-DED9-AF34-5510-52226C5D716E}"/>
              </a:ext>
            </a:extLst>
          </p:cNvPr>
          <p:cNvSpPr/>
          <p:nvPr/>
        </p:nvSpPr>
        <p:spPr>
          <a:xfrm>
            <a:off x="2901020" y="2716770"/>
            <a:ext cx="1696559" cy="19784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9CBB17D-C2B2-DB8A-8265-11499B0C44B9}"/>
              </a:ext>
            </a:extLst>
          </p:cNvPr>
          <p:cNvSpPr txBox="1"/>
          <p:nvPr/>
        </p:nvSpPr>
        <p:spPr>
          <a:xfrm>
            <a:off x="3060056" y="2716770"/>
            <a:ext cx="997131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/>
              <a:t>Business Challenges</a:t>
            </a:r>
          </a:p>
        </p:txBody>
      </p:sp>
      <p:sp>
        <p:nvSpPr>
          <p:cNvPr id="180" name="Rounded Rectangle 48">
            <a:extLst>
              <a:ext uri="{FF2B5EF4-FFF2-40B4-BE49-F238E27FC236}">
                <a16:creationId xmlns:a16="http://schemas.microsoft.com/office/drawing/2014/main" id="{C41FDCB7-9A3B-9523-56BD-C1022085CFED}"/>
              </a:ext>
            </a:extLst>
          </p:cNvPr>
          <p:cNvSpPr/>
          <p:nvPr/>
        </p:nvSpPr>
        <p:spPr>
          <a:xfrm>
            <a:off x="2771913" y="4478029"/>
            <a:ext cx="2606040" cy="19784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EC2A3C7-0C3C-ADA6-0751-FFF69AFD29A0}"/>
              </a:ext>
            </a:extLst>
          </p:cNvPr>
          <p:cNvSpPr txBox="1"/>
          <p:nvPr/>
        </p:nvSpPr>
        <p:spPr>
          <a:xfrm>
            <a:off x="2827510" y="4490583"/>
            <a:ext cx="921790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/>
              <a:t>Technical Solution</a:t>
            </a: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73D5F45E-54DD-EDA7-10EC-77DC0B44A911}"/>
              </a:ext>
            </a:extLst>
          </p:cNvPr>
          <p:cNvCxnSpPr>
            <a:cxnSpLocks/>
          </p:cNvCxnSpPr>
          <p:nvPr/>
        </p:nvCxnSpPr>
        <p:spPr>
          <a:xfrm>
            <a:off x="2627175" y="4630327"/>
            <a:ext cx="0" cy="102870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D9C83232-2F87-67BC-1FC8-10CF2BD5677D}"/>
              </a:ext>
            </a:extLst>
          </p:cNvPr>
          <p:cNvSpPr txBox="1"/>
          <p:nvPr/>
        </p:nvSpPr>
        <p:spPr>
          <a:xfrm>
            <a:off x="3060056" y="3081821"/>
            <a:ext cx="1746413" cy="566601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000" dirty="0"/>
              <a:t>Manual and time‑consuming follow‑ups, Low accountability across teams and Inconsistent task tracking</a:t>
            </a:r>
          </a:p>
        </p:txBody>
      </p:sp>
      <p:sp>
        <p:nvSpPr>
          <p:cNvPr id="184" name="Rounded Rectangle 52">
            <a:extLst>
              <a:ext uri="{FF2B5EF4-FFF2-40B4-BE49-F238E27FC236}">
                <a16:creationId xmlns:a16="http://schemas.microsoft.com/office/drawing/2014/main" id="{4D6EB726-C7B1-ABE3-7550-BFE9463ED62E}"/>
              </a:ext>
            </a:extLst>
          </p:cNvPr>
          <p:cNvSpPr/>
          <p:nvPr/>
        </p:nvSpPr>
        <p:spPr>
          <a:xfrm>
            <a:off x="4740204" y="2712226"/>
            <a:ext cx="2194560" cy="19784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58D276B-8DE3-03F0-96F2-6CFBD4FEE59E}"/>
              </a:ext>
            </a:extLst>
          </p:cNvPr>
          <p:cNvSpPr txBox="1"/>
          <p:nvPr/>
        </p:nvSpPr>
        <p:spPr>
          <a:xfrm>
            <a:off x="4912771" y="3066526"/>
            <a:ext cx="1873885" cy="493939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000" dirty="0"/>
              <a:t>AI that turns meetings into actions, Autonomous meeting‑to‑execution workflow and AI‑driven action extraction and task creation.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C94AC27-C098-5867-2836-CF12A27C8BC0}"/>
              </a:ext>
            </a:extLst>
          </p:cNvPr>
          <p:cNvSpPr txBox="1"/>
          <p:nvPr/>
        </p:nvSpPr>
        <p:spPr>
          <a:xfrm>
            <a:off x="4880164" y="2710595"/>
            <a:ext cx="1042016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/>
              <a:t>Use Case Description</a:t>
            </a:r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B69A3C9-9B92-216E-E8F7-309A343AB613}"/>
              </a:ext>
            </a:extLst>
          </p:cNvPr>
          <p:cNvCxnSpPr>
            <a:cxnSpLocks/>
          </p:cNvCxnSpPr>
          <p:nvPr/>
        </p:nvCxnSpPr>
        <p:spPr>
          <a:xfrm>
            <a:off x="4784698" y="2967960"/>
            <a:ext cx="0" cy="84587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95BE60DA-34A1-1E7B-EF73-57C13046C43B}"/>
              </a:ext>
            </a:extLst>
          </p:cNvPr>
          <p:cNvSpPr txBox="1"/>
          <p:nvPr/>
        </p:nvSpPr>
        <p:spPr>
          <a:xfrm>
            <a:off x="205787" y="4697883"/>
            <a:ext cx="231195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1050" dirty="0">
                <a:solidFill>
                  <a:srgbClr val="000000"/>
                </a:solidFill>
              </a:rPr>
              <a:t>Capture meeting inputs (audio, chat, notes),Extract action items automatically, Validate owners , deadlines using reasoning agents &amp; Create tasks in Jira/Planner/Confluence</a:t>
            </a:r>
          </a:p>
          <a:p>
            <a:pPr lvl="0">
              <a:spcBef>
                <a:spcPct val="0"/>
              </a:spcBef>
              <a:defRPr/>
            </a:pPr>
            <a:r>
              <a:rPr lang="en-US" sz="1050" dirty="0">
                <a:solidFill>
                  <a:srgbClr val="000000"/>
                </a:solidFill>
              </a:rPr>
              <a:t> </a:t>
            </a:r>
          </a:p>
          <a:p>
            <a:pPr lvl="0">
              <a:spcBef>
                <a:spcPct val="0"/>
              </a:spcBef>
              <a:defRPr/>
            </a:pP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C59A293-0F1A-A8B7-CCF5-CCFF36D0B7C2}"/>
              </a:ext>
            </a:extLst>
          </p:cNvPr>
          <p:cNvSpPr txBox="1"/>
          <p:nvPr/>
        </p:nvSpPr>
        <p:spPr>
          <a:xfrm>
            <a:off x="2777284" y="4813560"/>
            <a:ext cx="2311958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1000" dirty="0">
                <a:solidFill>
                  <a:srgbClr val="000000"/>
                </a:solidFill>
              </a:rPr>
              <a:t>Azure OpenAI, Azure App Service, Microsoft Graph API, Teams Bot Framework, Outlook APIs, Jira APIs, Confluence APIs, Python, Node.js, Azure SQL DB, Azure Blob Storage</a:t>
            </a:r>
          </a:p>
        </p:txBody>
      </p:sp>
      <p:sp>
        <p:nvSpPr>
          <p:cNvPr id="190" name="Rounded Rectangle 60">
            <a:extLst>
              <a:ext uri="{FF2B5EF4-FFF2-40B4-BE49-F238E27FC236}">
                <a16:creationId xmlns:a16="http://schemas.microsoft.com/office/drawing/2014/main" id="{26224D82-A245-5D80-3FC5-48E6BEAB42A4}"/>
              </a:ext>
            </a:extLst>
          </p:cNvPr>
          <p:cNvSpPr/>
          <p:nvPr/>
        </p:nvSpPr>
        <p:spPr>
          <a:xfrm>
            <a:off x="5520841" y="4454518"/>
            <a:ext cx="1303020" cy="19784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err="1">
              <a:solidFill>
                <a:schemeClr val="tx1"/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19E6672-02A5-697A-C228-DCF457EE35FE}"/>
              </a:ext>
            </a:extLst>
          </p:cNvPr>
          <p:cNvSpPr txBox="1"/>
          <p:nvPr/>
        </p:nvSpPr>
        <p:spPr>
          <a:xfrm>
            <a:off x="5608299" y="4462436"/>
            <a:ext cx="695767" cy="197843"/>
          </a:xfrm>
          <a:prstGeom prst="rect">
            <a:avLst/>
          </a:prstGeom>
          <a:noFill/>
        </p:spPr>
        <p:txBody>
          <a:bodyPr vert="horz" wrap="none" lIns="67500" tIns="35100" rIns="67500" bIns="351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25" dirty="0"/>
              <a:t>Stakeholders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2FC43D4-7516-604F-C002-32E9849A3D1D}"/>
              </a:ext>
            </a:extLst>
          </p:cNvPr>
          <p:cNvSpPr txBox="1"/>
          <p:nvPr/>
        </p:nvSpPr>
        <p:spPr>
          <a:xfrm>
            <a:off x="5492635" y="4697883"/>
            <a:ext cx="1303020" cy="817181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000" dirty="0"/>
              <a:t>Team Leads &amp; People Managers, IT / Engineering Teams, Product Owners / Business Owners</a:t>
            </a:r>
          </a:p>
        </p:txBody>
      </p:sp>
      <p:sp>
        <p:nvSpPr>
          <p:cNvPr id="193" name="Rounded Rectangle 6">
            <a:extLst>
              <a:ext uri="{FF2B5EF4-FFF2-40B4-BE49-F238E27FC236}">
                <a16:creationId xmlns:a16="http://schemas.microsoft.com/office/drawing/2014/main" id="{206B6DCF-5EC7-A54F-853C-51376F48D405}"/>
              </a:ext>
            </a:extLst>
          </p:cNvPr>
          <p:cNvSpPr/>
          <p:nvPr/>
        </p:nvSpPr>
        <p:spPr>
          <a:xfrm>
            <a:off x="44441" y="2331580"/>
            <a:ext cx="2571848" cy="1632435"/>
          </a:xfrm>
          <a:prstGeom prst="roundRect">
            <a:avLst>
              <a:gd name="adj" fmla="val 5069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>
            <a:outerShdw blurRad="50800" dist="25400" dir="96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5" name="Rounded Rectangle 40">
            <a:extLst>
              <a:ext uri="{FF2B5EF4-FFF2-40B4-BE49-F238E27FC236}">
                <a16:creationId xmlns:a16="http://schemas.microsoft.com/office/drawing/2014/main" id="{3A61C832-2766-2DBE-0942-A632E888467B}"/>
              </a:ext>
            </a:extLst>
          </p:cNvPr>
          <p:cNvSpPr/>
          <p:nvPr/>
        </p:nvSpPr>
        <p:spPr>
          <a:xfrm>
            <a:off x="163196" y="2724689"/>
            <a:ext cx="2184921" cy="127713"/>
          </a:xfrm>
          <a:prstGeom prst="roundRect">
            <a:avLst>
              <a:gd name="adj" fmla="val 50000"/>
            </a:avLst>
          </a:prstGeom>
          <a:solidFill>
            <a:schemeClr val="bg2">
              <a:lumMod val="8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1ACD485-A2B1-10B8-423F-72C3BBADA8F9}"/>
              </a:ext>
            </a:extLst>
          </p:cNvPr>
          <p:cNvSpPr txBox="1"/>
          <p:nvPr/>
        </p:nvSpPr>
        <p:spPr>
          <a:xfrm>
            <a:off x="137850" y="3128556"/>
            <a:ext cx="23915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 dirty="0"/>
              <a:t>Capture → Transcribe → Summarize → Extract Actions → Validate → Create Tasks → Follow‑up.</a:t>
            </a:r>
            <a:endParaRPr lang="en-US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8B8D989-B105-A0F4-FBF8-52162298113B}"/>
              </a:ext>
            </a:extLst>
          </p:cNvPr>
          <p:cNvSpPr txBox="1"/>
          <p:nvPr/>
        </p:nvSpPr>
        <p:spPr>
          <a:xfrm>
            <a:off x="7105563" y="4340697"/>
            <a:ext cx="1746413" cy="1080389"/>
          </a:xfrm>
          <a:prstGeom prst="rect">
            <a:avLst/>
          </a:prstGeom>
          <a:noFill/>
        </p:spPr>
        <p:txBody>
          <a:bodyPr vert="horz" wrap="square" lIns="67500" tIns="35100" rIns="67500" bIns="3510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1000" dirty="0"/>
              <a:t>Higher accountability &amp; ownership</a:t>
            </a:r>
          </a:p>
          <a:p>
            <a:pPr>
              <a:spcBef>
                <a:spcPct val="0"/>
              </a:spcBef>
            </a:pPr>
            <a:r>
              <a:rPr lang="en-US" sz="1000" dirty="0"/>
              <a:t>Scalable automation with AI</a:t>
            </a:r>
          </a:p>
          <a:p>
            <a:pPr>
              <a:spcBef>
                <a:spcPct val="0"/>
              </a:spcBef>
            </a:pPr>
            <a:r>
              <a:rPr lang="en-US" sz="1000" dirty="0"/>
              <a:t>Improved meeting productivity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1FFD8980-56C0-C004-09FF-1FCE47DBD7BE}"/>
              </a:ext>
            </a:extLst>
          </p:cNvPr>
          <p:cNvSpPr/>
          <p:nvPr/>
        </p:nvSpPr>
        <p:spPr>
          <a:xfrm>
            <a:off x="117262" y="2379141"/>
            <a:ext cx="2491231" cy="19784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Use Case</a:t>
            </a:r>
          </a:p>
        </p:txBody>
      </p:sp>
    </p:spTree>
    <p:extLst>
      <p:ext uri="{BB962C8B-B14F-4D97-AF65-F5344CB8AC3E}">
        <p14:creationId xmlns:p14="http://schemas.microsoft.com/office/powerpoint/2010/main" val="274016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CDDFC-C784-5893-CC29-2067E9ED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B00AB0-553B-450A-0A82-4FC897C3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FBCD23-4136-4060-87F3-FD9DFACCE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3174CE-384E-DB6B-3D26-D61774A32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1B10E-6408-C9F7-8500-E7E396EEE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6255D2-7A1E-4100-6710-0EB92BAF3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A6E92-AA52-D35A-34E7-AF618F2D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</a:rPr>
              <a:t>Key Capabilities of MeetSpark 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2CFBE-6C2D-4D03-6FD3-4F63D083F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288" y="1696801"/>
            <a:ext cx="7293023" cy="4109585"/>
          </a:xfrm>
        </p:spPr>
        <p:txBody>
          <a:bodyPr anchor="ctr">
            <a:noAutofit/>
          </a:bodyPr>
          <a:lstStyle/>
          <a:p>
            <a:r>
              <a:rPr lang="en-US" sz="1800" dirty="0"/>
              <a:t>Automates the entire meeting‑to‑execution process, eliminating manual summaries, note‑taking, and task creation.</a:t>
            </a:r>
          </a:p>
          <a:p>
            <a:r>
              <a:rPr lang="en-US" sz="1800" dirty="0"/>
              <a:t>Transforms conversations into structured, validated action items with clear owners, deadlines, and priorities.</a:t>
            </a:r>
          </a:p>
          <a:p>
            <a:r>
              <a:rPr lang="en-US" sz="1800" dirty="0"/>
              <a:t>Improves accountability &amp; on‑time task completion through autonomous reminders, nudges, and escalations.</a:t>
            </a:r>
          </a:p>
          <a:p>
            <a:r>
              <a:rPr lang="en-US" sz="1800" dirty="0"/>
              <a:t>Reduces time‑to‑recap significantly, delivering instant summaries and action logs.</a:t>
            </a:r>
          </a:p>
          <a:p>
            <a:r>
              <a:rPr lang="en-US" sz="1800" dirty="0"/>
              <a:t>Ensures zero context loss by retaining meeting memory, decisions, and pending items across sessions.</a:t>
            </a:r>
          </a:p>
          <a:p>
            <a:r>
              <a:rPr lang="en-US" sz="1800" dirty="0"/>
              <a:t>Boosts transparency &amp; alignment with auto‑published summaries and action lists in Confluence / task systems.</a:t>
            </a:r>
          </a:p>
          <a:p>
            <a:r>
              <a:rPr lang="en-US" sz="1800" dirty="0"/>
              <a:t>Scales effortlessly with agentic AI, managing large meeting volumes and complex workflows autonomously.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C16A4-D1BB-91AB-C45F-67A6DBBA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4F417-AC45-3340-10C6-541BE072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Company Confidential © Capgemini 2026. All rights reserved./2026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1C6C8-A6A8-89D4-A7F3-5EDAB439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MeetSpark |AgentForce|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6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6" name="Freeform: Shape 41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High-Level Technical Architecture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3601C-564B-19FA-2EC6-B7B20144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2002536"/>
            <a:ext cx="308610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sz="1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MeetSpark | AgentForce | 2026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F463477-0800-FEAD-CBAE-BBBC02CE9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1274824"/>
            <a:ext cx="5419311" cy="430835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1621F-620A-C2B5-4A8B-60B8F2FC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27698" y="6455664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Company Confidential © Capgemini 2026. All rights reserved./2026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C325C-6B0E-D478-245B-4AF676D9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B8D39-FC8F-CC93-E4F7-AA64ABAD3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650310-103C-5DC2-21F2-B4886B04B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1" y="4018137"/>
            <a:ext cx="3803416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MeetSpark WorkFlow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F4C2C2-9153-9B56-63CF-B8BC8ECC6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9" y="1040723"/>
            <a:ext cx="8132299" cy="2419359"/>
          </a:xfrm>
          <a:prstGeom prst="rect">
            <a:avLst/>
          </a:prstGeom>
        </p:spPr>
      </p:pic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94CE8-5257-9F4E-5BB2-DDA5FE4B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3202" y="6308832"/>
            <a:ext cx="6240541" cy="54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 defTabSz="914400">
              <a:spcAft>
                <a:spcPts val="600"/>
              </a:spcAft>
              <a:defRPr/>
            </a:pPr>
            <a:r>
              <a:rPr lang="en-US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MeetSpark |AgentForce|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BCEB4-0646-AC26-5186-B5186225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9360"/>
            <a:ext cx="480060" cy="54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  <a:defRPr/>
            </a:pPr>
            <a:fld id="{C1FF6DA9-008F-8B48-92A6-B652298478BF}" type="slidenum">
              <a:rPr lang="en-US">
                <a:solidFill>
                  <a:schemeClr val="bg1"/>
                </a:solidFill>
              </a:rPr>
              <a:pPr algn="ctr" defTabSz="914400">
                <a:spcAft>
                  <a:spcPts val="600"/>
                </a:spcAft>
                <a:defRPr/>
              </a:pPr>
              <a:t>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A18ED7-0E5A-0711-2697-0B6669C41432}"/>
              </a:ext>
            </a:extLst>
          </p:cNvPr>
          <p:cNvSpPr txBox="1"/>
          <p:nvPr/>
        </p:nvSpPr>
        <p:spPr>
          <a:xfrm>
            <a:off x="4443978" y="4018143"/>
            <a:ext cx="4161833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Capture meeting inputs from Teams/Zoom (audio, chat, notes).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Transcribe audio into clean, structured text using STT.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Summarize discussion into key points, decisions, and insights.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Extract action items (owners, deadlines, tasks) using AI.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Validate details for clarity, completeness, and feasibility.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Create tasks automatically in Jira/Planner/Confluence.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Trigger follow‑ups with automated reminders &amp; escalations.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F70C0-BD31-CCD8-328F-882F377E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66937" y="6308832"/>
            <a:ext cx="1714500" cy="54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  <a:defRPr/>
            </a:pPr>
            <a:r>
              <a:rPr lang="en-US" sz="900">
                <a:solidFill>
                  <a:schemeClr val="bg1"/>
                </a:solidFill>
              </a:rPr>
              <a:t>Company Confidential © Capgemini 2026. All rights reserved./2026</a:t>
            </a:r>
          </a:p>
        </p:txBody>
      </p:sp>
    </p:spTree>
    <p:extLst>
      <p:ext uri="{BB962C8B-B14F-4D97-AF65-F5344CB8AC3E}">
        <p14:creationId xmlns:p14="http://schemas.microsoft.com/office/powerpoint/2010/main" val="3674349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ec4482-8a5f-419e-a3fb-f1ff39837bb1">
      <Terms xmlns="http://schemas.microsoft.com/office/infopath/2007/PartnerControls"/>
    </lcf76f155ced4ddcb4097134ff3c332f>
    <TaxCatchAll xmlns="289d593b-f9da-44ad-aeed-35e8c5022e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C44C9799C9545A5261C0AF70B4333" ma:contentTypeVersion="12" ma:contentTypeDescription="Create a new document." ma:contentTypeScope="" ma:versionID="5e4cadbf8931f3a42467c8a0955d4fc4">
  <xsd:schema xmlns:xsd="http://www.w3.org/2001/XMLSchema" xmlns:xs="http://www.w3.org/2001/XMLSchema" xmlns:p="http://schemas.microsoft.com/office/2006/metadata/properties" xmlns:ns2="71ec4482-8a5f-419e-a3fb-f1ff39837bb1" xmlns:ns3="289d593b-f9da-44ad-aeed-35e8c5022e75" targetNamespace="http://schemas.microsoft.com/office/2006/metadata/properties" ma:root="true" ma:fieldsID="914513dae8da38dff2ffd10bf6795a4a" ns2:_="" ns3:_="">
    <xsd:import namespace="71ec4482-8a5f-419e-a3fb-f1ff39837bb1"/>
    <xsd:import namespace="289d593b-f9da-44ad-aeed-35e8c5022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ec4482-8a5f-419e-a3fb-f1ff39837b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d593b-f9da-44ad-aeed-35e8c5022e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1e7f45-79c5-438a-9c31-31bb88d8ed8a}" ma:internalName="TaxCatchAll" ma:showField="CatchAllData" ma:web="289d593b-f9da-44ad-aeed-35e8c5022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FE961C-7078-423F-B219-7E4904497581}">
  <ds:schemaRefs>
    <ds:schemaRef ds:uri="http://schemas.microsoft.com/office/2006/metadata/properties"/>
    <ds:schemaRef ds:uri="http://schemas.microsoft.com/office/infopath/2007/PartnerControls"/>
    <ds:schemaRef ds:uri="71ec4482-8a5f-419e-a3fb-f1ff39837bb1"/>
    <ds:schemaRef ds:uri="289d593b-f9da-44ad-aeed-35e8c5022e75"/>
  </ds:schemaRefs>
</ds:datastoreItem>
</file>

<file path=customXml/itemProps2.xml><?xml version="1.0" encoding="utf-8"?>
<ds:datastoreItem xmlns:ds="http://schemas.openxmlformats.org/officeDocument/2006/customXml" ds:itemID="{A2FB06B6-728E-48B9-B26D-20F23BE31A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8AD709-DFF1-47D9-913F-74DA1C49CEB9}"/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1807</TotalTime>
  <Words>796</Words>
  <Application>Microsoft Office PowerPoint</Application>
  <PresentationFormat>On-screen Show (4:3)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Use Case Description Business – MeetSpark</vt:lpstr>
      <vt:lpstr>Functional Use case – MeetSpark</vt:lpstr>
      <vt:lpstr>Use Case Overview</vt:lpstr>
      <vt:lpstr>Key Capabilities of MeetSpark </vt:lpstr>
      <vt:lpstr>High-Level Technical Architecture</vt:lpstr>
      <vt:lpstr>MeetSpark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Chakraborty, Nabomita</dc:creator>
  <cp:keywords/>
  <dc:description>generated using python-pptx</dc:description>
  <cp:lastModifiedBy>G, Monish</cp:lastModifiedBy>
  <cp:revision>52</cp:revision>
  <dcterms:created xsi:type="dcterms:W3CDTF">2013-01-27T09:14:16Z</dcterms:created>
  <dcterms:modified xsi:type="dcterms:W3CDTF">2026-03-27T15:21:49Z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0x010100D72C44C9799C9545A5261C0AF70B4333</vt:lpwstr>
  </property>
</Properties>
</file>