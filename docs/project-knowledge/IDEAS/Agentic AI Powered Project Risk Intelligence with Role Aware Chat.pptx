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0" r:id="rId4"/>
  </p:sldMasterIdLst>
  <p:notesMasterIdLst>
    <p:notesMasterId r:id="rId10"/>
  </p:notesMasterIdLst>
  <p:sldIdLst>
    <p:sldId id="263" r:id="rId5"/>
    <p:sldId id="2145706670" r:id="rId6"/>
    <p:sldId id="2145706672" r:id="rId7"/>
    <p:sldId id="2145706673" r:id="rId8"/>
    <p:sldId id="2145706671" r:id="rId9"/>
  </p:sldIdLst>
  <p:sldSz cx="12192000" cy="6858000"/>
  <p:notesSz cx="6858000" cy="9144000"/>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uidance" id="{99712D63-9960-EA4B-940C-022E3C89852C}">
          <p14:sldIdLst>
            <p14:sldId id="263"/>
            <p14:sldId id="2145706670"/>
            <p14:sldId id="2145706672"/>
            <p14:sldId id="2145706673"/>
            <p14:sldId id="2145706671"/>
          </p14:sldIdLst>
        </p14:section>
        <p14:section name="Untitled Section" id="{BF9A5F03-27B0-478D-9363-154BCB2578BD}">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9369B82-F61C-1DAB-D2B9-DBEF2F861C75}" name="Wójcik, Jakub" initials="WJ" userId="S::jakub.wojcik@capgemini.com::67d39b31-f876-42af-a5d3-3244421dda40" providerId="AD"/>
  <p188:author id="{ABFE7C8A-44D6-C62D-74C1-98F46929C423}" name="Derché, Aurélie" initials="AD" userId="S::aurelie.derche@capgemini.com::5f68c882-6845-4196-8575-a10c2237bca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32323"/>
    <a:srgbClr val="010101"/>
    <a:srgbClr val="747474"/>
    <a:srgbClr val="555555"/>
    <a:srgbClr val="1ABA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088F50-6B92-6E29-AB93-F5BE2EC5F5FB}" v="3" dt="2026-04-01T09:04:04.8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17" Type="http://schemas.microsoft.com/office/2018/10/relationships/authors" Target="author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devi, Challa" userId="57d7a0ac-dfd6-48af-bc3a-9cc911941a6a" providerId="ADAL" clId="{9CE8FE42-9D26-4BE9-8C21-8FA910D17688}"/>
    <pc:docChg chg="modSld">
      <pc:chgData name="Sridevi, Challa" userId="57d7a0ac-dfd6-48af-bc3a-9cc911941a6a" providerId="ADAL" clId="{9CE8FE42-9D26-4BE9-8C21-8FA910D17688}" dt="2026-03-25T10:46:43.757" v="30" actId="20577"/>
      <pc:docMkLst>
        <pc:docMk/>
      </pc:docMkLst>
      <pc:sldChg chg="modSp mod">
        <pc:chgData name="Sridevi, Challa" userId="57d7a0ac-dfd6-48af-bc3a-9cc911941a6a" providerId="ADAL" clId="{9CE8FE42-9D26-4BE9-8C21-8FA910D17688}" dt="2026-03-25T10:46:43.757" v="30" actId="20577"/>
        <pc:sldMkLst>
          <pc:docMk/>
          <pc:sldMk cId="175612282" sldId="2145706671"/>
        </pc:sldMkLst>
        <pc:spChg chg="mod">
          <ac:chgData name="Sridevi, Challa" userId="57d7a0ac-dfd6-48af-bc3a-9cc911941a6a" providerId="ADAL" clId="{9CE8FE42-9D26-4BE9-8C21-8FA910D17688}" dt="2026-03-25T10:46:43.757" v="30" actId="20577"/>
          <ac:spMkLst>
            <pc:docMk/>
            <pc:sldMk cId="175612282" sldId="2145706671"/>
            <ac:spMk id="36" creationId="{59981193-D36F-B6C9-3844-14C3987E75C1}"/>
          </ac:spMkLst>
        </pc:spChg>
      </pc:sldChg>
      <pc:sldChg chg="modSp">
        <pc:chgData name="Sridevi, Challa" userId="57d7a0ac-dfd6-48af-bc3a-9cc911941a6a" providerId="ADAL" clId="{9CE8FE42-9D26-4BE9-8C21-8FA910D17688}" dt="2026-03-25T10:39:42.855" v="0" actId="14826"/>
        <pc:sldMkLst>
          <pc:docMk/>
          <pc:sldMk cId="3657648834" sldId="2145706673"/>
        </pc:sldMkLst>
        <pc:picChg chg="mod">
          <ac:chgData name="Sridevi, Challa" userId="57d7a0ac-dfd6-48af-bc3a-9cc911941a6a" providerId="ADAL" clId="{9CE8FE42-9D26-4BE9-8C21-8FA910D17688}" dt="2026-03-25T10:39:42.855" v="0" actId="14826"/>
          <ac:picMkLst>
            <pc:docMk/>
            <pc:sldMk cId="3657648834" sldId="2145706673"/>
            <ac:picMk id="8" creationId="{B9645D44-B691-F226-C771-4FA2CB973F97}"/>
          </ac:picMkLst>
        </pc:picChg>
      </pc:sldChg>
    </pc:docChg>
  </pc:docChgLst>
  <pc:docChgLst>
    <pc:chgData name="R, Hemasri" userId="S::hemasri.r@capgemini.com::0fea52a8-9043-4a41-b1b7-b5a47f7ac04e" providerId="AD" clId="Web-{D1088F50-6B92-6E29-AB93-F5BE2EC5F5FB}"/>
    <pc:docChg chg="modSld">
      <pc:chgData name="R, Hemasri" userId="S::hemasri.r@capgemini.com::0fea52a8-9043-4a41-b1b7-b5a47f7ac04e" providerId="AD" clId="Web-{D1088F50-6B92-6E29-AB93-F5BE2EC5F5FB}" dt="2026-04-01T09:04:04.804" v="2" actId="1076"/>
      <pc:docMkLst>
        <pc:docMk/>
      </pc:docMkLst>
      <pc:sldChg chg="modSp">
        <pc:chgData name="R, Hemasri" userId="S::hemasri.r@capgemini.com::0fea52a8-9043-4a41-b1b7-b5a47f7ac04e" providerId="AD" clId="Web-{D1088F50-6B92-6E29-AB93-F5BE2EC5F5FB}" dt="2026-04-01T09:04:04.804" v="2" actId="1076"/>
        <pc:sldMkLst>
          <pc:docMk/>
          <pc:sldMk cId="2946189433" sldId="2145706672"/>
        </pc:sldMkLst>
        <pc:picChg chg="mod">
          <ac:chgData name="R, Hemasri" userId="S::hemasri.r@capgemini.com::0fea52a8-9043-4a41-b1b7-b5a47f7ac04e" providerId="AD" clId="Web-{D1088F50-6B92-6E29-AB93-F5BE2EC5F5FB}" dt="2026-04-01T09:04:04.804" v="2" actId="1076"/>
          <ac:picMkLst>
            <pc:docMk/>
            <pc:sldMk cId="2946189433" sldId="2145706672"/>
            <ac:picMk id="114" creationId="{C4911FE9-AD45-CD0B-FFDD-2569656F289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EFCD6C-6423-8F47-8CE2-0C68727CE676}" type="datetimeFigureOut">
              <a:rPr lang="en-PL" smtClean="0"/>
              <a:t>04/01/2026</a:t>
            </a:fld>
            <a:endParaRPr lang="en-P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B1FBD7-F02D-4C4F-915F-35E35DACACBF}" type="slidenum">
              <a:rPr lang="en-PL" smtClean="0"/>
              <a:t>‹#›</a:t>
            </a:fld>
            <a:endParaRPr lang="en-PL"/>
          </a:p>
        </p:txBody>
      </p:sp>
    </p:spTree>
    <p:extLst>
      <p:ext uri="{BB962C8B-B14F-4D97-AF65-F5344CB8AC3E}">
        <p14:creationId xmlns:p14="http://schemas.microsoft.com/office/powerpoint/2010/main" val="713401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DB1FBD7-F02D-4C4F-915F-35E35DACACBF}" type="slidenum">
              <a:rPr lang="en-PL" smtClean="0"/>
              <a:t>1</a:t>
            </a:fld>
            <a:endParaRPr lang="en-PL"/>
          </a:p>
        </p:txBody>
      </p:sp>
    </p:spTree>
    <p:extLst>
      <p:ext uri="{BB962C8B-B14F-4D97-AF65-F5344CB8AC3E}">
        <p14:creationId xmlns:p14="http://schemas.microsoft.com/office/powerpoint/2010/main" val="9735688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DB1FBD7-F02D-4C4F-915F-35E35DACACBF}" type="slidenum">
              <a:rPr lang="en-PL" smtClean="0"/>
              <a:t>5</a:t>
            </a:fld>
            <a:endParaRPr lang="en-PL"/>
          </a:p>
        </p:txBody>
      </p:sp>
    </p:spTree>
    <p:extLst>
      <p:ext uri="{BB962C8B-B14F-4D97-AF65-F5344CB8AC3E}">
        <p14:creationId xmlns:p14="http://schemas.microsoft.com/office/powerpoint/2010/main" val="30207140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1.xml"/><Relationship Id="rId6" Type="http://schemas.openxmlformats.org/officeDocument/2006/relationships/hyperlink" Target="http://www.facebook.com/capgemini" TargetMode="External"/><Relationship Id="rId11" Type="http://schemas.openxmlformats.org/officeDocument/2006/relationships/image" Target="../media/image8.png"/><Relationship Id="rId5" Type="http://schemas.openxmlformats.org/officeDocument/2006/relationships/image" Target="../media/image5.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7.png"/></Relationships>
</file>

<file path=ppt/slideLayouts/_rels/slideLayout33.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9.png"/><Relationship Id="rId7" Type="http://schemas.microsoft.com/office/2007/relationships/hdphoto" Target="../media/hdphoto2.wdp"/><Relationship Id="rId12" Type="http://schemas.openxmlformats.org/officeDocument/2006/relationships/image" Target="../media/image12.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3.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1.png"/><Relationship Id="rId14" Type="http://schemas.openxmlformats.org/officeDocument/2006/relationships/hyperlink" Target="https://www.instagram.com/capgemini/"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99976296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FB5E1A75-4EBA-DF96-78B5-DDD08BCCF2AF}"/>
              </a:ext>
            </a:extLst>
          </p:cNvPr>
          <p:cNvSpPr/>
          <p:nvPr userDrawn="1"/>
        </p:nvSpPr>
        <p:spPr>
          <a:xfrm>
            <a:off x="228600" y="152400"/>
            <a:ext cx="3276600" cy="38100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TextBox 4">
            <a:extLst>
              <a:ext uri="{FF2B5EF4-FFF2-40B4-BE49-F238E27FC236}">
                <a16:creationId xmlns:a16="http://schemas.microsoft.com/office/drawing/2014/main" id="{057B955F-1B62-B2CB-9B0D-4438B88344F6}"/>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7" name="TextBox 6">
            <a:extLst>
              <a:ext uri="{FF2B5EF4-FFF2-40B4-BE49-F238E27FC236}">
                <a16:creationId xmlns:a16="http://schemas.microsoft.com/office/drawing/2014/main" id="{3A0C21DE-586C-397B-8753-F537C4EBAA4A}"/>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8" name="TextBox 7">
            <a:extLst>
              <a:ext uri="{FF2B5EF4-FFF2-40B4-BE49-F238E27FC236}">
                <a16:creationId xmlns:a16="http://schemas.microsoft.com/office/drawing/2014/main" id="{AFCE576E-A8B5-0322-4A16-038C0A6525C3}"/>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Tree>
    <p:extLst>
      <p:ext uri="{BB962C8B-B14F-4D97-AF65-F5344CB8AC3E}">
        <p14:creationId xmlns:p14="http://schemas.microsoft.com/office/powerpoint/2010/main" val="716037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5ED96F17-8E1D-2DFB-9678-C900A36D701E}"/>
              </a:ext>
            </a:extLst>
          </p:cNvPr>
          <p:cNvSpPr/>
          <p:nvPr userDrawn="1"/>
        </p:nvSpPr>
        <p:spPr>
          <a:xfrm>
            <a:off x="228599" y="152400"/>
            <a:ext cx="3882053" cy="10668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Rounded Rectangle 4">
            <a:extLst>
              <a:ext uri="{FF2B5EF4-FFF2-40B4-BE49-F238E27FC236}">
                <a16:creationId xmlns:a16="http://schemas.microsoft.com/office/drawing/2014/main" id="{A3563060-2936-91B7-E585-2D5F933D7905}"/>
              </a:ext>
            </a:extLst>
          </p:cNvPr>
          <p:cNvSpPr/>
          <p:nvPr userDrawn="1"/>
        </p:nvSpPr>
        <p:spPr>
          <a:xfrm>
            <a:off x="3888611" y="148291"/>
            <a:ext cx="7838984" cy="1070910"/>
          </a:xfrm>
          <a:prstGeom prst="roundRect">
            <a:avLst>
              <a:gd name="adj" fmla="val 5069"/>
            </a:avLst>
          </a:prstGeom>
          <a:solidFill>
            <a:schemeClr val="bg1"/>
          </a:solidFill>
          <a:ln w="952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7" name="TextBox 6">
            <a:extLst>
              <a:ext uri="{FF2B5EF4-FFF2-40B4-BE49-F238E27FC236}">
                <a16:creationId xmlns:a16="http://schemas.microsoft.com/office/drawing/2014/main" id="{3A7A9AF7-E939-3D90-CEDE-40D540F3D66D}"/>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8" name="TextBox 7">
            <a:extLst>
              <a:ext uri="{FF2B5EF4-FFF2-40B4-BE49-F238E27FC236}">
                <a16:creationId xmlns:a16="http://schemas.microsoft.com/office/drawing/2014/main" id="{088CC983-49C6-B05D-A518-613477F4D1C8}"/>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9" name="TextBox 8">
            <a:extLst>
              <a:ext uri="{FF2B5EF4-FFF2-40B4-BE49-F238E27FC236}">
                <a16:creationId xmlns:a16="http://schemas.microsoft.com/office/drawing/2014/main" id="{7781B0B2-34DD-8721-F816-E4CB93485CEE}"/>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
        <p:nvSpPr>
          <p:cNvPr id="12" name="Title 11">
            <a:extLst>
              <a:ext uri="{FF2B5EF4-FFF2-40B4-BE49-F238E27FC236}">
                <a16:creationId xmlns:a16="http://schemas.microsoft.com/office/drawing/2014/main" id="{D017FCA3-A06A-DB4F-F4AC-54523E730D07}"/>
              </a:ext>
            </a:extLst>
          </p:cNvPr>
          <p:cNvSpPr>
            <a:spLocks noGrp="1"/>
          </p:cNvSpPr>
          <p:nvPr>
            <p:ph type="title"/>
          </p:nvPr>
        </p:nvSpPr>
        <p:spPr>
          <a:xfrm>
            <a:off x="3888610" y="324019"/>
            <a:ext cx="7753711" cy="666581"/>
          </a:xfrm>
        </p:spPr>
        <p:txBody>
          <a:bodyPr/>
          <a:lstStyle>
            <a:lvl1pPr algn="l">
              <a:spcBef>
                <a:spcPct val="0"/>
              </a:spcBef>
              <a:defRPr>
                <a:solidFill>
                  <a:schemeClr val="tx2"/>
                </a:solidFill>
              </a:defRPr>
            </a:lvl1pPr>
          </a:lstStyle>
          <a:p>
            <a:pPr algn="l">
              <a:spcBef>
                <a:spcPct val="0"/>
              </a:spcBef>
            </a:pPr>
            <a:r>
              <a:rPr lang="en-US"/>
              <a:t>Click to edit Master title style</a:t>
            </a:r>
            <a:endParaRPr lang="en-US" sz="2800">
              <a:solidFill>
                <a:schemeClr val="tx2"/>
              </a:solidFill>
            </a:endParaRPr>
          </a:p>
        </p:txBody>
      </p:sp>
    </p:spTree>
    <p:extLst>
      <p:ext uri="{BB962C8B-B14F-4D97-AF65-F5344CB8AC3E}">
        <p14:creationId xmlns:p14="http://schemas.microsoft.com/office/powerpoint/2010/main" val="1583922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7798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Content Placeholder 5">
            <a:extLst>
              <a:ext uri="{FF2B5EF4-FFF2-40B4-BE49-F238E27FC236}">
                <a16:creationId xmlns:a16="http://schemas.microsoft.com/office/drawing/2014/main" id="{B1642B4B-22B4-952E-DD1B-30B2523729DC}"/>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8214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2021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6933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310367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490685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64711367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4185219580"/>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9426378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5568275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052037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5495404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Tree>
    <p:extLst>
      <p:ext uri="{BB962C8B-B14F-4D97-AF65-F5344CB8AC3E}">
        <p14:creationId xmlns:p14="http://schemas.microsoft.com/office/powerpoint/2010/main" val="15006583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87998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4671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925295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337636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982540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692590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94995117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Logo Placeholder 7">
            <a:extLst>
              <a:ext uri="{FF2B5EF4-FFF2-40B4-BE49-F238E27FC236}">
                <a16:creationId xmlns:a16="http://schemas.microsoft.com/office/drawing/2014/main" id="{2C0724B7-40BF-BDCC-6CC1-FE3B5F77D155}"/>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7523306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6807174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15654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8491269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71641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0001105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324283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359037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mn-lt"/>
              </a:rPr>
              <a:t>w</a:t>
            </a:r>
            <a:r>
              <a:rPr lang="en-US" sz="1050" err="1">
                <a:solidFill>
                  <a:schemeClr val="tx1"/>
                </a:solidFill>
                <a:latin typeface="+mn-lt"/>
              </a:rPr>
              <a:t>ww.capgemini.com</a:t>
            </a:r>
            <a:endParaRPr lang="en-US" sz="1050">
              <a:solidFill>
                <a:schemeClr val="tx1"/>
              </a:solidFill>
              <a:latin typeface="+mn-lt"/>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0" name="Rectangle 9">
            <a:extLst>
              <a:ext uri="{FF2B5EF4-FFF2-40B4-BE49-F238E27FC236}">
                <a16:creationId xmlns:a16="http://schemas.microsoft.com/office/drawing/2014/main" id="{0B26CCF1-BAF6-4FCD-3421-F3BD01B6E50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D466A9AF-E76C-000E-9F10-562BABF34749}"/>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6810975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3" name="Rectangle 2">
            <a:extLst>
              <a:ext uri="{FF2B5EF4-FFF2-40B4-BE49-F238E27FC236}">
                <a16:creationId xmlns:a16="http://schemas.microsoft.com/office/drawing/2014/main" id="{1155318A-338B-B8C0-FF10-912D1F195A64}"/>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sp>
        <p:nvSpPr>
          <p:cNvPr id="4" name="Rectangle 3">
            <a:extLst>
              <a:ext uri="{FF2B5EF4-FFF2-40B4-BE49-F238E27FC236}">
                <a16:creationId xmlns:a16="http://schemas.microsoft.com/office/drawing/2014/main" id="{B1DCB544-C864-D4C7-146D-83B61717B1E6}"/>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336297466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pn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35">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64125630"/>
      </p:ext>
    </p:extLst>
  </p:cSld>
  <p:clrMap bg1="lt1" tx1="dk1" bg2="lt2" tx2="dk2" accent1="accent1" accent2="accent2" accent3="accent3" accent4="accent4" accent5="accent5" accent6="accent6" hlink="hlink" folHlink="folHlink"/>
  <p:sldLayoutIdLst>
    <p:sldLayoutId id="2147483860" r:id="rId1"/>
    <p:sldLayoutId id="2147484008" r:id="rId2"/>
    <p:sldLayoutId id="2147484007" r:id="rId3"/>
    <p:sldLayoutId id="2147483823" r:id="rId4"/>
    <p:sldLayoutId id="2147483826" r:id="rId5"/>
    <p:sldLayoutId id="2147483827" r:id="rId6"/>
    <p:sldLayoutId id="2147483869" r:id="rId7"/>
    <p:sldLayoutId id="2147483829" r:id="rId8"/>
    <p:sldLayoutId id="2147483870" r:id="rId9"/>
    <p:sldLayoutId id="2147483831" r:id="rId10"/>
    <p:sldLayoutId id="2147483871" r:id="rId11"/>
    <p:sldLayoutId id="2147483833" r:id="rId12"/>
    <p:sldLayoutId id="2147483872" r:id="rId13"/>
    <p:sldLayoutId id="2147483835" r:id="rId14"/>
    <p:sldLayoutId id="2147483873" r:id="rId15"/>
    <p:sldLayoutId id="2147483837" r:id="rId16"/>
    <p:sldLayoutId id="2147483874" r:id="rId17"/>
    <p:sldLayoutId id="2147483838" r:id="rId18"/>
    <p:sldLayoutId id="2147483875" r:id="rId19"/>
    <p:sldLayoutId id="2147483840" r:id="rId20"/>
    <p:sldLayoutId id="2147483876" r:id="rId21"/>
    <p:sldLayoutId id="2147483842" r:id="rId22"/>
    <p:sldLayoutId id="2147483877" r:id="rId23"/>
    <p:sldLayoutId id="2147483844" r:id="rId24"/>
    <p:sldLayoutId id="2147483878" r:id="rId25"/>
    <p:sldLayoutId id="2147483845" r:id="rId26"/>
    <p:sldLayoutId id="2147483879" r:id="rId27"/>
    <p:sldLayoutId id="2147483847" r:id="rId28"/>
    <p:sldLayoutId id="2147483880" r:id="rId29"/>
    <p:sldLayoutId id="2147483848" r:id="rId30"/>
    <p:sldLayoutId id="2147483849" r:id="rId31"/>
    <p:sldLayoutId id="2147483858" r:id="rId32"/>
    <p:sldLayoutId id="2147483859" r:id="rId33"/>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9808D-C88D-B03B-32CF-D2C42857AA53}"/>
            </a:ext>
          </a:extLst>
        </p:cNvPr>
        <p:cNvGrpSpPr/>
        <p:nvPr/>
      </p:nvGrpSpPr>
      <p:grpSpPr>
        <a:xfrm>
          <a:off x="0" y="0"/>
          <a:ext cx="0" cy="0"/>
          <a:chOff x="0" y="0"/>
          <a:chExt cx="0" cy="0"/>
        </a:xfrm>
      </p:grpSpPr>
      <p:sp>
        <p:nvSpPr>
          <p:cNvPr id="28" name="Date Placeholder 27">
            <a:extLst>
              <a:ext uri="{FF2B5EF4-FFF2-40B4-BE49-F238E27FC236}">
                <a16:creationId xmlns:a16="http://schemas.microsoft.com/office/drawing/2014/main" id="{7B068F88-BA31-177A-C2B5-1585FE35BD48}"/>
              </a:ext>
            </a:extLst>
          </p:cNvPr>
          <p:cNvSpPr>
            <a:spLocks noGrp="1"/>
          </p:cNvSpPr>
          <p:nvPr>
            <p:ph type="dt" sz="half" idx="10"/>
          </p:nvPr>
        </p:nvSpPr>
        <p:spPr/>
        <p:txBody>
          <a:bodyPr/>
          <a:lstStyle/>
          <a:p>
            <a:r>
              <a:rPr lang="en-US"/>
              <a:t>Company Confidential © Capgemini 2026. All rights reserved.</a:t>
            </a:r>
          </a:p>
        </p:txBody>
      </p:sp>
      <p:sp>
        <p:nvSpPr>
          <p:cNvPr id="30" name="Slide Number Placeholder 29">
            <a:extLst>
              <a:ext uri="{FF2B5EF4-FFF2-40B4-BE49-F238E27FC236}">
                <a16:creationId xmlns:a16="http://schemas.microsoft.com/office/drawing/2014/main" id="{56898325-CF5F-AF54-57A9-F3AA68779192}"/>
              </a:ext>
            </a:extLst>
          </p:cNvPr>
          <p:cNvSpPr>
            <a:spLocks noGrp="1"/>
          </p:cNvSpPr>
          <p:nvPr>
            <p:ph type="sldNum" sz="quarter" idx="12"/>
          </p:nvPr>
        </p:nvSpPr>
        <p:spPr/>
        <p:txBody>
          <a:bodyPr/>
          <a:lstStyle/>
          <a:p>
            <a:fld id="{5D9A5160-6218-4E5A-B9E6-B93E3DAE377C}" type="slidenum">
              <a:rPr lang="en-US" smtClean="0"/>
              <a:pPr/>
              <a:t>1</a:t>
            </a:fld>
            <a:endParaRPr lang="en-US"/>
          </a:p>
        </p:txBody>
      </p:sp>
      <p:sp>
        <p:nvSpPr>
          <p:cNvPr id="7" name="Rounded Rectangle 6">
            <a:extLst>
              <a:ext uri="{FF2B5EF4-FFF2-40B4-BE49-F238E27FC236}">
                <a16:creationId xmlns:a16="http://schemas.microsoft.com/office/drawing/2014/main" id="{3EF55D29-D549-A161-BAC6-AF540E6AF3A6}"/>
              </a:ext>
            </a:extLst>
          </p:cNvPr>
          <p:cNvSpPr/>
          <p:nvPr/>
        </p:nvSpPr>
        <p:spPr>
          <a:xfrm>
            <a:off x="3749532" y="286695"/>
            <a:ext cx="5732370" cy="3810000"/>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1" name="Rectangle 10">
            <a:extLst>
              <a:ext uri="{FF2B5EF4-FFF2-40B4-BE49-F238E27FC236}">
                <a16:creationId xmlns:a16="http://schemas.microsoft.com/office/drawing/2014/main" id="{33711452-3C0B-5481-1F97-7044EA76F04A}"/>
              </a:ext>
            </a:extLst>
          </p:cNvPr>
          <p:cNvSpPr/>
          <p:nvPr/>
        </p:nvSpPr>
        <p:spPr>
          <a:xfrm>
            <a:off x="3657600" y="396690"/>
            <a:ext cx="5486400" cy="219990"/>
          </a:xfrm>
          <a:prstGeom prst="rect">
            <a:avLst/>
          </a:prstGeom>
          <a:gradFill flip="none" rotWithShape="1">
            <a:gsLst>
              <a:gs pos="0">
                <a:schemeClr val="bg1">
                  <a:lumMod val="95000"/>
                </a:schemeClr>
              </a:gs>
              <a:gs pos="74000">
                <a:schemeClr val="accent1">
                  <a:lumMod val="45000"/>
                  <a:lumOff val="55000"/>
                </a:schemeClr>
              </a:gs>
              <a:gs pos="83000">
                <a:schemeClr val="accent1">
                  <a:lumMod val="60000"/>
                  <a:lumOff val="40000"/>
                </a:schemeClr>
              </a:gs>
              <a:gs pos="100000">
                <a:schemeClr val="tx2"/>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3" name="TextBox 12">
            <a:extLst>
              <a:ext uri="{FF2B5EF4-FFF2-40B4-BE49-F238E27FC236}">
                <a16:creationId xmlns:a16="http://schemas.microsoft.com/office/drawing/2014/main" id="{2948CA3B-B98D-E8B9-3B80-B6C20CD6914A}"/>
              </a:ext>
            </a:extLst>
          </p:cNvPr>
          <p:cNvSpPr txBox="1"/>
          <p:nvPr/>
        </p:nvSpPr>
        <p:spPr>
          <a:xfrm>
            <a:off x="3681933" y="374789"/>
            <a:ext cx="58571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WHAT</a:t>
            </a:r>
          </a:p>
        </p:txBody>
      </p:sp>
      <p:sp>
        <p:nvSpPr>
          <p:cNvPr id="14" name="Rounded Rectangle 13">
            <a:extLst>
              <a:ext uri="{FF2B5EF4-FFF2-40B4-BE49-F238E27FC236}">
                <a16:creationId xmlns:a16="http://schemas.microsoft.com/office/drawing/2014/main" id="{D34C0E58-2B38-D9D4-F6DD-CA95D28EBBB5}"/>
              </a:ext>
            </a:extLst>
          </p:cNvPr>
          <p:cNvSpPr/>
          <p:nvPr/>
        </p:nvSpPr>
        <p:spPr>
          <a:xfrm>
            <a:off x="9474085" y="152403"/>
            <a:ext cx="2717916" cy="6217517"/>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5" name="Rectangle 14">
            <a:extLst>
              <a:ext uri="{FF2B5EF4-FFF2-40B4-BE49-F238E27FC236}">
                <a16:creationId xmlns:a16="http://schemas.microsoft.com/office/drawing/2014/main" id="{AE6A3EFB-E7B0-980A-9BEA-4349A481291A}"/>
              </a:ext>
            </a:extLst>
          </p:cNvPr>
          <p:cNvSpPr/>
          <p:nvPr/>
        </p:nvSpPr>
        <p:spPr>
          <a:xfrm>
            <a:off x="9474084" y="396694"/>
            <a:ext cx="2468880" cy="219990"/>
          </a:xfrm>
          <a:prstGeom prst="rect">
            <a:avLst/>
          </a:prstGeom>
          <a:gradFill flip="none" rotWithShape="1">
            <a:gsLst>
              <a:gs pos="0">
                <a:schemeClr val="bg1">
                  <a:lumMod val="95000"/>
                </a:schemeClr>
              </a:gs>
              <a:gs pos="74000">
                <a:schemeClr val="accent3">
                  <a:lumMod val="50000"/>
                  <a:lumOff val="50000"/>
                </a:schemeClr>
              </a:gs>
              <a:gs pos="83000">
                <a:schemeClr val="accent3">
                  <a:lumMod val="75000"/>
                  <a:lumOff val="25000"/>
                </a:schemeClr>
              </a:gs>
              <a:gs pos="100000">
                <a:schemeClr val="accent3">
                  <a:lumMod val="75000"/>
                  <a:lumOff val="2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6" name="TextBox 15">
            <a:extLst>
              <a:ext uri="{FF2B5EF4-FFF2-40B4-BE49-F238E27FC236}">
                <a16:creationId xmlns:a16="http://schemas.microsoft.com/office/drawing/2014/main" id="{9DCC833A-4C32-72B6-28BE-FFC9FDD37DBE}"/>
              </a:ext>
            </a:extLst>
          </p:cNvPr>
          <p:cNvSpPr txBox="1"/>
          <p:nvPr/>
        </p:nvSpPr>
        <p:spPr>
          <a:xfrm>
            <a:off x="9498824" y="360487"/>
            <a:ext cx="497550"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WHY</a:t>
            </a:r>
          </a:p>
        </p:txBody>
      </p:sp>
      <p:sp>
        <p:nvSpPr>
          <p:cNvPr id="17" name="Rounded Rectangle 16">
            <a:extLst>
              <a:ext uri="{FF2B5EF4-FFF2-40B4-BE49-F238E27FC236}">
                <a16:creationId xmlns:a16="http://schemas.microsoft.com/office/drawing/2014/main" id="{67809C81-A2BB-0053-E829-1A7A06436F06}"/>
              </a:ext>
            </a:extLst>
          </p:cNvPr>
          <p:cNvSpPr/>
          <p:nvPr/>
        </p:nvSpPr>
        <p:spPr>
          <a:xfrm>
            <a:off x="7490672" y="4025333"/>
            <a:ext cx="1922839" cy="234458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8" name="Rectangle 17">
            <a:extLst>
              <a:ext uri="{FF2B5EF4-FFF2-40B4-BE49-F238E27FC236}">
                <a16:creationId xmlns:a16="http://schemas.microsoft.com/office/drawing/2014/main" id="{BD0C65E4-4EA2-695A-0974-696F98D3C9D6}"/>
              </a:ext>
            </a:extLst>
          </p:cNvPr>
          <p:cNvSpPr/>
          <p:nvPr/>
        </p:nvSpPr>
        <p:spPr>
          <a:xfrm>
            <a:off x="7467600" y="4269623"/>
            <a:ext cx="1737360" cy="219456"/>
          </a:xfrm>
          <a:prstGeom prst="rect">
            <a:avLst/>
          </a:prstGeom>
          <a:gradFill flip="none" rotWithShape="1">
            <a:gsLst>
              <a:gs pos="0">
                <a:schemeClr val="bg1">
                  <a:lumMod val="95000"/>
                </a:schemeClr>
              </a:gs>
              <a:gs pos="74000">
                <a:schemeClr val="accent4"/>
              </a:gs>
              <a:gs pos="83000">
                <a:schemeClr val="accent4">
                  <a:lumMod val="75000"/>
                </a:schemeClr>
              </a:gs>
              <a:gs pos="100000">
                <a:schemeClr val="accent4">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 name="TextBox 18">
            <a:extLst>
              <a:ext uri="{FF2B5EF4-FFF2-40B4-BE49-F238E27FC236}">
                <a16:creationId xmlns:a16="http://schemas.microsoft.com/office/drawing/2014/main" id="{45FC420C-7A76-1641-1513-CB1BB17113EC}"/>
              </a:ext>
            </a:extLst>
          </p:cNvPr>
          <p:cNvSpPr txBox="1"/>
          <p:nvPr/>
        </p:nvSpPr>
        <p:spPr>
          <a:xfrm>
            <a:off x="7492340" y="4233416"/>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WHO</a:t>
            </a:r>
          </a:p>
        </p:txBody>
      </p:sp>
      <p:sp>
        <p:nvSpPr>
          <p:cNvPr id="20" name="Rounded Rectangle 19">
            <a:extLst>
              <a:ext uri="{FF2B5EF4-FFF2-40B4-BE49-F238E27FC236}">
                <a16:creationId xmlns:a16="http://schemas.microsoft.com/office/drawing/2014/main" id="{75F2B3CD-0104-AC57-AF27-E39485AE5646}"/>
              </a:ext>
            </a:extLst>
          </p:cNvPr>
          <p:cNvSpPr/>
          <p:nvPr/>
        </p:nvSpPr>
        <p:spPr>
          <a:xfrm>
            <a:off x="259148" y="4025333"/>
            <a:ext cx="7122422" cy="234458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21" name="Rectangle 20">
            <a:extLst>
              <a:ext uri="{FF2B5EF4-FFF2-40B4-BE49-F238E27FC236}">
                <a16:creationId xmlns:a16="http://schemas.microsoft.com/office/drawing/2014/main" id="{A6CD3C9A-FACF-2625-5F64-D30C21608F62}"/>
              </a:ext>
            </a:extLst>
          </p:cNvPr>
          <p:cNvSpPr/>
          <p:nvPr/>
        </p:nvSpPr>
        <p:spPr>
          <a:xfrm>
            <a:off x="242226" y="4052831"/>
            <a:ext cx="7132320" cy="219990"/>
          </a:xfrm>
          <a:prstGeom prst="rect">
            <a:avLst/>
          </a:prstGeom>
          <a:gradFill flip="none" rotWithShape="1">
            <a:gsLst>
              <a:gs pos="0">
                <a:schemeClr val="bg1">
                  <a:lumMod val="95000"/>
                </a:schemeClr>
              </a:gs>
              <a:gs pos="74000">
                <a:schemeClr val="accent6"/>
              </a:gs>
              <a:gs pos="83000">
                <a:schemeClr val="accent6">
                  <a:lumMod val="75000"/>
                </a:schemeClr>
              </a:gs>
              <a:gs pos="100000">
                <a:schemeClr val="accent6">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2" name="TextBox 21">
            <a:extLst>
              <a:ext uri="{FF2B5EF4-FFF2-40B4-BE49-F238E27FC236}">
                <a16:creationId xmlns:a16="http://schemas.microsoft.com/office/drawing/2014/main" id="{FF0B5E9F-09FB-7686-28CC-A8814654849A}"/>
              </a:ext>
            </a:extLst>
          </p:cNvPr>
          <p:cNvSpPr txBox="1"/>
          <p:nvPr/>
        </p:nvSpPr>
        <p:spPr>
          <a:xfrm>
            <a:off x="290066" y="4039365"/>
            <a:ext cx="521594" cy="263791"/>
          </a:xfrm>
          <a:prstGeom prst="rect">
            <a:avLst/>
          </a:prstGeom>
          <a:noFill/>
        </p:spPr>
        <p:txBody>
          <a:bodyPr vert="horz" wrap="none" lIns="90000" tIns="46800" rIns="90000" bIns="46800" rtlCol="0" anchor="ctr">
            <a:spAutoFit/>
          </a:bodyPr>
          <a:lstStyle/>
          <a:p>
            <a:pPr algn="l">
              <a:spcBef>
                <a:spcPct val="0"/>
              </a:spcBef>
            </a:pPr>
            <a:r>
              <a:rPr lang="en-US" sz="1100" dirty="0">
                <a:solidFill>
                  <a:schemeClr val="bg1"/>
                </a:solidFill>
              </a:rPr>
              <a:t>HOW</a:t>
            </a:r>
          </a:p>
        </p:txBody>
      </p:sp>
      <p:grpSp>
        <p:nvGrpSpPr>
          <p:cNvPr id="24" name="Group 37">
            <a:extLst>
              <a:ext uri="{FF2B5EF4-FFF2-40B4-BE49-F238E27FC236}">
                <a16:creationId xmlns:a16="http://schemas.microsoft.com/office/drawing/2014/main" id="{BCBD625D-5987-ABDE-7905-0A34C89EE9D9}"/>
              </a:ext>
            </a:extLst>
          </p:cNvPr>
          <p:cNvGrpSpPr/>
          <p:nvPr/>
        </p:nvGrpSpPr>
        <p:grpSpPr>
          <a:xfrm>
            <a:off x="11770322" y="176700"/>
            <a:ext cx="260230" cy="240782"/>
            <a:chOff x="5481638" y="2859088"/>
            <a:chExt cx="1231900" cy="1139825"/>
          </a:xfrm>
          <a:solidFill>
            <a:schemeClr val="tx2"/>
          </a:solidFill>
        </p:grpSpPr>
        <p:sp>
          <p:nvSpPr>
            <p:cNvPr id="25" name="Freeform 320">
              <a:extLst>
                <a:ext uri="{FF2B5EF4-FFF2-40B4-BE49-F238E27FC236}">
                  <a16:creationId xmlns:a16="http://schemas.microsoft.com/office/drawing/2014/main" id="{CB9095B4-3DFA-E01E-EBBA-A64A119A2435}"/>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 name="Freeform 321">
              <a:extLst>
                <a:ext uri="{FF2B5EF4-FFF2-40B4-BE49-F238E27FC236}">
                  <a16:creationId xmlns:a16="http://schemas.microsoft.com/office/drawing/2014/main" id="{ED444337-04BD-B18F-943A-53A8052CAEBF}"/>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7" name="Rounded Rectangle 26">
            <a:extLst>
              <a:ext uri="{FF2B5EF4-FFF2-40B4-BE49-F238E27FC236}">
                <a16:creationId xmlns:a16="http://schemas.microsoft.com/office/drawing/2014/main" id="{863B91BB-9D71-DE85-3294-6EF2B2CF08E0}"/>
              </a:ext>
            </a:extLst>
          </p:cNvPr>
          <p:cNvSpPr/>
          <p:nvPr/>
        </p:nvSpPr>
        <p:spPr>
          <a:xfrm>
            <a:off x="9592837" y="661225"/>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 name="TextBox 30">
            <a:extLst>
              <a:ext uri="{FF2B5EF4-FFF2-40B4-BE49-F238E27FC236}">
                <a16:creationId xmlns:a16="http://schemas.microsoft.com/office/drawing/2014/main" id="{42BCF0F3-0E2E-F837-10C4-352B97FD2DB8}"/>
              </a:ext>
            </a:extLst>
          </p:cNvPr>
          <p:cNvSpPr txBox="1"/>
          <p:nvPr/>
        </p:nvSpPr>
        <p:spPr>
          <a:xfrm>
            <a:off x="9839717" y="646592"/>
            <a:ext cx="1090661" cy="263791"/>
          </a:xfrm>
          <a:prstGeom prst="rect">
            <a:avLst/>
          </a:prstGeom>
          <a:noFill/>
        </p:spPr>
        <p:txBody>
          <a:bodyPr vert="horz" wrap="none" lIns="90000" tIns="46800" rIns="90000" bIns="46800" rtlCol="0" anchor="ctr">
            <a:spAutoFit/>
          </a:bodyPr>
          <a:lstStyle/>
          <a:p>
            <a:pPr algn="l">
              <a:spcBef>
                <a:spcPct val="0"/>
              </a:spcBef>
            </a:pPr>
            <a:r>
              <a:rPr lang="en-US" sz="1100"/>
              <a:t>KPIs Impacted</a:t>
            </a:r>
          </a:p>
        </p:txBody>
      </p:sp>
      <p:sp>
        <p:nvSpPr>
          <p:cNvPr id="32" name="Rounded Rectangle 31">
            <a:extLst>
              <a:ext uri="{FF2B5EF4-FFF2-40B4-BE49-F238E27FC236}">
                <a16:creationId xmlns:a16="http://schemas.microsoft.com/office/drawing/2014/main" id="{C2303EE9-3969-ACA1-BD43-C4EA3992EAB8}"/>
              </a:ext>
            </a:extLst>
          </p:cNvPr>
          <p:cNvSpPr/>
          <p:nvPr/>
        </p:nvSpPr>
        <p:spPr>
          <a:xfrm>
            <a:off x="9517233" y="2698058"/>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3" name="TextBox 32">
            <a:extLst>
              <a:ext uri="{FF2B5EF4-FFF2-40B4-BE49-F238E27FC236}">
                <a16:creationId xmlns:a16="http://schemas.microsoft.com/office/drawing/2014/main" id="{630DAF87-00F5-ECF5-8767-99FD7B4932D2}"/>
              </a:ext>
            </a:extLst>
          </p:cNvPr>
          <p:cNvSpPr txBox="1"/>
          <p:nvPr/>
        </p:nvSpPr>
        <p:spPr>
          <a:xfrm>
            <a:off x="9858245" y="2682926"/>
            <a:ext cx="1209283" cy="263791"/>
          </a:xfrm>
          <a:prstGeom prst="rect">
            <a:avLst/>
          </a:prstGeom>
          <a:noFill/>
        </p:spPr>
        <p:txBody>
          <a:bodyPr vert="horz" wrap="none" lIns="90000" tIns="46800" rIns="90000" bIns="46800" rtlCol="0" anchor="ctr">
            <a:spAutoFit/>
          </a:bodyPr>
          <a:lstStyle/>
          <a:p>
            <a:pPr algn="l">
              <a:spcBef>
                <a:spcPct val="0"/>
              </a:spcBef>
            </a:pPr>
            <a:r>
              <a:rPr lang="en-US" sz="1100" dirty="0"/>
              <a:t>Business Impact</a:t>
            </a:r>
          </a:p>
        </p:txBody>
      </p:sp>
      <p:sp>
        <p:nvSpPr>
          <p:cNvPr id="37" name="Rounded Rectangle 36">
            <a:extLst>
              <a:ext uri="{FF2B5EF4-FFF2-40B4-BE49-F238E27FC236}">
                <a16:creationId xmlns:a16="http://schemas.microsoft.com/office/drawing/2014/main" id="{AC704906-FAC6-CC28-217C-0492D17700D9}"/>
              </a:ext>
            </a:extLst>
          </p:cNvPr>
          <p:cNvSpPr/>
          <p:nvPr/>
        </p:nvSpPr>
        <p:spPr>
          <a:xfrm>
            <a:off x="359970" y="4366592"/>
            <a:ext cx="31089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8" name="TextBox 37">
            <a:extLst>
              <a:ext uri="{FF2B5EF4-FFF2-40B4-BE49-F238E27FC236}">
                <a16:creationId xmlns:a16="http://schemas.microsoft.com/office/drawing/2014/main" id="{D2B81A26-9964-1A11-0A3A-5279DC076D6C}"/>
              </a:ext>
            </a:extLst>
          </p:cNvPr>
          <p:cNvSpPr txBox="1"/>
          <p:nvPr/>
        </p:nvSpPr>
        <p:spPr>
          <a:xfrm>
            <a:off x="594597" y="4366592"/>
            <a:ext cx="1422482" cy="263791"/>
          </a:xfrm>
          <a:prstGeom prst="rect">
            <a:avLst/>
          </a:prstGeom>
          <a:noFill/>
        </p:spPr>
        <p:txBody>
          <a:bodyPr vert="horz" wrap="none" lIns="90000" tIns="46800" rIns="90000" bIns="46800" rtlCol="0" anchor="ctr">
            <a:spAutoFit/>
          </a:bodyPr>
          <a:lstStyle/>
          <a:p>
            <a:pPr algn="l">
              <a:spcBef>
                <a:spcPct val="0"/>
              </a:spcBef>
            </a:pPr>
            <a:r>
              <a:rPr lang="en-US" sz="1100" dirty="0"/>
              <a:t>Functional Solution</a:t>
            </a:r>
          </a:p>
        </p:txBody>
      </p:sp>
      <p:sp>
        <p:nvSpPr>
          <p:cNvPr id="41" name="Rounded Rectangle 40">
            <a:extLst>
              <a:ext uri="{FF2B5EF4-FFF2-40B4-BE49-F238E27FC236}">
                <a16:creationId xmlns:a16="http://schemas.microsoft.com/office/drawing/2014/main" id="{BB98DFA7-B1BF-EDB6-6CD8-6A25440EFEE2}"/>
              </a:ext>
            </a:extLst>
          </p:cNvPr>
          <p:cNvSpPr/>
          <p:nvPr/>
        </p:nvSpPr>
        <p:spPr>
          <a:xfrm>
            <a:off x="3757722" y="674122"/>
            <a:ext cx="2262078"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9" name="TextBox 38">
            <a:extLst>
              <a:ext uri="{FF2B5EF4-FFF2-40B4-BE49-F238E27FC236}">
                <a16:creationId xmlns:a16="http://schemas.microsoft.com/office/drawing/2014/main" id="{61F9D499-C931-356B-50CE-FE7650D675B6}"/>
              </a:ext>
            </a:extLst>
          </p:cNvPr>
          <p:cNvSpPr txBox="1"/>
          <p:nvPr/>
        </p:nvSpPr>
        <p:spPr>
          <a:xfrm>
            <a:off x="4012696" y="661224"/>
            <a:ext cx="1472176" cy="263791"/>
          </a:xfrm>
          <a:prstGeom prst="rect">
            <a:avLst/>
          </a:prstGeom>
          <a:noFill/>
        </p:spPr>
        <p:txBody>
          <a:bodyPr vert="horz" wrap="none" lIns="90000" tIns="46800" rIns="90000" bIns="46800" rtlCol="0" anchor="ctr">
            <a:spAutoFit/>
          </a:bodyPr>
          <a:lstStyle/>
          <a:p>
            <a:pPr algn="l">
              <a:spcBef>
                <a:spcPct val="0"/>
              </a:spcBef>
            </a:pPr>
            <a:r>
              <a:rPr lang="en-US" sz="1100"/>
              <a:t>Business Challenges</a:t>
            </a:r>
          </a:p>
        </p:txBody>
      </p:sp>
      <p:sp>
        <p:nvSpPr>
          <p:cNvPr id="49" name="Rounded Rectangle 48">
            <a:extLst>
              <a:ext uri="{FF2B5EF4-FFF2-40B4-BE49-F238E27FC236}">
                <a16:creationId xmlns:a16="http://schemas.microsoft.com/office/drawing/2014/main" id="{392F7412-4824-43D8-B880-447809FF3874}"/>
              </a:ext>
            </a:extLst>
          </p:cNvPr>
          <p:cNvSpPr/>
          <p:nvPr/>
        </p:nvSpPr>
        <p:spPr>
          <a:xfrm>
            <a:off x="3681933" y="4357183"/>
            <a:ext cx="347472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0" name="TextBox 49">
            <a:extLst>
              <a:ext uri="{FF2B5EF4-FFF2-40B4-BE49-F238E27FC236}">
                <a16:creationId xmlns:a16="http://schemas.microsoft.com/office/drawing/2014/main" id="{E8659E0E-D1DB-0C16-AB8F-4E27AAE2CD22}"/>
              </a:ext>
            </a:extLst>
          </p:cNvPr>
          <p:cNvSpPr txBox="1"/>
          <p:nvPr/>
        </p:nvSpPr>
        <p:spPr>
          <a:xfrm>
            <a:off x="3930952" y="4357182"/>
            <a:ext cx="1348744" cy="263791"/>
          </a:xfrm>
          <a:prstGeom prst="rect">
            <a:avLst/>
          </a:prstGeom>
          <a:noFill/>
        </p:spPr>
        <p:txBody>
          <a:bodyPr vert="horz" wrap="none" lIns="90000" tIns="46800" rIns="90000" bIns="46800" rtlCol="0" anchor="ctr">
            <a:spAutoFit/>
          </a:bodyPr>
          <a:lstStyle/>
          <a:p>
            <a:pPr algn="l">
              <a:spcBef>
                <a:spcPct val="0"/>
              </a:spcBef>
            </a:pPr>
            <a:r>
              <a:rPr lang="en-US" sz="1100" dirty="0"/>
              <a:t>Technical Solution</a:t>
            </a:r>
          </a:p>
        </p:txBody>
      </p:sp>
      <p:cxnSp>
        <p:nvCxnSpPr>
          <p:cNvPr id="51" name="Straight Connector 50">
            <a:extLst>
              <a:ext uri="{FF2B5EF4-FFF2-40B4-BE49-F238E27FC236}">
                <a16:creationId xmlns:a16="http://schemas.microsoft.com/office/drawing/2014/main" id="{AC51E32A-5104-AB8F-9EBC-85EB2204E734}"/>
              </a:ext>
            </a:extLst>
          </p:cNvPr>
          <p:cNvCxnSpPr>
            <a:cxnSpLocks/>
          </p:cNvCxnSpPr>
          <p:nvPr/>
        </p:nvCxnSpPr>
        <p:spPr>
          <a:xfrm>
            <a:off x="3581400" y="4863533"/>
            <a:ext cx="0" cy="137160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3" name="Rounded Rectangle 52">
            <a:extLst>
              <a:ext uri="{FF2B5EF4-FFF2-40B4-BE49-F238E27FC236}">
                <a16:creationId xmlns:a16="http://schemas.microsoft.com/office/drawing/2014/main" id="{70AEA542-5BB8-6FFB-3A18-C6DEB1C18564}"/>
              </a:ext>
            </a:extLst>
          </p:cNvPr>
          <p:cNvSpPr/>
          <p:nvPr/>
        </p:nvSpPr>
        <p:spPr>
          <a:xfrm>
            <a:off x="6172200" y="673791"/>
            <a:ext cx="292608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5" name="TextBox 54">
            <a:extLst>
              <a:ext uri="{FF2B5EF4-FFF2-40B4-BE49-F238E27FC236}">
                <a16:creationId xmlns:a16="http://schemas.microsoft.com/office/drawing/2014/main" id="{188D893F-C300-3865-D6C1-F4A96916587D}"/>
              </a:ext>
            </a:extLst>
          </p:cNvPr>
          <p:cNvSpPr txBox="1"/>
          <p:nvPr/>
        </p:nvSpPr>
        <p:spPr>
          <a:xfrm>
            <a:off x="6475926" y="671900"/>
            <a:ext cx="1525074" cy="263791"/>
          </a:xfrm>
          <a:prstGeom prst="rect">
            <a:avLst/>
          </a:prstGeom>
          <a:noFill/>
        </p:spPr>
        <p:txBody>
          <a:bodyPr vert="horz" wrap="none" lIns="90000" tIns="46800" rIns="90000" bIns="46800" rtlCol="0" anchor="ctr">
            <a:spAutoFit/>
          </a:bodyPr>
          <a:lstStyle/>
          <a:p>
            <a:pPr algn="l">
              <a:spcBef>
                <a:spcPct val="0"/>
              </a:spcBef>
            </a:pPr>
            <a:r>
              <a:rPr lang="en-US" sz="1100"/>
              <a:t>Use Case Description</a:t>
            </a:r>
          </a:p>
        </p:txBody>
      </p:sp>
      <p:cxnSp>
        <p:nvCxnSpPr>
          <p:cNvPr id="56" name="Straight Connector 55">
            <a:extLst>
              <a:ext uri="{FF2B5EF4-FFF2-40B4-BE49-F238E27FC236}">
                <a16:creationId xmlns:a16="http://schemas.microsoft.com/office/drawing/2014/main" id="{E1B55769-E7F5-AEBF-1338-E94DBF7FBCB1}"/>
              </a:ext>
            </a:extLst>
          </p:cNvPr>
          <p:cNvCxnSpPr>
            <a:cxnSpLocks/>
          </p:cNvCxnSpPr>
          <p:nvPr/>
        </p:nvCxnSpPr>
        <p:spPr>
          <a:xfrm>
            <a:off x="6096000" y="1088235"/>
            <a:ext cx="0" cy="2718124"/>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1" name="Rounded Rectangle 60">
            <a:extLst>
              <a:ext uri="{FF2B5EF4-FFF2-40B4-BE49-F238E27FC236}">
                <a16:creationId xmlns:a16="http://schemas.microsoft.com/office/drawing/2014/main" id="{56EB4857-71BC-0F5D-8D31-5A71D2C9EEEF}"/>
              </a:ext>
            </a:extLst>
          </p:cNvPr>
          <p:cNvSpPr/>
          <p:nvPr/>
        </p:nvSpPr>
        <p:spPr>
          <a:xfrm>
            <a:off x="7543123" y="4588418"/>
            <a:ext cx="17373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62" name="TextBox 61">
            <a:extLst>
              <a:ext uri="{FF2B5EF4-FFF2-40B4-BE49-F238E27FC236}">
                <a16:creationId xmlns:a16="http://schemas.microsoft.com/office/drawing/2014/main" id="{7347736D-D728-ACA8-2C08-C23ADF0FA6B9}"/>
              </a:ext>
            </a:extLst>
          </p:cNvPr>
          <p:cNvSpPr txBox="1"/>
          <p:nvPr/>
        </p:nvSpPr>
        <p:spPr>
          <a:xfrm>
            <a:off x="7819071" y="4573785"/>
            <a:ext cx="1020129" cy="263791"/>
          </a:xfrm>
          <a:prstGeom prst="rect">
            <a:avLst/>
          </a:prstGeom>
          <a:noFill/>
        </p:spPr>
        <p:txBody>
          <a:bodyPr vert="horz" wrap="none" lIns="90000" tIns="46800" rIns="90000" bIns="46800" rtlCol="0" anchor="ctr">
            <a:spAutoFit/>
          </a:bodyPr>
          <a:lstStyle/>
          <a:p>
            <a:pPr algn="l">
              <a:spcBef>
                <a:spcPct val="0"/>
              </a:spcBef>
            </a:pPr>
            <a:r>
              <a:rPr lang="en-US" sz="1100"/>
              <a:t>Stakeholders</a:t>
            </a:r>
          </a:p>
        </p:txBody>
      </p:sp>
      <p:sp>
        <p:nvSpPr>
          <p:cNvPr id="6" name="TextBox 5">
            <a:extLst>
              <a:ext uri="{FF2B5EF4-FFF2-40B4-BE49-F238E27FC236}">
                <a16:creationId xmlns:a16="http://schemas.microsoft.com/office/drawing/2014/main" id="{AD87257A-C422-3FE7-B908-0AF4844E69F5}"/>
              </a:ext>
            </a:extLst>
          </p:cNvPr>
          <p:cNvSpPr txBox="1"/>
          <p:nvPr/>
        </p:nvSpPr>
        <p:spPr>
          <a:xfrm>
            <a:off x="550863" y="1455652"/>
            <a:ext cx="2671308" cy="1325620"/>
          </a:xfrm>
          <a:prstGeom prst="rect">
            <a:avLst/>
          </a:prstGeom>
          <a:noFill/>
        </p:spPr>
        <p:txBody>
          <a:bodyPr vert="horz" wrap="square" lIns="90000" tIns="46800" rIns="90000" bIns="46800" rtlCol="0" anchor="ctr">
            <a:spAutoFit/>
          </a:bodyPr>
          <a:lstStyle/>
          <a:p>
            <a:pPr>
              <a:spcBef>
                <a:spcPct val="0"/>
              </a:spcBef>
            </a:pPr>
            <a:r>
              <a:rPr lang="en-US" sz="2000" dirty="0">
                <a:solidFill>
                  <a:schemeClr val="bg2"/>
                </a:solidFill>
              </a:rPr>
              <a:t>Agentic AI Powered Project Risk Intelligence with Role Aware Chat</a:t>
            </a:r>
            <a:endParaRPr lang="en-IN" sz="2000" dirty="0" err="1">
              <a:solidFill>
                <a:schemeClr val="bg2"/>
              </a:solidFill>
            </a:endParaRPr>
          </a:p>
        </p:txBody>
      </p:sp>
      <p:sp>
        <p:nvSpPr>
          <p:cNvPr id="10" name="TextBox 9">
            <a:extLst>
              <a:ext uri="{FF2B5EF4-FFF2-40B4-BE49-F238E27FC236}">
                <a16:creationId xmlns:a16="http://schemas.microsoft.com/office/drawing/2014/main" id="{0DAFB63E-FFDD-3D5D-CDA5-E72A5EBF945C}"/>
              </a:ext>
            </a:extLst>
          </p:cNvPr>
          <p:cNvSpPr txBox="1"/>
          <p:nvPr/>
        </p:nvSpPr>
        <p:spPr>
          <a:xfrm>
            <a:off x="3720382" y="1104148"/>
            <a:ext cx="2338277" cy="2402838"/>
          </a:xfrm>
          <a:prstGeom prst="rect">
            <a:avLst/>
          </a:prstGeom>
          <a:noFill/>
        </p:spPr>
        <p:txBody>
          <a:bodyPr vert="horz" wrap="square" lIns="90000" tIns="46800" rIns="90000" bIns="46800" rtlCol="0" anchor="t">
            <a:spAutoFit/>
          </a:bodyPr>
          <a:lstStyle/>
          <a:p>
            <a:pPr marL="171450" indent="-171450">
              <a:spcBef>
                <a:spcPct val="0"/>
              </a:spcBef>
              <a:buFont typeface="Arial" panose="020B0604020202020204" pitchFamily="34" charset="0"/>
              <a:buChar char="•"/>
            </a:pPr>
            <a:r>
              <a:rPr lang="en-US" sz="1000" dirty="0"/>
              <a:t>Important risks stay hidden in unstructured updates, causing inconsistent RAG and late visibility for leadership.</a:t>
            </a:r>
          </a:p>
          <a:p>
            <a:pPr marL="171450" indent="-171450">
              <a:spcBef>
                <a:spcPct val="0"/>
              </a:spcBef>
              <a:buFont typeface="Arial" panose="020B0604020202020204" pitchFamily="34" charset="0"/>
              <a:buChar char="•"/>
            </a:pPr>
            <a:r>
              <a:rPr lang="en-US" sz="1000" dirty="0"/>
              <a:t>Teams struggle to find information across many tools, and there’s no easy chat option for updates or questions.</a:t>
            </a:r>
          </a:p>
          <a:p>
            <a:pPr marL="171450" indent="-171450">
              <a:spcBef>
                <a:spcPct val="0"/>
              </a:spcBef>
              <a:buFont typeface="Arial" panose="020B0604020202020204" pitchFamily="34" charset="0"/>
              <a:buChar char="•"/>
            </a:pPr>
            <a:r>
              <a:rPr lang="en-US" sz="1000" dirty="0"/>
              <a:t>There are no proactive alerts or automatic Red‑status escalations, and PMs aren’t asked to explain delays.</a:t>
            </a:r>
          </a:p>
          <a:p>
            <a:pPr marL="171450" indent="-171450">
              <a:spcBef>
                <a:spcPct val="0"/>
              </a:spcBef>
              <a:buFont typeface="Arial" panose="020B0604020202020204" pitchFamily="34" charset="0"/>
              <a:buChar char="•"/>
            </a:pPr>
            <a:r>
              <a:rPr lang="en-US" sz="1000" dirty="0"/>
              <a:t>Missing or late updates require manual follow‑up with no single, easy workflow.</a:t>
            </a:r>
            <a:endParaRPr lang="en-IN" sz="1000" dirty="0" err="1"/>
          </a:p>
        </p:txBody>
      </p:sp>
      <p:sp>
        <p:nvSpPr>
          <p:cNvPr id="12" name="TextBox 11">
            <a:extLst>
              <a:ext uri="{FF2B5EF4-FFF2-40B4-BE49-F238E27FC236}">
                <a16:creationId xmlns:a16="http://schemas.microsoft.com/office/drawing/2014/main" id="{77C109AF-4229-5AAB-9DEE-9B0B6D013E26}"/>
              </a:ext>
            </a:extLst>
          </p:cNvPr>
          <p:cNvSpPr txBox="1"/>
          <p:nvPr/>
        </p:nvSpPr>
        <p:spPr>
          <a:xfrm>
            <a:off x="6267318" y="1055578"/>
            <a:ext cx="2923902" cy="2556727"/>
          </a:xfrm>
          <a:prstGeom prst="rect">
            <a:avLst/>
          </a:prstGeom>
          <a:noFill/>
        </p:spPr>
        <p:txBody>
          <a:bodyPr vert="horz" wrap="square" lIns="90000" tIns="46800" rIns="90000" bIns="46800" rtlCol="0" anchor="t">
            <a:spAutoFit/>
          </a:bodyPr>
          <a:lstStyle/>
          <a:p>
            <a:pPr marL="171450" indent="-171450">
              <a:spcBef>
                <a:spcPct val="0"/>
              </a:spcBef>
              <a:buFont typeface="Arial" panose="020B0604020202020204" pitchFamily="34" charset="0"/>
              <a:buChar char="•"/>
            </a:pPr>
            <a:r>
              <a:rPr lang="en-US" sz="1000" dirty="0"/>
              <a:t>This solution adds an Agentic AI layer over Microsoft Fabric and Power Platform to analyze project updates, detect risks, predict delays, and auto‑update RAG status.</a:t>
            </a:r>
          </a:p>
          <a:p>
            <a:pPr marL="171450" indent="-171450">
              <a:spcBef>
                <a:spcPct val="0"/>
              </a:spcBef>
              <a:buFont typeface="Arial" panose="020B0604020202020204" pitchFamily="34" charset="0"/>
              <a:buChar char="•"/>
            </a:pPr>
            <a:r>
              <a:rPr lang="en-US" sz="1000" dirty="0"/>
              <a:t>A role‑aware Copilot lets users ask project questions in natural language, while admins securely update actuals, accruals, stages, and RAG.</a:t>
            </a:r>
          </a:p>
          <a:p>
            <a:pPr marL="171450" indent="-171450">
              <a:spcBef>
                <a:spcPct val="0"/>
              </a:spcBef>
              <a:buFont typeface="Arial" panose="020B0604020202020204" pitchFamily="34" charset="0"/>
              <a:buChar char="•"/>
            </a:pPr>
            <a:r>
              <a:rPr lang="en-US" sz="1000" dirty="0"/>
              <a:t>The system sends automatic alerts when a project turns Red and collects PM explanations through a Power Apps form.</a:t>
            </a:r>
          </a:p>
          <a:p>
            <a:pPr marL="171450" indent="-171450">
              <a:spcBef>
                <a:spcPct val="0"/>
              </a:spcBef>
              <a:buFont typeface="Arial" panose="020B0604020202020204" pitchFamily="34" charset="0"/>
              <a:buChar char="•"/>
            </a:pPr>
            <a:r>
              <a:rPr lang="en-US" sz="1000" dirty="0"/>
              <a:t>If updates are missing, reminders are triggered via email, Teams, or the AI agent, allowing PMs to submit their updates directly through the conversational interface.</a:t>
            </a:r>
            <a:endParaRPr lang="en-IN" sz="1000" dirty="0" err="1"/>
          </a:p>
        </p:txBody>
      </p:sp>
      <p:sp>
        <p:nvSpPr>
          <p:cNvPr id="35" name="TextBox 34">
            <a:extLst>
              <a:ext uri="{FF2B5EF4-FFF2-40B4-BE49-F238E27FC236}">
                <a16:creationId xmlns:a16="http://schemas.microsoft.com/office/drawing/2014/main" id="{659E2472-E006-FD9E-37FC-5F848853CA83}"/>
              </a:ext>
            </a:extLst>
          </p:cNvPr>
          <p:cNvSpPr txBox="1"/>
          <p:nvPr/>
        </p:nvSpPr>
        <p:spPr>
          <a:xfrm>
            <a:off x="9592837" y="943460"/>
            <a:ext cx="2431679" cy="1571842"/>
          </a:xfrm>
          <a:prstGeom prst="rect">
            <a:avLst/>
          </a:prstGeom>
          <a:noFill/>
        </p:spPr>
        <p:txBody>
          <a:bodyPr vert="horz" wrap="square" lIns="90000" tIns="46800" rIns="90000" bIns="46800" rtlCol="0" anchor="t">
            <a:spAutoFit/>
          </a:bodyPr>
          <a:lstStyle/>
          <a:p>
            <a:pPr marL="171450" indent="-171450">
              <a:spcBef>
                <a:spcPct val="0"/>
              </a:spcBef>
              <a:buFont typeface="Arial" panose="020B0604020202020204" pitchFamily="34" charset="0"/>
              <a:buChar char="•"/>
            </a:pPr>
            <a:r>
              <a:rPr lang="en-US" sz="1200" dirty="0"/>
              <a:t>% of projects with accurate and timely RAG updates</a:t>
            </a:r>
          </a:p>
          <a:p>
            <a:pPr marL="171450" indent="-171450">
              <a:spcBef>
                <a:spcPct val="0"/>
              </a:spcBef>
              <a:buFont typeface="Arial" panose="020B0604020202020204" pitchFamily="34" charset="0"/>
              <a:buChar char="•"/>
            </a:pPr>
            <a:r>
              <a:rPr lang="en-US" sz="1200" dirty="0"/>
              <a:t>% reduction in project delays</a:t>
            </a:r>
          </a:p>
          <a:p>
            <a:pPr marL="171450" indent="-171450">
              <a:spcBef>
                <a:spcPct val="0"/>
              </a:spcBef>
              <a:buFont typeface="Arial" panose="020B0604020202020204" pitchFamily="34" charset="0"/>
              <a:buChar char="•"/>
            </a:pPr>
            <a:r>
              <a:rPr lang="en-US" sz="1200" dirty="0"/>
              <a:t>Risk prediction accuracy</a:t>
            </a:r>
          </a:p>
          <a:p>
            <a:pPr marL="171450" indent="-171450">
              <a:spcBef>
                <a:spcPct val="0"/>
              </a:spcBef>
              <a:buFont typeface="Arial" panose="020B0604020202020204" pitchFamily="34" charset="0"/>
              <a:buChar char="•"/>
            </a:pPr>
            <a:r>
              <a:rPr lang="en-US" sz="1200" dirty="0"/>
              <a:t>PMO effort reduction (Time to detect and escalate risks</a:t>
            </a:r>
          </a:p>
          <a:p>
            <a:pPr marL="171450" indent="-171450">
              <a:spcBef>
                <a:spcPct val="0"/>
              </a:spcBef>
              <a:buFont typeface="Arial" panose="020B0604020202020204" pitchFamily="34" charset="0"/>
              <a:buChar char="•"/>
            </a:pPr>
            <a:r>
              <a:rPr lang="en-US" sz="1200" dirty="0"/>
              <a:t>Quality and consistency of project updates</a:t>
            </a:r>
            <a:endParaRPr lang="en-IN" sz="1200" dirty="0" err="1"/>
          </a:p>
        </p:txBody>
      </p:sp>
      <p:sp>
        <p:nvSpPr>
          <p:cNvPr id="36" name="TextBox 35">
            <a:extLst>
              <a:ext uri="{FF2B5EF4-FFF2-40B4-BE49-F238E27FC236}">
                <a16:creationId xmlns:a16="http://schemas.microsoft.com/office/drawing/2014/main" id="{6FC893FF-6A67-F878-6475-6713471CD17E}"/>
              </a:ext>
            </a:extLst>
          </p:cNvPr>
          <p:cNvSpPr txBox="1"/>
          <p:nvPr/>
        </p:nvSpPr>
        <p:spPr>
          <a:xfrm>
            <a:off x="9566388" y="3156166"/>
            <a:ext cx="2431679" cy="2864503"/>
          </a:xfrm>
          <a:prstGeom prst="rect">
            <a:avLst/>
          </a:prstGeom>
          <a:noFill/>
        </p:spPr>
        <p:txBody>
          <a:bodyPr vert="horz" wrap="square" lIns="90000" tIns="46800" rIns="90000" bIns="46800" rtlCol="0" anchor="ctr">
            <a:spAutoFit/>
          </a:bodyPr>
          <a:lstStyle/>
          <a:p>
            <a:pPr marL="171450" indent="-171450">
              <a:spcBef>
                <a:spcPct val="0"/>
              </a:spcBef>
              <a:buFont typeface="Arial" panose="020B0604020202020204" pitchFamily="34" charset="0"/>
              <a:buChar char="•"/>
            </a:pPr>
            <a:r>
              <a:rPr lang="en-US" sz="1200" dirty="0"/>
              <a:t>40–60% reduction in PMO manual effort through automated risk analysis</a:t>
            </a:r>
          </a:p>
          <a:p>
            <a:pPr marL="171450" indent="-171450">
              <a:spcBef>
                <a:spcPct val="0"/>
              </a:spcBef>
              <a:buFont typeface="Arial" panose="020B0604020202020204" pitchFamily="34" charset="0"/>
              <a:buChar char="•"/>
            </a:pPr>
            <a:r>
              <a:rPr lang="en-US" sz="1200" dirty="0"/>
              <a:t>Early detection of hidden risks, reducing slippage and surprise escalations</a:t>
            </a:r>
          </a:p>
          <a:p>
            <a:pPr marL="171450" indent="-171450">
              <a:spcBef>
                <a:spcPct val="0"/>
              </a:spcBef>
              <a:buFont typeface="Arial" panose="020B0604020202020204" pitchFamily="34" charset="0"/>
              <a:buChar char="•"/>
            </a:pPr>
            <a:r>
              <a:rPr lang="en-US" sz="1200" dirty="0"/>
              <a:t>Faster leadership decision-making via conversational insights</a:t>
            </a:r>
          </a:p>
          <a:p>
            <a:pPr marL="171450" indent="-171450">
              <a:spcBef>
                <a:spcPct val="0"/>
              </a:spcBef>
              <a:buFont typeface="Arial" panose="020B0604020202020204" pitchFamily="34" charset="0"/>
              <a:buChar char="•"/>
            </a:pPr>
            <a:r>
              <a:rPr lang="en-US" sz="1200" dirty="0"/>
              <a:t>Consistent and explainable RAG scoring across all projects</a:t>
            </a:r>
          </a:p>
          <a:p>
            <a:pPr marL="171450" indent="-171450">
              <a:spcBef>
                <a:spcPct val="0"/>
              </a:spcBef>
              <a:buFont typeface="Arial" panose="020B0604020202020204" pitchFamily="34" charset="0"/>
              <a:buChar char="•"/>
            </a:pPr>
            <a:r>
              <a:rPr lang="en-US" sz="1200" dirty="0"/>
              <a:t>Scalable project oversight for large portfolios across business units</a:t>
            </a:r>
            <a:endParaRPr lang="en-IN" sz="1200" dirty="0" err="1"/>
          </a:p>
        </p:txBody>
      </p:sp>
      <p:sp>
        <p:nvSpPr>
          <p:cNvPr id="43" name="TextBox 42">
            <a:extLst>
              <a:ext uri="{FF2B5EF4-FFF2-40B4-BE49-F238E27FC236}">
                <a16:creationId xmlns:a16="http://schemas.microsoft.com/office/drawing/2014/main" id="{437EADE3-E0AC-50C7-335A-30A4ABA62F47}"/>
              </a:ext>
            </a:extLst>
          </p:cNvPr>
          <p:cNvSpPr txBox="1"/>
          <p:nvPr/>
        </p:nvSpPr>
        <p:spPr>
          <a:xfrm>
            <a:off x="327477" y="4619105"/>
            <a:ext cx="3293882" cy="1787285"/>
          </a:xfrm>
          <a:prstGeom prst="rect">
            <a:avLst/>
          </a:prstGeom>
          <a:noFill/>
        </p:spPr>
        <p:txBody>
          <a:bodyPr vert="horz" wrap="square" lIns="90000" tIns="46800" rIns="90000" bIns="46800" rtlCol="0" anchor="t">
            <a:spAutoFit/>
          </a:bodyPr>
          <a:lstStyle/>
          <a:p>
            <a:pPr marL="171450" indent="-171450">
              <a:spcBef>
                <a:spcPct val="0"/>
              </a:spcBef>
              <a:buFont typeface="Arial" panose="020B0604020202020204" pitchFamily="34" charset="0"/>
              <a:buChar char="•"/>
            </a:pPr>
            <a:r>
              <a:rPr lang="en-US" sz="1000" dirty="0"/>
              <a:t>Auto-email alerts when a project turns Red</a:t>
            </a:r>
          </a:p>
          <a:p>
            <a:pPr marL="171450" indent="-171450">
              <a:spcBef>
                <a:spcPct val="0"/>
              </a:spcBef>
              <a:buFont typeface="Arial" panose="020B0604020202020204" pitchFamily="34" charset="0"/>
              <a:buChar char="•"/>
            </a:pPr>
            <a:r>
              <a:rPr lang="en-US" sz="1000" dirty="0"/>
              <a:t>Power Apps form sent to PMs for explaining delays and mitigation</a:t>
            </a:r>
          </a:p>
          <a:p>
            <a:pPr marL="171450" indent="-171450">
              <a:spcBef>
                <a:spcPct val="0"/>
              </a:spcBef>
              <a:buFont typeface="Arial" panose="020B0604020202020204" pitchFamily="34" charset="0"/>
              <a:buChar char="•"/>
            </a:pPr>
            <a:r>
              <a:rPr lang="en-US" sz="1000" dirty="0"/>
              <a:t>Reminders sent for missing or late updates</a:t>
            </a:r>
          </a:p>
          <a:p>
            <a:pPr marL="171450" indent="-171450">
              <a:spcBef>
                <a:spcPct val="0"/>
              </a:spcBef>
              <a:buFont typeface="Arial" panose="020B0604020202020204" pitchFamily="34" charset="0"/>
              <a:buChar char="•"/>
            </a:pPr>
            <a:r>
              <a:rPr lang="en-US" sz="1000" dirty="0"/>
              <a:t>PMs can update project status, actuals, and accruals directly through the AI agent</a:t>
            </a:r>
          </a:p>
          <a:p>
            <a:pPr marL="171450" indent="-171450">
              <a:spcBef>
                <a:spcPct val="0"/>
              </a:spcBef>
              <a:buFont typeface="Arial" panose="020B0604020202020204" pitchFamily="34" charset="0"/>
              <a:buChar char="•"/>
            </a:pPr>
            <a:r>
              <a:rPr lang="en-US" sz="1000" dirty="0"/>
              <a:t>AI analyzes project updates to detect risks and predict delays</a:t>
            </a:r>
          </a:p>
          <a:p>
            <a:pPr marL="171450" indent="-171450">
              <a:spcBef>
                <a:spcPct val="0"/>
              </a:spcBef>
              <a:buFont typeface="Arial" panose="020B0604020202020204" pitchFamily="34" charset="0"/>
              <a:buChar char="•"/>
            </a:pPr>
            <a:r>
              <a:rPr lang="en-US" sz="1000" dirty="0"/>
              <a:t>Automatically updates RAG status with reasons</a:t>
            </a:r>
          </a:p>
          <a:p>
            <a:pPr marL="171450" indent="-171450">
              <a:spcBef>
                <a:spcPct val="0"/>
              </a:spcBef>
              <a:buFont typeface="Arial" panose="020B0604020202020204" pitchFamily="34" charset="0"/>
              <a:buChar char="•"/>
            </a:pPr>
            <a:r>
              <a:rPr lang="en-US" sz="1000" dirty="0"/>
              <a:t>Role-aware chat allows users to query any project data</a:t>
            </a:r>
            <a:endParaRPr lang="en-IN" sz="1000" dirty="0" err="1"/>
          </a:p>
        </p:txBody>
      </p:sp>
      <p:sp>
        <p:nvSpPr>
          <p:cNvPr id="45" name="TextBox 44">
            <a:extLst>
              <a:ext uri="{FF2B5EF4-FFF2-40B4-BE49-F238E27FC236}">
                <a16:creationId xmlns:a16="http://schemas.microsoft.com/office/drawing/2014/main" id="{59710462-2E96-A8D7-DB33-14EBB8366292}"/>
              </a:ext>
            </a:extLst>
          </p:cNvPr>
          <p:cNvSpPr txBox="1"/>
          <p:nvPr/>
        </p:nvSpPr>
        <p:spPr>
          <a:xfrm>
            <a:off x="3720382" y="4681340"/>
            <a:ext cx="3719136" cy="1633397"/>
          </a:xfrm>
          <a:prstGeom prst="rect">
            <a:avLst/>
          </a:prstGeom>
          <a:noFill/>
        </p:spPr>
        <p:txBody>
          <a:bodyPr vert="horz" wrap="square" lIns="90000" tIns="46800" rIns="90000" bIns="46800" rtlCol="0" anchor="ctr">
            <a:spAutoFit/>
          </a:bodyPr>
          <a:lstStyle/>
          <a:p>
            <a:pPr marL="171450" indent="-171450">
              <a:spcBef>
                <a:spcPct val="0"/>
              </a:spcBef>
              <a:buFont typeface="Arial" panose="020B0604020202020204" pitchFamily="34" charset="0"/>
              <a:buChar char="•"/>
            </a:pPr>
            <a:r>
              <a:rPr lang="en-IN" sz="1000" dirty="0"/>
              <a:t>Power Automate flows trigger Red-alert emails and reminders</a:t>
            </a:r>
          </a:p>
          <a:p>
            <a:pPr marL="171450" indent="-171450">
              <a:spcBef>
                <a:spcPct val="0"/>
              </a:spcBef>
              <a:buFont typeface="Arial" panose="020B0604020202020204" pitchFamily="34" charset="0"/>
              <a:buChar char="•"/>
            </a:pPr>
            <a:r>
              <a:rPr lang="en-IN" sz="1000" dirty="0"/>
              <a:t>Power Apps form captures PM explanations and writes them to Dataverse</a:t>
            </a:r>
          </a:p>
          <a:p>
            <a:pPr marL="171450" indent="-171450">
              <a:spcBef>
                <a:spcPct val="0"/>
              </a:spcBef>
              <a:buFont typeface="Arial" panose="020B0604020202020204" pitchFamily="34" charset="0"/>
              <a:buChar char="•"/>
            </a:pPr>
            <a:r>
              <a:rPr lang="en-IN" sz="1000" dirty="0"/>
              <a:t>Microsoft Fabric pipelines detect stale or missing updates</a:t>
            </a:r>
          </a:p>
          <a:p>
            <a:pPr marL="171450" indent="-171450">
              <a:spcBef>
                <a:spcPct val="0"/>
              </a:spcBef>
              <a:buFont typeface="Arial" panose="020B0604020202020204" pitchFamily="34" charset="0"/>
              <a:buChar char="•"/>
            </a:pPr>
            <a:r>
              <a:rPr lang="en-IN" sz="1000" dirty="0"/>
              <a:t>AI models (semantic + sentiment analysis) process project updates</a:t>
            </a:r>
          </a:p>
          <a:p>
            <a:pPr marL="171450" indent="-171450">
              <a:spcBef>
                <a:spcPct val="0"/>
              </a:spcBef>
              <a:buFont typeface="Arial" panose="020B0604020202020204" pitchFamily="34" charset="0"/>
              <a:buChar char="•"/>
            </a:pPr>
            <a:r>
              <a:rPr lang="en-IN" sz="1000" dirty="0"/>
              <a:t>Dataverse stores project data, RAG status, and audit logs</a:t>
            </a:r>
          </a:p>
          <a:p>
            <a:pPr marL="171450" indent="-171450">
              <a:spcBef>
                <a:spcPct val="0"/>
              </a:spcBef>
              <a:buFont typeface="Arial" panose="020B0604020202020204" pitchFamily="34" charset="0"/>
              <a:buChar char="•"/>
            </a:pPr>
            <a:r>
              <a:rPr lang="en-IN" sz="1000" dirty="0"/>
              <a:t>Copilot Studio powers the conversational agent and secure admin actions</a:t>
            </a:r>
          </a:p>
        </p:txBody>
      </p:sp>
      <p:sp>
        <p:nvSpPr>
          <p:cNvPr id="46" name="TextBox 45">
            <a:extLst>
              <a:ext uri="{FF2B5EF4-FFF2-40B4-BE49-F238E27FC236}">
                <a16:creationId xmlns:a16="http://schemas.microsoft.com/office/drawing/2014/main" id="{0CC1116B-86C5-25B2-3377-734CA39A29CF}"/>
              </a:ext>
            </a:extLst>
          </p:cNvPr>
          <p:cNvSpPr txBox="1"/>
          <p:nvPr/>
        </p:nvSpPr>
        <p:spPr>
          <a:xfrm>
            <a:off x="7553047" y="4941605"/>
            <a:ext cx="1752907" cy="1202510"/>
          </a:xfrm>
          <a:prstGeom prst="rect">
            <a:avLst/>
          </a:prstGeom>
          <a:noFill/>
        </p:spPr>
        <p:txBody>
          <a:bodyPr vert="horz" wrap="square" lIns="90000" tIns="46800" rIns="90000" bIns="46800" rtlCol="0" anchor="t">
            <a:spAutoFit/>
          </a:bodyPr>
          <a:lstStyle/>
          <a:p>
            <a:pPr marL="171450" indent="-171450">
              <a:spcBef>
                <a:spcPct val="0"/>
              </a:spcBef>
              <a:buFont typeface="Wingdings" panose="05000000000000000000" pitchFamily="2" charset="2"/>
              <a:buChar char="§"/>
            </a:pPr>
            <a:r>
              <a:rPr lang="en-US" sz="1200" dirty="0"/>
              <a:t>Project Managers &amp; Delivery Leads </a:t>
            </a:r>
          </a:p>
          <a:p>
            <a:pPr marL="171450" indent="-171450">
              <a:spcBef>
                <a:spcPct val="0"/>
              </a:spcBef>
              <a:buFont typeface="Wingdings" panose="05000000000000000000" pitchFamily="2" charset="2"/>
              <a:buChar char="§"/>
            </a:pPr>
            <a:r>
              <a:rPr lang="en-US" sz="1200" dirty="0"/>
              <a:t>PMO Teams</a:t>
            </a:r>
          </a:p>
          <a:p>
            <a:pPr marL="171450" indent="-171450">
              <a:spcBef>
                <a:spcPct val="0"/>
              </a:spcBef>
              <a:buFont typeface="Wingdings" panose="05000000000000000000" pitchFamily="2" charset="2"/>
              <a:buChar char="§"/>
            </a:pPr>
            <a:r>
              <a:rPr lang="en-US" sz="1200" dirty="0"/>
              <a:t>Leadership </a:t>
            </a:r>
          </a:p>
          <a:p>
            <a:pPr marL="171450" indent="-171450">
              <a:spcBef>
                <a:spcPct val="0"/>
              </a:spcBef>
              <a:buFont typeface="Wingdings" panose="05000000000000000000" pitchFamily="2" charset="2"/>
              <a:buChar char="§"/>
            </a:pPr>
            <a:r>
              <a:rPr lang="en-US" sz="1200" dirty="0"/>
              <a:t>Platform/Admin Users</a:t>
            </a:r>
            <a:endParaRPr lang="en-IN" sz="1200" dirty="0" err="1"/>
          </a:p>
        </p:txBody>
      </p:sp>
    </p:spTree>
    <p:extLst>
      <p:ext uri="{BB962C8B-B14F-4D97-AF65-F5344CB8AC3E}">
        <p14:creationId xmlns:p14="http://schemas.microsoft.com/office/powerpoint/2010/main" val="4141162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AD95F-9588-364B-96A1-9BDA5E03DF8C}"/>
            </a:ext>
          </a:extLst>
        </p:cNvPr>
        <p:cNvGrpSpPr/>
        <p:nvPr/>
      </p:nvGrpSpPr>
      <p:grpSpPr>
        <a:xfrm>
          <a:off x="0" y="0"/>
          <a:ext cx="0" cy="0"/>
          <a:chOff x="0" y="0"/>
          <a:chExt cx="0" cy="0"/>
        </a:xfrm>
      </p:grpSpPr>
      <p:sp>
        <p:nvSpPr>
          <p:cNvPr id="29" name="Footer Placeholder 28">
            <a:extLst>
              <a:ext uri="{FF2B5EF4-FFF2-40B4-BE49-F238E27FC236}">
                <a16:creationId xmlns:a16="http://schemas.microsoft.com/office/drawing/2014/main" id="{9B9D99A8-A1D6-D16C-4546-3991A45A95D3}"/>
              </a:ext>
            </a:extLst>
          </p:cNvPr>
          <p:cNvSpPr>
            <a:spLocks noGrp="1"/>
          </p:cNvSpPr>
          <p:nvPr>
            <p:ph type="ftr" sz="quarter" idx="11"/>
          </p:nvPr>
        </p:nvSpPr>
        <p:spPr/>
        <p:txBody>
          <a:bodyPr/>
          <a:lstStyle/>
          <a:p>
            <a:r>
              <a:rPr lang="en-US"/>
              <a:t>Presentation Title | Author | Date</a:t>
            </a:r>
          </a:p>
        </p:txBody>
      </p:sp>
      <p:sp>
        <p:nvSpPr>
          <p:cNvPr id="320" name="Title 319">
            <a:extLst>
              <a:ext uri="{FF2B5EF4-FFF2-40B4-BE49-F238E27FC236}">
                <a16:creationId xmlns:a16="http://schemas.microsoft.com/office/drawing/2014/main" id="{BA325BAD-E8EC-BE6A-70DB-4EF5421F6B4E}"/>
              </a:ext>
            </a:extLst>
          </p:cNvPr>
          <p:cNvSpPr>
            <a:spLocks noGrp="1"/>
          </p:cNvSpPr>
          <p:nvPr>
            <p:ph type="title"/>
          </p:nvPr>
        </p:nvSpPr>
        <p:spPr/>
        <p:txBody>
          <a:bodyPr/>
          <a:lstStyle/>
          <a:p>
            <a:r>
              <a:rPr lang="en-US" dirty="0"/>
              <a:t>Use Case Scope in the Business Process</a:t>
            </a:r>
          </a:p>
        </p:txBody>
      </p:sp>
      <p:sp>
        <p:nvSpPr>
          <p:cNvPr id="295" name="ZoneTexte 4">
            <a:extLst>
              <a:ext uri="{FF2B5EF4-FFF2-40B4-BE49-F238E27FC236}">
                <a16:creationId xmlns:a16="http://schemas.microsoft.com/office/drawing/2014/main" id="{AEC86DFA-092F-C58E-0227-1381E41A7949}"/>
              </a:ext>
            </a:extLst>
          </p:cNvPr>
          <p:cNvSpPr txBox="1"/>
          <p:nvPr/>
        </p:nvSpPr>
        <p:spPr>
          <a:xfrm>
            <a:off x="2265514"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+ 40-80%</a:t>
            </a:r>
          </a:p>
        </p:txBody>
      </p:sp>
      <p:sp>
        <p:nvSpPr>
          <p:cNvPr id="296" name="TextBox 32">
            <a:extLst>
              <a:ext uri="{FF2B5EF4-FFF2-40B4-BE49-F238E27FC236}">
                <a16:creationId xmlns:a16="http://schemas.microsoft.com/office/drawing/2014/main" id="{64D7BB8E-F3AE-E307-B4C2-77FE6FFC8448}"/>
              </a:ext>
            </a:extLst>
          </p:cNvPr>
          <p:cNvSpPr txBox="1"/>
          <p:nvPr/>
        </p:nvSpPr>
        <p:spPr>
          <a:xfrm>
            <a:off x="4753599" y="6349471"/>
            <a:ext cx="1680558" cy="184666"/>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More time on Strategy</a:t>
            </a:r>
          </a:p>
        </p:txBody>
      </p:sp>
      <p:sp>
        <p:nvSpPr>
          <p:cNvPr id="297" name="ZoneTexte 4">
            <a:extLst>
              <a:ext uri="{FF2B5EF4-FFF2-40B4-BE49-F238E27FC236}">
                <a16:creationId xmlns:a16="http://schemas.microsoft.com/office/drawing/2014/main" id="{F0EC926B-C019-700A-911C-D55CA8AA1BF7}"/>
              </a:ext>
            </a:extLst>
          </p:cNvPr>
          <p:cNvSpPr txBox="1"/>
          <p:nvPr/>
        </p:nvSpPr>
        <p:spPr>
          <a:xfrm>
            <a:off x="4753599"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+ 20-35%</a:t>
            </a:r>
          </a:p>
        </p:txBody>
      </p:sp>
      <p:sp>
        <p:nvSpPr>
          <p:cNvPr id="298" name="TextBox 32">
            <a:extLst>
              <a:ext uri="{FF2B5EF4-FFF2-40B4-BE49-F238E27FC236}">
                <a16:creationId xmlns:a16="http://schemas.microsoft.com/office/drawing/2014/main" id="{CBE125DC-78AB-BDE4-E690-5342820CF89A}"/>
              </a:ext>
            </a:extLst>
          </p:cNvPr>
          <p:cNvSpPr txBox="1"/>
          <p:nvPr/>
        </p:nvSpPr>
        <p:spPr>
          <a:xfrm>
            <a:off x="9638877" y="6349471"/>
            <a:ext cx="1680558" cy="369332"/>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Productivity (FTE Hours Saved)</a:t>
            </a:r>
          </a:p>
        </p:txBody>
      </p:sp>
      <p:sp>
        <p:nvSpPr>
          <p:cNvPr id="299" name="ZoneTexte 4">
            <a:extLst>
              <a:ext uri="{FF2B5EF4-FFF2-40B4-BE49-F238E27FC236}">
                <a16:creationId xmlns:a16="http://schemas.microsoft.com/office/drawing/2014/main" id="{9DC2418C-A626-E345-6124-30837F926427}"/>
              </a:ext>
            </a:extLst>
          </p:cNvPr>
          <p:cNvSpPr txBox="1"/>
          <p:nvPr/>
        </p:nvSpPr>
        <p:spPr>
          <a:xfrm>
            <a:off x="9638878"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+ 50-70% </a:t>
            </a:r>
          </a:p>
        </p:txBody>
      </p:sp>
      <p:sp>
        <p:nvSpPr>
          <p:cNvPr id="300" name="TextBox 32">
            <a:extLst>
              <a:ext uri="{FF2B5EF4-FFF2-40B4-BE49-F238E27FC236}">
                <a16:creationId xmlns:a16="http://schemas.microsoft.com/office/drawing/2014/main" id="{FFD296E0-094D-93E1-8E71-80368F423FD1}"/>
              </a:ext>
            </a:extLst>
          </p:cNvPr>
          <p:cNvSpPr txBox="1"/>
          <p:nvPr/>
        </p:nvSpPr>
        <p:spPr>
          <a:xfrm>
            <a:off x="2310057" y="6349471"/>
            <a:ext cx="1399302" cy="369332"/>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Faster Campaign Cycle Time</a:t>
            </a:r>
            <a:endParaRPr kumimoji="0" lang="en-US" sz="1200" b="0" i="0" u="none" strike="noStrike" kern="1200" cap="none" spc="0" normalizeH="0" baseline="0" noProof="0">
              <a:ln>
                <a:noFill/>
              </a:ln>
              <a:solidFill>
                <a:schemeClr val="bg1"/>
              </a:solidFill>
              <a:effectLst/>
              <a:uLnTx/>
              <a:uFillTx/>
              <a:latin typeface="Ubuntu"/>
              <a:ea typeface="+mn-ea"/>
              <a:cs typeface="Segoe UI"/>
            </a:endParaRPr>
          </a:p>
        </p:txBody>
      </p:sp>
      <p:sp>
        <p:nvSpPr>
          <p:cNvPr id="301" name="TextBox 32">
            <a:extLst>
              <a:ext uri="{FF2B5EF4-FFF2-40B4-BE49-F238E27FC236}">
                <a16:creationId xmlns:a16="http://schemas.microsoft.com/office/drawing/2014/main" id="{741C8066-FA61-9303-61A3-D923036FED99}"/>
              </a:ext>
            </a:extLst>
          </p:cNvPr>
          <p:cNvSpPr txBox="1"/>
          <p:nvPr/>
        </p:nvSpPr>
        <p:spPr>
          <a:xfrm>
            <a:off x="7152024" y="6349471"/>
            <a:ext cx="1680558" cy="369332"/>
          </a:xfrm>
          <a:prstGeom prst="rect">
            <a:avLst/>
          </a:prstGeom>
          <a:noFill/>
        </p:spPr>
        <p:txBody>
          <a:bodyPr wrap="square" lIns="0" tIns="0" rIns="0" bIns="0" rtlCol="0" anchor="t" anchorCtr="0">
            <a:spAutoFit/>
          </a:bodyPr>
          <a:lstStyle>
            <a:defPPr>
              <a:defRPr lang="fr-FR"/>
            </a:defPPr>
            <a:lvl1pPr>
              <a:lnSpc>
                <a:spcPct val="125000"/>
              </a:lnSpc>
              <a:defRPr sz="1200">
                <a:latin typeface="Segoe UI" panose="020B0502040204020203" pitchFamily="34" charset="0"/>
                <a:cs typeface="Segoe UI" panose="020B0502040204020203"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bg1"/>
                </a:solidFill>
                <a:effectLst/>
                <a:uLnTx/>
                <a:uFillTx/>
                <a:latin typeface="Segoe UI" panose="020B0502040204020203" pitchFamily="34" charset="0"/>
                <a:ea typeface="+mn-ea"/>
                <a:cs typeface="Segoe UI" panose="020B0502040204020203" pitchFamily="34" charset="0"/>
              </a:rPr>
              <a:t>Automated QA &amp; Compliance Checks</a:t>
            </a:r>
          </a:p>
        </p:txBody>
      </p:sp>
      <p:sp>
        <p:nvSpPr>
          <p:cNvPr id="302" name="ZoneTexte 4">
            <a:extLst>
              <a:ext uri="{FF2B5EF4-FFF2-40B4-BE49-F238E27FC236}">
                <a16:creationId xmlns:a16="http://schemas.microsoft.com/office/drawing/2014/main" id="{67DBF608-E673-7C4A-A2E5-D8FB5BCBE846}"/>
              </a:ext>
            </a:extLst>
          </p:cNvPr>
          <p:cNvSpPr txBox="1"/>
          <p:nvPr/>
        </p:nvSpPr>
        <p:spPr>
          <a:xfrm>
            <a:off x="7152024" y="6003487"/>
            <a:ext cx="1113477" cy="365760"/>
          </a:xfrm>
          <a:prstGeom prst="rect">
            <a:avLst/>
          </a:prstGeom>
          <a:noFill/>
        </p:spPr>
        <p:txBody>
          <a:bodyPr wrap="square" lIns="0" r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mn-ea"/>
                <a:cs typeface="+mn-cs"/>
              </a:rPr>
              <a:t>&gt;90+%</a:t>
            </a:r>
          </a:p>
        </p:txBody>
      </p:sp>
      <p:pic>
        <p:nvPicPr>
          <p:cNvPr id="4" name="Picture 3">
            <a:extLst>
              <a:ext uri="{FF2B5EF4-FFF2-40B4-BE49-F238E27FC236}">
                <a16:creationId xmlns:a16="http://schemas.microsoft.com/office/drawing/2014/main" id="{4E5A526D-D588-4987-9B67-598700AAEB8D}"/>
              </a:ext>
            </a:extLst>
          </p:cNvPr>
          <p:cNvPicPr>
            <a:picLocks noChangeAspect="1"/>
          </p:cNvPicPr>
          <p:nvPr/>
        </p:nvPicPr>
        <p:blipFill>
          <a:blip r:embed="rId2"/>
          <a:srcRect/>
          <a:stretch/>
        </p:blipFill>
        <p:spPr>
          <a:xfrm>
            <a:off x="2707968" y="1531424"/>
            <a:ext cx="7771188" cy="5180792"/>
          </a:xfrm>
          <a:prstGeom prst="rect">
            <a:avLst/>
          </a:prstGeom>
        </p:spPr>
      </p:pic>
    </p:spTree>
    <p:extLst>
      <p:ext uri="{BB962C8B-B14F-4D97-AF65-F5344CB8AC3E}">
        <p14:creationId xmlns:p14="http://schemas.microsoft.com/office/powerpoint/2010/main" val="24178104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BDFA47-3131-D41A-22C6-EEB2C4526BFF}"/>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B444B612-394F-EF2B-A1CE-A63FFD554AF0}"/>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286F9A-47A5-6B78-04AA-4A1D806EC6D7}"/>
              </a:ext>
            </a:extLst>
          </p:cNvPr>
          <p:cNvSpPr>
            <a:spLocks noGrp="1"/>
          </p:cNvSpPr>
          <p:nvPr>
            <p:ph type="sldNum" sz="quarter" idx="12"/>
          </p:nvPr>
        </p:nvSpPr>
        <p:spPr/>
        <p:txBody>
          <a:bodyPr/>
          <a:lstStyle/>
          <a:p>
            <a:pPr algn="r"/>
            <a:fld id="{5D9A5160-6218-4E5A-B9E6-B93E3DAE377C}" type="slidenum">
              <a:rPr lang="en-US" smtClean="0"/>
              <a:pPr algn="r"/>
              <a:t>3</a:t>
            </a:fld>
            <a:endParaRPr lang="en-US"/>
          </a:p>
        </p:txBody>
      </p:sp>
      <p:sp>
        <p:nvSpPr>
          <p:cNvPr id="5" name="Title 4">
            <a:extLst>
              <a:ext uri="{FF2B5EF4-FFF2-40B4-BE49-F238E27FC236}">
                <a16:creationId xmlns:a16="http://schemas.microsoft.com/office/drawing/2014/main" id="{F7C41EB7-CDC8-FDFB-88F4-67D96E0FE517}"/>
              </a:ext>
            </a:extLst>
          </p:cNvPr>
          <p:cNvSpPr>
            <a:spLocks noGrp="1"/>
          </p:cNvSpPr>
          <p:nvPr>
            <p:ph type="title"/>
          </p:nvPr>
        </p:nvSpPr>
        <p:spPr>
          <a:xfrm>
            <a:off x="3888610" y="324019"/>
            <a:ext cx="7998590" cy="666581"/>
          </a:xfrm>
        </p:spPr>
        <p:txBody>
          <a:bodyPr/>
          <a:lstStyle/>
          <a:p>
            <a:r>
              <a:rPr lang="en-US"/>
              <a:t>Functional Solution + AI-Human Chemistry</a:t>
            </a:r>
          </a:p>
        </p:txBody>
      </p:sp>
      <p:pic>
        <p:nvPicPr>
          <p:cNvPr id="114" name="Picture 113">
            <a:extLst>
              <a:ext uri="{FF2B5EF4-FFF2-40B4-BE49-F238E27FC236}">
                <a16:creationId xmlns:a16="http://schemas.microsoft.com/office/drawing/2014/main" id="{C4911FE9-AD45-CD0B-FFDD-2569656F289B}"/>
              </a:ext>
            </a:extLst>
          </p:cNvPr>
          <p:cNvPicPr>
            <a:picLocks noChangeAspect="1"/>
          </p:cNvPicPr>
          <p:nvPr/>
        </p:nvPicPr>
        <p:blipFill>
          <a:blip r:embed="rId2"/>
          <a:stretch>
            <a:fillRect/>
          </a:stretch>
        </p:blipFill>
        <p:spPr>
          <a:xfrm>
            <a:off x="964136" y="1374629"/>
            <a:ext cx="9899066" cy="5290731"/>
          </a:xfrm>
          <a:prstGeom prst="rect">
            <a:avLst/>
          </a:prstGeom>
        </p:spPr>
      </p:pic>
    </p:spTree>
    <p:extLst>
      <p:ext uri="{BB962C8B-B14F-4D97-AF65-F5344CB8AC3E}">
        <p14:creationId xmlns:p14="http://schemas.microsoft.com/office/powerpoint/2010/main" val="2946189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A7D2478-0CE1-75B7-CBC4-12408C2B4FB8}"/>
              </a:ext>
            </a:extLst>
          </p:cNvPr>
          <p:cNvSpPr>
            <a:spLocks noGrp="1"/>
          </p:cNvSpPr>
          <p:nvPr>
            <p:ph type="sldNum" sz="quarter" idx="12"/>
          </p:nvPr>
        </p:nvSpPr>
        <p:spPr>
          <a:xfrm>
            <a:off x="11720758" y="6427316"/>
            <a:ext cx="232665" cy="123111"/>
          </a:xfrm>
        </p:spPr>
        <p:txBody>
          <a:bodyPr/>
          <a:lstStyle/>
          <a:p>
            <a:pPr algn="r"/>
            <a:fld id="{5D9A5160-6218-4E5A-B9E6-B93E3DAE377C}" type="slidenum">
              <a:rPr lang="en-US" smtClean="0"/>
              <a:pPr algn="r"/>
              <a:t>4</a:t>
            </a:fld>
            <a:endParaRPr lang="en-US"/>
          </a:p>
        </p:txBody>
      </p:sp>
      <p:sp>
        <p:nvSpPr>
          <p:cNvPr id="5" name="Title 4">
            <a:extLst>
              <a:ext uri="{FF2B5EF4-FFF2-40B4-BE49-F238E27FC236}">
                <a16:creationId xmlns:a16="http://schemas.microsoft.com/office/drawing/2014/main" id="{DFA8D951-D978-7E73-98AC-60005C9C2E14}"/>
              </a:ext>
            </a:extLst>
          </p:cNvPr>
          <p:cNvSpPr>
            <a:spLocks noGrp="1"/>
          </p:cNvSpPr>
          <p:nvPr>
            <p:ph type="title"/>
          </p:nvPr>
        </p:nvSpPr>
        <p:spPr/>
        <p:txBody>
          <a:bodyPr/>
          <a:lstStyle/>
          <a:p>
            <a:r>
              <a:rPr lang="en-US"/>
              <a:t>Technical Solution</a:t>
            </a:r>
          </a:p>
        </p:txBody>
      </p:sp>
      <p:sp>
        <p:nvSpPr>
          <p:cNvPr id="16" name="Rounded Rectangle 16">
            <a:extLst>
              <a:ext uri="{FF2B5EF4-FFF2-40B4-BE49-F238E27FC236}">
                <a16:creationId xmlns:a16="http://schemas.microsoft.com/office/drawing/2014/main" id="{ADE6283E-BF7C-6D70-85CE-C945269B8AA0}"/>
              </a:ext>
            </a:extLst>
          </p:cNvPr>
          <p:cNvSpPr/>
          <p:nvPr/>
        </p:nvSpPr>
        <p:spPr>
          <a:xfrm>
            <a:off x="9324384" y="1841770"/>
            <a:ext cx="2562816" cy="230568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7" name="Rectangle 16">
            <a:extLst>
              <a:ext uri="{FF2B5EF4-FFF2-40B4-BE49-F238E27FC236}">
                <a16:creationId xmlns:a16="http://schemas.microsoft.com/office/drawing/2014/main" id="{571FD420-8E7B-0CB8-E454-5D9587C40C40}"/>
              </a:ext>
            </a:extLst>
          </p:cNvPr>
          <p:cNvSpPr/>
          <p:nvPr/>
        </p:nvSpPr>
        <p:spPr>
          <a:xfrm>
            <a:off x="9324384" y="2086059"/>
            <a:ext cx="2562816" cy="242217"/>
          </a:xfrm>
          <a:prstGeom prst="rect">
            <a:avLst/>
          </a:prstGeom>
          <a:gradFill flip="none" rotWithShape="1">
            <a:gsLst>
              <a:gs pos="0">
                <a:schemeClr val="bg1">
                  <a:lumMod val="95000"/>
                </a:schemeClr>
              </a:gs>
              <a:gs pos="74000">
                <a:schemeClr val="accent4"/>
              </a:gs>
              <a:gs pos="83000">
                <a:schemeClr val="accent4">
                  <a:lumMod val="75000"/>
                </a:schemeClr>
              </a:gs>
              <a:gs pos="100000">
                <a:schemeClr val="accent4">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 name="TextBox 17">
            <a:extLst>
              <a:ext uri="{FF2B5EF4-FFF2-40B4-BE49-F238E27FC236}">
                <a16:creationId xmlns:a16="http://schemas.microsoft.com/office/drawing/2014/main" id="{09D395F4-7C2A-1E15-3009-B1E322836C26}"/>
              </a:ext>
            </a:extLst>
          </p:cNvPr>
          <p:cNvSpPr txBox="1"/>
          <p:nvPr/>
        </p:nvSpPr>
        <p:spPr>
          <a:xfrm>
            <a:off x="9349124" y="2049853"/>
            <a:ext cx="100730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technologies</a:t>
            </a:r>
          </a:p>
        </p:txBody>
      </p:sp>
      <p:sp>
        <p:nvSpPr>
          <p:cNvPr id="21" name="TextBox 20">
            <a:extLst>
              <a:ext uri="{FF2B5EF4-FFF2-40B4-BE49-F238E27FC236}">
                <a16:creationId xmlns:a16="http://schemas.microsoft.com/office/drawing/2014/main" id="{5A916AD3-09F3-7D33-29F2-28FB8C3EFBF5}"/>
              </a:ext>
            </a:extLst>
          </p:cNvPr>
          <p:cNvSpPr txBox="1"/>
          <p:nvPr/>
        </p:nvSpPr>
        <p:spPr>
          <a:xfrm>
            <a:off x="9448800" y="2476448"/>
            <a:ext cx="2209800" cy="1358352"/>
          </a:xfrm>
          <a:prstGeom prst="rect">
            <a:avLst/>
          </a:prstGeom>
          <a:noFill/>
        </p:spPr>
        <p:txBody>
          <a:bodyPr vert="horz" wrap="square" lIns="90000" tIns="46800" rIns="90000" bIns="46800" rtlCol="0" anchor="t">
            <a:noAutofit/>
          </a:bodyPr>
          <a:lstStyle/>
          <a:p>
            <a:pPr marL="285750" indent="-285750">
              <a:spcBef>
                <a:spcPct val="0"/>
              </a:spcBef>
              <a:buFont typeface="Arial" panose="020B0604020202020204" pitchFamily="34" charset="0"/>
              <a:buChar char="•"/>
            </a:pPr>
            <a:r>
              <a:rPr lang="en-US" sz="1400" dirty="0"/>
              <a:t>Microsoft Fabric</a:t>
            </a:r>
          </a:p>
          <a:p>
            <a:pPr marL="285750" indent="-285750">
              <a:spcBef>
                <a:spcPct val="0"/>
              </a:spcBef>
              <a:buFont typeface="Arial" panose="020B0604020202020204" pitchFamily="34" charset="0"/>
              <a:buChar char="•"/>
            </a:pPr>
            <a:r>
              <a:rPr lang="en-US" sz="1400" dirty="0"/>
              <a:t>Dataverse</a:t>
            </a:r>
          </a:p>
          <a:p>
            <a:pPr marL="285750" indent="-285750">
              <a:spcBef>
                <a:spcPct val="0"/>
              </a:spcBef>
              <a:buFont typeface="Arial" panose="020B0604020202020204" pitchFamily="34" charset="0"/>
              <a:buChar char="•"/>
            </a:pPr>
            <a:r>
              <a:rPr lang="en-US" sz="1400" dirty="0"/>
              <a:t>Power Apps</a:t>
            </a:r>
          </a:p>
          <a:p>
            <a:pPr marL="285750" indent="-285750">
              <a:spcBef>
                <a:spcPct val="0"/>
              </a:spcBef>
              <a:buFont typeface="Arial" panose="020B0604020202020204" pitchFamily="34" charset="0"/>
              <a:buChar char="•"/>
            </a:pPr>
            <a:r>
              <a:rPr lang="en-US" sz="1400" dirty="0"/>
              <a:t>Power Automate</a:t>
            </a:r>
          </a:p>
          <a:p>
            <a:pPr marL="285750" indent="-285750">
              <a:spcBef>
                <a:spcPct val="0"/>
              </a:spcBef>
              <a:buFont typeface="Arial" panose="020B0604020202020204" pitchFamily="34" charset="0"/>
              <a:buChar char="•"/>
            </a:pPr>
            <a:r>
              <a:rPr lang="en-US" sz="1400" dirty="0"/>
              <a:t>Copilot Studio,</a:t>
            </a:r>
          </a:p>
          <a:p>
            <a:pPr marL="285750" indent="-285750">
              <a:spcBef>
                <a:spcPct val="0"/>
              </a:spcBef>
              <a:buFont typeface="Arial" panose="020B0604020202020204" pitchFamily="34" charset="0"/>
              <a:buChar char="•"/>
            </a:pPr>
            <a:r>
              <a:rPr lang="en-US" sz="1400" dirty="0"/>
              <a:t>ML Models</a:t>
            </a:r>
          </a:p>
          <a:p>
            <a:pPr marL="285750" indent="-285750">
              <a:spcBef>
                <a:spcPct val="0"/>
              </a:spcBef>
              <a:buFont typeface="Arial" panose="020B0604020202020204" pitchFamily="34" charset="0"/>
              <a:buChar char="•"/>
            </a:pPr>
            <a:r>
              <a:rPr lang="en-US" sz="1400" dirty="0"/>
              <a:t>Power BI</a:t>
            </a:r>
            <a:endParaRPr lang="en-US" sz="1400" dirty="0">
              <a:highlight>
                <a:srgbClr val="FFFF00"/>
              </a:highlight>
            </a:endParaRPr>
          </a:p>
        </p:txBody>
      </p:sp>
      <p:pic>
        <p:nvPicPr>
          <p:cNvPr id="8" name="Picture 7">
            <a:extLst>
              <a:ext uri="{FF2B5EF4-FFF2-40B4-BE49-F238E27FC236}">
                <a16:creationId xmlns:a16="http://schemas.microsoft.com/office/drawing/2014/main" id="{B9645D44-B691-F226-C771-4FA2CB973F97}"/>
              </a:ext>
            </a:extLst>
          </p:cNvPr>
          <p:cNvPicPr>
            <a:picLocks noChangeAspect="1"/>
          </p:cNvPicPr>
          <p:nvPr/>
        </p:nvPicPr>
        <p:blipFill>
          <a:blip r:embed="rId2"/>
          <a:srcRect/>
          <a:stretch/>
        </p:blipFill>
        <p:spPr>
          <a:xfrm>
            <a:off x="748558" y="1426028"/>
            <a:ext cx="7843156" cy="5228771"/>
          </a:xfrm>
          <a:prstGeom prst="rect">
            <a:avLst/>
          </a:prstGeom>
        </p:spPr>
      </p:pic>
    </p:spTree>
    <p:extLst>
      <p:ext uri="{BB962C8B-B14F-4D97-AF65-F5344CB8AC3E}">
        <p14:creationId xmlns:p14="http://schemas.microsoft.com/office/powerpoint/2010/main" val="3657648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417C8-9DC8-DC53-E1AB-36B713DAD0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18180A-08A9-77BB-892B-EAD50ADCB617}"/>
              </a:ext>
            </a:extLst>
          </p:cNvPr>
          <p:cNvSpPr>
            <a:spLocks noGrp="1"/>
          </p:cNvSpPr>
          <p:nvPr>
            <p:ph type="title"/>
          </p:nvPr>
        </p:nvSpPr>
        <p:spPr/>
        <p:txBody>
          <a:bodyPr/>
          <a:lstStyle/>
          <a:p>
            <a:r>
              <a:rPr lang="en-US"/>
              <a:t>Business Case Proposal</a:t>
            </a:r>
          </a:p>
        </p:txBody>
      </p:sp>
      <p:sp>
        <p:nvSpPr>
          <p:cNvPr id="4" name="Rectangle 3">
            <a:extLst>
              <a:ext uri="{FF2B5EF4-FFF2-40B4-BE49-F238E27FC236}">
                <a16:creationId xmlns:a16="http://schemas.microsoft.com/office/drawing/2014/main" id="{B0C83741-63CA-03D3-DB1F-178724DB93C2}"/>
              </a:ext>
            </a:extLst>
          </p:cNvPr>
          <p:cNvSpPr/>
          <p:nvPr/>
        </p:nvSpPr>
        <p:spPr>
          <a:xfrm>
            <a:off x="3700875" y="1539691"/>
            <a:ext cx="5852160" cy="219990"/>
          </a:xfrm>
          <a:prstGeom prst="rect">
            <a:avLst/>
          </a:prstGeom>
          <a:gradFill flip="none" rotWithShape="1">
            <a:gsLst>
              <a:gs pos="0">
                <a:schemeClr val="bg1">
                  <a:lumMod val="95000"/>
                </a:schemeClr>
              </a:gs>
              <a:gs pos="74000">
                <a:schemeClr val="accent1">
                  <a:lumMod val="45000"/>
                  <a:lumOff val="55000"/>
                </a:schemeClr>
              </a:gs>
              <a:gs pos="83000">
                <a:schemeClr val="accent1">
                  <a:lumMod val="60000"/>
                  <a:lumOff val="40000"/>
                </a:schemeClr>
              </a:gs>
              <a:gs pos="100000">
                <a:schemeClr val="tx2"/>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 name="TextBox 4">
            <a:extLst>
              <a:ext uri="{FF2B5EF4-FFF2-40B4-BE49-F238E27FC236}">
                <a16:creationId xmlns:a16="http://schemas.microsoft.com/office/drawing/2014/main" id="{933DF499-9FA7-4289-B993-3A3112127636}"/>
              </a:ext>
            </a:extLst>
          </p:cNvPr>
          <p:cNvSpPr txBox="1"/>
          <p:nvPr/>
        </p:nvSpPr>
        <p:spPr>
          <a:xfrm>
            <a:off x="3725208" y="1517790"/>
            <a:ext cx="1186841"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BUSINESS CASE</a:t>
            </a:r>
          </a:p>
        </p:txBody>
      </p:sp>
      <p:sp>
        <p:nvSpPr>
          <p:cNvPr id="7" name="Rounded Rectangle 6">
            <a:extLst>
              <a:ext uri="{FF2B5EF4-FFF2-40B4-BE49-F238E27FC236}">
                <a16:creationId xmlns:a16="http://schemas.microsoft.com/office/drawing/2014/main" id="{9B4DC1EB-B79B-E7B1-B561-512C16AF6DC3}"/>
              </a:ext>
            </a:extLst>
          </p:cNvPr>
          <p:cNvSpPr/>
          <p:nvPr/>
        </p:nvSpPr>
        <p:spPr>
          <a:xfrm>
            <a:off x="3800996" y="1817123"/>
            <a:ext cx="3742803"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1" name="TextBox 10">
            <a:extLst>
              <a:ext uri="{FF2B5EF4-FFF2-40B4-BE49-F238E27FC236}">
                <a16:creationId xmlns:a16="http://schemas.microsoft.com/office/drawing/2014/main" id="{5A4FA0AF-D0FA-476C-FB79-B5531644745E}"/>
              </a:ext>
            </a:extLst>
          </p:cNvPr>
          <p:cNvSpPr txBox="1"/>
          <p:nvPr/>
        </p:nvSpPr>
        <p:spPr>
          <a:xfrm>
            <a:off x="4057499" y="1793610"/>
            <a:ext cx="1061807" cy="263791"/>
          </a:xfrm>
          <a:prstGeom prst="rect">
            <a:avLst/>
          </a:prstGeom>
          <a:noFill/>
        </p:spPr>
        <p:txBody>
          <a:bodyPr vert="horz" wrap="none" lIns="90000" tIns="46800" rIns="90000" bIns="46800" rtlCol="0" anchor="ctr">
            <a:spAutoFit/>
          </a:bodyPr>
          <a:lstStyle/>
          <a:p>
            <a:pPr algn="l">
              <a:spcBef>
                <a:spcPct val="0"/>
              </a:spcBef>
            </a:pPr>
            <a:r>
              <a:rPr lang="en-US" sz="1100"/>
              <a:t>Current Costs</a:t>
            </a:r>
          </a:p>
        </p:txBody>
      </p:sp>
      <p:sp>
        <p:nvSpPr>
          <p:cNvPr id="13" name="TextBox 12">
            <a:extLst>
              <a:ext uri="{FF2B5EF4-FFF2-40B4-BE49-F238E27FC236}">
                <a16:creationId xmlns:a16="http://schemas.microsoft.com/office/drawing/2014/main" id="{5372F71A-9E26-9BCA-1983-79414CAC2982}"/>
              </a:ext>
            </a:extLst>
          </p:cNvPr>
          <p:cNvSpPr txBox="1"/>
          <p:nvPr/>
        </p:nvSpPr>
        <p:spPr>
          <a:xfrm>
            <a:off x="3875824" y="2080991"/>
            <a:ext cx="3711389" cy="863105"/>
          </a:xfrm>
          <a:prstGeom prst="rect">
            <a:avLst/>
          </a:prstGeom>
          <a:noFill/>
        </p:spPr>
        <p:txBody>
          <a:bodyPr vert="horz" wrap="square" lIns="90000" tIns="46800" rIns="90000" bIns="46800" rtlCol="0" anchor="t">
            <a:noAutofit/>
          </a:bodyPr>
          <a:lstStyle/>
          <a:p>
            <a:pPr>
              <a:spcBef>
                <a:spcPct val="0"/>
              </a:spcBef>
            </a:pPr>
            <a:r>
              <a:rPr lang="en-US" sz="1000" dirty="0"/>
              <a:t>Running (R1): 0 €</a:t>
            </a:r>
          </a:p>
          <a:p>
            <a:pPr>
              <a:spcBef>
                <a:spcPct val="0"/>
              </a:spcBef>
            </a:pPr>
            <a:r>
              <a:rPr lang="en-US" sz="1000" dirty="0"/>
              <a:t>(Current manual governance, no automation)</a:t>
            </a:r>
          </a:p>
          <a:p>
            <a:pPr>
              <a:spcBef>
                <a:spcPct val="0"/>
              </a:spcBef>
            </a:pPr>
            <a:r>
              <a:rPr lang="en-US" sz="1000" dirty="0"/>
              <a:t>Maintenance (M1): XXXX €</a:t>
            </a:r>
          </a:p>
          <a:p>
            <a:pPr>
              <a:spcBef>
                <a:spcPct val="0"/>
              </a:spcBef>
            </a:pPr>
            <a:r>
              <a:rPr lang="en-US" sz="1000" dirty="0"/>
              <a:t>(Manual PMO review effort, repeated follow‑ups)</a:t>
            </a:r>
          </a:p>
          <a:p>
            <a:pPr>
              <a:spcBef>
                <a:spcPct val="0"/>
              </a:spcBef>
            </a:pPr>
            <a:r>
              <a:rPr lang="en-US" sz="1000" dirty="0"/>
              <a:t>TOTAL CURRENT COST (TCC) = R1 + M1</a:t>
            </a:r>
          </a:p>
        </p:txBody>
      </p:sp>
      <p:sp>
        <p:nvSpPr>
          <p:cNvPr id="14" name="Rounded Rectangle 13">
            <a:extLst>
              <a:ext uri="{FF2B5EF4-FFF2-40B4-BE49-F238E27FC236}">
                <a16:creationId xmlns:a16="http://schemas.microsoft.com/office/drawing/2014/main" id="{7F309A65-3997-B8CD-81BD-84E1763E9A83}"/>
              </a:ext>
            </a:extLst>
          </p:cNvPr>
          <p:cNvSpPr/>
          <p:nvPr/>
        </p:nvSpPr>
        <p:spPr>
          <a:xfrm>
            <a:off x="7894320" y="1816792"/>
            <a:ext cx="361188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6" name="TextBox 15">
            <a:extLst>
              <a:ext uri="{FF2B5EF4-FFF2-40B4-BE49-F238E27FC236}">
                <a16:creationId xmlns:a16="http://schemas.microsoft.com/office/drawing/2014/main" id="{9FD818BF-2FBD-1EF3-1EC9-5FCE1074DB8C}"/>
              </a:ext>
            </a:extLst>
          </p:cNvPr>
          <p:cNvSpPr txBox="1"/>
          <p:nvPr/>
        </p:nvSpPr>
        <p:spPr>
          <a:xfrm>
            <a:off x="8198046" y="1814901"/>
            <a:ext cx="1178826" cy="263791"/>
          </a:xfrm>
          <a:prstGeom prst="rect">
            <a:avLst/>
          </a:prstGeom>
          <a:noFill/>
        </p:spPr>
        <p:txBody>
          <a:bodyPr vert="horz" wrap="none" lIns="90000" tIns="46800" rIns="90000" bIns="46800" rtlCol="0" anchor="ctr">
            <a:spAutoFit/>
          </a:bodyPr>
          <a:lstStyle/>
          <a:p>
            <a:pPr algn="l">
              <a:spcBef>
                <a:spcPct val="0"/>
              </a:spcBef>
            </a:pPr>
            <a:r>
              <a:rPr lang="en-US" sz="1100"/>
              <a:t>Current Income</a:t>
            </a:r>
          </a:p>
        </p:txBody>
      </p:sp>
      <p:cxnSp>
        <p:nvCxnSpPr>
          <p:cNvPr id="17" name="Straight Connector 16">
            <a:extLst>
              <a:ext uri="{FF2B5EF4-FFF2-40B4-BE49-F238E27FC236}">
                <a16:creationId xmlns:a16="http://schemas.microsoft.com/office/drawing/2014/main" id="{55E94A6E-D470-5747-DF1A-8DDD1C661C37}"/>
              </a:ext>
            </a:extLst>
          </p:cNvPr>
          <p:cNvCxnSpPr>
            <a:cxnSpLocks/>
          </p:cNvCxnSpPr>
          <p:nvPr/>
        </p:nvCxnSpPr>
        <p:spPr>
          <a:xfrm flipH="1">
            <a:off x="7759265" y="2231236"/>
            <a:ext cx="13135" cy="3331364"/>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26" name="Rounded Rectangle 25">
            <a:extLst>
              <a:ext uri="{FF2B5EF4-FFF2-40B4-BE49-F238E27FC236}">
                <a16:creationId xmlns:a16="http://schemas.microsoft.com/office/drawing/2014/main" id="{8250910B-988C-35EF-A589-E15DA6F2B02A}"/>
              </a:ext>
            </a:extLst>
          </p:cNvPr>
          <p:cNvSpPr/>
          <p:nvPr/>
        </p:nvSpPr>
        <p:spPr>
          <a:xfrm>
            <a:off x="283666" y="1295401"/>
            <a:ext cx="3170329" cy="5410200"/>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27" name="Rectangle 26">
            <a:extLst>
              <a:ext uri="{FF2B5EF4-FFF2-40B4-BE49-F238E27FC236}">
                <a16:creationId xmlns:a16="http://schemas.microsoft.com/office/drawing/2014/main" id="{7E8259DE-A4A0-F4FE-6089-19F3C0E53B2E}"/>
              </a:ext>
            </a:extLst>
          </p:cNvPr>
          <p:cNvSpPr/>
          <p:nvPr/>
        </p:nvSpPr>
        <p:spPr>
          <a:xfrm>
            <a:off x="283666" y="1539691"/>
            <a:ext cx="2834640" cy="219990"/>
          </a:xfrm>
          <a:prstGeom prst="rect">
            <a:avLst/>
          </a:prstGeom>
          <a:gradFill flip="none" rotWithShape="1">
            <a:gsLst>
              <a:gs pos="0">
                <a:schemeClr val="bg1">
                  <a:lumMod val="95000"/>
                </a:schemeClr>
              </a:gs>
              <a:gs pos="74000">
                <a:schemeClr val="accent3">
                  <a:lumMod val="50000"/>
                  <a:lumOff val="50000"/>
                </a:schemeClr>
              </a:gs>
              <a:gs pos="83000">
                <a:schemeClr val="accent3">
                  <a:lumMod val="75000"/>
                  <a:lumOff val="25000"/>
                </a:schemeClr>
              </a:gs>
              <a:gs pos="100000">
                <a:schemeClr val="accent3">
                  <a:lumMod val="75000"/>
                  <a:lumOff val="2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8" name="TextBox 27">
            <a:extLst>
              <a:ext uri="{FF2B5EF4-FFF2-40B4-BE49-F238E27FC236}">
                <a16:creationId xmlns:a16="http://schemas.microsoft.com/office/drawing/2014/main" id="{E94BEA51-E831-F2BE-7F5D-7EA3C416EDC0}"/>
              </a:ext>
            </a:extLst>
          </p:cNvPr>
          <p:cNvSpPr txBox="1"/>
          <p:nvPr/>
        </p:nvSpPr>
        <p:spPr>
          <a:xfrm>
            <a:off x="308406" y="1503484"/>
            <a:ext cx="497550"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WHY</a:t>
            </a:r>
          </a:p>
        </p:txBody>
      </p:sp>
      <p:sp>
        <p:nvSpPr>
          <p:cNvPr id="30" name="Rounded Rectangle 29">
            <a:extLst>
              <a:ext uri="{FF2B5EF4-FFF2-40B4-BE49-F238E27FC236}">
                <a16:creationId xmlns:a16="http://schemas.microsoft.com/office/drawing/2014/main" id="{520498E2-FA23-DD99-257B-39C1340BE324}"/>
              </a:ext>
            </a:extLst>
          </p:cNvPr>
          <p:cNvSpPr/>
          <p:nvPr/>
        </p:nvSpPr>
        <p:spPr>
          <a:xfrm>
            <a:off x="402419" y="1804222"/>
            <a:ext cx="28346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 name="TextBox 30">
            <a:extLst>
              <a:ext uri="{FF2B5EF4-FFF2-40B4-BE49-F238E27FC236}">
                <a16:creationId xmlns:a16="http://schemas.microsoft.com/office/drawing/2014/main" id="{09C96EC3-7B4F-79D0-3CBE-A54FEE7B6FC5}"/>
              </a:ext>
            </a:extLst>
          </p:cNvPr>
          <p:cNvSpPr txBox="1"/>
          <p:nvPr/>
        </p:nvSpPr>
        <p:spPr>
          <a:xfrm>
            <a:off x="649299" y="1789589"/>
            <a:ext cx="1090661" cy="263791"/>
          </a:xfrm>
          <a:prstGeom prst="rect">
            <a:avLst/>
          </a:prstGeom>
          <a:noFill/>
        </p:spPr>
        <p:txBody>
          <a:bodyPr vert="horz" wrap="none" lIns="90000" tIns="46800" rIns="90000" bIns="46800" rtlCol="0" anchor="ctr">
            <a:spAutoFit/>
          </a:bodyPr>
          <a:lstStyle/>
          <a:p>
            <a:pPr algn="l">
              <a:spcBef>
                <a:spcPct val="0"/>
              </a:spcBef>
            </a:pPr>
            <a:r>
              <a:rPr lang="en-US" sz="1100"/>
              <a:t>KPIs Impacted</a:t>
            </a:r>
          </a:p>
        </p:txBody>
      </p:sp>
      <p:sp>
        <p:nvSpPr>
          <p:cNvPr id="32" name="Rounded Rectangle 31">
            <a:extLst>
              <a:ext uri="{FF2B5EF4-FFF2-40B4-BE49-F238E27FC236}">
                <a16:creationId xmlns:a16="http://schemas.microsoft.com/office/drawing/2014/main" id="{6A3A188B-6A9C-A2F5-73AC-D1DE0C7C801A}"/>
              </a:ext>
            </a:extLst>
          </p:cNvPr>
          <p:cNvSpPr/>
          <p:nvPr/>
        </p:nvSpPr>
        <p:spPr>
          <a:xfrm>
            <a:off x="402419" y="3325038"/>
            <a:ext cx="28346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3" name="TextBox 32">
            <a:extLst>
              <a:ext uri="{FF2B5EF4-FFF2-40B4-BE49-F238E27FC236}">
                <a16:creationId xmlns:a16="http://schemas.microsoft.com/office/drawing/2014/main" id="{DB4F5145-CF7F-3122-30FA-42FD48CD7FFA}"/>
              </a:ext>
            </a:extLst>
          </p:cNvPr>
          <p:cNvSpPr txBox="1"/>
          <p:nvPr/>
        </p:nvSpPr>
        <p:spPr>
          <a:xfrm>
            <a:off x="649299" y="3310405"/>
            <a:ext cx="1209283" cy="263791"/>
          </a:xfrm>
          <a:prstGeom prst="rect">
            <a:avLst/>
          </a:prstGeom>
          <a:noFill/>
        </p:spPr>
        <p:txBody>
          <a:bodyPr vert="horz" wrap="none" lIns="90000" tIns="46800" rIns="90000" bIns="46800" rtlCol="0" anchor="ctr">
            <a:spAutoFit/>
          </a:bodyPr>
          <a:lstStyle/>
          <a:p>
            <a:pPr algn="l">
              <a:spcBef>
                <a:spcPct val="0"/>
              </a:spcBef>
            </a:pPr>
            <a:r>
              <a:rPr lang="en-US" sz="1100"/>
              <a:t>Business Impact</a:t>
            </a:r>
          </a:p>
        </p:txBody>
      </p:sp>
      <p:sp>
        <p:nvSpPr>
          <p:cNvPr id="36" name="TextBox 35">
            <a:extLst>
              <a:ext uri="{FF2B5EF4-FFF2-40B4-BE49-F238E27FC236}">
                <a16:creationId xmlns:a16="http://schemas.microsoft.com/office/drawing/2014/main" id="{59981193-D36F-B6C9-3844-14C3987E75C1}"/>
              </a:ext>
            </a:extLst>
          </p:cNvPr>
          <p:cNvSpPr txBox="1"/>
          <p:nvPr/>
        </p:nvSpPr>
        <p:spPr>
          <a:xfrm>
            <a:off x="326219" y="2110822"/>
            <a:ext cx="3049131" cy="1089575"/>
          </a:xfrm>
          <a:prstGeom prst="rect">
            <a:avLst/>
          </a:prstGeom>
          <a:noFill/>
        </p:spPr>
        <p:txBody>
          <a:bodyPr vert="horz" wrap="none" lIns="90000" tIns="46800" rIns="90000" bIns="46800" rtlCol="0" anchor="t">
            <a:noAutofit/>
          </a:bodyPr>
          <a:lstStyle/>
          <a:p>
            <a:pPr marL="285750" indent="-285750">
              <a:spcBef>
                <a:spcPct val="0"/>
              </a:spcBef>
              <a:buFont typeface="Arial" panose="020B0604020202020204" pitchFamily="34" charset="0"/>
              <a:buChar char="•"/>
            </a:pPr>
            <a:r>
              <a:rPr lang="en-US" sz="1000" dirty="0"/>
              <a:t>30 - 45% Reduction in project delivery risks</a:t>
            </a:r>
          </a:p>
          <a:p>
            <a:pPr marL="285750" indent="-285750">
              <a:spcBef>
                <a:spcPct val="0"/>
              </a:spcBef>
              <a:buFont typeface="Arial" panose="020B0604020202020204" pitchFamily="34" charset="0"/>
              <a:buChar char="•"/>
            </a:pPr>
            <a:r>
              <a:rPr lang="en-US" sz="1000" dirty="0"/>
              <a:t>50 - 70% Improvement in RAG accuracy &amp; consistency</a:t>
            </a:r>
          </a:p>
          <a:p>
            <a:pPr marL="285750" indent="-285750">
              <a:spcBef>
                <a:spcPct val="0"/>
              </a:spcBef>
              <a:buFont typeface="Arial" panose="020B0604020202020204" pitchFamily="34" charset="0"/>
              <a:buChar char="•"/>
            </a:pPr>
            <a:r>
              <a:rPr lang="en-US" sz="1000" dirty="0"/>
              <a:t>20 - 30% Increase in on‑time project updates</a:t>
            </a:r>
          </a:p>
          <a:p>
            <a:pPr marL="285750" indent="-285750">
              <a:spcBef>
                <a:spcPct val="0"/>
              </a:spcBef>
              <a:buFont typeface="Arial" panose="020B0604020202020204" pitchFamily="34" charset="0"/>
              <a:buChar char="•"/>
            </a:pPr>
            <a:r>
              <a:rPr lang="en-US" sz="1000"/>
              <a:t>60 - 80% </a:t>
            </a:r>
            <a:r>
              <a:rPr lang="en-US" sz="1000" dirty="0"/>
              <a:t>Faster risk detection &amp; escalation</a:t>
            </a:r>
          </a:p>
        </p:txBody>
      </p:sp>
      <p:sp>
        <p:nvSpPr>
          <p:cNvPr id="37" name="TextBox 36">
            <a:extLst>
              <a:ext uri="{FF2B5EF4-FFF2-40B4-BE49-F238E27FC236}">
                <a16:creationId xmlns:a16="http://schemas.microsoft.com/office/drawing/2014/main" id="{EC0EDD4D-8E6B-9DE9-DEC9-92C5D04342C0}"/>
              </a:ext>
            </a:extLst>
          </p:cNvPr>
          <p:cNvSpPr txBox="1"/>
          <p:nvPr/>
        </p:nvSpPr>
        <p:spPr>
          <a:xfrm>
            <a:off x="444432" y="3581397"/>
            <a:ext cx="2755968" cy="2895604"/>
          </a:xfrm>
          <a:prstGeom prst="rect">
            <a:avLst/>
          </a:prstGeom>
          <a:noFill/>
        </p:spPr>
        <p:txBody>
          <a:bodyPr vert="horz" wrap="square" lIns="90000" tIns="46800" rIns="90000" bIns="46800" rtlCol="0" anchor="t">
            <a:noAutofit/>
          </a:bodyPr>
          <a:lstStyle/>
          <a:p>
            <a:pPr>
              <a:spcBef>
                <a:spcPct val="0"/>
              </a:spcBef>
            </a:pPr>
            <a:r>
              <a:rPr lang="en-US" sz="1000" dirty="0"/>
              <a:t>Agentic AI improves project governance by detecting risks early, auto‑updating RAG, and reducing delays through proactive alerts. Leadership gains real‑time visibility, while PMs receive guided workflows to explain risks and submit updates. This reduces manual effort, improves update quality, speeds decision‑making, and increases overall portfolio health and delivery reliability.</a:t>
            </a:r>
          </a:p>
        </p:txBody>
      </p:sp>
      <p:sp>
        <p:nvSpPr>
          <p:cNvPr id="38" name="Rounded Rectangle 37">
            <a:extLst>
              <a:ext uri="{FF2B5EF4-FFF2-40B4-BE49-F238E27FC236}">
                <a16:creationId xmlns:a16="http://schemas.microsoft.com/office/drawing/2014/main" id="{9D54CA7C-223C-1D2C-B8AA-225D3FB0FAC9}"/>
              </a:ext>
            </a:extLst>
          </p:cNvPr>
          <p:cNvSpPr/>
          <p:nvPr/>
        </p:nvSpPr>
        <p:spPr>
          <a:xfrm>
            <a:off x="3800996" y="2946319"/>
            <a:ext cx="3711389"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9" name="TextBox 38">
            <a:extLst>
              <a:ext uri="{FF2B5EF4-FFF2-40B4-BE49-F238E27FC236}">
                <a16:creationId xmlns:a16="http://schemas.microsoft.com/office/drawing/2014/main" id="{95DA12D6-43D2-57B2-2D8D-125EDF566114}"/>
              </a:ext>
            </a:extLst>
          </p:cNvPr>
          <p:cNvSpPr txBox="1"/>
          <p:nvPr/>
        </p:nvSpPr>
        <p:spPr>
          <a:xfrm>
            <a:off x="4057499" y="2922806"/>
            <a:ext cx="856623" cy="263791"/>
          </a:xfrm>
          <a:prstGeom prst="rect">
            <a:avLst/>
          </a:prstGeom>
          <a:noFill/>
        </p:spPr>
        <p:txBody>
          <a:bodyPr vert="horz" wrap="none" lIns="90000" tIns="46800" rIns="90000" bIns="46800" rtlCol="0" anchor="ctr">
            <a:spAutoFit/>
          </a:bodyPr>
          <a:lstStyle/>
          <a:p>
            <a:pPr algn="l">
              <a:spcBef>
                <a:spcPct val="0"/>
              </a:spcBef>
            </a:pPr>
            <a:r>
              <a:rPr lang="en-US" sz="1100"/>
              <a:t>New Costs</a:t>
            </a:r>
          </a:p>
        </p:txBody>
      </p:sp>
      <p:sp>
        <p:nvSpPr>
          <p:cNvPr id="41" name="Rounded Rectangle 40">
            <a:extLst>
              <a:ext uri="{FF2B5EF4-FFF2-40B4-BE49-F238E27FC236}">
                <a16:creationId xmlns:a16="http://schemas.microsoft.com/office/drawing/2014/main" id="{44256278-A8F0-F9B2-DF76-32CC841EFA79}"/>
              </a:ext>
            </a:extLst>
          </p:cNvPr>
          <p:cNvSpPr/>
          <p:nvPr/>
        </p:nvSpPr>
        <p:spPr>
          <a:xfrm>
            <a:off x="7894320" y="2945988"/>
            <a:ext cx="3533394"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42" name="TextBox 41">
            <a:extLst>
              <a:ext uri="{FF2B5EF4-FFF2-40B4-BE49-F238E27FC236}">
                <a16:creationId xmlns:a16="http://schemas.microsoft.com/office/drawing/2014/main" id="{8D042850-03A7-4AA7-0961-645011D8A038}"/>
              </a:ext>
            </a:extLst>
          </p:cNvPr>
          <p:cNvSpPr txBox="1"/>
          <p:nvPr/>
        </p:nvSpPr>
        <p:spPr>
          <a:xfrm>
            <a:off x="8198046" y="2944097"/>
            <a:ext cx="973641" cy="263791"/>
          </a:xfrm>
          <a:prstGeom prst="rect">
            <a:avLst/>
          </a:prstGeom>
          <a:noFill/>
        </p:spPr>
        <p:txBody>
          <a:bodyPr vert="horz" wrap="none" lIns="90000" tIns="46800" rIns="90000" bIns="46800" rtlCol="0" anchor="ctr">
            <a:spAutoFit/>
          </a:bodyPr>
          <a:lstStyle/>
          <a:p>
            <a:pPr algn="l">
              <a:spcBef>
                <a:spcPct val="0"/>
              </a:spcBef>
            </a:pPr>
            <a:r>
              <a:rPr lang="en-US" sz="1100"/>
              <a:t>New Income</a:t>
            </a:r>
          </a:p>
        </p:txBody>
      </p:sp>
      <p:sp>
        <p:nvSpPr>
          <p:cNvPr id="49" name="TextBox 48">
            <a:extLst>
              <a:ext uri="{FF2B5EF4-FFF2-40B4-BE49-F238E27FC236}">
                <a16:creationId xmlns:a16="http://schemas.microsoft.com/office/drawing/2014/main" id="{5010B932-93FF-0111-7279-156D13AAE372}"/>
              </a:ext>
            </a:extLst>
          </p:cNvPr>
          <p:cNvSpPr txBox="1"/>
          <p:nvPr/>
        </p:nvSpPr>
        <p:spPr>
          <a:xfrm>
            <a:off x="3800996" y="3316267"/>
            <a:ext cx="3479852" cy="1308750"/>
          </a:xfrm>
          <a:prstGeom prst="rect">
            <a:avLst/>
          </a:prstGeom>
          <a:noFill/>
        </p:spPr>
        <p:txBody>
          <a:bodyPr vert="horz" wrap="square" lIns="90000" tIns="46800" rIns="90000" bIns="46800" rtlCol="0" anchor="t">
            <a:noAutofit/>
          </a:bodyPr>
          <a:lstStyle/>
          <a:p>
            <a:pPr>
              <a:spcBef>
                <a:spcPct val="0"/>
              </a:spcBef>
            </a:pPr>
            <a:r>
              <a:rPr lang="en-US" sz="1000" dirty="0"/>
              <a:t>Implementation (I): XXXX €</a:t>
            </a:r>
          </a:p>
          <a:p>
            <a:pPr>
              <a:spcBef>
                <a:spcPct val="0"/>
              </a:spcBef>
            </a:pPr>
            <a:r>
              <a:rPr lang="en-US" sz="1000" dirty="0"/>
              <a:t>(AI pipeline setup, Copilot Studio agents, Fabric integration)</a:t>
            </a:r>
          </a:p>
          <a:p>
            <a:pPr>
              <a:spcBef>
                <a:spcPct val="0"/>
              </a:spcBef>
            </a:pPr>
            <a:r>
              <a:rPr lang="en-US" sz="1000" dirty="0"/>
              <a:t>Running (R2): XXXX €</a:t>
            </a:r>
          </a:p>
          <a:p>
            <a:pPr>
              <a:spcBef>
                <a:spcPct val="0"/>
              </a:spcBef>
            </a:pPr>
            <a:r>
              <a:rPr lang="en-US" sz="1000" dirty="0"/>
              <a:t>(Model scoring, automation workflows, monitoring)</a:t>
            </a:r>
          </a:p>
          <a:p>
            <a:pPr>
              <a:spcBef>
                <a:spcPct val="0"/>
              </a:spcBef>
            </a:pPr>
            <a:r>
              <a:rPr lang="en-US" sz="1000" dirty="0"/>
              <a:t>Maintenance (M2): XXXX €</a:t>
            </a:r>
          </a:p>
          <a:p>
            <a:pPr>
              <a:spcBef>
                <a:spcPct val="0"/>
              </a:spcBef>
            </a:pPr>
            <a:r>
              <a:rPr lang="en-US" sz="1000" dirty="0"/>
              <a:t>(Minor updates to models, workflows, governance rules)</a:t>
            </a:r>
          </a:p>
          <a:p>
            <a:pPr>
              <a:spcBef>
                <a:spcPct val="0"/>
              </a:spcBef>
            </a:pPr>
            <a:r>
              <a:rPr lang="en-US" sz="1000" dirty="0"/>
              <a:t>TOTAL NEW COST (TNC) = R2 + M2</a:t>
            </a:r>
          </a:p>
        </p:txBody>
      </p:sp>
      <p:sp>
        <p:nvSpPr>
          <p:cNvPr id="50" name="TextBox 49">
            <a:extLst>
              <a:ext uri="{FF2B5EF4-FFF2-40B4-BE49-F238E27FC236}">
                <a16:creationId xmlns:a16="http://schemas.microsoft.com/office/drawing/2014/main" id="{60B391CE-B096-0695-F075-4735456DC2EF}"/>
              </a:ext>
            </a:extLst>
          </p:cNvPr>
          <p:cNvSpPr txBox="1"/>
          <p:nvPr/>
        </p:nvSpPr>
        <p:spPr>
          <a:xfrm>
            <a:off x="8000999" y="2178483"/>
            <a:ext cx="2365677" cy="570816"/>
          </a:xfrm>
          <a:prstGeom prst="rect">
            <a:avLst/>
          </a:prstGeom>
          <a:noFill/>
        </p:spPr>
        <p:txBody>
          <a:bodyPr vert="horz" wrap="square" lIns="90000" tIns="46800" rIns="90000" bIns="46800" rtlCol="0" anchor="t">
            <a:noAutofit/>
          </a:bodyPr>
          <a:lstStyle/>
          <a:p>
            <a:pPr>
              <a:spcBef>
                <a:spcPct val="0"/>
              </a:spcBef>
            </a:pPr>
            <a:r>
              <a:rPr lang="en-US" sz="1000" dirty="0"/>
              <a:t>Revenue (Rv1): YYYY €</a:t>
            </a:r>
          </a:p>
          <a:p>
            <a:pPr>
              <a:spcBef>
                <a:spcPct val="0"/>
              </a:spcBef>
            </a:pPr>
            <a:r>
              <a:rPr lang="en-US" sz="1000" dirty="0"/>
              <a:t>(Current project revenue with traditional governance)</a:t>
            </a:r>
          </a:p>
        </p:txBody>
      </p:sp>
      <p:sp>
        <p:nvSpPr>
          <p:cNvPr id="53" name="TextBox 52">
            <a:extLst>
              <a:ext uri="{FF2B5EF4-FFF2-40B4-BE49-F238E27FC236}">
                <a16:creationId xmlns:a16="http://schemas.microsoft.com/office/drawing/2014/main" id="{9A210A51-6CD0-F11A-79BE-CEC3C2CA53B3}"/>
              </a:ext>
            </a:extLst>
          </p:cNvPr>
          <p:cNvSpPr txBox="1"/>
          <p:nvPr/>
        </p:nvSpPr>
        <p:spPr>
          <a:xfrm>
            <a:off x="8006143" y="3287317"/>
            <a:ext cx="2611399" cy="785975"/>
          </a:xfrm>
          <a:prstGeom prst="rect">
            <a:avLst/>
          </a:prstGeom>
          <a:noFill/>
        </p:spPr>
        <p:txBody>
          <a:bodyPr vert="horz" wrap="square" lIns="90000" tIns="46800" rIns="90000" bIns="46800" rtlCol="0" anchor="t">
            <a:noAutofit/>
          </a:bodyPr>
          <a:lstStyle/>
          <a:p>
            <a:pPr>
              <a:spcBef>
                <a:spcPct val="0"/>
              </a:spcBef>
            </a:pPr>
            <a:r>
              <a:rPr lang="en-US" sz="1000" dirty="0"/>
              <a:t>Revenue (Rv2): YYYY €</a:t>
            </a:r>
          </a:p>
          <a:p>
            <a:pPr>
              <a:spcBef>
                <a:spcPct val="0"/>
              </a:spcBef>
            </a:pPr>
            <a:r>
              <a:rPr lang="en-US" sz="1000" dirty="0"/>
              <a:t>(Expected uplift due to faster decisions, reduced delays, improved delivery confidence)</a:t>
            </a:r>
          </a:p>
        </p:txBody>
      </p:sp>
      <p:cxnSp>
        <p:nvCxnSpPr>
          <p:cNvPr id="59" name="Straight Connector 58">
            <a:extLst>
              <a:ext uri="{FF2B5EF4-FFF2-40B4-BE49-F238E27FC236}">
                <a16:creationId xmlns:a16="http://schemas.microsoft.com/office/drawing/2014/main" id="{F5FCC555-5619-6160-00C2-32F8DCC53516}"/>
              </a:ext>
            </a:extLst>
          </p:cNvPr>
          <p:cNvCxnSpPr>
            <a:cxnSpLocks/>
          </p:cNvCxnSpPr>
          <p:nvPr/>
        </p:nvCxnSpPr>
        <p:spPr>
          <a:xfrm>
            <a:off x="3825608" y="5715000"/>
            <a:ext cx="7680592"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612282"/>
      </p:ext>
    </p:extLst>
  </p:cSld>
  <p:clrMapOvr>
    <a:masterClrMapping/>
  </p:clrMapOvr>
</p:sld>
</file>

<file path=ppt/theme/theme1.xml><?xml version="1.0" encoding="utf-8"?>
<a:theme xmlns:a="http://schemas.openxmlformats.org/drawingml/2006/main" name="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February-02-2026" id="{643CFCD9-5D42-47EC-8CC7-8D856D17DCD2}" vid="{146F7EC5-EAD0-403A-8A34-B166E4CB0D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1ec4482-8a5f-419e-a3fb-f1ff39837bb1">
      <Terms xmlns="http://schemas.microsoft.com/office/infopath/2007/PartnerControls"/>
    </lcf76f155ced4ddcb4097134ff3c332f>
    <TaxCatchAll xmlns="289d593b-f9da-44ad-aeed-35e8c5022e7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72C44C9799C9545A5261C0AF70B4333" ma:contentTypeVersion="12" ma:contentTypeDescription="Create a new document." ma:contentTypeScope="" ma:versionID="5e4cadbf8931f3a42467c8a0955d4fc4">
  <xsd:schema xmlns:xsd="http://www.w3.org/2001/XMLSchema" xmlns:xs="http://www.w3.org/2001/XMLSchema" xmlns:p="http://schemas.microsoft.com/office/2006/metadata/properties" xmlns:ns2="71ec4482-8a5f-419e-a3fb-f1ff39837bb1" xmlns:ns3="289d593b-f9da-44ad-aeed-35e8c5022e75" targetNamespace="http://schemas.microsoft.com/office/2006/metadata/properties" ma:root="true" ma:fieldsID="914513dae8da38dff2ffd10bf6795a4a" ns2:_="" ns3:_="">
    <xsd:import namespace="71ec4482-8a5f-419e-a3fb-f1ff39837bb1"/>
    <xsd:import namespace="289d593b-f9da-44ad-aeed-35e8c5022e7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ec4482-8a5f-419e-a3fb-f1ff39837b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89d593b-f9da-44ad-aeed-35e8c5022e7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21e7f45-79c5-438a-9c31-31bb88d8ed8a}" ma:internalName="TaxCatchAll" ma:showField="CatchAllData" ma:web="289d593b-f9da-44ad-aeed-35e8c5022e7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7CF04F0-456A-483D-A7D2-D6142AA5B354}">
  <ds:schemaRefs>
    <ds:schemaRef ds:uri="http://schemas.microsoft.com/sharepoint/v3/contenttype/forms"/>
  </ds:schemaRefs>
</ds:datastoreItem>
</file>

<file path=customXml/itemProps2.xml><?xml version="1.0" encoding="utf-8"?>
<ds:datastoreItem xmlns:ds="http://schemas.openxmlformats.org/officeDocument/2006/customXml" ds:itemID="{B0A0046D-0765-4685-8521-7D1E34B9A377}">
  <ds:schemaRefs>
    <ds:schemaRef ds:uri="289d593b-f9da-44ad-aeed-35e8c5022e75"/>
    <ds:schemaRef ds:uri="71ec4482-8a5f-419e-a3fb-f1ff39837bb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E14842E-1B45-493B-9F94-9805075277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ec4482-8a5f-419e-a3fb-f1ff39837bb1"/>
    <ds:schemaRef ds:uri="289d593b-f9da-44ad-aeed-35e8c5022e7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760c494-6550-44b4-8258-77c175d778b7}"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Capgemini_Bright_2025</Template>
  <TotalTime>597</TotalTime>
  <Words>777</Words>
  <Application>Microsoft Office PowerPoint</Application>
  <PresentationFormat>Widescreen</PresentationFormat>
  <Paragraphs>105</Paragraphs>
  <Slides>5</Slides>
  <Notes>2</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Capgemini_Bright_2025</vt:lpstr>
      <vt:lpstr>PowerPoint Presentation</vt:lpstr>
      <vt:lpstr>Use Case Scope in the Business Process</vt:lpstr>
      <vt:lpstr>Functional Solution + AI-Human Chemistry</vt:lpstr>
      <vt:lpstr>Technical Solution</vt:lpstr>
      <vt:lpstr>Business Case Proposal</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Bartolome Ruiz, Raul</dc:creator>
  <cp:keywords/>
  <dc:description/>
  <cp:lastModifiedBy>Sridevi, Challa</cp:lastModifiedBy>
  <cp:revision>7</cp:revision>
  <dcterms:created xsi:type="dcterms:W3CDTF">2026-02-09T11:16:54Z</dcterms:created>
  <dcterms:modified xsi:type="dcterms:W3CDTF">2026-04-01T09:04:10Z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0x010100D72C44C9799C9545A5261C0AF70B4333</vt:lpwstr>
  </property>
  <property fmtid="{D5CDD505-2E9C-101B-9397-08002B2CF9AE}" pid="4" name="MSIP_Label_e760c494-6550-44b4-8258-77c175d778b7_Enabled">
    <vt:lpwstr>true</vt:lpwstr>
  </property>
  <property fmtid="{D5CDD505-2E9C-101B-9397-08002B2CF9AE}" pid="5" name="MSIP_Label_e760c494-6550-44b4-8258-77c175d778b7_SetDate">
    <vt:lpwstr>2026-02-09T12:25:45Z</vt:lpwstr>
  </property>
  <property fmtid="{D5CDD505-2E9C-101B-9397-08002B2CF9AE}" pid="6" name="MSIP_Label_e760c494-6550-44b4-8258-77c175d778b7_Method">
    <vt:lpwstr>Standard</vt:lpwstr>
  </property>
  <property fmtid="{D5CDD505-2E9C-101B-9397-08002B2CF9AE}" pid="7" name="MSIP_Label_e760c494-6550-44b4-8258-77c175d778b7_Name">
    <vt:lpwstr>Capgemini-SEC0-Public</vt:lpwstr>
  </property>
  <property fmtid="{D5CDD505-2E9C-101B-9397-08002B2CF9AE}" pid="8" name="MSIP_Label_e760c494-6550-44b4-8258-77c175d778b7_SiteId">
    <vt:lpwstr>76a2ae5a-9f00-4f6b-95ed-5d33d77c4d61</vt:lpwstr>
  </property>
  <property fmtid="{D5CDD505-2E9C-101B-9397-08002B2CF9AE}" pid="9" name="MSIP_Label_e760c494-6550-44b4-8258-77c175d778b7_ActionId">
    <vt:lpwstr>23bd5236-fbda-4184-9ddc-04c9b8b6f575</vt:lpwstr>
  </property>
  <property fmtid="{D5CDD505-2E9C-101B-9397-08002B2CF9AE}" pid="10" name="MSIP_Label_e760c494-6550-44b4-8258-77c175d778b7_ContentBits">
    <vt:lpwstr>0</vt:lpwstr>
  </property>
  <property fmtid="{D5CDD505-2E9C-101B-9397-08002B2CF9AE}" pid="11" name="xd_ProgID">
    <vt:lpwstr/>
  </property>
  <property fmtid="{D5CDD505-2E9C-101B-9397-08002B2CF9AE}" pid="12" name="ComplianceAssetId">
    <vt:lpwstr/>
  </property>
  <property fmtid="{D5CDD505-2E9C-101B-9397-08002B2CF9AE}" pid="13" name="TemplateUrl">
    <vt:lpwstr/>
  </property>
  <property fmtid="{D5CDD505-2E9C-101B-9397-08002B2CF9AE}" pid="14" name="_ExtendedDescription">
    <vt:lpwstr/>
  </property>
  <property fmtid="{D5CDD505-2E9C-101B-9397-08002B2CF9AE}" pid="15" name="TriggerFlowInfo">
    <vt:lpwstr/>
  </property>
  <property fmtid="{D5CDD505-2E9C-101B-9397-08002B2CF9AE}" pid="16" name="xd_Signature">
    <vt:bool>false</vt:bool>
  </property>
  <property fmtid="{D5CDD505-2E9C-101B-9397-08002B2CF9AE}" pid="17" name="docLang">
    <vt:lpwstr>en</vt:lpwstr>
  </property>
</Properties>
</file>