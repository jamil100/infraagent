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1"/>
  </p:notesMasterIdLst>
  <p:sldIdLst>
    <p:sldId id="263" r:id="rId5"/>
    <p:sldId id="2145706670" r:id="rId6"/>
    <p:sldId id="2145706674" r:id="rId7"/>
    <p:sldId id="2145706672" r:id="rId8"/>
    <p:sldId id="2145706673" r:id="rId9"/>
    <p:sldId id="2145706671" r:id="rId10"/>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0"/>
            <p14:sldId id="2145706674"/>
            <p14:sldId id="2145706672"/>
            <p14:sldId id="2145706673"/>
            <p14:sldId id="2145706671"/>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7E6A5-321F-433B-BC5C-4342A59AAC9C}" v="43" dt="2026-04-03T10:43:46.2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53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04/03/2026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757722" y="814220"/>
            <a:ext cx="5340558" cy="2930373"/>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sz="1050">
              <a:solidFill>
                <a:schemeClr val="tx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559074" y="76269"/>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218204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16740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912793" y="682228"/>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72200" y="935691"/>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40" name="TextBox 39">
            <a:extLst>
              <a:ext uri="{FF2B5EF4-FFF2-40B4-BE49-F238E27FC236}">
                <a16:creationId xmlns:a16="http://schemas.microsoft.com/office/drawing/2014/main" id="{EF1516CB-5801-A690-EF6F-37DDFC201695}"/>
              </a:ext>
            </a:extLst>
          </p:cNvPr>
          <p:cNvSpPr txBox="1"/>
          <p:nvPr/>
        </p:nvSpPr>
        <p:spPr>
          <a:xfrm>
            <a:off x="6966857" y="719703"/>
            <a:ext cx="181822" cy="309958"/>
          </a:xfrm>
          <a:prstGeom prst="rect">
            <a:avLst/>
          </a:prstGeom>
          <a:noFill/>
        </p:spPr>
        <p:txBody>
          <a:bodyPr vert="horz" wrap="none" lIns="90000" tIns="46800" rIns="90000" bIns="46800" rtlCol="0" anchor="ctr">
            <a:spAutoFit/>
          </a:bodyPr>
          <a:lstStyle/>
          <a:p>
            <a:pPr algn="l">
              <a:spcBef>
                <a:spcPct val="0"/>
              </a:spcBef>
            </a:pPr>
            <a:endParaRPr lang="en-IN" sz="1400" err="1"/>
          </a:p>
        </p:txBody>
      </p:sp>
      <p:sp>
        <p:nvSpPr>
          <p:cNvPr id="45" name="TextBox 44">
            <a:extLst>
              <a:ext uri="{FF2B5EF4-FFF2-40B4-BE49-F238E27FC236}">
                <a16:creationId xmlns:a16="http://schemas.microsoft.com/office/drawing/2014/main" id="{867C1214-7A36-336D-7919-999BF2AA0355}"/>
              </a:ext>
            </a:extLst>
          </p:cNvPr>
          <p:cNvSpPr txBox="1"/>
          <p:nvPr/>
        </p:nvSpPr>
        <p:spPr>
          <a:xfrm>
            <a:off x="9604303" y="1031984"/>
            <a:ext cx="2652149" cy="1017844"/>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1000" dirty="0"/>
              <a:t>60–80% faster data processing</a:t>
            </a:r>
          </a:p>
          <a:p>
            <a:pPr marL="171450" indent="-171450">
              <a:spcBef>
                <a:spcPct val="0"/>
              </a:spcBef>
              <a:buFont typeface="Arial" panose="020B0604020202020204" pitchFamily="34" charset="0"/>
              <a:buChar char="•"/>
            </a:pPr>
            <a:r>
              <a:rPr lang="en-IN" sz="1000" dirty="0"/>
              <a:t>Real-time dashboard availability</a:t>
            </a:r>
          </a:p>
          <a:p>
            <a:pPr marL="171450" indent="-171450">
              <a:spcBef>
                <a:spcPct val="0"/>
              </a:spcBef>
              <a:buFont typeface="Arial" panose="020B0604020202020204" pitchFamily="34" charset="0"/>
              <a:buChar char="•"/>
            </a:pPr>
            <a:r>
              <a:rPr lang="en-US" sz="1000" dirty="0"/>
              <a:t>Improved anomaly detection accuracy (~30%)</a:t>
            </a:r>
          </a:p>
          <a:p>
            <a:pPr marL="171450" indent="-171450">
              <a:spcBef>
                <a:spcPct val="0"/>
              </a:spcBef>
              <a:buFont typeface="Arial" panose="020B0604020202020204" pitchFamily="34" charset="0"/>
              <a:buChar char="•"/>
            </a:pPr>
            <a:r>
              <a:rPr lang="en-US" sz="1000" dirty="0"/>
              <a:t>Reduced data latency (batch → real-time)</a:t>
            </a:r>
            <a:endParaRPr lang="en-IN" sz="1000" dirty="0"/>
          </a:p>
        </p:txBody>
      </p:sp>
      <p:sp>
        <p:nvSpPr>
          <p:cNvPr id="46" name="TextBox 45">
            <a:extLst>
              <a:ext uri="{FF2B5EF4-FFF2-40B4-BE49-F238E27FC236}">
                <a16:creationId xmlns:a16="http://schemas.microsoft.com/office/drawing/2014/main" id="{7AA27B57-EDB3-8195-168A-03922AA3AF1F}"/>
              </a:ext>
            </a:extLst>
          </p:cNvPr>
          <p:cNvSpPr txBox="1"/>
          <p:nvPr/>
        </p:nvSpPr>
        <p:spPr>
          <a:xfrm>
            <a:off x="437731" y="4920911"/>
            <a:ext cx="2921436" cy="1064010"/>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900" dirty="0"/>
              <a:t>Event ingestion via Azure Service Bus</a:t>
            </a:r>
          </a:p>
          <a:p>
            <a:pPr marL="171450" indent="-171450">
              <a:spcBef>
                <a:spcPct val="0"/>
              </a:spcBef>
              <a:buFont typeface="Arial" panose="020B0604020202020204" pitchFamily="34" charset="0"/>
              <a:buChar char="•"/>
            </a:pPr>
            <a:r>
              <a:rPr lang="en-US" sz="900" dirty="0"/>
              <a:t>Real-time streaming using Fabric Event Streams</a:t>
            </a:r>
          </a:p>
          <a:p>
            <a:pPr marL="171450" indent="-171450">
              <a:spcBef>
                <a:spcPct val="0"/>
              </a:spcBef>
              <a:buFont typeface="Arial" panose="020B0604020202020204" pitchFamily="34" charset="0"/>
              <a:buChar char="•"/>
            </a:pPr>
            <a:r>
              <a:rPr lang="en-IN" sz="900" dirty="0"/>
              <a:t>AI-based transformation layer:</a:t>
            </a:r>
          </a:p>
          <a:p>
            <a:pPr>
              <a:spcBef>
                <a:spcPct val="0"/>
              </a:spcBef>
            </a:pPr>
            <a:r>
              <a:rPr lang="en-IN" sz="900" dirty="0"/>
              <a:t>                Schema detection</a:t>
            </a:r>
          </a:p>
          <a:p>
            <a:pPr>
              <a:spcBef>
                <a:spcPct val="0"/>
              </a:spcBef>
            </a:pPr>
            <a:r>
              <a:rPr lang="en-IN" sz="900" dirty="0"/>
              <a:t>                Metadata tagging</a:t>
            </a:r>
          </a:p>
          <a:p>
            <a:pPr>
              <a:spcBef>
                <a:spcPct val="0"/>
              </a:spcBef>
            </a:pPr>
            <a:r>
              <a:rPr lang="en-IN" sz="900" dirty="0"/>
              <a:t>                Data validation</a:t>
            </a:r>
          </a:p>
          <a:p>
            <a:pPr marL="171450" indent="-171450">
              <a:spcBef>
                <a:spcPct val="0"/>
              </a:spcBef>
              <a:buFont typeface="Arial" panose="020B0604020202020204" pitchFamily="34" charset="0"/>
              <a:buChar char="•"/>
            </a:pPr>
            <a:r>
              <a:rPr lang="en-IN" sz="900" dirty="0"/>
              <a:t>Storage in Lakehouse (Delta tables)</a:t>
            </a:r>
          </a:p>
        </p:txBody>
      </p:sp>
      <p:sp>
        <p:nvSpPr>
          <p:cNvPr id="47" name="TextBox 46">
            <a:extLst>
              <a:ext uri="{FF2B5EF4-FFF2-40B4-BE49-F238E27FC236}">
                <a16:creationId xmlns:a16="http://schemas.microsoft.com/office/drawing/2014/main" id="{85AAFFCF-BC60-6A81-04E7-0C8F4058CEAA}"/>
              </a:ext>
            </a:extLst>
          </p:cNvPr>
          <p:cNvSpPr txBox="1"/>
          <p:nvPr/>
        </p:nvSpPr>
        <p:spPr>
          <a:xfrm>
            <a:off x="3726964" y="4967011"/>
            <a:ext cx="3474719" cy="925511"/>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900" b="1" dirty="0"/>
              <a:t>Azure Service Bus (ASB)</a:t>
            </a:r>
            <a:r>
              <a:rPr lang="en-IN" sz="900" dirty="0"/>
              <a:t> → Event ingestion</a:t>
            </a:r>
          </a:p>
          <a:p>
            <a:pPr marL="171450" indent="-171450">
              <a:spcBef>
                <a:spcPct val="0"/>
              </a:spcBef>
              <a:buFont typeface="Arial" panose="020B0604020202020204" pitchFamily="34" charset="0"/>
              <a:buChar char="•"/>
            </a:pPr>
            <a:r>
              <a:rPr lang="en-US" sz="900" b="1" dirty="0"/>
              <a:t>Microsoft Fabric Event Streams</a:t>
            </a:r>
            <a:r>
              <a:rPr lang="en-US" sz="900" dirty="0"/>
              <a:t> → Real-time pipeline</a:t>
            </a:r>
          </a:p>
          <a:p>
            <a:pPr marL="171450" indent="-171450">
              <a:spcBef>
                <a:spcPct val="0"/>
              </a:spcBef>
              <a:buFont typeface="Arial" panose="020B0604020202020204" pitchFamily="34" charset="0"/>
              <a:buChar char="•"/>
            </a:pPr>
            <a:r>
              <a:rPr lang="en-IN" sz="900" b="1" dirty="0"/>
              <a:t>Agentic AI Processor (LLM-based)</a:t>
            </a:r>
            <a:r>
              <a:rPr lang="en-IN" sz="900" dirty="0"/>
              <a:t> → Intelligence layer</a:t>
            </a:r>
          </a:p>
          <a:p>
            <a:pPr marL="171450" indent="-171450">
              <a:spcBef>
                <a:spcPct val="0"/>
              </a:spcBef>
              <a:buFont typeface="Arial" panose="020B0604020202020204" pitchFamily="34" charset="0"/>
              <a:buChar char="•"/>
            </a:pPr>
            <a:r>
              <a:rPr lang="en-IN" sz="900" b="1" dirty="0"/>
              <a:t>Fabric Lakehouse</a:t>
            </a:r>
            <a:r>
              <a:rPr lang="en-IN" sz="900" dirty="0"/>
              <a:t> → Storage</a:t>
            </a:r>
          </a:p>
          <a:p>
            <a:pPr marL="171450" indent="-171450">
              <a:spcBef>
                <a:spcPct val="0"/>
              </a:spcBef>
              <a:buFont typeface="Arial" panose="020B0604020202020204" pitchFamily="34" charset="0"/>
              <a:buChar char="•"/>
            </a:pPr>
            <a:r>
              <a:rPr lang="en-IN" sz="900" b="1" dirty="0"/>
              <a:t>Power BI</a:t>
            </a:r>
            <a:r>
              <a:rPr lang="en-IN" sz="900" dirty="0"/>
              <a:t> → Visualization</a:t>
            </a:r>
          </a:p>
          <a:p>
            <a:pPr>
              <a:spcBef>
                <a:spcPct val="0"/>
              </a:spcBef>
            </a:pPr>
            <a:endParaRPr lang="en-IN" sz="900" dirty="0"/>
          </a:p>
        </p:txBody>
      </p:sp>
      <p:sp>
        <p:nvSpPr>
          <p:cNvPr id="48" name="TextBox 47">
            <a:extLst>
              <a:ext uri="{FF2B5EF4-FFF2-40B4-BE49-F238E27FC236}">
                <a16:creationId xmlns:a16="http://schemas.microsoft.com/office/drawing/2014/main" id="{D6269C79-69C0-84BF-3F2B-964147C4FB3D}"/>
              </a:ext>
            </a:extLst>
          </p:cNvPr>
          <p:cNvSpPr txBox="1"/>
          <p:nvPr/>
        </p:nvSpPr>
        <p:spPr>
          <a:xfrm>
            <a:off x="7454605" y="5086578"/>
            <a:ext cx="2045396" cy="925511"/>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900" dirty="0"/>
              <a:t>Data Engineers</a:t>
            </a:r>
          </a:p>
          <a:p>
            <a:pPr marL="171450" indent="-171450">
              <a:spcBef>
                <a:spcPct val="0"/>
              </a:spcBef>
              <a:buFont typeface="Arial" panose="020B0604020202020204" pitchFamily="34" charset="0"/>
              <a:buChar char="•"/>
            </a:pPr>
            <a:r>
              <a:rPr lang="en-IN" sz="900" dirty="0"/>
              <a:t>Business Analysts</a:t>
            </a:r>
          </a:p>
          <a:p>
            <a:pPr marL="171450" indent="-171450">
              <a:spcBef>
                <a:spcPct val="0"/>
              </a:spcBef>
              <a:buFont typeface="Arial" panose="020B0604020202020204" pitchFamily="34" charset="0"/>
              <a:buChar char="•"/>
            </a:pPr>
            <a:r>
              <a:rPr lang="en-IN" sz="900" dirty="0"/>
              <a:t>Product Managers</a:t>
            </a:r>
          </a:p>
          <a:p>
            <a:pPr marL="171450" indent="-171450">
              <a:spcBef>
                <a:spcPct val="0"/>
              </a:spcBef>
              <a:buFont typeface="Arial" panose="020B0604020202020204" pitchFamily="34" charset="0"/>
              <a:buChar char="•"/>
            </a:pPr>
            <a:r>
              <a:rPr lang="en-IN" sz="900" dirty="0"/>
              <a:t>Operations Teams</a:t>
            </a:r>
          </a:p>
          <a:p>
            <a:pPr marL="171450" indent="-171450">
              <a:spcBef>
                <a:spcPct val="0"/>
              </a:spcBef>
              <a:buFont typeface="Arial" panose="020B0604020202020204" pitchFamily="34" charset="0"/>
              <a:buChar char="•"/>
            </a:pPr>
            <a:r>
              <a:rPr lang="en-IN" sz="900" dirty="0"/>
              <a:t>Leadership / Decision Makers </a:t>
            </a:r>
          </a:p>
          <a:p>
            <a:pPr>
              <a:spcBef>
                <a:spcPct val="0"/>
              </a:spcBef>
            </a:pPr>
            <a:endParaRPr lang="en-IN" sz="900" dirty="0"/>
          </a:p>
        </p:txBody>
      </p:sp>
      <p:sp>
        <p:nvSpPr>
          <p:cNvPr id="52" name="TextBox 51">
            <a:extLst>
              <a:ext uri="{FF2B5EF4-FFF2-40B4-BE49-F238E27FC236}">
                <a16:creationId xmlns:a16="http://schemas.microsoft.com/office/drawing/2014/main" id="{965C4C54-FB57-342B-4155-953B30E36AB3}"/>
              </a:ext>
            </a:extLst>
          </p:cNvPr>
          <p:cNvSpPr txBox="1"/>
          <p:nvPr/>
        </p:nvSpPr>
        <p:spPr>
          <a:xfrm>
            <a:off x="3805771" y="1051044"/>
            <a:ext cx="2144705" cy="1633397"/>
          </a:xfrm>
          <a:prstGeom prst="rect">
            <a:avLst/>
          </a:prstGeom>
          <a:noFill/>
        </p:spPr>
        <p:txBody>
          <a:bodyPr vert="horz" wrap="square" lIns="90000" tIns="46800" rIns="90000" bIns="46800" rtlCol="0" anchor="ctr">
            <a:spAutoFit/>
          </a:bodyPr>
          <a:lstStyle/>
          <a:p>
            <a:pPr marL="285750" indent="-285750">
              <a:buFont typeface="Arial" panose="020B0604020202020204" pitchFamily="34" charset="0"/>
              <a:buChar char="•"/>
            </a:pPr>
            <a:r>
              <a:rPr lang="en-US" sz="1000" dirty="0"/>
              <a:t>No real-time data ingestion from enterprise systems</a:t>
            </a:r>
          </a:p>
          <a:p>
            <a:pPr marL="285750" indent="-285750">
              <a:buFont typeface="Arial" panose="020B0604020202020204" pitchFamily="34" charset="0"/>
              <a:buChar char="•"/>
            </a:pPr>
            <a:r>
              <a:rPr lang="en-IN" sz="1000" dirty="0"/>
              <a:t>Delayed insights → slow decision-making</a:t>
            </a:r>
          </a:p>
          <a:p>
            <a:pPr marL="285750" indent="-285750">
              <a:buFont typeface="Arial" panose="020B0604020202020204" pitchFamily="34" charset="0"/>
              <a:buChar char="•"/>
            </a:pPr>
            <a:r>
              <a:rPr lang="en-IN" sz="1000" dirty="0"/>
              <a:t>Manual data validation &amp; transformation</a:t>
            </a:r>
          </a:p>
          <a:p>
            <a:pPr marL="285750" indent="-285750">
              <a:buFont typeface="Arial" panose="020B0604020202020204" pitchFamily="34" charset="0"/>
              <a:buChar char="•"/>
            </a:pPr>
            <a:r>
              <a:rPr lang="en-US" sz="1000" dirty="0"/>
              <a:t>Lack of unified analytics platform</a:t>
            </a:r>
          </a:p>
          <a:p>
            <a:pPr marL="285750" indent="-285750">
              <a:buFont typeface="Arial" panose="020B0604020202020204" pitchFamily="34" charset="0"/>
              <a:buChar char="•"/>
            </a:pPr>
            <a:r>
              <a:rPr lang="en-IN" sz="1000" dirty="0"/>
              <a:t>Difficulty detecting anomalies early</a:t>
            </a:r>
          </a:p>
        </p:txBody>
      </p:sp>
      <p:sp>
        <p:nvSpPr>
          <p:cNvPr id="54" name="TextBox 53">
            <a:extLst>
              <a:ext uri="{FF2B5EF4-FFF2-40B4-BE49-F238E27FC236}">
                <a16:creationId xmlns:a16="http://schemas.microsoft.com/office/drawing/2014/main" id="{8CFAA86E-AA25-4162-832C-F47BA7992FDF}"/>
              </a:ext>
            </a:extLst>
          </p:cNvPr>
          <p:cNvSpPr txBox="1"/>
          <p:nvPr/>
        </p:nvSpPr>
        <p:spPr>
          <a:xfrm>
            <a:off x="6214715" y="1059110"/>
            <a:ext cx="2899893" cy="1479509"/>
          </a:xfrm>
          <a:prstGeom prst="rect">
            <a:avLst/>
          </a:prstGeom>
          <a:noFill/>
        </p:spPr>
        <p:txBody>
          <a:bodyPr vert="horz" wrap="square" lIns="90000" tIns="46800" rIns="90000" bIns="46800" rtlCol="0" anchor="ctr">
            <a:spAutoFit/>
          </a:bodyPr>
          <a:lstStyle/>
          <a:p>
            <a:r>
              <a:rPr lang="en-US" sz="1000" dirty="0"/>
              <a:t>Build a </a:t>
            </a:r>
            <a:r>
              <a:rPr lang="en-US" sz="1000" b="1" dirty="0"/>
              <a:t>real-time intelligent data processing system</a:t>
            </a:r>
            <a:r>
              <a:rPr lang="en-US" sz="1000" dirty="0"/>
              <a:t> that:</a:t>
            </a:r>
          </a:p>
          <a:p>
            <a:endParaRPr lang="en-US" sz="1000" dirty="0"/>
          </a:p>
          <a:p>
            <a:pPr marL="171450" indent="-171450">
              <a:buFont typeface="Arial" panose="020B0604020202020204" pitchFamily="34" charset="0"/>
              <a:buChar char="•"/>
            </a:pPr>
            <a:r>
              <a:rPr lang="en-US" sz="1000" dirty="0"/>
              <a:t>Ingests live events from enterprise systems</a:t>
            </a:r>
          </a:p>
          <a:p>
            <a:pPr marL="171450" indent="-171450">
              <a:buFont typeface="Arial" panose="020B0604020202020204" pitchFamily="34" charset="0"/>
              <a:buChar char="•"/>
            </a:pPr>
            <a:r>
              <a:rPr lang="en-IN" sz="1000" dirty="0"/>
              <a:t>Uses </a:t>
            </a:r>
            <a:r>
              <a:rPr lang="en-IN" sz="1000" b="1" dirty="0"/>
              <a:t>Agentic AI</a:t>
            </a:r>
            <a:r>
              <a:rPr lang="en-IN" sz="1000" dirty="0"/>
              <a:t> for transformation &amp; enrichment</a:t>
            </a:r>
          </a:p>
          <a:p>
            <a:pPr marL="171450" indent="-171450">
              <a:buFont typeface="Arial" panose="020B0604020202020204" pitchFamily="34" charset="0"/>
              <a:buChar char="•"/>
            </a:pPr>
            <a:r>
              <a:rPr lang="en-US" sz="1000" dirty="0"/>
              <a:t>Stores structured data in </a:t>
            </a:r>
            <a:r>
              <a:rPr lang="en-US" sz="1000" b="1" dirty="0"/>
              <a:t>Fabric Lakehouse</a:t>
            </a:r>
          </a:p>
          <a:p>
            <a:pPr marL="171450" indent="-171450">
              <a:buFont typeface="Arial" panose="020B0604020202020204" pitchFamily="34" charset="0"/>
              <a:buChar char="•"/>
            </a:pPr>
            <a:r>
              <a:rPr lang="en-US" sz="1000" dirty="0"/>
              <a:t>Provides </a:t>
            </a:r>
            <a:r>
              <a:rPr lang="en-US" sz="1000" b="1" dirty="0"/>
              <a:t>live dashboards via Power BI</a:t>
            </a:r>
          </a:p>
          <a:p>
            <a:pPr marL="171450" indent="-171450">
              <a:buFont typeface="Arial" panose="020B0604020202020204" pitchFamily="34" charset="0"/>
              <a:buChar char="•"/>
            </a:pPr>
            <a:r>
              <a:rPr lang="en-IN" sz="1000" dirty="0"/>
              <a:t>Detects anomalies &amp; trends automatically</a:t>
            </a:r>
            <a:endParaRPr lang="en-US" sz="1000" dirty="0"/>
          </a:p>
        </p:txBody>
      </p:sp>
      <p:sp>
        <p:nvSpPr>
          <p:cNvPr id="57" name="TextBox 56">
            <a:extLst>
              <a:ext uri="{FF2B5EF4-FFF2-40B4-BE49-F238E27FC236}">
                <a16:creationId xmlns:a16="http://schemas.microsoft.com/office/drawing/2014/main" id="{657C4FF3-14F1-75AE-CA54-CA745904CF47}"/>
              </a:ext>
            </a:extLst>
          </p:cNvPr>
          <p:cNvSpPr txBox="1"/>
          <p:nvPr/>
        </p:nvSpPr>
        <p:spPr>
          <a:xfrm>
            <a:off x="6019800" y="926499"/>
            <a:ext cx="181822" cy="309958"/>
          </a:xfrm>
          <a:prstGeom prst="rect">
            <a:avLst/>
          </a:prstGeom>
          <a:noFill/>
        </p:spPr>
        <p:txBody>
          <a:bodyPr vert="horz" wrap="none" lIns="90000" tIns="46800" rIns="90000" bIns="46800" rtlCol="0" anchor="ctr">
            <a:spAutoFit/>
          </a:bodyPr>
          <a:lstStyle/>
          <a:p>
            <a:pPr algn="l">
              <a:spcBef>
                <a:spcPct val="0"/>
              </a:spcBef>
            </a:pPr>
            <a:endParaRPr lang="en-IN" sz="1400" err="1"/>
          </a:p>
        </p:txBody>
      </p:sp>
      <p:sp>
        <p:nvSpPr>
          <p:cNvPr id="59" name="TextBox 58">
            <a:extLst>
              <a:ext uri="{FF2B5EF4-FFF2-40B4-BE49-F238E27FC236}">
                <a16:creationId xmlns:a16="http://schemas.microsoft.com/office/drawing/2014/main" id="{940DDC6B-D3CC-D7E4-DF35-6BD60EFA701A}"/>
              </a:ext>
            </a:extLst>
          </p:cNvPr>
          <p:cNvSpPr txBox="1"/>
          <p:nvPr/>
        </p:nvSpPr>
        <p:spPr>
          <a:xfrm>
            <a:off x="9592837" y="2557800"/>
            <a:ext cx="2464208" cy="1171732"/>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US" sz="1000" dirty="0"/>
              <a:t>Faster decision-making using live insights</a:t>
            </a:r>
          </a:p>
          <a:p>
            <a:pPr marL="171450" indent="-171450">
              <a:spcBef>
                <a:spcPct val="0"/>
              </a:spcBef>
              <a:buFont typeface="Arial" panose="020B0604020202020204" pitchFamily="34" charset="0"/>
              <a:buChar char="•"/>
            </a:pPr>
            <a:r>
              <a:rPr lang="en-IN" sz="1000" dirty="0"/>
              <a:t>Reduced operational inefficiencies</a:t>
            </a:r>
          </a:p>
          <a:p>
            <a:pPr marL="171450" indent="-171450">
              <a:spcBef>
                <a:spcPct val="0"/>
              </a:spcBef>
              <a:buFont typeface="Arial" panose="020B0604020202020204" pitchFamily="34" charset="0"/>
              <a:buChar char="•"/>
            </a:pPr>
            <a:r>
              <a:rPr lang="en-IN" sz="1000" dirty="0"/>
              <a:t>Improved data reliability &amp; trust</a:t>
            </a:r>
          </a:p>
          <a:p>
            <a:pPr marL="171450" indent="-171450">
              <a:spcBef>
                <a:spcPct val="0"/>
              </a:spcBef>
              <a:buFont typeface="Arial" panose="020B0604020202020204" pitchFamily="34" charset="0"/>
              <a:buChar char="•"/>
            </a:pPr>
            <a:r>
              <a:rPr lang="en-IN" sz="1000" dirty="0"/>
              <a:t>Enables AI-driven automation</a:t>
            </a:r>
          </a:p>
          <a:p>
            <a:pPr marL="171450" indent="-171450">
              <a:spcBef>
                <a:spcPct val="0"/>
              </a:spcBef>
              <a:buFont typeface="Arial" panose="020B0604020202020204" pitchFamily="34" charset="0"/>
              <a:buChar char="•"/>
            </a:pPr>
            <a:r>
              <a:rPr lang="en-IN" sz="1000" dirty="0"/>
              <a:t>Better customer &amp; business outcomes</a:t>
            </a:r>
          </a:p>
        </p:txBody>
      </p:sp>
      <p:sp>
        <p:nvSpPr>
          <p:cNvPr id="60" name="TextBox 59">
            <a:extLst>
              <a:ext uri="{FF2B5EF4-FFF2-40B4-BE49-F238E27FC236}">
                <a16:creationId xmlns:a16="http://schemas.microsoft.com/office/drawing/2014/main" id="{3BAB72B2-B1E9-F968-4164-ED013E26859A}"/>
              </a:ext>
            </a:extLst>
          </p:cNvPr>
          <p:cNvSpPr txBox="1"/>
          <p:nvPr/>
        </p:nvSpPr>
        <p:spPr>
          <a:xfrm>
            <a:off x="678616" y="1187080"/>
            <a:ext cx="2439666" cy="1571842"/>
          </a:xfrm>
          <a:prstGeom prst="rect">
            <a:avLst/>
          </a:prstGeom>
          <a:noFill/>
        </p:spPr>
        <p:txBody>
          <a:bodyPr vert="horz" wrap="square" lIns="90000" tIns="46800" rIns="90000" bIns="46800" rtlCol="0" anchor="ctr">
            <a:spAutoFit/>
          </a:bodyPr>
          <a:lstStyle/>
          <a:p>
            <a:pPr>
              <a:spcBef>
                <a:spcPct val="0"/>
              </a:spcBef>
            </a:pP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Intelligent Real-Time Processing using Fabric &amp; Agentic AI</a:t>
            </a:r>
            <a:endParaRPr lang="en-I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a:xfrm>
            <a:off x="4221713" y="240839"/>
            <a:ext cx="7753711" cy="666581"/>
          </a:xfrm>
        </p:spPr>
        <p:txBody>
          <a:bodyPr/>
          <a:lstStyle/>
          <a:p>
            <a:r>
              <a:rPr lang="en-US" dirty="0"/>
              <a:t>Use Case Scope in the Business Process</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pic>
        <p:nvPicPr>
          <p:cNvPr id="4" name="Picture 3">
            <a:extLst>
              <a:ext uri="{FF2B5EF4-FFF2-40B4-BE49-F238E27FC236}">
                <a16:creationId xmlns:a16="http://schemas.microsoft.com/office/drawing/2014/main" id="{C62F3B1E-17BC-3C22-9FE6-30F872017741}"/>
              </a:ext>
            </a:extLst>
          </p:cNvPr>
          <p:cNvPicPr>
            <a:picLocks noChangeAspect="1"/>
          </p:cNvPicPr>
          <p:nvPr/>
        </p:nvPicPr>
        <p:blipFill>
          <a:blip r:embed="rId2"/>
          <a:stretch>
            <a:fillRect/>
          </a:stretch>
        </p:blipFill>
        <p:spPr>
          <a:xfrm>
            <a:off x="383994" y="1426551"/>
            <a:ext cx="11424012" cy="5285665"/>
          </a:xfrm>
          <a:prstGeom prst="rect">
            <a:avLst/>
          </a:prstGeom>
        </p:spPr>
      </p:pic>
    </p:spTree>
    <p:extLst>
      <p:ext uri="{BB962C8B-B14F-4D97-AF65-F5344CB8AC3E}">
        <p14:creationId xmlns:p14="http://schemas.microsoft.com/office/powerpoint/2010/main" val="2417810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6227C2-9A72-6FD5-23FD-A8C6B4326D3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FFD35D3-A24A-2A16-1846-1E3184AE81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A8EFE1E5-3CAD-CAAE-D493-96BC20BE224E}"/>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6A8DE306-02E3-0DF1-C73D-49308B440AFA}"/>
              </a:ext>
            </a:extLst>
          </p:cNvPr>
          <p:cNvSpPr>
            <a:spLocks noGrp="1"/>
          </p:cNvSpPr>
          <p:nvPr>
            <p:ph type="title"/>
          </p:nvPr>
        </p:nvSpPr>
        <p:spPr>
          <a:xfrm>
            <a:off x="4024630" y="344837"/>
            <a:ext cx="7753711" cy="666581"/>
          </a:xfrm>
        </p:spPr>
        <p:txBody>
          <a:bodyPr/>
          <a:lstStyle/>
          <a:p>
            <a:r>
              <a:rPr lang="en-US" sz="2800" dirty="0"/>
              <a:t>End to End Real Time Intelligence Flow </a:t>
            </a:r>
            <a:endParaRPr lang="en-IN" sz="2800" dirty="0"/>
          </a:p>
        </p:txBody>
      </p:sp>
      <p:sp>
        <p:nvSpPr>
          <p:cNvPr id="8" name="Rectangle: Rounded Corners 7">
            <a:extLst>
              <a:ext uri="{FF2B5EF4-FFF2-40B4-BE49-F238E27FC236}">
                <a16:creationId xmlns:a16="http://schemas.microsoft.com/office/drawing/2014/main" id="{D5EFA5F9-9CC0-DD9F-46CA-4E913052858F}"/>
              </a:ext>
            </a:extLst>
          </p:cNvPr>
          <p:cNvSpPr/>
          <p:nvPr/>
        </p:nvSpPr>
        <p:spPr>
          <a:xfrm>
            <a:off x="292101" y="1333500"/>
            <a:ext cx="9004299" cy="4995079"/>
          </a:xfrm>
          <a:prstGeom prst="roundRect">
            <a:avLst/>
          </a:prstGeom>
          <a:solidFill>
            <a:schemeClr val="tx2">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graphicFrame>
        <p:nvGraphicFramePr>
          <p:cNvPr id="6" name="Table 5">
            <a:extLst>
              <a:ext uri="{FF2B5EF4-FFF2-40B4-BE49-F238E27FC236}">
                <a16:creationId xmlns:a16="http://schemas.microsoft.com/office/drawing/2014/main" id="{9616509D-85DF-8D23-B1D7-A1ED2D0B555C}"/>
              </a:ext>
            </a:extLst>
          </p:cNvPr>
          <p:cNvGraphicFramePr>
            <a:graphicFrameLocks noGrp="1"/>
          </p:cNvGraphicFramePr>
          <p:nvPr>
            <p:extLst>
              <p:ext uri="{D42A27DB-BD31-4B8C-83A1-F6EECF244321}">
                <p14:modId xmlns:p14="http://schemas.microsoft.com/office/powerpoint/2010/main" val="4104769398"/>
              </p:ext>
            </p:extLst>
          </p:nvPr>
        </p:nvGraphicFramePr>
        <p:xfrm>
          <a:off x="292101" y="1587500"/>
          <a:ext cx="8394699" cy="5270499"/>
        </p:xfrm>
        <a:graphic>
          <a:graphicData uri="http://schemas.openxmlformats.org/drawingml/2006/table">
            <a:tbl>
              <a:tblPr/>
              <a:tblGrid>
                <a:gridCol w="8394699">
                  <a:extLst>
                    <a:ext uri="{9D8B030D-6E8A-4147-A177-3AD203B41FA5}">
                      <a16:colId xmlns:a16="http://schemas.microsoft.com/office/drawing/2014/main" val="3704553807"/>
                    </a:ext>
                  </a:extLst>
                </a:gridCol>
              </a:tblGrid>
              <a:tr h="4718799">
                <a:tc>
                  <a:txBody>
                    <a:bodyPr/>
                    <a:lstStyle/>
                    <a:p>
                      <a:pPr fontAlgn="t">
                        <a:lnSpc>
                          <a:spcPts val="1500"/>
                        </a:lnSpc>
                        <a:buNone/>
                      </a:pPr>
                      <a:r>
                        <a:rPr lang="en-IN" sz="2000" b="1" i="0" dirty="0">
                          <a:effectLst/>
                          <a:latin typeface="Times New Roman" panose="02020603050405020304" pitchFamily="18" charset="0"/>
                          <a:cs typeface="Times New Roman" panose="02020603050405020304" pitchFamily="18" charset="0"/>
                        </a:rPr>
                        <a:t>Event Ingestion</a:t>
                      </a:r>
                    </a:p>
                    <a:p>
                      <a:pPr fontAlgn="t">
                        <a:lnSpc>
                          <a:spcPts val="1500"/>
                        </a:lnSpc>
                        <a:buNone/>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Real‑time data flows from Azure Service Bus into Fabric with zero manual intervention.</a:t>
                      </a: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Fabric Event Streams instantly clean, refine, and route incoming events.</a:t>
                      </a:r>
                    </a:p>
                    <a:p>
                      <a:pPr fontAlgn="t">
                        <a:lnSpc>
                          <a:spcPts val="1500"/>
                        </a:lnSpc>
                        <a:buFont typeface="Arial" panose="020B0604020202020204" pitchFamily="34" charset="0"/>
                        <a:buChar char="•"/>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Font typeface="Arial" panose="020B0604020202020204" pitchFamily="34" charset="0"/>
                        <a:buChar char="•"/>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None/>
                      </a:pPr>
                      <a:r>
                        <a:rPr lang="en-IN" sz="2000" b="1" i="0" dirty="0">
                          <a:effectLst/>
                          <a:latin typeface="Times New Roman" panose="02020603050405020304" pitchFamily="18" charset="0"/>
                          <a:cs typeface="Times New Roman" panose="02020603050405020304" pitchFamily="18" charset="0"/>
                        </a:rPr>
                        <a:t>AI Transformation</a:t>
                      </a:r>
                    </a:p>
                    <a:p>
                      <a:pPr fontAlgn="t">
                        <a:lnSpc>
                          <a:spcPts val="1500"/>
                        </a:lnSpc>
                        <a:buNone/>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Agentic AI performs schema extraction, validation, and smart metadata tagging automatically.</a:t>
                      </a: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AI reduces processing time from minutes to seconds enabling instant decisions.</a:t>
                      </a:r>
                    </a:p>
                    <a:p>
                      <a:pPr fontAlgn="t">
                        <a:lnSpc>
                          <a:spcPts val="1500"/>
                        </a:lnSpc>
                        <a:buNone/>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None/>
                      </a:pPr>
                      <a:r>
                        <a:rPr lang="en-IN" sz="2000" b="1" i="0" dirty="0">
                          <a:effectLst/>
                          <a:latin typeface="Times New Roman" panose="02020603050405020304" pitchFamily="18" charset="0"/>
                          <a:cs typeface="Times New Roman" panose="02020603050405020304" pitchFamily="18" charset="0"/>
                        </a:rPr>
                        <a:t> Data Storage &amp; Governance</a:t>
                      </a:r>
                    </a:p>
                    <a:p>
                      <a:pPr fontAlgn="t">
                        <a:lnSpc>
                          <a:spcPts val="1500"/>
                        </a:lnSpc>
                        <a:buNone/>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Processed data lands in the Lakehouse with enterprise‑grade governance via Purview.</a:t>
                      </a: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Unified Fabric ecosystem ensures single source of truth across analytics and AI</a:t>
                      </a:r>
                    </a:p>
                    <a:p>
                      <a:pPr fontAlgn="t">
                        <a:lnSpc>
                          <a:spcPts val="1500"/>
                        </a:lnSpc>
                        <a:buFont typeface="Arial" panose="020B0604020202020204" pitchFamily="34" charset="0"/>
                        <a:buChar char="•"/>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Font typeface="Arial" panose="020B0604020202020204" pitchFamily="34" charset="0"/>
                        <a:buNone/>
                      </a:pPr>
                      <a:r>
                        <a:rPr lang="en-IN" sz="2000" b="1" i="0" dirty="0">
                          <a:effectLst/>
                          <a:latin typeface="Times New Roman" panose="02020603050405020304" pitchFamily="18" charset="0"/>
                          <a:cs typeface="Times New Roman" panose="02020603050405020304" pitchFamily="18" charset="0"/>
                        </a:rPr>
                        <a:t>Real‑Time Insights</a:t>
                      </a:r>
                    </a:p>
                    <a:p>
                      <a:pPr fontAlgn="t">
                        <a:lnSpc>
                          <a:spcPts val="1500"/>
                        </a:lnSpc>
                        <a:buFont typeface="Arial" panose="020B0604020202020204" pitchFamily="34" charset="0"/>
                        <a:buNone/>
                      </a:pPr>
                      <a:endParaRPr lang="en-IN" sz="1800" b="0" i="0" dirty="0">
                        <a:effectLst/>
                        <a:latin typeface="Times New Roman" panose="02020603050405020304" pitchFamily="18" charset="0"/>
                        <a:cs typeface="Times New Roman" panose="02020603050405020304" pitchFamily="18" charset="0"/>
                      </a:endParaRP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Power BI updates in real time, showing anomalies, trends, and insights instantly.</a:t>
                      </a:r>
                    </a:p>
                    <a:p>
                      <a:pPr fontAlgn="t">
                        <a:lnSpc>
                          <a:spcPts val="1500"/>
                        </a:lnSpc>
                        <a:buFont typeface="Arial" panose="020B0604020202020204" pitchFamily="34" charset="0"/>
                        <a:buChar char="•"/>
                      </a:pPr>
                      <a:r>
                        <a:rPr lang="en-IN" sz="1800" b="0" i="0" dirty="0">
                          <a:effectLst/>
                          <a:latin typeface="Times New Roman" panose="02020603050405020304" pitchFamily="18" charset="0"/>
                          <a:cs typeface="Times New Roman" panose="02020603050405020304" pitchFamily="18" charset="0"/>
                        </a:rPr>
                        <a:t>  Copilot adds natural‑language intelligence for fast, human‑friendly decision‑making</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30055224"/>
                  </a:ext>
                </a:extLst>
              </a:tr>
              <a:tr h="551700">
                <a:tc>
                  <a:txBody>
                    <a:bodyPr/>
                    <a:lstStyle/>
                    <a:p>
                      <a:endParaRPr lang="en-IN" sz="2000" dirty="0">
                        <a:latin typeface="Times New Roman" panose="02020603050405020304" pitchFamily="18" charset="0"/>
                        <a:cs typeface="Times New Roman" panose="02020603050405020304" pitchFamily="18" charset="0"/>
                      </a:endParaRPr>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858949940"/>
                  </a:ext>
                </a:extLst>
              </a:tr>
            </a:tbl>
          </a:graphicData>
        </a:graphic>
      </p:graphicFrame>
      <p:pic>
        <p:nvPicPr>
          <p:cNvPr id="11" name="Picture 10">
            <a:extLst>
              <a:ext uri="{FF2B5EF4-FFF2-40B4-BE49-F238E27FC236}">
                <a16:creationId xmlns:a16="http://schemas.microsoft.com/office/drawing/2014/main" id="{05E26D7E-1AD3-B0E9-75B6-9F8874CABACE}"/>
              </a:ext>
            </a:extLst>
          </p:cNvPr>
          <p:cNvPicPr>
            <a:picLocks noChangeAspect="1"/>
          </p:cNvPicPr>
          <p:nvPr/>
        </p:nvPicPr>
        <p:blipFill>
          <a:blip r:embed="rId2"/>
          <a:srcRect l="25234" t="3333" r="26125" b="3024"/>
          <a:stretch>
            <a:fillRect/>
          </a:stretch>
        </p:blipFill>
        <p:spPr>
          <a:xfrm>
            <a:off x="9512824" y="2124907"/>
            <a:ext cx="2658693" cy="3412264"/>
          </a:xfrm>
          <a:prstGeom prst="rect">
            <a:avLst/>
          </a:prstGeom>
        </p:spPr>
      </p:pic>
    </p:spTree>
    <p:extLst>
      <p:ext uri="{BB962C8B-B14F-4D97-AF65-F5344CB8AC3E}">
        <p14:creationId xmlns:p14="http://schemas.microsoft.com/office/powerpoint/2010/main" val="1659734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07366"/>
            <a:ext cx="7998590" cy="530032"/>
          </a:xfrm>
        </p:spPr>
        <p:txBody>
          <a:bodyPr/>
          <a:lstStyle/>
          <a:p>
            <a:r>
              <a:rPr lang="en-US" dirty="0"/>
              <a:t>Functional Solution + AI-Human Chemistry</a:t>
            </a:r>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050" noProof="0" dirty="0">
              <a:solidFill>
                <a:schemeClr val="tx1"/>
              </a:solidFill>
            </a:endParaRPr>
          </a:p>
        </p:txBody>
      </p:sp>
      <p:pic>
        <p:nvPicPr>
          <p:cNvPr id="117" name="Picture 116">
            <a:extLst>
              <a:ext uri="{FF2B5EF4-FFF2-40B4-BE49-F238E27FC236}">
                <a16:creationId xmlns:a16="http://schemas.microsoft.com/office/drawing/2014/main" id="{C9123424-55A4-00B2-F9B5-F959DF039A18}"/>
              </a:ext>
            </a:extLst>
          </p:cNvPr>
          <p:cNvPicPr>
            <a:picLocks noChangeAspect="1"/>
          </p:cNvPicPr>
          <p:nvPr/>
        </p:nvPicPr>
        <p:blipFill>
          <a:blip r:embed="rId2"/>
          <a:srcRect t="11578" r="585" b="3034"/>
          <a:stretch>
            <a:fillRect/>
          </a:stretch>
        </p:blipFill>
        <p:spPr>
          <a:xfrm>
            <a:off x="227437" y="1437467"/>
            <a:ext cx="8271670" cy="4588215"/>
          </a:xfrm>
          <a:prstGeom prst="rect">
            <a:avLst/>
          </a:prstGeom>
        </p:spPr>
      </p:pic>
      <p:graphicFrame>
        <p:nvGraphicFramePr>
          <p:cNvPr id="118" name="Table 117">
            <a:extLst>
              <a:ext uri="{FF2B5EF4-FFF2-40B4-BE49-F238E27FC236}">
                <a16:creationId xmlns:a16="http://schemas.microsoft.com/office/drawing/2014/main" id="{E99DDC0A-718E-DC50-EDA8-BBE7771226D9}"/>
              </a:ext>
            </a:extLst>
          </p:cNvPr>
          <p:cNvGraphicFramePr>
            <a:graphicFrameLocks noGrp="1"/>
          </p:cNvGraphicFramePr>
          <p:nvPr>
            <p:extLst>
              <p:ext uri="{D42A27DB-BD31-4B8C-83A1-F6EECF244321}">
                <p14:modId xmlns:p14="http://schemas.microsoft.com/office/powerpoint/2010/main" val="2282411105"/>
              </p:ext>
            </p:extLst>
          </p:nvPr>
        </p:nvGraphicFramePr>
        <p:xfrm>
          <a:off x="8499107" y="2335351"/>
          <a:ext cx="3143618" cy="2957336"/>
        </p:xfrm>
        <a:graphic>
          <a:graphicData uri="http://schemas.openxmlformats.org/drawingml/2006/table">
            <a:tbl>
              <a:tblPr/>
              <a:tblGrid>
                <a:gridCol w="3143618">
                  <a:extLst>
                    <a:ext uri="{9D8B030D-6E8A-4147-A177-3AD203B41FA5}">
                      <a16:colId xmlns:a16="http://schemas.microsoft.com/office/drawing/2014/main" val="3522232389"/>
                    </a:ext>
                  </a:extLst>
                </a:gridCol>
              </a:tblGrid>
              <a:tr h="2080899">
                <a:tc>
                  <a:txBody>
                    <a:bodyPr/>
                    <a:lstStyle/>
                    <a:p>
                      <a:pPr marL="285750" indent="-285750" fontAlgn="t">
                        <a:lnSpc>
                          <a:spcPts val="1500"/>
                        </a:lnSpc>
                        <a:buFont typeface="Arial" panose="020B0604020202020204" pitchFamily="34" charset="0"/>
                        <a:buChar char="•"/>
                      </a:pPr>
                      <a:endParaRPr lang="en-US" b="1" i="0" dirty="0">
                        <a:effectLst/>
                        <a:latin typeface="Segoe UI" panose="020B0502040204020203" pitchFamily="34" charset="0"/>
                      </a:endParaRPr>
                    </a:p>
                    <a:p>
                      <a:pPr marL="285750" indent="-285750" algn="l" fontAlgn="t">
                        <a:lnSpc>
                          <a:spcPts val="1500"/>
                        </a:lnSpc>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AI does the fast work</a:t>
                      </a:r>
                      <a:r>
                        <a:rPr lang="en-US" sz="1600" b="0" i="0" dirty="0">
                          <a:effectLst/>
                          <a:latin typeface="Times New Roman" panose="02020603050405020304" pitchFamily="18" charset="0"/>
                          <a:cs typeface="Times New Roman" panose="02020603050405020304" pitchFamily="18" charset="0"/>
                        </a:rPr>
                        <a:t> - ingesting events, enriching data, spotting anomalies. </a:t>
                      </a:r>
                    </a:p>
                    <a:p>
                      <a:pPr marL="285750" indent="-285750" algn="l" fontAlgn="t">
                        <a:lnSpc>
                          <a:spcPts val="1500"/>
                        </a:lnSpc>
                        <a:buFont typeface="Arial" panose="020B0604020202020204" pitchFamily="34" charset="0"/>
                        <a:buChar char="•"/>
                      </a:pPr>
                      <a:endParaRPr lang="en-US" sz="1600" b="0" i="0" dirty="0">
                        <a:effectLst/>
                        <a:latin typeface="Times New Roman" panose="02020603050405020304" pitchFamily="18" charset="0"/>
                        <a:cs typeface="Times New Roman" panose="02020603050405020304" pitchFamily="18" charset="0"/>
                      </a:endParaRPr>
                    </a:p>
                    <a:p>
                      <a:pPr marL="285750" indent="-285750" algn="l" fontAlgn="t">
                        <a:lnSpc>
                          <a:spcPts val="1500"/>
                        </a:lnSpc>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Humans handle only escalations - </a:t>
                      </a:r>
                      <a:r>
                        <a:rPr lang="en-US" sz="1600" b="0" i="0" dirty="0">
                          <a:effectLst/>
                          <a:latin typeface="Times New Roman" panose="02020603050405020304" pitchFamily="18" charset="0"/>
                          <a:cs typeface="Times New Roman" panose="02020603050405020304" pitchFamily="18" charset="0"/>
                        </a:rPr>
                        <a:t>decisions that need judgment. </a:t>
                      </a:r>
                    </a:p>
                    <a:p>
                      <a:pPr marL="0" indent="0" algn="l" fontAlgn="t">
                        <a:lnSpc>
                          <a:spcPts val="1500"/>
                        </a:lnSpc>
                        <a:buFont typeface="Arial" panose="020B0604020202020204" pitchFamily="34" charset="0"/>
                        <a:buNone/>
                      </a:pPr>
                      <a:endParaRPr lang="en-US" sz="1600" b="0" i="0" dirty="0">
                        <a:effectLst/>
                        <a:latin typeface="Times New Roman" panose="02020603050405020304" pitchFamily="18" charset="0"/>
                        <a:cs typeface="Times New Roman" panose="02020603050405020304" pitchFamily="18" charset="0"/>
                      </a:endParaRPr>
                    </a:p>
                    <a:p>
                      <a:pPr marL="285750" indent="-285750" algn="l" fontAlgn="t">
                        <a:lnSpc>
                          <a:spcPts val="1500"/>
                        </a:lnSpc>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Together they create a smart loop</a:t>
                      </a:r>
                      <a:r>
                        <a:rPr lang="en-US" sz="1600" b="0" i="0" dirty="0">
                          <a:effectLst/>
                          <a:latin typeface="Times New Roman" panose="02020603050405020304" pitchFamily="18" charset="0"/>
                          <a:cs typeface="Times New Roman" panose="02020603050405020304" pitchFamily="18" charset="0"/>
                        </a:rPr>
                        <a:t> - AI speeds execution, humans ensure control.</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186318022"/>
                  </a:ext>
                </a:extLst>
              </a:tr>
              <a:tr h="566561">
                <a:tc>
                  <a:txBody>
                    <a:bodyPr/>
                    <a:lstStyle/>
                    <a:p>
                      <a:endParaRPr lang="en-IN"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2191151968"/>
                  </a:ext>
                </a:extLst>
              </a:tr>
            </a:tbl>
          </a:graphicData>
        </a:graphic>
      </p:graphicFrame>
      <p:sp>
        <p:nvSpPr>
          <p:cNvPr id="120" name="TextBox 119">
            <a:extLst>
              <a:ext uri="{FF2B5EF4-FFF2-40B4-BE49-F238E27FC236}">
                <a16:creationId xmlns:a16="http://schemas.microsoft.com/office/drawing/2014/main" id="{44C0D7B4-445B-63D1-F87F-FBBA6B814B5D}"/>
              </a:ext>
            </a:extLst>
          </p:cNvPr>
          <p:cNvSpPr txBox="1"/>
          <p:nvPr/>
        </p:nvSpPr>
        <p:spPr>
          <a:xfrm>
            <a:off x="4288055" y="889791"/>
            <a:ext cx="6131292" cy="369332"/>
          </a:xfrm>
          <a:prstGeom prst="rect">
            <a:avLst/>
          </a:prstGeom>
          <a:noFill/>
        </p:spPr>
        <p:txBody>
          <a:bodyPr wrap="square">
            <a:spAutoFit/>
          </a:bodyPr>
          <a:lstStyle/>
          <a:p>
            <a:pPr>
              <a:spcBef>
                <a:spcPct val="0"/>
              </a:spcBef>
            </a:pPr>
            <a:r>
              <a:rPr lang="en-US" sz="1800" dirty="0"/>
              <a:t>Intelligent Real-Time Processing using Fabric &amp; Agentic AI</a:t>
            </a:r>
            <a:endParaRPr lang="en-IN" sz="1800" dirty="0"/>
          </a:p>
        </p:txBody>
      </p:sp>
    </p:spTree>
    <p:extLst>
      <p:ext uri="{BB962C8B-B14F-4D97-AF65-F5344CB8AC3E}">
        <p14:creationId xmlns:p14="http://schemas.microsoft.com/office/powerpoint/2010/main" val="2946189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5</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dirty="0"/>
              <a:t>Technical Solution</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11126804" y="2762450"/>
            <a:ext cx="531796" cy="1072349"/>
          </a:xfrm>
          <a:prstGeom prst="rect">
            <a:avLst/>
          </a:prstGeom>
          <a:noFill/>
        </p:spPr>
        <p:txBody>
          <a:bodyPr vert="horz" wrap="square" lIns="90000" tIns="46800" rIns="90000" bIns="46800" rtlCol="0" anchor="t">
            <a:noAutofit/>
          </a:bodyPr>
          <a:lstStyle/>
          <a:p>
            <a:pPr algn="l">
              <a:spcBef>
                <a:spcPct val="0"/>
              </a:spcBef>
            </a:pPr>
            <a:endParaRPr lang="en-US" sz="1400" dirty="0">
              <a:highlight>
                <a:srgbClr val="FFFF00"/>
              </a:highlight>
            </a:endParaRPr>
          </a:p>
        </p:txBody>
      </p:sp>
      <p:sp>
        <p:nvSpPr>
          <p:cNvPr id="9" name="TextBox 8">
            <a:extLst>
              <a:ext uri="{FF2B5EF4-FFF2-40B4-BE49-F238E27FC236}">
                <a16:creationId xmlns:a16="http://schemas.microsoft.com/office/drawing/2014/main" id="{611E0037-7284-0482-22DB-337A7634895B}"/>
              </a:ext>
            </a:extLst>
          </p:cNvPr>
          <p:cNvSpPr txBox="1"/>
          <p:nvPr/>
        </p:nvSpPr>
        <p:spPr>
          <a:xfrm>
            <a:off x="3048802" y="2692742"/>
            <a:ext cx="6097604" cy="646331"/>
          </a:xfrm>
          <a:prstGeom prst="rect">
            <a:avLst/>
          </a:prstGeom>
          <a:noFill/>
        </p:spPr>
        <p:txBody>
          <a:bodyPr wrap="square">
            <a:spAutoFit/>
          </a:bodyPr>
          <a:lstStyle/>
          <a:p>
            <a:pPr>
              <a:buNone/>
            </a:pPr>
            <a:br>
              <a:rPr lang="en-US" dirty="0"/>
            </a:br>
            <a:endParaRPr lang="en-IN" dirty="0"/>
          </a:p>
        </p:txBody>
      </p:sp>
      <p:pic>
        <p:nvPicPr>
          <p:cNvPr id="11" name="Picture 10">
            <a:extLst>
              <a:ext uri="{FF2B5EF4-FFF2-40B4-BE49-F238E27FC236}">
                <a16:creationId xmlns:a16="http://schemas.microsoft.com/office/drawing/2014/main" id="{1FA310F1-CD2F-A212-4C2D-1BE805A01FA6}"/>
              </a:ext>
            </a:extLst>
          </p:cNvPr>
          <p:cNvPicPr>
            <a:picLocks noChangeAspect="1"/>
          </p:cNvPicPr>
          <p:nvPr/>
        </p:nvPicPr>
        <p:blipFill>
          <a:blip r:embed="rId2"/>
          <a:stretch>
            <a:fillRect/>
          </a:stretch>
        </p:blipFill>
        <p:spPr>
          <a:xfrm>
            <a:off x="231006" y="1280160"/>
            <a:ext cx="8811693" cy="4745255"/>
          </a:xfrm>
          <a:prstGeom prst="rect">
            <a:avLst/>
          </a:prstGeom>
        </p:spPr>
      </p:pic>
      <p:graphicFrame>
        <p:nvGraphicFramePr>
          <p:cNvPr id="12" name="Table 11">
            <a:extLst>
              <a:ext uri="{FF2B5EF4-FFF2-40B4-BE49-F238E27FC236}">
                <a16:creationId xmlns:a16="http://schemas.microsoft.com/office/drawing/2014/main" id="{678C0DB4-1B7C-DB17-ECF8-93E1094F6BCF}"/>
              </a:ext>
            </a:extLst>
          </p:cNvPr>
          <p:cNvGraphicFramePr>
            <a:graphicFrameLocks noGrp="1"/>
          </p:cNvGraphicFramePr>
          <p:nvPr>
            <p:extLst>
              <p:ext uri="{D42A27DB-BD31-4B8C-83A1-F6EECF244321}">
                <p14:modId xmlns:p14="http://schemas.microsoft.com/office/powerpoint/2010/main" val="3970642903"/>
              </p:ext>
            </p:extLst>
          </p:nvPr>
        </p:nvGraphicFramePr>
        <p:xfrm>
          <a:off x="9349124" y="2600774"/>
          <a:ext cx="2668459" cy="1605915"/>
        </p:xfrm>
        <a:graphic>
          <a:graphicData uri="http://schemas.openxmlformats.org/drawingml/2006/table">
            <a:tbl>
              <a:tblPr/>
              <a:tblGrid>
                <a:gridCol w="2668459">
                  <a:extLst>
                    <a:ext uri="{9D8B030D-6E8A-4147-A177-3AD203B41FA5}">
                      <a16:colId xmlns:a16="http://schemas.microsoft.com/office/drawing/2014/main" val="62988754"/>
                    </a:ext>
                  </a:extLst>
                </a:gridCol>
              </a:tblGrid>
              <a:tr h="0">
                <a:tc>
                  <a:txBody>
                    <a:bodyPr/>
                    <a:lstStyle/>
                    <a:p>
                      <a:pPr marL="285750" indent="-285750" fontAlgn="t">
                        <a:lnSpc>
                          <a:spcPts val="1500"/>
                        </a:lnSpc>
                        <a:buFont typeface="Arial" panose="020B0604020202020204" pitchFamily="34" charset="0"/>
                        <a:buChar char="•"/>
                      </a:pPr>
                      <a:r>
                        <a:rPr lang="en-IN" sz="1400" b="0" i="0" dirty="0">
                          <a:effectLst/>
                          <a:latin typeface="Segoe UI" panose="020B0502040204020203" pitchFamily="34" charset="0"/>
                        </a:rPr>
                        <a:t>Ms Fabric Event Streams</a:t>
                      </a:r>
                    </a:p>
                    <a:p>
                      <a:pPr marL="285750" indent="-285750" fontAlgn="t">
                        <a:lnSpc>
                          <a:spcPts val="1500"/>
                        </a:lnSpc>
                        <a:buFont typeface="Arial" panose="020B0604020202020204" pitchFamily="34" charset="0"/>
                        <a:buChar char="•"/>
                      </a:pPr>
                      <a:r>
                        <a:rPr lang="en-IN" sz="1400" b="0" i="0" dirty="0">
                          <a:effectLst/>
                          <a:latin typeface="Segoe UI" panose="020B0502040204020203" pitchFamily="34" charset="0"/>
                        </a:rPr>
                        <a:t>Ms Fabric Lakehouse </a:t>
                      </a:r>
                    </a:p>
                    <a:p>
                      <a:pPr marL="285750" indent="-285750" fontAlgn="t">
                        <a:lnSpc>
                          <a:spcPts val="1500"/>
                        </a:lnSpc>
                        <a:buFont typeface="Arial" panose="020B0604020202020204" pitchFamily="34" charset="0"/>
                        <a:buChar char="•"/>
                      </a:pPr>
                      <a:r>
                        <a:rPr lang="en-IN" sz="1400" b="0" i="0" dirty="0">
                          <a:effectLst/>
                          <a:latin typeface="Segoe UI" panose="020B0502040204020203" pitchFamily="34" charset="0"/>
                        </a:rPr>
                        <a:t>Ms Fabric AI Studio </a:t>
                      </a:r>
                    </a:p>
                    <a:p>
                      <a:pPr marL="285750" indent="-285750" fontAlgn="t">
                        <a:lnSpc>
                          <a:spcPts val="1500"/>
                        </a:lnSpc>
                        <a:buFont typeface="Arial" panose="020B0604020202020204" pitchFamily="34" charset="0"/>
                        <a:buChar char="•"/>
                      </a:pPr>
                      <a:r>
                        <a:rPr lang="en-IN" sz="1400" b="0" i="0" dirty="0">
                          <a:effectLst/>
                          <a:latin typeface="Segoe UI" panose="020B0502040204020203" pitchFamily="34" charset="0"/>
                        </a:rPr>
                        <a:t>Open AI service</a:t>
                      </a:r>
                    </a:p>
                    <a:p>
                      <a:pPr marL="285750" indent="-285750" fontAlgn="t">
                        <a:lnSpc>
                          <a:spcPts val="1500"/>
                        </a:lnSpc>
                        <a:buFont typeface="Arial" panose="020B0604020202020204" pitchFamily="34" charset="0"/>
                        <a:buChar char="•"/>
                      </a:pPr>
                      <a:r>
                        <a:rPr lang="en-IN" sz="1400" b="0" i="0" dirty="0">
                          <a:effectLst/>
                          <a:latin typeface="Segoe UI" panose="020B0502040204020203" pitchFamily="34" charset="0"/>
                        </a:rPr>
                        <a:t>Power BI</a:t>
                      </a:r>
                    </a:p>
                    <a:p>
                      <a:pPr marL="285750" indent="-285750" fontAlgn="t">
                        <a:lnSpc>
                          <a:spcPts val="1500"/>
                        </a:lnSpc>
                        <a:buFont typeface="Arial" panose="020B0604020202020204" pitchFamily="34" charset="0"/>
                        <a:buChar char="•"/>
                      </a:pPr>
                      <a:r>
                        <a:rPr lang="en-IN" sz="1400" b="0" i="0" dirty="0">
                          <a:effectLst/>
                          <a:latin typeface="Segoe UI" panose="020B0502040204020203" pitchFamily="34" charset="0"/>
                        </a:rPr>
                        <a:t>Microsoft Purview</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886344965"/>
                  </a:ext>
                </a:extLst>
              </a:tr>
              <a:tr h="0">
                <a:tc>
                  <a:txBody>
                    <a:bodyPr/>
                    <a:lstStyle/>
                    <a:p>
                      <a:endParaRPr lang="en-IN"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686457657"/>
                  </a:ext>
                </a:extLst>
              </a:tr>
            </a:tbl>
          </a:graphicData>
        </a:graphic>
      </p:graphicFrame>
    </p:spTree>
    <p:extLst>
      <p:ext uri="{BB962C8B-B14F-4D97-AF65-F5344CB8AC3E}">
        <p14:creationId xmlns:p14="http://schemas.microsoft.com/office/powerpoint/2010/main" val="3657648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fontAlgn="base"/>
            <a:br>
              <a:rPr lang="en-IN" dirty="0"/>
            </a:br>
            <a:br>
              <a:rPr lang="en-IN" dirty="0"/>
            </a:br>
            <a:r>
              <a:rPr lang="en-IN" dirty="0"/>
              <a:t>  Business Case Proposal</a:t>
            </a:r>
            <a:endParaRPr lang="en-US" dirty="0"/>
          </a:p>
        </p:txBody>
      </p:sp>
      <p:sp>
        <p:nvSpPr>
          <p:cNvPr id="3" name="Rounded Rectangle 2">
            <a:extLst>
              <a:ext uri="{FF2B5EF4-FFF2-40B4-BE49-F238E27FC236}">
                <a16:creationId xmlns:a16="http://schemas.microsoft.com/office/drawing/2014/main" id="{AD302E24-8DBE-2AC7-27B4-80AF96401941}"/>
              </a:ext>
            </a:extLst>
          </p:cNvPr>
          <p:cNvSpPr/>
          <p:nvPr/>
        </p:nvSpPr>
        <p:spPr>
          <a:xfrm>
            <a:off x="2638965" y="1353421"/>
            <a:ext cx="8867235" cy="5189069"/>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134149" y="151647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249030" y="1503521"/>
            <a:ext cx="1663020" cy="263791"/>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024941" y="1930841"/>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3409393" y="1923834"/>
            <a:ext cx="1061807" cy="263791"/>
          </a:xfrm>
          <a:prstGeom prst="rect">
            <a:avLst/>
          </a:prstGeom>
          <a:noFill/>
        </p:spPr>
        <p:txBody>
          <a:bodyPr vert="horz" wrap="none" lIns="90000" tIns="46800" rIns="90000" bIns="46800" rtlCol="0" anchor="ctr">
            <a:spAutoFit/>
          </a:bodyPr>
          <a:lstStyle/>
          <a:p>
            <a:pPr algn="l">
              <a:spcBef>
                <a:spcPct val="0"/>
              </a:spcBef>
            </a:pPr>
            <a:r>
              <a:rPr lang="en-US" sz="1100" dirty="0"/>
              <a:t>Current Costs</a:t>
            </a:r>
          </a:p>
        </p:txBody>
      </p:sp>
      <p:sp>
        <p:nvSpPr>
          <p:cNvPr id="13" name="TextBox 12">
            <a:extLst>
              <a:ext uri="{FF2B5EF4-FFF2-40B4-BE49-F238E27FC236}">
                <a16:creationId xmlns:a16="http://schemas.microsoft.com/office/drawing/2014/main" id="{5372F71A-9E26-9BCA-1983-79414CAC2982}"/>
              </a:ext>
            </a:extLst>
          </p:cNvPr>
          <p:cNvSpPr txBox="1"/>
          <p:nvPr/>
        </p:nvSpPr>
        <p:spPr>
          <a:xfrm>
            <a:off x="3739304" y="2214976"/>
            <a:ext cx="3671984" cy="640918"/>
          </a:xfrm>
          <a:prstGeom prst="rect">
            <a:avLst/>
          </a:prstGeom>
          <a:noFill/>
        </p:spPr>
        <p:txBody>
          <a:bodyPr vert="horz" wrap="square" lIns="90000" tIns="46800" rIns="90000" bIns="46800" rtlCol="0" anchor="t">
            <a:noAutofit/>
          </a:bodyPr>
          <a:lstStyle/>
          <a:p>
            <a:pPr>
              <a:spcBef>
                <a:spcPct val="0"/>
              </a:spcBef>
            </a:pPr>
            <a:endParaRPr lang="en-US" sz="900" b="1" dirty="0"/>
          </a:p>
        </p:txBody>
      </p:sp>
      <p:sp>
        <p:nvSpPr>
          <p:cNvPr id="14" name="Rounded Rectangle 13">
            <a:extLst>
              <a:ext uri="{FF2B5EF4-FFF2-40B4-BE49-F238E27FC236}">
                <a16:creationId xmlns:a16="http://schemas.microsoft.com/office/drawing/2014/main" id="{7F309A65-3997-B8CD-81BD-84E1763E9A83}"/>
              </a:ext>
            </a:extLst>
          </p:cNvPr>
          <p:cNvSpPr/>
          <p:nvPr/>
        </p:nvSpPr>
        <p:spPr>
          <a:xfrm>
            <a:off x="7306476" y="1930841"/>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7665904" y="1902864"/>
            <a:ext cx="1178826" cy="263791"/>
          </a:xfrm>
          <a:prstGeom prst="rect">
            <a:avLst/>
          </a:prstGeom>
          <a:noFill/>
        </p:spPr>
        <p:txBody>
          <a:bodyPr vert="horz" wrap="none" lIns="90000" tIns="46800" rIns="90000" bIns="46800" rtlCol="0" anchor="ctr">
            <a:spAutoFit/>
          </a:bodyPr>
          <a:lstStyle/>
          <a:p>
            <a:pPr algn="l">
              <a:spcBef>
                <a:spcPct val="0"/>
              </a:spcBef>
            </a:pPr>
            <a:r>
              <a:rPr lang="en-US" sz="1100" dirty="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124832" y="1850387"/>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pPr marL="171450" indent="-171450">
              <a:spcBef>
                <a:spcPct val="0"/>
              </a:spcBef>
              <a:buFont typeface="Wingdings" panose="05000000000000000000" pitchFamily="2" charset="2"/>
              <a:buChar char="§"/>
            </a:pPr>
            <a:endParaRPr lang="en-US" sz="1000" dirty="0"/>
          </a:p>
        </p:txBody>
      </p:sp>
      <p:sp>
        <p:nvSpPr>
          <p:cNvPr id="38" name="Rounded Rectangle 37">
            <a:extLst>
              <a:ext uri="{FF2B5EF4-FFF2-40B4-BE49-F238E27FC236}">
                <a16:creationId xmlns:a16="http://schemas.microsoft.com/office/drawing/2014/main" id="{9D54CA7C-223C-1D2C-B8AA-225D3FB0FAC9}"/>
              </a:ext>
            </a:extLst>
          </p:cNvPr>
          <p:cNvSpPr/>
          <p:nvPr/>
        </p:nvSpPr>
        <p:spPr>
          <a:xfrm>
            <a:off x="3056355" y="3199880"/>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 </a:t>
            </a:r>
          </a:p>
        </p:txBody>
      </p:sp>
      <p:sp>
        <p:nvSpPr>
          <p:cNvPr id="39" name="TextBox 38">
            <a:extLst>
              <a:ext uri="{FF2B5EF4-FFF2-40B4-BE49-F238E27FC236}">
                <a16:creationId xmlns:a16="http://schemas.microsoft.com/office/drawing/2014/main" id="{95DA12D6-43D2-57B2-2D8D-125EDF566114}"/>
              </a:ext>
            </a:extLst>
          </p:cNvPr>
          <p:cNvSpPr txBox="1"/>
          <p:nvPr/>
        </p:nvSpPr>
        <p:spPr>
          <a:xfrm>
            <a:off x="3549636" y="3199880"/>
            <a:ext cx="856623" cy="263791"/>
          </a:xfrm>
          <a:prstGeom prst="rect">
            <a:avLst/>
          </a:prstGeom>
          <a:noFill/>
        </p:spPr>
        <p:txBody>
          <a:bodyPr vert="horz" wrap="none" lIns="90000" tIns="46800" rIns="90000" bIns="46800" rtlCol="0" anchor="ctr">
            <a:spAutoFit/>
          </a:bodyPr>
          <a:lstStyle/>
          <a:p>
            <a:pPr algn="l">
              <a:spcBef>
                <a:spcPct val="0"/>
              </a:spcBef>
            </a:pPr>
            <a:r>
              <a:rPr lang="en-US" sz="1100" dirty="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384962" y="3199879"/>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7815783" y="3208247"/>
            <a:ext cx="973641" cy="263791"/>
          </a:xfrm>
          <a:prstGeom prst="rect">
            <a:avLst/>
          </a:prstGeom>
          <a:noFill/>
        </p:spPr>
        <p:txBody>
          <a:bodyPr vert="horz" wrap="none" lIns="90000" tIns="46800" rIns="90000" bIns="46800" rtlCol="0" anchor="ctr">
            <a:spAutoFit/>
          </a:bodyPr>
          <a:lstStyle/>
          <a:p>
            <a:pPr algn="l">
              <a:spcBef>
                <a:spcPct val="0"/>
              </a:spcBef>
            </a:pPr>
            <a:r>
              <a:rPr lang="en-US" sz="1100" dirty="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261469" y="3677347"/>
            <a:ext cx="3124324" cy="759247"/>
          </a:xfrm>
          <a:prstGeom prst="rect">
            <a:avLst/>
          </a:prstGeom>
          <a:noFill/>
        </p:spPr>
        <p:txBody>
          <a:bodyPr vert="horz" wrap="square" lIns="90000" tIns="46800" rIns="90000" bIns="46800" rtlCol="0" anchor="t">
            <a:noAutofit/>
          </a:bodyPr>
          <a:lstStyle/>
          <a:p>
            <a:pPr>
              <a:spcBef>
                <a:spcPct val="0"/>
              </a:spcBef>
            </a:pPr>
            <a:endParaRPr lang="en-US" sz="900" dirty="0"/>
          </a:p>
        </p:txBody>
      </p:sp>
      <p:sp>
        <p:nvSpPr>
          <p:cNvPr id="50" name="TextBox 49">
            <a:extLst>
              <a:ext uri="{FF2B5EF4-FFF2-40B4-BE49-F238E27FC236}">
                <a16:creationId xmlns:a16="http://schemas.microsoft.com/office/drawing/2014/main" id="{60B391CE-B096-0695-F075-4735456DC2EF}"/>
              </a:ext>
            </a:extLst>
          </p:cNvPr>
          <p:cNvSpPr txBox="1"/>
          <p:nvPr/>
        </p:nvSpPr>
        <p:spPr>
          <a:xfrm>
            <a:off x="7760674" y="2313881"/>
            <a:ext cx="2703483" cy="600753"/>
          </a:xfrm>
          <a:prstGeom prst="rect">
            <a:avLst/>
          </a:prstGeom>
          <a:noFill/>
        </p:spPr>
        <p:txBody>
          <a:bodyPr vert="horz" wrap="square" lIns="90000" tIns="46800" rIns="90000" bIns="46800" rtlCol="0" anchor="t">
            <a:noAutofit/>
          </a:bodyPr>
          <a:lstStyle/>
          <a:p>
            <a:pPr marL="171450" indent="-171450">
              <a:spcBef>
                <a:spcPct val="0"/>
              </a:spcBef>
              <a:buFont typeface="Arial" panose="020B0604020202020204" pitchFamily="34" charset="0"/>
              <a:buChar char="•"/>
            </a:pPr>
            <a:endParaRPr lang="en-US" sz="900" dirty="0"/>
          </a:p>
        </p:txBody>
      </p:sp>
      <p:sp>
        <p:nvSpPr>
          <p:cNvPr id="53" name="TextBox 52">
            <a:extLst>
              <a:ext uri="{FF2B5EF4-FFF2-40B4-BE49-F238E27FC236}">
                <a16:creationId xmlns:a16="http://schemas.microsoft.com/office/drawing/2014/main" id="{9A210A51-6CD0-F11A-79BE-CEC3C2CA53B3}"/>
              </a:ext>
            </a:extLst>
          </p:cNvPr>
          <p:cNvSpPr txBox="1"/>
          <p:nvPr/>
        </p:nvSpPr>
        <p:spPr>
          <a:xfrm>
            <a:off x="15338541" y="8157116"/>
            <a:ext cx="3071979" cy="1081521"/>
          </a:xfrm>
          <a:prstGeom prst="rect">
            <a:avLst/>
          </a:prstGeom>
          <a:noFill/>
        </p:spPr>
        <p:txBody>
          <a:bodyPr vert="horz" wrap="square" lIns="90000" tIns="46800" rIns="90000" bIns="46800" rtlCol="0" anchor="t">
            <a:noAutofit/>
          </a:bodyPr>
          <a:lstStyle/>
          <a:p>
            <a:pPr marL="171450" indent="-171450">
              <a:spcBef>
                <a:spcPct val="0"/>
              </a:spcBef>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094801" y="5181751"/>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CFB23A47-A256-40B8-3FBA-DED90F0D155F}"/>
              </a:ext>
            </a:extLst>
          </p:cNvPr>
          <p:cNvSpPr/>
          <p:nvPr/>
        </p:nvSpPr>
        <p:spPr>
          <a:xfrm>
            <a:off x="119074" y="1289756"/>
            <a:ext cx="1731994" cy="1844322"/>
          </a:xfrm>
          <a:prstGeom prst="ellipse">
            <a:avLst/>
          </a:prstGeom>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12" name="Oval 11">
            <a:extLst>
              <a:ext uri="{FF2B5EF4-FFF2-40B4-BE49-F238E27FC236}">
                <a16:creationId xmlns:a16="http://schemas.microsoft.com/office/drawing/2014/main" id="{7F4293BB-5402-1336-E613-C8B632CCEF5D}"/>
              </a:ext>
            </a:extLst>
          </p:cNvPr>
          <p:cNvSpPr/>
          <p:nvPr/>
        </p:nvSpPr>
        <p:spPr>
          <a:xfrm>
            <a:off x="826317" y="1244664"/>
            <a:ext cx="1793337" cy="1957519"/>
          </a:xfrm>
          <a:prstGeom prst="ellipse">
            <a:avLst/>
          </a:prstGeom>
          <a:solidFill>
            <a:schemeClr val="accent2">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ln>
                <a:solidFill>
                  <a:schemeClr val="tx2">
                    <a:lumMod val="60000"/>
                    <a:lumOff val="40000"/>
                  </a:schemeClr>
                </a:solidFill>
              </a:ln>
              <a:solidFill>
                <a:schemeClr val="tx1"/>
              </a:solidFill>
            </a:endParaRPr>
          </a:p>
        </p:txBody>
      </p:sp>
      <p:sp>
        <p:nvSpPr>
          <p:cNvPr id="8" name="TextBox 7">
            <a:extLst>
              <a:ext uri="{FF2B5EF4-FFF2-40B4-BE49-F238E27FC236}">
                <a16:creationId xmlns:a16="http://schemas.microsoft.com/office/drawing/2014/main" id="{ED3569BE-012C-E75F-39B7-6B3600FCF634}"/>
              </a:ext>
            </a:extLst>
          </p:cNvPr>
          <p:cNvSpPr txBox="1"/>
          <p:nvPr/>
        </p:nvSpPr>
        <p:spPr>
          <a:xfrm>
            <a:off x="311823" y="1685737"/>
            <a:ext cx="2040858" cy="1200329"/>
          </a:xfrm>
          <a:prstGeom prst="rect">
            <a:avLst/>
          </a:prstGeom>
          <a:noFill/>
        </p:spPr>
        <p:txBody>
          <a:bodyPr wrap="square">
            <a:spAutoFit/>
          </a:bodyPr>
          <a:lstStyle/>
          <a:p>
            <a:pPr>
              <a:spcBef>
                <a:spcPct val="0"/>
              </a:spcBef>
            </a:pPr>
            <a:r>
              <a:rPr lang="en-US" sz="1800" dirty="0"/>
              <a:t>Intelligent Real-Time Processing using Fabric &amp; Agentic AI</a:t>
            </a:r>
            <a:endParaRPr lang="en-IN" sz="1800" dirty="0"/>
          </a:p>
        </p:txBody>
      </p:sp>
      <p:sp>
        <p:nvSpPr>
          <p:cNvPr id="18" name="Rectangle 2">
            <a:extLst>
              <a:ext uri="{FF2B5EF4-FFF2-40B4-BE49-F238E27FC236}">
                <a16:creationId xmlns:a16="http://schemas.microsoft.com/office/drawing/2014/main" id="{9612884E-7BD0-FC4B-4279-98C7BFF984BC}"/>
              </a:ext>
            </a:extLst>
          </p:cNvPr>
          <p:cNvSpPr>
            <a:spLocks noChangeArrowheads="1"/>
          </p:cNvSpPr>
          <p:nvPr/>
        </p:nvSpPr>
        <p:spPr bwMode="auto">
          <a:xfrm>
            <a:off x="3177697" y="1970394"/>
            <a:ext cx="365884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Heavy operational workload due to manual data handling and delayed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dependency on engineering teams for message parsing, validation, and routing.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Slow insight generation due to scattered systems and non‑real‑time data pipelines</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0FCC830-1650-DBA6-D5E0-E9536A972EF8}"/>
              </a:ext>
            </a:extLst>
          </p:cNvPr>
          <p:cNvSpPr>
            <a:spLocks noChangeArrowheads="1"/>
          </p:cNvSpPr>
          <p:nvPr/>
        </p:nvSpPr>
        <p:spPr bwMode="auto">
          <a:xfrm>
            <a:off x="3177697" y="3546783"/>
            <a:ext cx="352692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900" dirty="0">
                <a:latin typeface="Times New Roman" panose="02020603050405020304" pitchFamily="18" charset="0"/>
                <a:cs typeface="Times New Roman" panose="02020603050405020304" pitchFamily="18" charset="0"/>
              </a:rPr>
              <a:t>  Initial model development &amp; AI agent setup: </a:t>
            </a:r>
            <a:r>
              <a:rPr lang="en-US" altLang="en-US" sz="900" b="1" dirty="0">
                <a:latin typeface="Times New Roman" panose="02020603050405020304" pitchFamily="18" charset="0"/>
                <a:cs typeface="Times New Roman" panose="02020603050405020304" pitchFamily="18" charset="0"/>
              </a:rPr>
              <a:t>₹8–10 Lakhs</a:t>
            </a:r>
            <a:r>
              <a:rPr lang="en-US" altLang="en-US" sz="900"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r>
              <a:rPr lang="en-US" altLang="en-US" sz="900" dirty="0">
                <a:latin typeface="Times New Roman" panose="02020603050405020304" pitchFamily="18" charset="0"/>
                <a:cs typeface="Times New Roman" panose="02020603050405020304" pitchFamily="18" charset="0"/>
              </a:rPr>
              <a:t>  Fabric infrastructure &amp; Event Streams deployment: </a:t>
            </a:r>
            <a:r>
              <a:rPr lang="en-US" altLang="en-US" sz="900" b="1" dirty="0">
                <a:latin typeface="Times New Roman" panose="02020603050405020304" pitchFamily="18" charset="0"/>
                <a:cs typeface="Times New Roman" panose="02020603050405020304" pitchFamily="18" charset="0"/>
              </a:rPr>
              <a:t>₹5–7 Lakhs/year</a:t>
            </a:r>
            <a:r>
              <a:rPr lang="en-US" altLang="en-US" sz="900"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r>
              <a:rPr lang="en-US" altLang="en-US" sz="900" dirty="0">
                <a:latin typeface="Times New Roman" panose="02020603050405020304" pitchFamily="18" charset="0"/>
                <a:cs typeface="Times New Roman" panose="02020603050405020304" pitchFamily="18" charset="0"/>
              </a:rPr>
              <a:t>  Maintenance &amp; updates: </a:t>
            </a:r>
            <a:r>
              <a:rPr lang="en-US" altLang="en-US" sz="900" b="1" dirty="0">
                <a:latin typeface="Times New Roman" panose="02020603050405020304" pitchFamily="18" charset="0"/>
                <a:cs typeface="Times New Roman" panose="02020603050405020304" pitchFamily="18" charset="0"/>
              </a:rPr>
              <a:t>₹3–5 Lakhs/year</a:t>
            </a:r>
            <a:r>
              <a:rPr lang="en-US" altLang="en-US" sz="900"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endParaRPr lang="en-US" altLang="en-US" sz="9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900" b="1" dirty="0">
                <a:latin typeface="Times New Roman" panose="02020603050405020304" pitchFamily="18" charset="0"/>
                <a:cs typeface="Times New Roman" panose="02020603050405020304" pitchFamily="18" charset="0"/>
              </a:rPr>
              <a:t>                                  BREAK EVEN:</a:t>
            </a:r>
          </a:p>
          <a:p>
            <a:pPr lvl="0" eaLnBrk="0" fontAlgn="base" hangingPunct="0">
              <a:spcBef>
                <a:spcPct val="0"/>
              </a:spcBef>
              <a:spcAft>
                <a:spcPct val="0"/>
              </a:spcAft>
            </a:pPr>
            <a:endParaRPr lang="en-US" altLang="en-US" sz="900"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900" dirty="0">
                <a:latin typeface="Times New Roman" panose="02020603050405020304" pitchFamily="18" charset="0"/>
                <a:cs typeface="Times New Roman" panose="02020603050405020304" pitchFamily="18" charset="0"/>
              </a:rPr>
              <a:t> Time to recover implementation cost: </a:t>
            </a:r>
            <a:r>
              <a:rPr lang="en-US" altLang="en-US" sz="900" b="1" dirty="0">
                <a:latin typeface="Times New Roman" panose="02020603050405020304" pitchFamily="18" charset="0"/>
                <a:cs typeface="Times New Roman" panose="02020603050405020304" pitchFamily="18" charset="0"/>
              </a:rPr>
              <a:t>8–12 months</a:t>
            </a:r>
            <a:r>
              <a:rPr lang="en-US" altLang="en-US" sz="900" dirty="0">
                <a:latin typeface="Times New Roman" panose="02020603050405020304" pitchFamily="18" charset="0"/>
                <a:cs typeface="Times New Roman" panose="02020603050405020304" pitchFamily="18" charset="0"/>
              </a:rPr>
              <a:t>, driven by</a:t>
            </a:r>
          </a:p>
          <a:p>
            <a:pPr lvl="0" eaLnBrk="0" fontAlgn="base" hangingPunct="0">
              <a:spcBef>
                <a:spcPct val="0"/>
              </a:spcBef>
              <a:spcAft>
                <a:spcPct val="0"/>
              </a:spcAft>
              <a:buFontTx/>
              <a:buChar char="•"/>
            </a:pPr>
            <a:r>
              <a:rPr lang="en-US" altLang="en-US" sz="900" dirty="0">
                <a:latin typeface="Times New Roman" panose="02020603050405020304" pitchFamily="18" charset="0"/>
                <a:cs typeface="Times New Roman" panose="02020603050405020304" pitchFamily="18" charset="0"/>
              </a:rPr>
              <a:t>Reduced engineering effort.</a:t>
            </a:r>
          </a:p>
          <a:p>
            <a:pPr lvl="0" eaLnBrk="0" fontAlgn="base" hangingPunct="0">
              <a:spcBef>
                <a:spcPct val="0"/>
              </a:spcBef>
              <a:spcAft>
                <a:spcPct val="0"/>
              </a:spcAft>
              <a:buFontTx/>
              <a:buChar char="•"/>
            </a:pPr>
            <a:r>
              <a:rPr lang="en-US" altLang="en-US" sz="900" dirty="0">
                <a:latin typeface="Times New Roman" panose="02020603050405020304" pitchFamily="18" charset="0"/>
                <a:cs typeface="Times New Roman" panose="02020603050405020304" pitchFamily="18" charset="0"/>
              </a:rPr>
              <a:t>Faster automated data workflows</a:t>
            </a: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0" name="Rectangle 4">
            <a:extLst>
              <a:ext uri="{FF2B5EF4-FFF2-40B4-BE49-F238E27FC236}">
                <a16:creationId xmlns:a16="http://schemas.microsoft.com/office/drawing/2014/main" id="{42AE737A-DEC1-A106-1973-A5D4A33CEE46}"/>
              </a:ext>
            </a:extLst>
          </p:cNvPr>
          <p:cNvSpPr>
            <a:spLocks noChangeArrowheads="1"/>
          </p:cNvSpPr>
          <p:nvPr/>
        </p:nvSpPr>
        <p:spPr bwMode="auto">
          <a:xfrm>
            <a:off x="7384962" y="2133988"/>
            <a:ext cx="374173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Revenue impacted due to slow data-driven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Limited visibility into real-time anomalies leading to missed opportunities.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Estimated annual revenue: </a:t>
            </a: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 Crores</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1" name="Rectangle 5">
            <a:extLst>
              <a:ext uri="{FF2B5EF4-FFF2-40B4-BE49-F238E27FC236}">
                <a16:creationId xmlns:a16="http://schemas.microsoft.com/office/drawing/2014/main" id="{1BC7FFF7-8B99-9804-646B-A719B8F1112B}"/>
              </a:ext>
            </a:extLst>
          </p:cNvPr>
          <p:cNvSpPr>
            <a:spLocks noChangeArrowheads="1"/>
          </p:cNvSpPr>
          <p:nvPr/>
        </p:nvSpPr>
        <p:spPr bwMode="auto">
          <a:xfrm>
            <a:off x="7441896" y="3523670"/>
            <a:ext cx="3419526"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Higher throughput from automated real-time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Improved decision-making from instant AI-enriched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Expected annual revenue increase: </a:t>
            </a: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+10–20% (₹20–40 Lakhs/year)</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BREAK EVEN: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 to recover via additional revenue: </a:t>
            </a: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6–10 months</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driven by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Higher real-time intelligence.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Faster operational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2" name="Rectangle 6">
            <a:extLst>
              <a:ext uri="{FF2B5EF4-FFF2-40B4-BE49-F238E27FC236}">
                <a16:creationId xmlns:a16="http://schemas.microsoft.com/office/drawing/2014/main" id="{F33A6FD9-0EBD-11E1-AB9E-061D7EC0E46A}"/>
              </a:ext>
            </a:extLst>
          </p:cNvPr>
          <p:cNvSpPr>
            <a:spLocks noChangeArrowheads="1"/>
          </p:cNvSpPr>
          <p:nvPr/>
        </p:nvSpPr>
        <p:spPr bwMode="auto">
          <a:xfrm>
            <a:off x="3167818" y="5160610"/>
            <a:ext cx="4301177"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Benefits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BREAK EVEN:</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ROI achieved within </a:t>
            </a: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6–12 months</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+15–25% increase in operational efficiency</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thanks to AI agents.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Lower engineering and manual processing costs</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Higher analytics quality</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leading to better business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 improvement</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enabled through automated enrichment + human oversight.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607314-ACC5-4290-88D8-7E35E9460CB6}">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186</TotalTime>
  <Words>783</Words>
  <Application>Microsoft Office PowerPoint</Application>
  <PresentationFormat>Widescreen</PresentationFormat>
  <Paragraphs>148</Paragraphs>
  <Slides>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Aptos</vt:lpstr>
      <vt:lpstr>Arial</vt:lpstr>
      <vt:lpstr>Segoe UI</vt:lpstr>
      <vt:lpstr>System Font Regular</vt:lpstr>
      <vt:lpstr>Times New Roman</vt:lpstr>
      <vt:lpstr>Ubuntu</vt:lpstr>
      <vt:lpstr>Ubuntu Light</vt:lpstr>
      <vt:lpstr>Ubuntu Medium</vt:lpstr>
      <vt:lpstr>Wingdings</vt:lpstr>
      <vt:lpstr>Capgemini_Bright_2025</vt:lpstr>
      <vt:lpstr>PowerPoint Presentation</vt:lpstr>
      <vt:lpstr>Use Case Scope in the Business Process</vt:lpstr>
      <vt:lpstr>End to End Real Time Intelligence Flow </vt:lpstr>
      <vt:lpstr>Functional Solution + AI-Human Chemistry</vt:lpstr>
      <vt:lpstr>Technical Solution</vt:lpstr>
      <vt:lpstr>    Business Case Proposal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Sarika, Sunuguri</cp:lastModifiedBy>
  <cp:revision>3</cp:revision>
  <dcterms:created xsi:type="dcterms:W3CDTF">2026-02-09T11:16:54Z</dcterms:created>
  <dcterms:modified xsi:type="dcterms:W3CDTF">2026-04-03T10:46:49Z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