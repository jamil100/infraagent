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51.xml" ContentType="application/vnd.openxmlformats-officedocument.presentationml.slideLayou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2" r:id="rId3"/>
    <p:sldId id="2563" r:id="rId4"/>
    <p:sldId id="2564" r:id="rId5"/>
    <p:sldId id="2565" r:id="rId6"/>
    <p:sldId id="2566" r:id="rId7"/>
    <p:sldId id="2567" r:id="rId8"/>
    <p:sldId id="2572" r:id="rId9"/>
    <p:sldId id="2568" r:id="rId10"/>
    <p:sldId id="2569" r:id="rId11"/>
    <p:sldId id="2571" r:id="rId12"/>
    <p:sldId id="25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Driven Portfolio Intelligence Agent for Private Banking" id="{EA228885-71E6-439C-BC6E-9549370F9288}">
          <p14:sldIdLst>
            <p14:sldId id="2561"/>
          </p14:sldIdLst>
        </p14:section>
        <p14:section name="Problem Context and Use Case Definition" id="{D014296D-5B3F-47FC-B811-81EF3DFA71E3}">
          <p14:sldIdLst>
            <p14:sldId id="2562"/>
            <p14:sldId id="2563"/>
            <p14:sldId id="2564"/>
          </p14:sldIdLst>
        </p14:section>
        <p14:section name="Solution Architecture and Agent Design" id="{333DF251-AA2C-4DEE-9779-E77BFDD4A227}">
          <p14:sldIdLst>
            <p14:sldId id="2565"/>
            <p14:sldId id="2566"/>
            <p14:sldId id="2567"/>
            <p14:sldId id="2572"/>
          </p14:sldIdLst>
        </p14:section>
        <p14:section name="Business Value and Financial Justification" id="{1D4B589D-047F-4C1C-95AC-4E3CEE8697D8}">
          <p14:sldIdLst>
            <p14:sldId id="2568"/>
            <p14:sldId id="2569"/>
            <p14:sldId id="2571"/>
            <p14:sldId id="25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717EA5-B197-4485-2CDF-9E5ECD81748D}" v="188" dt="2026-04-02T15:46:50.789"/>
    <p1510:client id="{3FC4A24C-7A75-492C-A051-287935D04F90}" v="47" dt="2026-04-02T11:45:56.462"/>
    <p1510:client id="{522D8838-7BCA-3B24-1013-1986C18925EF}" v="170" dt="2026-04-02T09:36:46.859"/>
    <p1510:client id="{7FCC1AE4-8C4D-0092-8AA8-AD74BEC5DFC8}" v="565" dt="2026-04-02T09:50:58.247"/>
    <p1510:client id="{AC29C927-2033-45B2-A48A-E20BA9BB133F}" v="137" dt="2026-04-03T04:22:53.485"/>
    <p1510:client id="{B5DA422E-24BB-4568-6979-8CB313857DF3}" v="8" dt="2026-04-02T10:29:40.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FB3389-C3C2-4093-8273-2BB72D45FED5}" type="datetimeFigureOut">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06730-FE2A-48C4-A5B4-4EA6AC6B3B37}" type="slidenum">
              <a:t>‹#›</a:t>
            </a:fld>
            <a:endParaRPr lang="en-US"/>
          </a:p>
        </p:txBody>
      </p:sp>
    </p:spTree>
    <p:extLst>
      <p:ext uri="{BB962C8B-B14F-4D97-AF65-F5344CB8AC3E}">
        <p14:creationId xmlns:p14="http://schemas.microsoft.com/office/powerpoint/2010/main" val="3315076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B55C033-4FCD-49EA-A443-8993DA27CF8B}" type="slidenum">
              <a:t>1</a:t>
            </a:fld>
            <a:endParaRPr lang="en-US"/>
          </a:p>
        </p:txBody>
      </p:sp>
    </p:spTree>
    <p:extLst>
      <p:ext uri="{BB962C8B-B14F-4D97-AF65-F5344CB8AC3E}">
        <p14:creationId xmlns:p14="http://schemas.microsoft.com/office/powerpoint/2010/main" val="381631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Operational Challenges in Pre‑Review Portfolio Analysis, AI‑Driven Portfolio Intelligence Agent Use Case Overview</a:t>
            </a:r>
          </a:p>
        </p:txBody>
      </p:sp>
      <p:sp>
        <p:nvSpPr>
          <p:cNvPr id="4" name="Slide Number Placeholder 3"/>
          <p:cNvSpPr>
            <a:spLocks noGrp="1"/>
          </p:cNvSpPr>
          <p:nvPr>
            <p:ph type="sldNum" sz="quarter" idx="5"/>
          </p:nvPr>
        </p:nvSpPr>
        <p:spPr/>
        <p:txBody>
          <a:bodyPr/>
          <a:lstStyle/>
          <a:p>
            <a:fld id="{BB55C033-4FCD-49EA-A443-8993DA27CF8B}" type="slidenum">
              <a:t>2</a:t>
            </a:fld>
            <a:endParaRPr lang="en-US"/>
          </a:p>
        </p:txBody>
      </p:sp>
    </p:spTree>
    <p:extLst>
      <p:ext uri="{BB962C8B-B14F-4D97-AF65-F5344CB8AC3E}">
        <p14:creationId xmlns:p14="http://schemas.microsoft.com/office/powerpoint/2010/main" val="3042092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Private banking institutions face a persistent operational challenge during the pre‑review phase of portfolio management, where analysts and junior bankers must manually gather, validate, and consolidate data before a client review. Empirical industry studies show that between 40 and 60 percent of an analyst’s working time is consumed by low‑value administrative tasks such as copying data from PDFs, reconciling figures across spreadsheets, validating inconsistent reports from multiple custodians, and normalizing currency or timestamp mismatches. This inefficiency is amplified for high‑net‑worth and ultra‑high‑net‑worth clients who intentionally distribute assets across multiple banks, trusts, and corporate entities. Each entity uses different data taxonomies, reporting frequencies, and formats, making manual consolidation error‑prone and slow. The reliance on unstructured documents, such as quarterly letters, trust agreements, and investment reports, further compounds the problem, as extracting usable data from PDFs requires significant manual effort. These structural inefficiencies create downstream business risks, including inaccurate performance reporting, delayed client reviews, compliance exposure, and reduced ability for relationship managers to focus on strategic advisory conversations. Instead of generating insights or identifying new investment opportunities, highly trained professionals are trapped in repetitive data preparation cycles. As private banking margins tighten and client expectations increase for real‑time, personalized insights, this manual operating model becomes unsustainable. Addressing this problem requires more than incremental automation; it demands a fundamental shift toward agentic AI systems that can autonomously gather, validate, and synthesize portfolio data across structured and unstructured sources while maintaining enterprise‑grade security and governance.</a:t>
            </a:r>
          </a:p>
        </p:txBody>
      </p:sp>
      <p:sp>
        <p:nvSpPr>
          <p:cNvPr id="4" name="Slide Number Placeholder 3"/>
          <p:cNvSpPr>
            <a:spLocks noGrp="1"/>
          </p:cNvSpPr>
          <p:nvPr>
            <p:ph type="sldNum" sz="quarter" idx="5"/>
          </p:nvPr>
        </p:nvSpPr>
        <p:spPr/>
        <p:txBody>
          <a:bodyPr/>
          <a:lstStyle/>
          <a:p>
            <a:fld id="{BB55C033-4FCD-49EA-A443-8993DA27CF8B}" type="slidenum">
              <a:t>3</a:t>
            </a:fld>
            <a:endParaRPr lang="en-US"/>
          </a:p>
        </p:txBody>
      </p:sp>
    </p:spTree>
    <p:extLst>
      <p:ext uri="{BB962C8B-B14F-4D97-AF65-F5344CB8AC3E}">
        <p14:creationId xmlns:p14="http://schemas.microsoft.com/office/powerpoint/2010/main" val="1818814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AI‑Driven Portfolio Intelligence Agent is designed to transform the pre‑review data gathering stage of private banking into a fully automated, insight‑driven process. The core use case focuses on autonomously consolidating multi‑entity portfolio data, extracting information from unstructured documents, retrieving real‑time benchmark data, computing performance attribution, and generating a strategic narrative ready for relationship managers. When an RM submits a natural‑language request, such as preparing a quarterly portfolio review for a complex client structure, the system decomposes the task into specialized subtasks handled by dedicated AI agents. These agents retrieve internal holdings and transaction data, parse PDFs containing historical context, fetch external market benchmarks, and compute Brinson‑Fachler performance attribution. The final output is not just a numerical report but a coherent, client‑ready narrative explaining portfolio performance, allocation decisions, and forward‑looking insights. The primary stakeholders include relationship managers, portfolio analysts, compliance teams, and private banking clients. Key performance indicators impacted by this use case include a projected 60 percent reduction in manual data preparation time, a 40 to 50 percent improvement in analyst productivity, a significant reduction in human error, and faster client review cycles. By shifting analysts from administrative work to value‑generating activities, the solution directly supports revenue growth, client satisfaction, and scalable advisory coverage.</a:t>
            </a:r>
          </a:p>
        </p:txBody>
      </p:sp>
      <p:sp>
        <p:nvSpPr>
          <p:cNvPr id="4" name="Slide Number Placeholder 3"/>
          <p:cNvSpPr>
            <a:spLocks noGrp="1"/>
          </p:cNvSpPr>
          <p:nvPr>
            <p:ph type="sldNum" sz="quarter" idx="5"/>
          </p:nvPr>
        </p:nvSpPr>
        <p:spPr/>
        <p:txBody>
          <a:bodyPr/>
          <a:lstStyle/>
          <a:p>
            <a:fld id="{BB55C033-4FCD-49EA-A443-8993DA27CF8B}" type="slidenum">
              <a:t>4</a:t>
            </a:fld>
            <a:endParaRPr lang="en-US"/>
          </a:p>
        </p:txBody>
      </p:sp>
    </p:spTree>
    <p:extLst>
      <p:ext uri="{BB962C8B-B14F-4D97-AF65-F5344CB8AC3E}">
        <p14:creationId xmlns:p14="http://schemas.microsoft.com/office/powerpoint/2010/main" val="4240663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Functional Architecture and AI‑Human Collaboration Model, Technical Architecture Using Microsoft AI and Data Platforms</a:t>
            </a:r>
          </a:p>
        </p:txBody>
      </p:sp>
      <p:sp>
        <p:nvSpPr>
          <p:cNvPr id="4" name="Slide Number Placeholder 3"/>
          <p:cNvSpPr>
            <a:spLocks noGrp="1"/>
          </p:cNvSpPr>
          <p:nvPr>
            <p:ph type="sldNum" sz="quarter" idx="5"/>
          </p:nvPr>
        </p:nvSpPr>
        <p:spPr/>
        <p:txBody>
          <a:bodyPr/>
          <a:lstStyle/>
          <a:p>
            <a:fld id="{BB55C033-4FCD-49EA-A443-8993DA27CF8B}" type="slidenum">
              <a:t>5</a:t>
            </a:fld>
            <a:endParaRPr lang="en-US"/>
          </a:p>
        </p:txBody>
      </p:sp>
    </p:spTree>
    <p:extLst>
      <p:ext uri="{BB962C8B-B14F-4D97-AF65-F5344CB8AC3E}">
        <p14:creationId xmlns:p14="http://schemas.microsoft.com/office/powerpoint/2010/main" val="3210618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functional architecture of the Portfolio Intelligence Agent is built on a multi‑agent orchestration paradigm that mirrors how human analyst teams collaborate on complex financial tasks. At the center is an Orchestrator Agent that acts as a cognitive router, analyzing the RM’s request, decomposing it into subtasks, and coordinating execution across specialized agents. The SQL Data Agent securely retrieves structured holdings and transaction data from internal databases using text‑to‑SQL techniques grounded in metadata. The Document Intelligence Agent processes unstructured PDFs, extracting tables, key‑value pairs, and contextual commentary. The Market API Agent interfaces with external financial data providers to retrieve benchmark returns and index weights required for attribution modeling. A Narrative Generation Agent synthesizes all outputs into a structured strategic story suitable for client conversations. Human involvement is intentionally preserved at critical decision points: relationship managers review insights, apply judgment, and conduct client discussions, while AI handles repetitive, data‑intensive tasks. This AI‑human chemistry ensures trust, transparency, and regulatory alignment. The design improves speed and accuracy while maintaining human accountability where it matters most, enabling advisors to focus on strategic value rather than operational friction.</a:t>
            </a:r>
          </a:p>
        </p:txBody>
      </p:sp>
      <p:sp>
        <p:nvSpPr>
          <p:cNvPr id="4" name="Slide Number Placeholder 3"/>
          <p:cNvSpPr>
            <a:spLocks noGrp="1"/>
          </p:cNvSpPr>
          <p:nvPr>
            <p:ph type="sldNum" sz="quarter" idx="5"/>
          </p:nvPr>
        </p:nvSpPr>
        <p:spPr/>
        <p:txBody>
          <a:bodyPr/>
          <a:lstStyle/>
          <a:p>
            <a:fld id="{BB55C033-4FCD-49EA-A443-8993DA27CF8B}" type="slidenum">
              <a:t>6</a:t>
            </a:fld>
            <a:endParaRPr lang="en-US"/>
          </a:p>
        </p:txBody>
      </p:sp>
    </p:spTree>
    <p:extLst>
      <p:ext uri="{BB962C8B-B14F-4D97-AF65-F5344CB8AC3E}">
        <p14:creationId xmlns:p14="http://schemas.microsoft.com/office/powerpoint/2010/main" val="2328668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technical architecture leverages Microsoft’s enterprise AI ecosystem to deliver scalability, security, and governance. Azure AI Foundry provides the core environment for building and orchestrating multi‑agent workflows using the Microsoft Agent Framework. Structured data is stored and queried in Azure SQL Database, enhanced with vector search to support semantic entity matching across complex ownership structures. Azure AI Document Intelligence enables high‑precision extraction of data from unstructured PDFs, while Azure AI Search with Agentic Retrieval supports advanced semantic queries across enterprise knowledge. External market data is accessed through the Model Context Protocol, ensuring secure and standardized API interactions. Microsoft Entra ID workload identities and Azure Role‑Based Access Control enforce least‑privilege access, while Azure Key Vault manages secrets and credentials. Network isolation is achieved through Azure Virtual Networks and Private Link, and Microsoft Purview Data Loss Prevention provides runtime governance over AI inputs and outputs. Together, these components create a secure, compliant, and production‑ready architecture capable of supporting real‑time portfolio intelligence in highly regulated private banking environments.</a:t>
            </a:r>
          </a:p>
        </p:txBody>
      </p:sp>
      <p:sp>
        <p:nvSpPr>
          <p:cNvPr id="4" name="Slide Number Placeholder 3"/>
          <p:cNvSpPr>
            <a:spLocks noGrp="1"/>
          </p:cNvSpPr>
          <p:nvPr>
            <p:ph type="sldNum" sz="quarter" idx="5"/>
          </p:nvPr>
        </p:nvSpPr>
        <p:spPr/>
        <p:txBody>
          <a:bodyPr/>
          <a:lstStyle/>
          <a:p>
            <a:fld id="{BB55C033-4FCD-49EA-A443-8993DA27CF8B}" type="slidenum">
              <a:t>7</a:t>
            </a:fld>
            <a:endParaRPr lang="en-US"/>
          </a:p>
        </p:txBody>
      </p:sp>
    </p:spTree>
    <p:extLst>
      <p:ext uri="{BB962C8B-B14F-4D97-AF65-F5344CB8AC3E}">
        <p14:creationId xmlns:p14="http://schemas.microsoft.com/office/powerpoint/2010/main" val="4068008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9876-7E11-1AB1-EBDB-2B9783BAA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1AF61-CEF7-B620-8C04-CA100084B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76D46-EC74-984A-9483-700C38B43BE0}"/>
              </a:ext>
            </a:extLst>
          </p:cNvPr>
          <p:cNvSpPr>
            <a:spLocks noGrp="1"/>
          </p:cNvSpPr>
          <p:nvPr>
            <p:ph type="body" idx="1"/>
          </p:nvPr>
        </p:nvSpPr>
        <p:spPr/>
        <p:txBody>
          <a:bodyPr/>
          <a:lstStyle/>
          <a:p>
            <a:r>
              <a:rPr lang="en-US"/>
              <a:t>
The technical architecture leverages Microsoft’s enterprise AI ecosystem to deliver scalability, security, and governance. Azure AI Foundry provides the core environment for building and orchestrating multi‑agent workflows using the Microsoft Agent Framework. Structured data is stored and queried in Azure SQL Database, enhanced with vector search to support semantic entity matching across complex ownership structures. Azure AI Document Intelligence enables high‑precision extraction of data from unstructured PDFs, while Azure AI Search with Agentic Retrieval supports advanced semantic queries across enterprise knowledge. External market data is accessed through the Model Context Protocol, ensuring secure and standardized API interactions. Microsoft Entra ID workload identities and Azure Role‑Based Access Control enforce least‑privilege access, while Azure Key Vault manages secrets and credentials. Network isolation is achieved through Azure Virtual Networks and Private Link, and Microsoft Purview Data Loss Prevention provides runtime governance over AI inputs and outputs. Together, these components create a secure, compliant, and production‑ready architecture capable of supporting real‑time portfolio intelligence in highly regulated private banking environments.</a:t>
            </a:r>
          </a:p>
        </p:txBody>
      </p:sp>
      <p:sp>
        <p:nvSpPr>
          <p:cNvPr id="4" name="Slide Number Placeholder 3">
            <a:extLst>
              <a:ext uri="{FF2B5EF4-FFF2-40B4-BE49-F238E27FC236}">
                <a16:creationId xmlns:a16="http://schemas.microsoft.com/office/drawing/2014/main" id="{899E11A1-5F75-E45C-4AB3-77079242D179}"/>
              </a:ext>
            </a:extLst>
          </p:cNvPr>
          <p:cNvSpPr>
            <a:spLocks noGrp="1"/>
          </p:cNvSpPr>
          <p:nvPr>
            <p:ph type="sldNum" sz="quarter" idx="5"/>
          </p:nvPr>
        </p:nvSpPr>
        <p:spPr/>
        <p:txBody>
          <a:bodyPr/>
          <a:lstStyle/>
          <a:p>
            <a:fld id="{BB55C033-4FCD-49EA-A443-8993DA27CF8B}" type="slidenum">
              <a:t>8</a:t>
            </a:fld>
            <a:endParaRPr lang="en-US"/>
          </a:p>
        </p:txBody>
      </p:sp>
    </p:spTree>
    <p:extLst>
      <p:ext uri="{BB962C8B-B14F-4D97-AF65-F5344CB8AC3E}">
        <p14:creationId xmlns:p14="http://schemas.microsoft.com/office/powerpoint/2010/main" val="466303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Operational and Strategic Business Impact, Business Case, Cost Structure, and Break‑Even Analysis</a:t>
            </a:r>
          </a:p>
        </p:txBody>
      </p:sp>
      <p:sp>
        <p:nvSpPr>
          <p:cNvPr id="4" name="Slide Number Placeholder 3"/>
          <p:cNvSpPr>
            <a:spLocks noGrp="1"/>
          </p:cNvSpPr>
          <p:nvPr>
            <p:ph type="sldNum" sz="quarter" idx="5"/>
          </p:nvPr>
        </p:nvSpPr>
        <p:spPr/>
        <p:txBody>
          <a:bodyPr/>
          <a:lstStyle/>
          <a:p>
            <a:fld id="{BB55C033-4FCD-49EA-A443-8993DA27CF8B}" type="slidenum">
              <a:t>9</a:t>
            </a:fld>
            <a:endParaRPr lang="en-US"/>
          </a:p>
        </p:txBody>
      </p:sp>
    </p:spTree>
    <p:extLst>
      <p:ext uri="{BB962C8B-B14F-4D97-AF65-F5344CB8AC3E}">
        <p14:creationId xmlns:p14="http://schemas.microsoft.com/office/powerpoint/2010/main" val="3457695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operational impact of deploying the Portfolio Intelligence Agent is immediate and measurable. By automating data gathering, validation, and attribution, analysts reclaim significant time previously lost to manual processes. This reclaimed capacity allows teams to handle more complex client portfolios without proportional increases in headcount. Error rates are reduced through deterministic data retrieval and calculation, improving compliance confidence and auditability. Strategically, relationship managers gain faster access to high‑quality insights, enabling more timely and personalized client interactions. The solution enhances the quality of advisory conversations by shifting focus from historical data explanation to forward‑looking strategy and opportunity identification. Improved turnaround times and consistency strengthen client trust and satisfaction, which are critical differentiators in private banking. Over time, the organization benefits from higher RM coverage ratios, better utilization of skilled talent, and a scalable operating model capable of supporting growth without escalating operational costs.</a:t>
            </a:r>
          </a:p>
        </p:txBody>
      </p:sp>
      <p:sp>
        <p:nvSpPr>
          <p:cNvPr id="4" name="Slide Number Placeholder 3"/>
          <p:cNvSpPr>
            <a:spLocks noGrp="1"/>
          </p:cNvSpPr>
          <p:nvPr>
            <p:ph type="sldNum" sz="quarter" idx="5"/>
          </p:nvPr>
        </p:nvSpPr>
        <p:spPr/>
        <p:txBody>
          <a:bodyPr/>
          <a:lstStyle/>
          <a:p>
            <a:fld id="{BB55C033-4FCD-49EA-A443-8993DA27CF8B}" type="slidenum">
              <a:t>10</a:t>
            </a:fld>
            <a:endParaRPr lang="en-US"/>
          </a:p>
        </p:txBody>
      </p:sp>
    </p:spTree>
    <p:extLst>
      <p:ext uri="{BB962C8B-B14F-4D97-AF65-F5344CB8AC3E}">
        <p14:creationId xmlns:p14="http://schemas.microsoft.com/office/powerpoint/2010/main" val="156173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4B06730-FE2A-48C4-A5B4-4EA6AC6B3B37}" type="slidenum">
              <a:rPr lang="en-IN" smtClean="0"/>
              <a:t>11</a:t>
            </a:fld>
            <a:endParaRPr lang="en-IN"/>
          </a:p>
        </p:txBody>
      </p:sp>
    </p:spTree>
    <p:extLst>
      <p:ext uri="{BB962C8B-B14F-4D97-AF65-F5344CB8AC3E}">
        <p14:creationId xmlns:p14="http://schemas.microsoft.com/office/powerpoint/2010/main" val="310455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business case for the Portfolio Intelligence Agent demonstrates strong financial viability. Initial costs include Azure AI Foundry setup and configuration, agent development, and supporting infrastructure, estimated in the range of ₹20–30 lakhs for the first year, including maintenance. Ongoing annual costs are primarily related to cloud infrastructure and incremental enhancements. These investments are offset by substantial savings from reduced analyst workload, lower error remediation costs, and improved operational efficiency. Additionally, increased client throughput and faster review cycles contribute to revenue uplift through higher retention and expanded advisory capacity. Based on conservative assumptions, the solution is expected to reach break‑even within 8 to 12 months. Beyond break‑even, the scalable nature of the architecture allows incremental value generation with marginal cost increases, making the solution ROI‑positive and strategically aligned with long‑term digital transformation goals in private banking.</a:t>
            </a:r>
          </a:p>
        </p:txBody>
      </p:sp>
      <p:sp>
        <p:nvSpPr>
          <p:cNvPr id="4" name="Slide Number Placeholder 3"/>
          <p:cNvSpPr>
            <a:spLocks noGrp="1"/>
          </p:cNvSpPr>
          <p:nvPr>
            <p:ph type="sldNum" sz="quarter" idx="5"/>
          </p:nvPr>
        </p:nvSpPr>
        <p:spPr/>
        <p:txBody>
          <a:bodyPr/>
          <a:lstStyle/>
          <a:p>
            <a:fld id="{BB55C033-4FCD-49EA-A443-8993DA27CF8B}" type="slidenum">
              <a:t>12</a:t>
            </a:fld>
            <a:endParaRPr lang="en-US"/>
          </a:p>
        </p:txBody>
      </p:sp>
    </p:spTree>
    <p:extLst>
      <p:ext uri="{BB962C8B-B14F-4D97-AF65-F5344CB8AC3E}">
        <p14:creationId xmlns:p14="http://schemas.microsoft.com/office/powerpoint/2010/main" val="750417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2">
            <a:lumMod val="90000"/>
          </a:schemeClr>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E57259E-EB49-83B2-A198-68B73458BDEB}"/>
              </a:ext>
            </a:extLst>
          </p:cNvPr>
          <p:cNvSpPr>
            <a:spLocks noGrp="1"/>
          </p:cNvSpPr>
          <p:nvPr>
            <p:ph type="ctrTitle"/>
          </p:nvPr>
        </p:nvSpPr>
        <p:spPr>
          <a:xfrm>
            <a:off x="7716623" y="1411358"/>
            <a:ext cx="3736010" cy="2845567"/>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20" name="Subtitle 2">
            <a:extLst>
              <a:ext uri="{FF2B5EF4-FFF2-40B4-BE49-F238E27FC236}">
                <a16:creationId xmlns:a16="http://schemas.microsoft.com/office/drawing/2014/main" id="{A132AEC4-FCF7-2D11-D3D9-B11462CDCF92}"/>
              </a:ext>
            </a:extLst>
          </p:cNvPr>
          <p:cNvSpPr>
            <a:spLocks noGrp="1"/>
          </p:cNvSpPr>
          <p:nvPr>
            <p:ph type="subTitle" idx="1"/>
          </p:nvPr>
        </p:nvSpPr>
        <p:spPr>
          <a:xfrm>
            <a:off x="7716621" y="4403039"/>
            <a:ext cx="3729915" cy="1123122"/>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74" y="2231727"/>
            <a:ext cx="4564362" cy="429208"/>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9" y="5261154"/>
            <a:ext cx="1494490" cy="429205"/>
          </a:xfrm>
        </p:spPr>
        <p:txBody>
          <a:bodyPr/>
          <a:lstStyle>
            <a:lvl1pPr>
              <a:defRPr>
                <a:solidFill>
                  <a:schemeClr val="tx1"/>
                </a:solidFill>
                <a:effectLst/>
              </a:defRPr>
            </a:lvl1pPr>
          </a:lstStyle>
          <a:p>
            <a:fld id="{49B045A2-93A3-0245-952F-F70516988491}" type="datetime1">
              <a:rPr lang="en-US" smtClean="0"/>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8" name="Picture Placeholder 13">
            <a:extLst>
              <a:ext uri="{FF2B5EF4-FFF2-40B4-BE49-F238E27FC236}">
                <a16:creationId xmlns:a16="http://schemas.microsoft.com/office/drawing/2014/main" id="{2D414E7B-9F49-92EB-7F2B-395CE70FEEBA}"/>
              </a:ext>
            </a:extLst>
          </p:cNvPr>
          <p:cNvSpPr>
            <a:spLocks noGrp="1"/>
          </p:cNvSpPr>
          <p:nvPr>
            <p:ph type="pic" sz="quarter" idx="15" hasCustomPrompt="1"/>
          </p:nvPr>
        </p:nvSpPr>
        <p:spPr>
          <a:xfrm>
            <a:off x="597728" y="-6350"/>
            <a:ext cx="6656839" cy="6873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A0C85949-E7A7-1597-9B25-6E4771C4834E}"/>
              </a:ext>
            </a:extLst>
          </p:cNvPr>
          <p:cNvCxnSpPr>
            <a:cxnSpLocks/>
          </p:cNvCxnSpPr>
          <p:nvPr userDrawn="1"/>
        </p:nvCxnSpPr>
        <p:spPr>
          <a:xfrm>
            <a:off x="7424272" y="164150"/>
            <a:ext cx="4767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ECB499A-44C1-4187-68C2-C06DFDB39E97}"/>
              </a:ext>
            </a:extLst>
          </p:cNvPr>
          <p:cNvCxnSpPr>
            <a:cxnSpLocks/>
          </p:cNvCxnSpPr>
          <p:nvPr userDrawn="1"/>
        </p:nvCxnSpPr>
        <p:spPr>
          <a:xfrm>
            <a:off x="74242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39F2815-A85D-9B68-7DDE-FE83662DD97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33664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34991"/>
            <a:ext cx="11323505" cy="75565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53ED406-9BBB-8243-8F57-F2904DFCFBBC}"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6" y="1572050"/>
            <a:ext cx="11323505" cy="4920463"/>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602808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43799" y="634990"/>
            <a:ext cx="4244009" cy="4227952"/>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43799" y="5189329"/>
            <a:ext cx="3741886" cy="1033669"/>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85" y="2231733"/>
            <a:ext cx="4564375" cy="42920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8" y="5261161"/>
            <a:ext cx="1494477" cy="429202"/>
          </a:xfrm>
        </p:spPr>
        <p:txBody>
          <a:bodyPr/>
          <a:lstStyle>
            <a:lvl1pPr>
              <a:defRPr>
                <a:solidFill>
                  <a:schemeClr val="tx1"/>
                </a:solidFill>
                <a:effectLst/>
              </a:defRPr>
            </a:lvl1pPr>
          </a:lstStyle>
          <a:p>
            <a:fld id="{6B7F706A-D109-3944-B52B-877BA50BC7DE}" type="datetime1">
              <a:rPr lang="en-US" smtClean="0"/>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5" name="Picture Placeholder 13">
            <a:extLst>
              <a:ext uri="{FF2B5EF4-FFF2-40B4-BE49-F238E27FC236}">
                <a16:creationId xmlns:a16="http://schemas.microsoft.com/office/drawing/2014/main" id="{453992B1-FB53-5896-E556-2208A45F982B}"/>
              </a:ext>
            </a:extLst>
          </p:cNvPr>
          <p:cNvSpPr>
            <a:spLocks noGrp="1"/>
          </p:cNvSpPr>
          <p:nvPr>
            <p:ph type="pic" sz="quarter" idx="14" hasCustomPrompt="1"/>
          </p:nvPr>
        </p:nvSpPr>
        <p:spPr>
          <a:xfrm>
            <a:off x="597728" y="0"/>
            <a:ext cx="648892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b="1">
                <a:effectLst/>
              </a:rPr>
              <a:t> </a:t>
            </a:r>
            <a:endParaRPr lang="en-US"/>
          </a:p>
        </p:txBody>
      </p:sp>
      <p:cxnSp>
        <p:nvCxnSpPr>
          <p:cNvPr id="8" name="Straight Connector 7">
            <a:extLst>
              <a:ext uri="{FF2B5EF4-FFF2-40B4-BE49-F238E27FC236}">
                <a16:creationId xmlns:a16="http://schemas.microsoft.com/office/drawing/2014/main" id="{39A94CD3-3183-0F04-2405-7D52239F28A0}"/>
              </a:ext>
            </a:extLst>
          </p:cNvPr>
          <p:cNvCxnSpPr>
            <a:cxnSpLocks/>
          </p:cNvCxnSpPr>
          <p:nvPr userDrawn="1"/>
        </p:nvCxnSpPr>
        <p:spPr>
          <a:xfrm>
            <a:off x="7254575" y="164150"/>
            <a:ext cx="4937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2D7818A-B409-D3C7-1DEC-7919EC439E8E}"/>
              </a:ext>
            </a:extLst>
          </p:cNvPr>
          <p:cNvCxnSpPr>
            <a:cxnSpLocks/>
          </p:cNvCxnSpPr>
          <p:nvPr userDrawn="1"/>
        </p:nvCxnSpPr>
        <p:spPr>
          <a:xfrm>
            <a:off x="725457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C8901F-66EF-1A3E-9AE7-B0A426C81DF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3511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8AEEAA7-1FB1-66FD-6698-0A692D3A2B96}"/>
              </a:ext>
            </a:extLst>
          </p:cNvPr>
          <p:cNvSpPr>
            <a:spLocks noGrp="1"/>
          </p:cNvSpPr>
          <p:nvPr>
            <p:ph type="title"/>
          </p:nvPr>
        </p:nvSpPr>
        <p:spPr>
          <a:xfrm>
            <a:off x="598327" y="5096040"/>
            <a:ext cx="10963656" cy="755659"/>
          </a:xfrm>
        </p:spPr>
        <p:txBody>
          <a:bodyPr anchor="b"/>
          <a:lstStyle/>
          <a:p>
            <a:r>
              <a:rPr lang="en-US"/>
              <a:t>Click to edit Master title style</a:t>
            </a:r>
          </a:p>
        </p:txBody>
      </p:sp>
      <p:sp>
        <p:nvSpPr>
          <p:cNvPr id="12" name="Subtitle 2">
            <a:extLst>
              <a:ext uri="{FF2B5EF4-FFF2-40B4-BE49-F238E27FC236}">
                <a16:creationId xmlns:a16="http://schemas.microsoft.com/office/drawing/2014/main" id="{F12A78E0-F03D-DA65-CE03-3BF1B174A306}"/>
              </a:ext>
            </a:extLst>
          </p:cNvPr>
          <p:cNvSpPr>
            <a:spLocks noGrp="1"/>
          </p:cNvSpPr>
          <p:nvPr>
            <p:ph type="subTitle" idx="1"/>
          </p:nvPr>
        </p:nvSpPr>
        <p:spPr>
          <a:xfrm>
            <a:off x="598328" y="5971305"/>
            <a:ext cx="10963656" cy="521208"/>
          </a:xfrm>
          <a:prstGeom prst="rect">
            <a:avLst/>
          </a:prstGeom>
        </p:spPr>
        <p:txBody>
          <a:bodyPr vert="horz" lIns="91440" tIns="45720" rIns="91440" bIns="45720" rtlCol="0" anchor="t">
            <a:normAutofit/>
          </a:bodyPr>
          <a:lstStyle>
            <a:lvl1pPr marL="0" indent="0">
              <a:buNone/>
              <a:defRPr lang="en-US" sz="140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943BE1-14A2-AD48-96B1-88BA0DE8B86C}" type="datetime1">
              <a:rPr lang="en-US" smtClean="0"/>
              <a:t>4/3/2026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98327" y="0"/>
            <a:ext cx="11593671" cy="4723939"/>
          </a:xfrm>
          <a:prstGeom prst="rect">
            <a:avLst/>
          </a:prstGeom>
          <a:blipFill dpi="0" rotWithShape="1">
            <a:blip r:embed="rId2">
              <a:alphaModFix amt="60000"/>
            </a:blip>
            <a:srcRect/>
            <a:stretch>
              <a:fillRect/>
            </a:stretch>
          </a:blipFill>
        </p:spPr>
        <p:txBody>
          <a:bodyPr/>
          <a:lstStyle>
            <a:lvl1pPr marL="0" indent="0">
              <a:buNone/>
              <a:defRPr/>
            </a:lvl1pPr>
          </a:lstStyle>
          <a:p>
            <a:r>
              <a:rPr lang="en-US" b="1">
                <a:effectLst/>
              </a:rPr>
              <a:t> </a:t>
            </a:r>
            <a:endParaRPr lang="en-US"/>
          </a:p>
        </p:txBody>
      </p:sp>
    </p:spTree>
    <p:extLst>
      <p:ext uri="{BB962C8B-B14F-4D97-AF65-F5344CB8AC3E}">
        <p14:creationId xmlns:p14="http://schemas.microsoft.com/office/powerpoint/2010/main" val="11819173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bg2">
            <a:lumMod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812441-B03B-71E2-9A2F-F3AF112B2CB1}"/>
              </a:ext>
            </a:extLst>
          </p:cNvPr>
          <p:cNvSpPr>
            <a:spLocks noGrp="1"/>
          </p:cNvSpPr>
          <p:nvPr>
            <p:ph type="ctrTitle"/>
          </p:nvPr>
        </p:nvSpPr>
        <p:spPr>
          <a:xfrm>
            <a:off x="612648" y="1373807"/>
            <a:ext cx="3892269" cy="3331896"/>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6" name="Subtitle 2">
            <a:extLst>
              <a:ext uri="{FF2B5EF4-FFF2-40B4-BE49-F238E27FC236}">
                <a16:creationId xmlns:a16="http://schemas.microsoft.com/office/drawing/2014/main" id="{61F41BB3-E8DA-23DD-7C7E-6AEEA88BD674}"/>
              </a:ext>
            </a:extLst>
          </p:cNvPr>
          <p:cNvSpPr>
            <a:spLocks noGrp="1"/>
          </p:cNvSpPr>
          <p:nvPr>
            <p:ph type="subTitle" idx="1"/>
          </p:nvPr>
        </p:nvSpPr>
        <p:spPr>
          <a:xfrm>
            <a:off x="612649" y="4811646"/>
            <a:ext cx="3174160" cy="1411356"/>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cxnSp>
        <p:nvCxnSpPr>
          <p:cNvPr id="5" name="Straight Connector 4">
            <a:extLst>
              <a:ext uri="{FF2B5EF4-FFF2-40B4-BE49-F238E27FC236}">
                <a16:creationId xmlns:a16="http://schemas.microsoft.com/office/drawing/2014/main" id="{61F22791-F1DC-82EE-574A-946C4F39A8F5}"/>
              </a:ext>
            </a:extLst>
          </p:cNvPr>
          <p:cNvCxnSpPr>
            <a:cxnSpLocks/>
          </p:cNvCxnSpPr>
          <p:nvPr userDrawn="1"/>
        </p:nvCxnSpPr>
        <p:spPr>
          <a:xfrm>
            <a:off x="429209" y="164150"/>
            <a:ext cx="450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a:lstStyle/>
          <a:p>
            <a:fld id="{D6DB9EC1-C4C2-B548-AAAE-47A4C38F1382}" type="datetime1">
              <a:rPr lang="en-US" smtClean="0"/>
              <a:t>4/3/2026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a:lstStyle/>
          <a:p>
            <a:fld id="{CC057153-B650-4DEB-B370-79DDCFDCE934}" type="slidenum">
              <a:rPr lang="en-US" smtClean="0"/>
              <a:t>‹#›</a:t>
            </a:fld>
            <a:endParaRPr lang="en-US"/>
          </a:p>
        </p:txBody>
      </p:sp>
      <p:sp>
        <p:nvSpPr>
          <p:cNvPr id="13" name="Picture Placeholder 10">
            <a:extLst>
              <a:ext uri="{FF2B5EF4-FFF2-40B4-BE49-F238E27FC236}">
                <a16:creationId xmlns:a16="http://schemas.microsoft.com/office/drawing/2014/main" id="{8E488C3A-0D21-4B03-AE9F-2575D71F1BE5}"/>
              </a:ext>
            </a:extLst>
          </p:cNvPr>
          <p:cNvSpPr>
            <a:spLocks noGrp="1"/>
          </p:cNvSpPr>
          <p:nvPr>
            <p:ph type="pic" sz="quarter" idx="13" hasCustomPrompt="1"/>
          </p:nvPr>
        </p:nvSpPr>
        <p:spPr>
          <a:xfrm>
            <a:off x="5111574" y="0"/>
            <a:ext cx="7080426"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EDC9DC64-28F1-DE35-BA93-42BE9EDD8B26}"/>
              </a:ext>
            </a:extLst>
          </p:cNvPr>
          <p:cNvCxnSpPr>
            <a:cxnSpLocks/>
          </p:cNvCxnSpPr>
          <p:nvPr userDrawn="1"/>
        </p:nvCxnSpPr>
        <p:spPr>
          <a:xfrm>
            <a:off x="493405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19945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BFAA997-E292-EBAB-2E9D-3845D76D6263}"/>
              </a:ext>
            </a:extLst>
          </p:cNvPr>
          <p:cNvSpPr>
            <a:spLocks noGrp="1"/>
          </p:cNvSpPr>
          <p:nvPr>
            <p:ph type="ctrTitle"/>
          </p:nvPr>
        </p:nvSpPr>
        <p:spPr>
          <a:xfrm>
            <a:off x="612648" y="353804"/>
            <a:ext cx="9598152" cy="4099340"/>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12" name="Subtitle 2">
            <a:extLst>
              <a:ext uri="{FF2B5EF4-FFF2-40B4-BE49-F238E27FC236}">
                <a16:creationId xmlns:a16="http://schemas.microsoft.com/office/drawing/2014/main" id="{2CE2F65D-E74D-73DE-8713-5AD69E7CEEB1}"/>
              </a:ext>
            </a:extLst>
          </p:cNvPr>
          <p:cNvSpPr>
            <a:spLocks noGrp="1"/>
          </p:cNvSpPr>
          <p:nvPr>
            <p:ph type="subTitle" idx="1"/>
          </p:nvPr>
        </p:nvSpPr>
        <p:spPr>
          <a:xfrm>
            <a:off x="612646" y="5588006"/>
            <a:ext cx="7769354" cy="634991"/>
          </a:xfrm>
          <a:prstGeom prst="rect">
            <a:avLst/>
          </a:prstGeo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cxnSp>
        <p:nvCxnSpPr>
          <p:cNvPr id="8" name="Straight Connector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E98C5E6-9287-6A44-A9ED-68C630E53090}" type="datetime1">
              <a:rPr lang="en-US" smtClean="0"/>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8615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2">
            <a:lumMod val="9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3784593-B08F-6412-D575-67F684C5A929}"/>
              </a:ext>
            </a:extLst>
          </p:cNvPr>
          <p:cNvSpPr>
            <a:spLocks noGrp="1"/>
          </p:cNvSpPr>
          <p:nvPr>
            <p:ph type="ctrTitle"/>
          </p:nvPr>
        </p:nvSpPr>
        <p:spPr>
          <a:xfrm>
            <a:off x="598578" y="2018460"/>
            <a:ext cx="9140954" cy="3236439"/>
          </a:xfrm>
        </p:spPr>
        <p:txBody>
          <a:bodyPr vert="horz" lIns="91440" tIns="45720" rIns="91440" bIns="45720" rtlCol="0" anchor="b">
            <a:noAutofit/>
          </a:bodyPr>
          <a:lstStyle>
            <a:lvl1pPr>
              <a:defRPr lang="en-US" sz="6000" dirty="0"/>
            </a:lvl1pPr>
          </a:lstStyle>
          <a:p>
            <a:pPr lvl="0"/>
            <a:r>
              <a:rPr lang="en-US"/>
              <a:t>Click to edit Master title style</a:t>
            </a:r>
          </a:p>
        </p:txBody>
      </p:sp>
      <p:sp>
        <p:nvSpPr>
          <p:cNvPr id="10" name="Subtitle 2">
            <a:extLst>
              <a:ext uri="{FF2B5EF4-FFF2-40B4-BE49-F238E27FC236}">
                <a16:creationId xmlns:a16="http://schemas.microsoft.com/office/drawing/2014/main" id="{4192A629-1C7A-908C-99B6-E95B0C98017A}"/>
              </a:ext>
            </a:extLst>
          </p:cNvPr>
          <p:cNvSpPr>
            <a:spLocks noGrp="1"/>
          </p:cNvSpPr>
          <p:nvPr>
            <p:ph type="subTitle" idx="1"/>
          </p:nvPr>
        </p:nvSpPr>
        <p:spPr>
          <a:xfrm>
            <a:off x="598579" y="5477529"/>
            <a:ext cx="7312153" cy="1014984"/>
          </a:xfrm>
          <a:prstGeom prst="rect">
            <a:avLst/>
          </a:prstGeo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cxnSp>
        <p:nvCxnSpPr>
          <p:cNvPr id="9" name="Straight Connector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AF22403-57C6-1844-A1CE-EC8B0C9F71DA}" type="datetime1">
              <a:rPr lang="en-US" smtClean="0"/>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9040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10FCED8-73AC-58D6-B68F-AAFD305C6675}"/>
              </a:ext>
            </a:extLst>
          </p:cNvPr>
          <p:cNvSpPr>
            <a:spLocks noGrp="1"/>
          </p:cNvSpPr>
          <p:nvPr>
            <p:ph type="ctrTitle"/>
          </p:nvPr>
        </p:nvSpPr>
        <p:spPr>
          <a:xfrm>
            <a:off x="1981200" y="1560442"/>
            <a:ext cx="8229600" cy="2379013"/>
          </a:xfrm>
        </p:spPr>
        <p:txBody>
          <a:bodyPr anchor="b">
            <a:normAutofit/>
          </a:bodyPr>
          <a:lstStyle>
            <a:lvl1pPr algn="ctr">
              <a:defRPr sz="6000"/>
            </a:lvl1pPr>
          </a:lstStyle>
          <a:p>
            <a:r>
              <a:rPr lang="en-US"/>
              <a:t>Click to edit Master title style</a:t>
            </a:r>
          </a:p>
        </p:txBody>
      </p:sp>
      <p:sp>
        <p:nvSpPr>
          <p:cNvPr id="10" name="Subtitle 2">
            <a:extLst>
              <a:ext uri="{FF2B5EF4-FFF2-40B4-BE49-F238E27FC236}">
                <a16:creationId xmlns:a16="http://schemas.microsoft.com/office/drawing/2014/main" id="{D983008E-F782-B9DD-6537-0B9EAE9279E9}"/>
              </a:ext>
            </a:extLst>
          </p:cNvPr>
          <p:cNvSpPr>
            <a:spLocks noGrp="1"/>
          </p:cNvSpPr>
          <p:nvPr>
            <p:ph type="subTitle" idx="1"/>
          </p:nvPr>
        </p:nvSpPr>
        <p:spPr>
          <a:xfrm>
            <a:off x="2301923" y="4039648"/>
            <a:ext cx="7588155" cy="1029310"/>
          </a:xfrm>
          <a:prstGeom prst="rect">
            <a:avLst/>
          </a:prstGeo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Straight Connector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EF67CE4-B6BA-0C48-874C-4DFD10A9B4AF}" type="datetime1">
              <a:rPr lang="en-US" smtClean="0"/>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3666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355388B-2964-6FA6-1B0D-6858F19DB09C}"/>
              </a:ext>
            </a:extLst>
          </p:cNvPr>
          <p:cNvSpPr>
            <a:spLocks noGrp="1"/>
          </p:cNvSpPr>
          <p:nvPr>
            <p:ph type="ctrTitle" hasCustomPrompt="1"/>
          </p:nvPr>
        </p:nvSpPr>
        <p:spPr>
          <a:xfrm>
            <a:off x="612648" y="1001713"/>
            <a:ext cx="7909560" cy="5477510"/>
          </a:xfrm>
        </p:spPr>
        <p:txBody>
          <a:bodyPr vert="horz" lIns="91440" tIns="45720" rIns="91440" bIns="45720" rtlCol="0" anchor="b">
            <a:normAutofit/>
          </a:bodyPr>
          <a:lstStyle>
            <a:lvl1pPr>
              <a:defRPr lang="en-US" sz="6000" dirty="0">
                <a:solidFill>
                  <a:schemeClr val="bg1"/>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E0ED0FC-24F7-C844-8E98-AE6A55D9AF57}" type="datetime1">
              <a:rPr lang="en-US" smtClean="0"/>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4085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55A84E-CDD9-01F9-8DA0-BCAED7E43D04}"/>
              </a:ext>
            </a:extLst>
          </p:cNvPr>
          <p:cNvSpPr>
            <a:spLocks noGrp="1"/>
          </p:cNvSpPr>
          <p:nvPr>
            <p:ph type="title" hasCustomPrompt="1"/>
          </p:nvPr>
        </p:nvSpPr>
        <p:spPr>
          <a:xfrm>
            <a:off x="609599" y="634988"/>
            <a:ext cx="4754563" cy="5568895"/>
          </a:xfrm>
        </p:spPr>
        <p:txBody>
          <a:bodyPr anchor="ctr">
            <a:normAutofit/>
          </a:bodyPr>
          <a:lstStyle>
            <a:lvl1pPr algn="ctr">
              <a:defRPr sz="3600"/>
            </a:lvl1pPr>
          </a:lstStyle>
          <a:p>
            <a:r>
              <a:rPr lang="en-US"/>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0B683C1-A69F-6246-93C5-635FEE862ABF}" type="datetime1">
              <a:rPr lang="en-US" smtClean="0"/>
              <a:t>4/3/2026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Content Placeholder 6">
            <a:extLst>
              <a:ext uri="{FF2B5EF4-FFF2-40B4-BE49-F238E27FC236}">
                <a16:creationId xmlns:a16="http://schemas.microsoft.com/office/drawing/2014/main" id="{731916B7-ECCD-C24F-03F1-DB5BB483E71F}"/>
              </a:ext>
            </a:extLst>
          </p:cNvPr>
          <p:cNvSpPr>
            <a:spLocks noGrp="1"/>
          </p:cNvSpPr>
          <p:nvPr>
            <p:ph sz="quarter" idx="13"/>
          </p:nvPr>
        </p:nvSpPr>
        <p:spPr>
          <a:xfrm>
            <a:off x="5725556" y="634989"/>
            <a:ext cx="5501871" cy="5568895"/>
          </a:xfrm>
          <a:prstGeom prst="rect">
            <a:avLst/>
          </a:prstGeom>
        </p:spPr>
        <p:txBody>
          <a:bodyPr anchor="ct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3739F038-F9FC-1926-4D71-CC8CA3499051}"/>
              </a:ext>
            </a:extLst>
          </p:cNvPr>
          <p:cNvCxnSpPr>
            <a:cxnSpLocks/>
          </p:cNvCxnSpPr>
          <p:nvPr userDrawn="1"/>
        </p:nvCxnSpPr>
        <p:spPr>
          <a:xfrm>
            <a:off x="5544868" y="164150"/>
            <a:ext cx="6647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97BDF7-C98C-7BAF-72C0-73D855999627}"/>
              </a:ext>
            </a:extLst>
          </p:cNvPr>
          <p:cNvCxnSpPr>
            <a:cxnSpLocks/>
          </p:cNvCxnSpPr>
          <p:nvPr userDrawn="1"/>
        </p:nvCxnSpPr>
        <p:spPr>
          <a:xfrm>
            <a:off x="55448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421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C92E087-D311-16FB-DFD8-7DFD79458D04}"/>
              </a:ext>
            </a:extLst>
          </p:cNvPr>
          <p:cNvCxnSpPr>
            <a:cxnSpLocks/>
          </p:cNvCxnSpPr>
          <p:nvPr userDrawn="1"/>
        </p:nvCxnSpPr>
        <p:spPr>
          <a:xfrm>
            <a:off x="4734117" y="164150"/>
            <a:ext cx="745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B660C5CD-5D68-8F5D-7451-71E5050BBB85}"/>
              </a:ext>
            </a:extLst>
          </p:cNvPr>
          <p:cNvSpPr>
            <a:spLocks noGrp="1"/>
          </p:cNvSpPr>
          <p:nvPr>
            <p:ph type="title" hasCustomPrompt="1"/>
          </p:nvPr>
        </p:nvSpPr>
        <p:spPr>
          <a:xfrm>
            <a:off x="5366300" y="634989"/>
            <a:ext cx="5916508" cy="2010163"/>
          </a:xfrm>
        </p:spPr>
        <p:txBody>
          <a:bodyPr anchor="b">
            <a:normAutofit/>
          </a:bodyPr>
          <a:lstStyle>
            <a:lvl1pPr>
              <a:defRPr sz="3600"/>
            </a:lvl1pPr>
          </a:lstStyle>
          <a:p>
            <a:r>
              <a:rPr lang="en-US"/>
              <a:t>Agenda</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a:lstStyle/>
          <a:p>
            <a:fld id="{1E1C6775-CD52-A54C-A886-04159AE48FCC}" type="datetime1">
              <a:rPr lang="en-US" smtClean="0"/>
              <a:t>4/3/2026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598329" y="0"/>
            <a:ext cx="396725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b="1">
                <a:effectLst/>
              </a:rPr>
              <a:t> </a:t>
            </a:r>
            <a:endParaRPr lang="en-US"/>
          </a:p>
        </p:txBody>
      </p:sp>
      <p:cxnSp>
        <p:nvCxnSpPr>
          <p:cNvPr id="14" name="Straight Connector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6">
            <a:extLst>
              <a:ext uri="{FF2B5EF4-FFF2-40B4-BE49-F238E27FC236}">
                <a16:creationId xmlns:a16="http://schemas.microsoft.com/office/drawing/2014/main" id="{5CF91619-8B0D-4421-A55F-551E27448797}"/>
              </a:ext>
            </a:extLst>
          </p:cNvPr>
          <p:cNvSpPr>
            <a:spLocks noGrp="1"/>
          </p:cNvSpPr>
          <p:nvPr>
            <p:ph sz="quarter" idx="13"/>
          </p:nvPr>
        </p:nvSpPr>
        <p:spPr>
          <a:xfrm>
            <a:off x="5366301" y="2785844"/>
            <a:ext cx="5916507" cy="3436789"/>
          </a:xfrm>
          <a:prstGeom prst="rect">
            <a:avLst/>
          </a:prstGeo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33DCD739-74E4-2105-6F53-768C6751732F}"/>
              </a:ext>
            </a:extLst>
          </p:cNvPr>
          <p:cNvCxnSpPr>
            <a:cxnSpLocks/>
          </p:cNvCxnSpPr>
          <p:nvPr userDrawn="1"/>
        </p:nvCxnSpPr>
        <p:spPr>
          <a:xfrm>
            <a:off x="47341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849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790911" y="2133600"/>
            <a:ext cx="6623436" cy="1070776"/>
          </a:xfrm>
        </p:spPr>
        <p:txBody>
          <a:bodyPr anchor="b">
            <a:noAutofit/>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3768786" y="3335364"/>
            <a:ext cx="4659735" cy="1645198"/>
          </a:xfrm>
          <a:prstGeom prst="rect">
            <a:avLst/>
          </a:prstGeo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672477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A3D046-B01C-DBA5-51DF-DBED5201FE45}"/>
              </a:ext>
            </a:extLst>
          </p:cNvPr>
          <p:cNvSpPr>
            <a:spLocks noGrp="1"/>
          </p:cNvSpPr>
          <p:nvPr>
            <p:ph type="title"/>
          </p:nvPr>
        </p:nvSpPr>
        <p:spPr>
          <a:xfrm>
            <a:off x="612646" y="639308"/>
            <a:ext cx="3493858" cy="3456894"/>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325E669-05A6-404B-8715-25833A839546}"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6597F5E1-A046-AB64-9D7D-F213B99BA206}"/>
              </a:ext>
            </a:extLst>
          </p:cNvPr>
          <p:cNvSpPr>
            <a:spLocks noGrp="1"/>
          </p:cNvSpPr>
          <p:nvPr>
            <p:ph sz="quarter" idx="13"/>
          </p:nvPr>
        </p:nvSpPr>
        <p:spPr>
          <a:xfrm>
            <a:off x="4784847" y="634990"/>
            <a:ext cx="4956175"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2A7D9751-738D-5DDB-78D9-0E6ADE16DBF4}"/>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097523F-06BD-1944-4024-B46F8F3B01EF}"/>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88197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78FADAF-0BCA-C95A-D2BE-C98740CF0EB8}"/>
              </a:ext>
            </a:extLst>
          </p:cNvPr>
          <p:cNvSpPr>
            <a:spLocks noGrp="1"/>
          </p:cNvSpPr>
          <p:nvPr>
            <p:ph type="title"/>
          </p:nvPr>
        </p:nvSpPr>
        <p:spPr>
          <a:xfrm>
            <a:off x="614678" y="634556"/>
            <a:ext cx="3923455" cy="4083580"/>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6DFBFE4-ABE6-4446-98A0-81193AB08FE6}"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3B645384-979B-3284-353F-AE6BA73B6308}"/>
              </a:ext>
            </a:extLst>
          </p:cNvPr>
          <p:cNvSpPr>
            <a:spLocks noGrp="1"/>
          </p:cNvSpPr>
          <p:nvPr>
            <p:ph sz="quarter" idx="13"/>
          </p:nvPr>
        </p:nvSpPr>
        <p:spPr>
          <a:xfrm>
            <a:off x="5156011" y="634990"/>
            <a:ext cx="6045390"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1DE67CE-9944-D773-D6CE-6886E0FC7B92}"/>
              </a:ext>
            </a:extLst>
          </p:cNvPr>
          <p:cNvCxnSpPr>
            <a:cxnSpLocks/>
          </p:cNvCxnSpPr>
          <p:nvPr userDrawn="1"/>
        </p:nvCxnSpPr>
        <p:spPr>
          <a:xfrm>
            <a:off x="4845153" y="164150"/>
            <a:ext cx="7346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113B4-BD8F-E8D0-B91A-25A71EBD29DB}"/>
              </a:ext>
            </a:extLst>
          </p:cNvPr>
          <p:cNvCxnSpPr>
            <a:cxnSpLocks/>
          </p:cNvCxnSpPr>
          <p:nvPr userDrawn="1"/>
        </p:nvCxnSpPr>
        <p:spPr>
          <a:xfrm>
            <a:off x="484515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3135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C402DE-0801-3DC8-B525-21BE7D10845C}"/>
              </a:ext>
            </a:extLst>
          </p:cNvPr>
          <p:cNvSpPr>
            <a:spLocks noGrp="1"/>
          </p:cNvSpPr>
          <p:nvPr>
            <p:ph type="title"/>
          </p:nvPr>
        </p:nvSpPr>
        <p:spPr>
          <a:xfrm>
            <a:off x="614677" y="634990"/>
            <a:ext cx="3496147" cy="4940661"/>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830A1E6-64A0-A640-8661-BD4B0C6BF0D6}"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FAFB8F5C-FBC3-1AD5-7B6E-3D6E72CC8EDA}"/>
              </a:ext>
            </a:extLst>
          </p:cNvPr>
          <p:cNvSpPr>
            <a:spLocks noGrp="1"/>
          </p:cNvSpPr>
          <p:nvPr>
            <p:ph sz="quarter" idx="13"/>
          </p:nvPr>
        </p:nvSpPr>
        <p:spPr>
          <a:xfrm>
            <a:off x="4800600" y="634990"/>
            <a:ext cx="6775703"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E987FE6-F1FA-D76D-889F-27925E215AFE}"/>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D5175A-6AE4-265E-5E7C-0D58C0399013}"/>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57269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A14E02C-EAB1-336F-35FC-74C50ABEE3F5}"/>
              </a:ext>
            </a:extLst>
          </p:cNvPr>
          <p:cNvSpPr>
            <a:spLocks noGrp="1"/>
          </p:cNvSpPr>
          <p:nvPr>
            <p:ph type="title"/>
          </p:nvPr>
        </p:nvSpPr>
        <p:spPr>
          <a:xfrm>
            <a:off x="612646" y="634991"/>
            <a:ext cx="3203979" cy="2960689"/>
          </a:xfrm>
        </p:spPr>
        <p:txBody>
          <a:bodyPr anchor="t">
            <a:normAutofit/>
          </a:bodyPr>
          <a:lstStyle>
            <a:lvl1pP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E2C4FF-3DB1-694D-98F8-CDB69183155A}"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228395-2719-9A44-CE27-6CFD8BD848E8}"/>
              </a:ext>
            </a:extLst>
          </p:cNvPr>
          <p:cNvCxnSpPr>
            <a:cxnSpLocks/>
          </p:cNvCxnSpPr>
          <p:nvPr userDrawn="1"/>
        </p:nvCxnSpPr>
        <p:spPr>
          <a:xfrm>
            <a:off x="4076527" y="164150"/>
            <a:ext cx="8115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83E6F6-12DD-3AC0-8C59-D6E9DEDA1456}"/>
              </a:ext>
            </a:extLst>
          </p:cNvPr>
          <p:cNvCxnSpPr>
            <a:cxnSpLocks/>
          </p:cNvCxnSpPr>
          <p:nvPr userDrawn="1"/>
        </p:nvCxnSpPr>
        <p:spPr>
          <a:xfrm>
            <a:off x="40765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7">
            <a:extLst>
              <a:ext uri="{FF2B5EF4-FFF2-40B4-BE49-F238E27FC236}">
                <a16:creationId xmlns:a16="http://schemas.microsoft.com/office/drawing/2014/main" id="{A0FAA1F1-BF1B-05BE-95CD-DAD1794AEEC3}"/>
              </a:ext>
            </a:extLst>
          </p:cNvPr>
          <p:cNvSpPr>
            <a:spLocks noGrp="1"/>
          </p:cNvSpPr>
          <p:nvPr>
            <p:ph sz="quarter" idx="13"/>
          </p:nvPr>
        </p:nvSpPr>
        <p:spPr>
          <a:xfrm>
            <a:off x="4336430" y="634990"/>
            <a:ext cx="7239873" cy="522128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3585086"/>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CB705E-6980-8EA2-DEFB-527BC9F42B3C}"/>
              </a:ext>
            </a:extLst>
          </p:cNvPr>
          <p:cNvSpPr>
            <a:spLocks noGrp="1"/>
          </p:cNvSpPr>
          <p:nvPr>
            <p:ph type="title"/>
          </p:nvPr>
        </p:nvSpPr>
        <p:spPr>
          <a:xfrm>
            <a:off x="5195209" y="649229"/>
            <a:ext cx="6426389" cy="1315029"/>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a:lstStyle/>
          <a:p>
            <a:fld id="{3B20CA3A-3B93-8A4D-A86D-073A7B7FB78B}" type="datetime1">
              <a:rPr lang="en-US" smtClean="0"/>
              <a:t>4/3/2026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1"/>
            <a:ext cx="3955689" cy="6858000"/>
          </a:xfrm>
          <a:prstGeom prst="rect">
            <a:avLst/>
          </a:prstGeom>
          <a:blipFill dpi="0" rotWithShape="1">
            <a:blip r:embed="rId2">
              <a:alphaModFix amt="60000"/>
            </a:blip>
            <a:srcRect/>
            <a:stretch>
              <a:fillRect l="-2278" r="-6699"/>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1DEA9FDC-933A-D673-02B2-DFC917E1F183}"/>
              </a:ext>
            </a:extLst>
          </p:cNvPr>
          <p:cNvSpPr>
            <a:spLocks noGrp="1"/>
          </p:cNvSpPr>
          <p:nvPr>
            <p:ph sz="quarter" idx="14"/>
          </p:nvPr>
        </p:nvSpPr>
        <p:spPr>
          <a:xfrm>
            <a:off x="5196566" y="2129468"/>
            <a:ext cx="6418935" cy="40931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F3207AA-DF92-4449-9316-61475F014448}"/>
              </a:ext>
            </a:extLst>
          </p:cNvPr>
          <p:cNvCxnSpPr>
            <a:cxnSpLocks/>
          </p:cNvCxnSpPr>
          <p:nvPr userDrawn="1"/>
        </p:nvCxnSpPr>
        <p:spPr>
          <a:xfrm>
            <a:off x="4554017" y="164150"/>
            <a:ext cx="76379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D34805F9-D010-6E54-928C-1EBB88CBA9D3}"/>
              </a:ext>
            </a:extLst>
          </p:cNvPr>
          <p:cNvCxnSpPr>
            <a:cxnSpLocks/>
          </p:cNvCxnSpPr>
          <p:nvPr userDrawn="1"/>
        </p:nvCxnSpPr>
        <p:spPr>
          <a:xfrm>
            <a:off x="455852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07586"/>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54697B-6BB0-3017-1C4B-D8473D35C9F1}"/>
              </a:ext>
            </a:extLst>
          </p:cNvPr>
          <p:cNvSpPr>
            <a:spLocks noGrp="1"/>
          </p:cNvSpPr>
          <p:nvPr>
            <p:ph type="title"/>
          </p:nvPr>
        </p:nvSpPr>
        <p:spPr>
          <a:xfrm>
            <a:off x="612647" y="634999"/>
            <a:ext cx="6339541" cy="1191320"/>
          </a:xfrm>
        </p:spPr>
        <p:txBody>
          <a:bodyPr anchor="t"/>
          <a:lstStyle/>
          <a:p>
            <a:r>
              <a:rPr lang="en-US"/>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a:lstStyle/>
          <a:p>
            <a:fld id="{83FF3418-23F6-0E41-81BF-3ADC067979C5}" type="datetime1">
              <a:rPr lang="en-US" smtClean="0"/>
              <a:t>4/3/2026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967BDF5B-E352-4558-1EFA-37F504BFE32E}"/>
              </a:ext>
            </a:extLst>
          </p:cNvPr>
          <p:cNvCxnSpPr>
            <a:cxnSpLocks/>
          </p:cNvCxnSpPr>
          <p:nvPr userDrawn="1"/>
        </p:nvCxnSpPr>
        <p:spPr>
          <a:xfrm>
            <a:off x="429208" y="164150"/>
            <a:ext cx="71911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7">
            <a:extLst>
              <a:ext uri="{FF2B5EF4-FFF2-40B4-BE49-F238E27FC236}">
                <a16:creationId xmlns:a16="http://schemas.microsoft.com/office/drawing/2014/main" id="{071AEEC6-CCC7-7524-30CC-97FFD70292E7}"/>
              </a:ext>
            </a:extLst>
          </p:cNvPr>
          <p:cNvSpPr>
            <a:spLocks noGrp="1"/>
          </p:cNvSpPr>
          <p:nvPr>
            <p:ph sz="quarter" idx="14"/>
          </p:nvPr>
        </p:nvSpPr>
        <p:spPr>
          <a:xfrm>
            <a:off x="612774" y="1975104"/>
            <a:ext cx="6339414" cy="422899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6" name="Straight Connector 5">
            <a:extLst>
              <a:ext uri="{FF2B5EF4-FFF2-40B4-BE49-F238E27FC236}">
                <a16:creationId xmlns:a16="http://schemas.microsoft.com/office/drawing/2014/main" id="{D02BFE52-C7C3-A7E3-F6D9-EDECDF40EF56}"/>
              </a:ext>
            </a:extLst>
          </p:cNvPr>
          <p:cNvCxnSpPr>
            <a:cxnSpLocks/>
          </p:cNvCxnSpPr>
          <p:nvPr userDrawn="1"/>
        </p:nvCxnSpPr>
        <p:spPr>
          <a:xfrm>
            <a:off x="76203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10472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4487024" y="634999"/>
            <a:ext cx="6950232" cy="1124525"/>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F2A5EBC1-EEC5-7C42-832C-A9026EE0BC29}" type="datetime1">
              <a:rPr lang="en-US" smtClean="0"/>
              <a:t>4/3/2026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4487024" y="1879608"/>
            <a:ext cx="6950232" cy="4343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363078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1"/>
      </p:bgRef>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16649CF-C20C-7376-D09A-88A289B7A347}"/>
              </a:ext>
            </a:extLst>
          </p:cNvPr>
          <p:cNvCxnSpPr>
            <a:cxnSpLocks/>
          </p:cNvCxnSpPr>
          <p:nvPr userDrawn="1"/>
        </p:nvCxnSpPr>
        <p:spPr>
          <a:xfrm>
            <a:off x="429208" y="164150"/>
            <a:ext cx="8506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2035DE79-838A-407A-D882-E2ECC332BA37}"/>
              </a:ext>
            </a:extLst>
          </p:cNvPr>
          <p:cNvSpPr>
            <a:spLocks noGrp="1"/>
          </p:cNvSpPr>
          <p:nvPr>
            <p:ph type="title"/>
          </p:nvPr>
        </p:nvSpPr>
        <p:spPr>
          <a:xfrm>
            <a:off x="612646" y="634999"/>
            <a:ext cx="8053370" cy="932688"/>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a:lstStyle/>
          <a:p>
            <a:fld id="{0CAB06F6-E685-BB44-8251-DAABC7824548}" type="datetime1">
              <a:rPr lang="en-US" smtClean="0"/>
              <a:t>4/3/2026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a:lstStyle/>
          <a:p>
            <a:fld id="{CC057153-B650-4DEB-B370-79DDCFDCE934}" type="slidenum">
              <a:rPr lang="en-US" smtClean="0"/>
              <a:t>‹#›</a:t>
            </a:fld>
            <a:endParaRPr lang="en-US"/>
          </a:p>
        </p:txBody>
      </p:sp>
      <p:cxnSp>
        <p:nvCxnSpPr>
          <p:cNvPr id="12" name="Straight Connector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ontent Placeholder 7">
            <a:extLst>
              <a:ext uri="{FF2B5EF4-FFF2-40B4-BE49-F238E27FC236}">
                <a16:creationId xmlns:a16="http://schemas.microsoft.com/office/drawing/2014/main" id="{74611DE4-D3F2-8522-9161-AA66017D25C5}"/>
              </a:ext>
            </a:extLst>
          </p:cNvPr>
          <p:cNvSpPr>
            <a:spLocks noGrp="1"/>
          </p:cNvSpPr>
          <p:nvPr>
            <p:ph sz="quarter" idx="14"/>
          </p:nvPr>
        </p:nvSpPr>
        <p:spPr>
          <a:xfrm>
            <a:off x="612646" y="1710153"/>
            <a:ext cx="8053370" cy="453537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30B91F0A-C479-FEF7-833F-CCE5C4EB4617}"/>
              </a:ext>
            </a:extLst>
          </p:cNvPr>
          <p:cNvSpPr>
            <a:spLocks noGrp="1"/>
          </p:cNvSpPr>
          <p:nvPr>
            <p:ph type="pic" sz="quarter" idx="13" hasCustomPrompt="1"/>
          </p:nvPr>
        </p:nvSpPr>
        <p:spPr>
          <a:xfrm>
            <a:off x="8935487" y="0"/>
            <a:ext cx="3256513"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6" name="Straight Connector 5">
            <a:extLst>
              <a:ext uri="{FF2B5EF4-FFF2-40B4-BE49-F238E27FC236}">
                <a16:creationId xmlns:a16="http://schemas.microsoft.com/office/drawing/2014/main" id="{83378864-FFEC-CA89-08FD-A1FFF3F03CA9}"/>
              </a:ext>
            </a:extLst>
          </p:cNvPr>
          <p:cNvCxnSpPr>
            <a:cxnSpLocks/>
          </p:cNvCxnSpPr>
          <p:nvPr userDrawn="1"/>
        </p:nvCxnSpPr>
        <p:spPr>
          <a:xfrm>
            <a:off x="893548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18028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7094553" y="634999"/>
            <a:ext cx="4477512" cy="1328932"/>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a:lstStyle>
            <a:lvl1pPr>
              <a:defRPr>
                <a:solidFill>
                  <a:schemeClr val="tx1"/>
                </a:solidFill>
                <a:effectLst/>
              </a:defRPr>
            </a:lvl1pPr>
          </a:lstStyle>
          <a:p>
            <a:fld id="{18FB12C4-D228-0548-ADB4-1A4C8851F4D3}"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6453101" y="164150"/>
            <a:ext cx="5738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0"/>
            <a:ext cx="584350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64531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7094553" y="2110570"/>
            <a:ext cx="4477512" cy="4282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304380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78C3E4-9A2C-A408-E558-ACBB88C70840}"/>
              </a:ext>
            </a:extLst>
          </p:cNvPr>
          <p:cNvSpPr>
            <a:spLocks noGrp="1"/>
          </p:cNvSpPr>
          <p:nvPr>
            <p:ph type="title"/>
          </p:nvPr>
        </p:nvSpPr>
        <p:spPr>
          <a:xfrm>
            <a:off x="612649" y="632326"/>
            <a:ext cx="4494189" cy="1288169"/>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a:lstStyle/>
          <a:p>
            <a:fld id="{2992CB46-8CF1-8348-978D-ADB871DB2637}"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9" name="Content Placeholder 7">
            <a:extLst>
              <a:ext uri="{FF2B5EF4-FFF2-40B4-BE49-F238E27FC236}">
                <a16:creationId xmlns:a16="http://schemas.microsoft.com/office/drawing/2014/main" id="{3FB30328-57E8-EA3D-F9A4-154570AE3DF0}"/>
              </a:ext>
            </a:extLst>
          </p:cNvPr>
          <p:cNvSpPr>
            <a:spLocks noGrp="1"/>
          </p:cNvSpPr>
          <p:nvPr>
            <p:ph sz="quarter" idx="14"/>
          </p:nvPr>
        </p:nvSpPr>
        <p:spPr>
          <a:xfrm>
            <a:off x="612775" y="2068714"/>
            <a:ext cx="4494063" cy="415695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0">
            <a:extLst>
              <a:ext uri="{FF2B5EF4-FFF2-40B4-BE49-F238E27FC236}">
                <a16:creationId xmlns:a16="http://schemas.microsoft.com/office/drawing/2014/main" id="{39DAEF4D-3959-2C17-59C0-0C51806BBED5}"/>
              </a:ext>
            </a:extLst>
          </p:cNvPr>
          <p:cNvSpPr>
            <a:spLocks noGrp="1"/>
          </p:cNvSpPr>
          <p:nvPr>
            <p:ph type="pic" sz="quarter" idx="15" hasCustomPrompt="1"/>
          </p:nvPr>
        </p:nvSpPr>
        <p:spPr>
          <a:xfrm>
            <a:off x="5658928" y="0"/>
            <a:ext cx="6533072" cy="6858000"/>
          </a:xfrm>
          <a:prstGeom prst="rect">
            <a:avLst/>
          </a:prstGeom>
          <a:blipFill dpi="0" rotWithShape="1">
            <a:blip r:embed="rId2">
              <a:alphaModFix amt="60000"/>
            </a:blip>
            <a:srcRect/>
            <a:stretch>
              <a:fillRect l="-154" r="-154"/>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1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C1A446-6BAE-22CC-E376-C7034DBFDE71}"/>
              </a:ext>
            </a:extLst>
          </p:cNvPr>
          <p:cNvCxnSpPr>
            <a:cxnSpLocks/>
          </p:cNvCxnSpPr>
          <p:nvPr userDrawn="1"/>
        </p:nvCxnSpPr>
        <p:spPr>
          <a:xfrm>
            <a:off x="5656309" y="372"/>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018873"/>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496FAE0-B42A-699E-0194-1D9B07385D83}"/>
              </a:ext>
            </a:extLst>
          </p:cNvPr>
          <p:cNvSpPr>
            <a:spLocks noGrp="1"/>
          </p:cNvSpPr>
          <p:nvPr>
            <p:ph type="title"/>
          </p:nvPr>
        </p:nvSpPr>
        <p:spPr>
          <a:xfrm>
            <a:off x="8212663" y="634999"/>
            <a:ext cx="3363514" cy="166722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a:lstStyle>
            <a:lvl1pPr>
              <a:defRPr>
                <a:solidFill>
                  <a:schemeClr val="tx1"/>
                </a:solidFill>
                <a:effectLst/>
              </a:defRPr>
            </a:lvl1pPr>
          </a:lstStyle>
          <a:p>
            <a:fld id="{C35D9022-AF13-914E-AAF5-06802DCD2AF1}"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3" name="Picture Placeholder 10">
            <a:extLst>
              <a:ext uri="{FF2B5EF4-FFF2-40B4-BE49-F238E27FC236}">
                <a16:creationId xmlns:a16="http://schemas.microsoft.com/office/drawing/2014/main" id="{2CCC32EC-CCE1-D04B-E748-1BE84D20874B}"/>
              </a:ext>
            </a:extLst>
          </p:cNvPr>
          <p:cNvSpPr>
            <a:spLocks noGrp="1"/>
          </p:cNvSpPr>
          <p:nvPr>
            <p:ph type="pic" sz="quarter" idx="14" hasCustomPrompt="1"/>
          </p:nvPr>
        </p:nvSpPr>
        <p:spPr>
          <a:xfrm>
            <a:off x="597134" y="0"/>
            <a:ext cx="698701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4" name="Content Placeholder 7">
            <a:extLst>
              <a:ext uri="{FF2B5EF4-FFF2-40B4-BE49-F238E27FC236}">
                <a16:creationId xmlns:a16="http://schemas.microsoft.com/office/drawing/2014/main" id="{8B608AF4-46F5-990E-C133-313D6B22C312}"/>
              </a:ext>
            </a:extLst>
          </p:cNvPr>
          <p:cNvSpPr>
            <a:spLocks noGrp="1"/>
          </p:cNvSpPr>
          <p:nvPr>
            <p:ph sz="quarter" idx="15"/>
          </p:nvPr>
        </p:nvSpPr>
        <p:spPr>
          <a:xfrm>
            <a:off x="8212790" y="2450529"/>
            <a:ext cx="3363513" cy="385464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78B378FF-8198-DC37-BA5B-473DEDD75988}"/>
              </a:ext>
            </a:extLst>
          </p:cNvPr>
          <p:cNvCxnSpPr>
            <a:cxnSpLocks/>
          </p:cNvCxnSpPr>
          <p:nvPr userDrawn="1"/>
        </p:nvCxnSpPr>
        <p:spPr>
          <a:xfrm>
            <a:off x="7584144" y="164150"/>
            <a:ext cx="46078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54E56D6-14F7-4AF8-BCF3-2B60F1174250}"/>
              </a:ext>
            </a:extLst>
          </p:cNvPr>
          <p:cNvCxnSpPr>
            <a:cxnSpLocks/>
          </p:cNvCxnSpPr>
          <p:nvPr userDrawn="1"/>
        </p:nvCxnSpPr>
        <p:spPr>
          <a:xfrm>
            <a:off x="758829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275047"/>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73E7AA6-3E01-E0FE-40A6-864DFD88873B}"/>
              </a:ext>
            </a:extLst>
          </p:cNvPr>
          <p:cNvSpPr>
            <a:spLocks noGrp="1"/>
          </p:cNvSpPr>
          <p:nvPr>
            <p:ph type="title"/>
          </p:nvPr>
        </p:nvSpPr>
        <p:spPr>
          <a:xfrm>
            <a:off x="615697" y="634999"/>
            <a:ext cx="3363510" cy="166722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a:lstStyle/>
          <a:p>
            <a:fld id="{4D3895DF-CE00-4443-B506-04551A131964}"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4" name="Content Placeholder 7">
            <a:extLst>
              <a:ext uri="{FF2B5EF4-FFF2-40B4-BE49-F238E27FC236}">
                <a16:creationId xmlns:a16="http://schemas.microsoft.com/office/drawing/2014/main" id="{07C31AA0-00A0-8749-8CC5-95B234604803}"/>
              </a:ext>
            </a:extLst>
          </p:cNvPr>
          <p:cNvSpPr>
            <a:spLocks noGrp="1"/>
          </p:cNvSpPr>
          <p:nvPr>
            <p:ph sz="quarter" idx="14"/>
          </p:nvPr>
        </p:nvSpPr>
        <p:spPr>
          <a:xfrm>
            <a:off x="615824" y="2450529"/>
            <a:ext cx="3363513" cy="38148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0">
            <a:extLst>
              <a:ext uri="{FF2B5EF4-FFF2-40B4-BE49-F238E27FC236}">
                <a16:creationId xmlns:a16="http://schemas.microsoft.com/office/drawing/2014/main" id="{ABDC61D1-0D87-5A5A-4C73-5CAFD8889E02}"/>
              </a:ext>
            </a:extLst>
          </p:cNvPr>
          <p:cNvSpPr>
            <a:spLocks noGrp="1"/>
          </p:cNvSpPr>
          <p:nvPr>
            <p:ph type="pic" sz="quarter" idx="15" hasCustomPrompt="1"/>
          </p:nvPr>
        </p:nvSpPr>
        <p:spPr>
          <a:xfrm>
            <a:off x="4607856"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6838F21-75ED-E44B-42EB-FC7FE5E930B5}"/>
              </a:ext>
            </a:extLst>
          </p:cNvPr>
          <p:cNvCxnSpPr>
            <a:cxnSpLocks/>
          </p:cNvCxnSpPr>
          <p:nvPr userDrawn="1"/>
        </p:nvCxnSpPr>
        <p:spPr>
          <a:xfrm>
            <a:off x="431800" y="164150"/>
            <a:ext cx="41628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F9AEDF6-9814-FD08-73EB-63D58BF776EA}"/>
              </a:ext>
            </a:extLst>
          </p:cNvPr>
          <p:cNvCxnSpPr>
            <a:cxnSpLocks/>
          </p:cNvCxnSpPr>
          <p:nvPr userDrawn="1"/>
        </p:nvCxnSpPr>
        <p:spPr>
          <a:xfrm>
            <a:off x="460189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76959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EDD9488-FAAC-3468-EC84-62DCAA385014}"/>
              </a:ext>
            </a:extLst>
          </p:cNvPr>
          <p:cNvSpPr>
            <a:spLocks noGrp="1"/>
          </p:cNvSpPr>
          <p:nvPr>
            <p:ph type="title"/>
          </p:nvPr>
        </p:nvSpPr>
        <p:spPr>
          <a:xfrm>
            <a:off x="8888061" y="634999"/>
            <a:ext cx="2699254" cy="2214453"/>
          </a:xfrm>
        </p:spPr>
        <p:txBody>
          <a:bodyPr anchor="t"/>
          <a:lstStyle/>
          <a:p>
            <a:r>
              <a:rPr lang="en-US"/>
              <a:t>Click to edit Master title style</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a:lstStyle/>
          <a:p>
            <a:fld id="{E242787B-6DCB-1542-A351-2D27DB5C9EB5}" type="datetime1">
              <a:rPr lang="en-US" smtClean="0"/>
              <a:t>4/3/2026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a:lstStyle/>
          <a:p>
            <a:fld id="{CC057153-B650-4DEB-B370-79DDCFDCE934}" type="slidenum">
              <a:rPr lang="en-US" smtClean="0"/>
              <a:t>‹#›</a:t>
            </a:fld>
            <a:endParaRPr lang="en-US"/>
          </a:p>
        </p:txBody>
      </p:sp>
      <p:sp>
        <p:nvSpPr>
          <p:cNvPr id="13" name="Picture Placeholder 9">
            <a:extLst>
              <a:ext uri="{FF2B5EF4-FFF2-40B4-BE49-F238E27FC236}">
                <a16:creationId xmlns:a16="http://schemas.microsoft.com/office/drawing/2014/main" id="{9785BB1B-C644-BA77-7DDD-02B6EA405BF6}"/>
              </a:ext>
            </a:extLst>
          </p:cNvPr>
          <p:cNvSpPr>
            <a:spLocks noGrp="1"/>
          </p:cNvSpPr>
          <p:nvPr>
            <p:ph type="pic" sz="quarter" idx="18" hasCustomPrompt="1"/>
          </p:nvPr>
        </p:nvSpPr>
        <p:spPr>
          <a:xfrm>
            <a:off x="604685" y="0"/>
            <a:ext cx="764495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4" name="Content Placeholder 7">
            <a:extLst>
              <a:ext uri="{FF2B5EF4-FFF2-40B4-BE49-F238E27FC236}">
                <a16:creationId xmlns:a16="http://schemas.microsoft.com/office/drawing/2014/main" id="{8E56834F-CC6F-AB0D-0C2D-D32A96F77227}"/>
              </a:ext>
            </a:extLst>
          </p:cNvPr>
          <p:cNvSpPr>
            <a:spLocks noGrp="1"/>
          </p:cNvSpPr>
          <p:nvPr>
            <p:ph sz="quarter" idx="14"/>
          </p:nvPr>
        </p:nvSpPr>
        <p:spPr>
          <a:xfrm>
            <a:off x="8889055"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8F9841FB-35AF-1919-0953-5642770662AC}"/>
              </a:ext>
            </a:extLst>
          </p:cNvPr>
          <p:cNvCxnSpPr>
            <a:cxnSpLocks/>
          </p:cNvCxnSpPr>
          <p:nvPr userDrawn="1"/>
        </p:nvCxnSpPr>
        <p:spPr>
          <a:xfrm>
            <a:off x="8259492" y="164150"/>
            <a:ext cx="39325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58AE5DC-7AFC-CD99-8A67-46A580A7DEFE}"/>
              </a:ext>
            </a:extLst>
          </p:cNvPr>
          <p:cNvCxnSpPr>
            <a:cxnSpLocks/>
          </p:cNvCxnSpPr>
          <p:nvPr userDrawn="1"/>
        </p:nvCxnSpPr>
        <p:spPr>
          <a:xfrm>
            <a:off x="825949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53313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60D1278-B5CC-BDBD-8FA3-679C676A536D}"/>
              </a:ext>
            </a:extLst>
          </p:cNvPr>
          <p:cNvSpPr>
            <a:spLocks noGrp="1"/>
          </p:cNvSpPr>
          <p:nvPr>
            <p:ph type="title"/>
          </p:nvPr>
        </p:nvSpPr>
        <p:spPr>
          <a:xfrm>
            <a:off x="615697" y="634999"/>
            <a:ext cx="2699254" cy="221445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a:lstStyle/>
          <a:p>
            <a:fld id="{B71CD34A-E620-234C-80E5-E81441778490}"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3" name="Content Placeholder 7">
            <a:extLst>
              <a:ext uri="{FF2B5EF4-FFF2-40B4-BE49-F238E27FC236}">
                <a16:creationId xmlns:a16="http://schemas.microsoft.com/office/drawing/2014/main" id="{4C1D2059-BF06-D57F-DC08-4CF8A0E3616D}"/>
              </a:ext>
            </a:extLst>
          </p:cNvPr>
          <p:cNvSpPr>
            <a:spLocks noGrp="1"/>
          </p:cNvSpPr>
          <p:nvPr>
            <p:ph sz="quarter" idx="14"/>
          </p:nvPr>
        </p:nvSpPr>
        <p:spPr>
          <a:xfrm>
            <a:off x="616691" y="3011335"/>
            <a:ext cx="2693346" cy="321166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9">
            <a:extLst>
              <a:ext uri="{FF2B5EF4-FFF2-40B4-BE49-F238E27FC236}">
                <a16:creationId xmlns:a16="http://schemas.microsoft.com/office/drawing/2014/main" id="{FF55FC92-13DA-DA43-D4EE-90F1CFCD3002}"/>
              </a:ext>
            </a:extLst>
          </p:cNvPr>
          <p:cNvSpPr>
            <a:spLocks noGrp="1"/>
          </p:cNvSpPr>
          <p:nvPr>
            <p:ph type="pic" sz="quarter" idx="15"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9C4DF952-8FA0-48F5-F7EF-53D541404A33}"/>
              </a:ext>
            </a:extLst>
          </p:cNvPr>
          <p:cNvCxnSpPr>
            <a:cxnSpLocks/>
          </p:cNvCxnSpPr>
          <p:nvPr userDrawn="1"/>
        </p:nvCxnSpPr>
        <p:spPr>
          <a:xfrm>
            <a:off x="431800" y="164150"/>
            <a:ext cx="3420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D9DCC5-4A76-A29C-BDAD-62E571E6267E}"/>
              </a:ext>
            </a:extLst>
          </p:cNvPr>
          <p:cNvCxnSpPr>
            <a:cxnSpLocks/>
          </p:cNvCxnSpPr>
          <p:nvPr userDrawn="1"/>
        </p:nvCxnSpPr>
        <p:spPr>
          <a:xfrm>
            <a:off x="386152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00166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C775AC-06F6-654A-B451-BF23AC7E4EB9}"/>
              </a:ext>
            </a:extLst>
          </p:cNvPr>
          <p:cNvSpPr>
            <a:spLocks noGrp="1"/>
          </p:cNvSpPr>
          <p:nvPr>
            <p:ph type="title"/>
          </p:nvPr>
        </p:nvSpPr>
        <p:spPr>
          <a:xfrm>
            <a:off x="612646" y="5012268"/>
            <a:ext cx="4019522" cy="1127275"/>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a:lstStyle>
            <a:lvl1pPr>
              <a:defRPr>
                <a:solidFill>
                  <a:schemeClr val="tx1"/>
                </a:solidFill>
                <a:effectLst/>
              </a:defRPr>
            </a:lvl1pPr>
          </a:lstStyle>
          <a:p>
            <a:fld id="{E18AFC1E-5CDA-EE42-95A5-C2F245BB2156}"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a:lstStyle/>
          <a:p>
            <a:fld id="{CC057153-B650-4DEB-B370-79DDCFDCE934}" type="slidenum">
              <a:rPr lang="en-US" smtClean="0"/>
              <a:t>‹#›</a:t>
            </a:fld>
            <a:endParaRPr lang="en-US"/>
          </a:p>
        </p:txBody>
      </p:sp>
      <p:sp>
        <p:nvSpPr>
          <p:cNvPr id="12" name="Picture Placeholder 10">
            <a:extLst>
              <a:ext uri="{FF2B5EF4-FFF2-40B4-BE49-F238E27FC236}">
                <a16:creationId xmlns:a16="http://schemas.microsoft.com/office/drawing/2014/main" id="{13020A22-5D19-D344-F727-D4D20AA1FB7F}"/>
              </a:ext>
            </a:extLst>
          </p:cNvPr>
          <p:cNvSpPr>
            <a:spLocks noGrp="1"/>
          </p:cNvSpPr>
          <p:nvPr>
            <p:ph type="pic" sz="quarter" idx="14" hasCustomPrompt="1"/>
          </p:nvPr>
        </p:nvSpPr>
        <p:spPr>
          <a:xfrm>
            <a:off x="598303" y="0"/>
            <a:ext cx="11593695" cy="4635132"/>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FB7ED5EB-305D-576F-1A1C-06E6B2A0F31B}"/>
              </a:ext>
            </a:extLst>
          </p:cNvPr>
          <p:cNvSpPr>
            <a:spLocks noGrp="1"/>
          </p:cNvSpPr>
          <p:nvPr>
            <p:ph sz="quarter" idx="15"/>
          </p:nvPr>
        </p:nvSpPr>
        <p:spPr>
          <a:xfrm>
            <a:off x="5156009" y="5012267"/>
            <a:ext cx="6426391" cy="1241576"/>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71570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425E99-2E4D-268B-5E93-5F4B4D25A22A}"/>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E626BD0-BD46-934B-ADDF-CF3299725EE4}" type="datetime1">
              <a:rPr lang="en-US" smtClean="0"/>
              <a:t>4/3/2026</a:t>
            </a:fld>
            <a:endParaRPr lang="en-US"/>
          </a:p>
        </p:txBody>
      </p:sp>
      <p:sp>
        <p:nvSpPr>
          <p:cNvPr id="9" name="Picture Placeholder 10">
            <a:extLst>
              <a:ext uri="{FF2B5EF4-FFF2-40B4-BE49-F238E27FC236}">
                <a16:creationId xmlns:a16="http://schemas.microsoft.com/office/drawing/2014/main" id="{9FDEF7EB-1801-E3D3-0EB3-A17D6AD2341A}"/>
              </a:ext>
            </a:extLst>
          </p:cNvPr>
          <p:cNvSpPr>
            <a:spLocks noGrp="1"/>
          </p:cNvSpPr>
          <p:nvPr>
            <p:ph type="pic" sz="quarter" idx="14" hasCustomPrompt="1"/>
          </p:nvPr>
        </p:nvSpPr>
        <p:spPr>
          <a:xfrm>
            <a:off x="612645" y="0"/>
            <a:ext cx="11579353" cy="344333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81C221A2-8407-5746-E87B-3CEAD025CD3F}"/>
              </a:ext>
            </a:extLst>
          </p:cNvPr>
          <p:cNvSpPr>
            <a:spLocks noGrp="1"/>
          </p:cNvSpPr>
          <p:nvPr>
            <p:ph sz="quarter" idx="15"/>
          </p:nvPr>
        </p:nvSpPr>
        <p:spPr>
          <a:xfrm>
            <a:off x="4122370" y="3880757"/>
            <a:ext cx="7460029" cy="2443843"/>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4" name="Straight Connector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87119"/>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1"/>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737DE76-E217-D796-38E2-BE156016BD58}"/>
              </a:ext>
            </a:extLst>
          </p:cNvPr>
          <p:cNvSpPr>
            <a:spLocks noGrp="1"/>
          </p:cNvSpPr>
          <p:nvPr>
            <p:ph type="title"/>
          </p:nvPr>
        </p:nvSpPr>
        <p:spPr>
          <a:xfrm>
            <a:off x="598328" y="634999"/>
            <a:ext cx="3021868" cy="1773540"/>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EC6455-E06F-4448-8EA7-FF67E5DC7A22}"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0" name="Content Placeholder 7">
            <a:extLst>
              <a:ext uri="{FF2B5EF4-FFF2-40B4-BE49-F238E27FC236}">
                <a16:creationId xmlns:a16="http://schemas.microsoft.com/office/drawing/2014/main" id="{38AE8B48-2473-88AA-21D0-3F9273AC0BDE}"/>
              </a:ext>
            </a:extLst>
          </p:cNvPr>
          <p:cNvSpPr>
            <a:spLocks noGrp="1"/>
          </p:cNvSpPr>
          <p:nvPr>
            <p:ph sz="quarter" idx="16"/>
          </p:nvPr>
        </p:nvSpPr>
        <p:spPr>
          <a:xfrm>
            <a:off x="4122370" y="634999"/>
            <a:ext cx="7460029" cy="2330455"/>
          </a:xfrm>
          <a:prstGeom prst="rect">
            <a:avLst/>
          </a:prstGeo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3">
            <a:extLst>
              <a:ext uri="{FF2B5EF4-FFF2-40B4-BE49-F238E27FC236}">
                <a16:creationId xmlns:a16="http://schemas.microsoft.com/office/drawing/2014/main" id="{9CF2FA52-EFAF-6671-1458-CF597D619DA6}"/>
              </a:ext>
            </a:extLst>
          </p:cNvPr>
          <p:cNvSpPr>
            <a:spLocks noGrp="1"/>
          </p:cNvSpPr>
          <p:nvPr>
            <p:ph type="pic" sz="quarter" idx="15" hasCustomPrompt="1"/>
          </p:nvPr>
        </p:nvSpPr>
        <p:spPr>
          <a:xfrm>
            <a:off x="597745" y="3636524"/>
            <a:ext cx="11594254"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831525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3FCD0E4-9CD1-93F8-08DF-3BFC834A3E76}"/>
              </a:ext>
            </a:extLst>
          </p:cNvPr>
          <p:cNvSpPr>
            <a:spLocks noGrp="1"/>
          </p:cNvSpPr>
          <p:nvPr>
            <p:ph type="title"/>
          </p:nvPr>
        </p:nvSpPr>
        <p:spPr>
          <a:xfrm>
            <a:off x="612647" y="638736"/>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a:lstStyle/>
          <a:p>
            <a:fld id="{24773200-F230-534A-AA8E-3237E1017D06}"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A94BBE19-E3B2-673A-37AB-2329CE36DA87}"/>
              </a:ext>
            </a:extLst>
          </p:cNvPr>
          <p:cNvSpPr>
            <a:spLocks noGrp="1"/>
          </p:cNvSpPr>
          <p:nvPr>
            <p:ph sz="quarter" idx="14"/>
          </p:nvPr>
        </p:nvSpPr>
        <p:spPr>
          <a:xfrm>
            <a:off x="612648" y="1713653"/>
            <a:ext cx="4485564"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19D386B7-EEFC-D00F-7761-B261459996D2}"/>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3387480217"/>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AA955E6-9DAE-AA3C-BB38-0AC671A4095A}"/>
              </a:ext>
            </a:extLst>
          </p:cNvPr>
          <p:cNvSpPr>
            <a:spLocks noGrp="1"/>
          </p:cNvSpPr>
          <p:nvPr>
            <p:ph type="title"/>
          </p:nvPr>
        </p:nvSpPr>
        <p:spPr>
          <a:xfrm>
            <a:off x="612647" y="634999"/>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96C85C2-F25E-3944-B64A-31ACAD72BA40}"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ontent Placeholder 7">
            <a:extLst>
              <a:ext uri="{FF2B5EF4-FFF2-40B4-BE49-F238E27FC236}">
                <a16:creationId xmlns:a16="http://schemas.microsoft.com/office/drawing/2014/main" id="{4025B090-9FA9-0FC5-EA6A-9BA0F54A4064}"/>
              </a:ext>
            </a:extLst>
          </p:cNvPr>
          <p:cNvSpPr>
            <a:spLocks noGrp="1"/>
          </p:cNvSpPr>
          <p:nvPr>
            <p:ph sz="quarter" idx="14"/>
          </p:nvPr>
        </p:nvSpPr>
        <p:spPr>
          <a:xfrm>
            <a:off x="612647" y="1912398"/>
            <a:ext cx="4637269" cy="42250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7DCDC1A0-A2FE-AF32-199F-D7E415F4757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1400637871"/>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D3FF54FB-A206-6CBA-CEBE-32EE19C37BC1}"/>
              </a:ext>
            </a:extLst>
          </p:cNvPr>
          <p:cNvSpPr>
            <a:spLocks noGrp="1"/>
          </p:cNvSpPr>
          <p:nvPr>
            <p:ph type="title"/>
          </p:nvPr>
        </p:nvSpPr>
        <p:spPr>
          <a:xfrm>
            <a:off x="612647" y="634999"/>
            <a:ext cx="10969753" cy="93268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3A96B8-82E0-6B4D-B0A8-9A4BCDF0FD2C}"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Picture Placeholder 11">
            <a:extLst>
              <a:ext uri="{FF2B5EF4-FFF2-40B4-BE49-F238E27FC236}">
                <a16:creationId xmlns:a16="http://schemas.microsoft.com/office/drawing/2014/main" id="{FF925AEE-0C06-4F24-B6E3-73484A4008DC}"/>
              </a:ext>
            </a:extLst>
          </p:cNvPr>
          <p:cNvSpPr>
            <a:spLocks noGrp="1"/>
          </p:cNvSpPr>
          <p:nvPr>
            <p:ph type="pic" sz="quarter" idx="13" hasCustomPrompt="1"/>
          </p:nvPr>
        </p:nvSpPr>
        <p:spPr>
          <a:xfrm>
            <a:off x="609601" y="1713653"/>
            <a:ext cx="5860862"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2" name="Content Placeholder 7">
            <a:extLst>
              <a:ext uri="{FF2B5EF4-FFF2-40B4-BE49-F238E27FC236}">
                <a16:creationId xmlns:a16="http://schemas.microsoft.com/office/drawing/2014/main" id="{422BCA1B-3481-37CE-708A-4CA6ACFAF7DA}"/>
              </a:ext>
            </a:extLst>
          </p:cNvPr>
          <p:cNvSpPr>
            <a:spLocks noGrp="1"/>
          </p:cNvSpPr>
          <p:nvPr>
            <p:ph sz="quarter" idx="14"/>
          </p:nvPr>
        </p:nvSpPr>
        <p:spPr>
          <a:xfrm>
            <a:off x="7103255" y="1704847"/>
            <a:ext cx="4479145" cy="46923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6368092"/>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612647" y="634999"/>
            <a:ext cx="4672584" cy="1269482"/>
          </a:xfrm>
        </p:spPr>
        <p:txBody>
          <a:bodyPr anchor="t">
            <a:noAutofit/>
          </a:bodyPr>
          <a:lstStyle>
            <a:lvl1pPr>
              <a:defRPr sz="3600"/>
            </a:lvl1pPr>
          </a:lstStyle>
          <a:p>
            <a:r>
              <a:rPr lang="en-US"/>
              <a:t>Click to edit Master title style</a:t>
            </a:r>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5905562" y="634999"/>
            <a:ext cx="5676838" cy="558799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33049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501602" y="164150"/>
            <a:ext cx="76903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A3D1319-A3E8-35B5-18BF-A7DAE36BE7FC}"/>
              </a:ext>
            </a:extLst>
          </p:cNvPr>
          <p:cNvSpPr>
            <a:spLocks noGrp="1"/>
          </p:cNvSpPr>
          <p:nvPr>
            <p:ph type="title"/>
          </p:nvPr>
        </p:nvSpPr>
        <p:spPr>
          <a:xfrm>
            <a:off x="612647" y="634999"/>
            <a:ext cx="3696859" cy="1316347"/>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982C3F-36DC-0440-A19E-AA83413F223D}"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10">
            <a:extLst>
              <a:ext uri="{FF2B5EF4-FFF2-40B4-BE49-F238E27FC236}">
                <a16:creationId xmlns:a16="http://schemas.microsoft.com/office/drawing/2014/main" id="{402FC37C-195C-E78C-A1E2-030CF77CBA2A}"/>
              </a:ext>
            </a:extLst>
          </p:cNvPr>
          <p:cNvSpPr>
            <a:spLocks noGrp="1"/>
          </p:cNvSpPr>
          <p:nvPr>
            <p:ph type="pic" sz="quarter" idx="13" hasCustomPrompt="1"/>
          </p:nvPr>
        </p:nvSpPr>
        <p:spPr>
          <a:xfrm>
            <a:off x="612646" y="2295145"/>
            <a:ext cx="3696856" cy="3927488"/>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11" name="Content Placeholder 7">
            <a:extLst>
              <a:ext uri="{FF2B5EF4-FFF2-40B4-BE49-F238E27FC236}">
                <a16:creationId xmlns:a16="http://schemas.microsoft.com/office/drawing/2014/main" id="{2959E347-BAB4-7F1F-65EB-C586FE97DE1E}"/>
              </a:ext>
            </a:extLst>
          </p:cNvPr>
          <p:cNvSpPr>
            <a:spLocks noGrp="1"/>
          </p:cNvSpPr>
          <p:nvPr>
            <p:ph sz="quarter" idx="14"/>
          </p:nvPr>
        </p:nvSpPr>
        <p:spPr>
          <a:xfrm>
            <a:off x="4933150" y="647724"/>
            <a:ext cx="6644488" cy="5562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0C63D850-B761-4DEA-5C9B-DE6AC0E856D9}"/>
              </a:ext>
            </a:extLst>
          </p:cNvPr>
          <p:cNvCxnSpPr>
            <a:cxnSpLocks/>
          </p:cNvCxnSpPr>
          <p:nvPr userDrawn="1"/>
        </p:nvCxnSpPr>
        <p:spPr>
          <a:xfrm>
            <a:off x="45016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485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208" y="634999"/>
            <a:ext cx="6159851" cy="5844227"/>
          </a:xfrm>
        </p:spPr>
        <p:txBody>
          <a:bodyPr anchor="b">
            <a:normAutofit/>
          </a:bodyPr>
          <a:lstStyle>
            <a:lvl1pPr>
              <a:defRPr sz="6000" b="0" i="0">
                <a:latin typeface="+mj-lt"/>
                <a:ea typeface="Dotum" panose="020B0600000101010101" pitchFamily="34" charset="-127"/>
                <a:cs typeface="Noto Sans Kannada Thin" panose="020B0202040504020204" pitchFamily="34" charset="0"/>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65403" y="-1"/>
            <a:ext cx="5131677" cy="6222999"/>
          </a:xfrm>
          <a:prstGeom prst="rect">
            <a:avLst/>
          </a:prstGeom>
          <a:blipFill dpi="0" rotWithShape="1">
            <a:blip r:embed="rId2">
              <a:alphaModFix amt="60000"/>
            </a:blip>
            <a:srcRect/>
            <a:stretch>
              <a:fillRect l="-686" t="2" b="-4120"/>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77414" y="6375748"/>
            <a:ext cx="4847572" cy="363255"/>
          </a:xfrm>
          <a:prstGeom prst="rect">
            <a:avLst/>
          </a:prstGeom>
        </p:spPr>
        <p:txBody>
          <a:bodyPr anchor="ctr">
            <a:normAutofit/>
          </a:bodyPr>
          <a:lstStyle>
            <a:lvl1pPr marL="0" indent="0">
              <a:buNone/>
              <a:defRPr sz="1400" b="0" i="0">
                <a:latin typeface="+mj-lt"/>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0156618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lumMod val="90000"/>
          </a:schemeClr>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C83582-5E0E-E3D3-3C94-4ACFD9A1C718}"/>
              </a:ext>
            </a:extLst>
          </p:cNvPr>
          <p:cNvSpPr>
            <a:spLocks noGrp="1"/>
          </p:cNvSpPr>
          <p:nvPr>
            <p:ph type="title"/>
          </p:nvPr>
        </p:nvSpPr>
        <p:spPr>
          <a:xfrm>
            <a:off x="634030" y="5109709"/>
            <a:ext cx="10369296"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F18D256-8D94-AD48-AC70-FA7FB4656784}" type="datetime1">
              <a:rPr lang="en-US" smtClean="0"/>
              <a:t>4/3/2026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EADDD523-89BD-4FD5-9443-E7DD58338829}"/>
              </a:ext>
            </a:extLst>
          </p:cNvPr>
          <p:cNvSpPr>
            <a:spLocks noGrp="1"/>
          </p:cNvSpPr>
          <p:nvPr>
            <p:ph sz="quarter" idx="14" hasCustomPrompt="1"/>
          </p:nvPr>
        </p:nvSpPr>
        <p:spPr>
          <a:xfrm>
            <a:off x="634030" y="1374953"/>
            <a:ext cx="11128248" cy="3447288"/>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14886521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4A34DBE-5B8B-D933-E010-32D592317E81}"/>
              </a:ext>
            </a:extLst>
          </p:cNvPr>
          <p:cNvSpPr>
            <a:spLocks noGrp="1"/>
          </p:cNvSpPr>
          <p:nvPr>
            <p:ph type="title"/>
          </p:nvPr>
        </p:nvSpPr>
        <p:spPr>
          <a:xfrm>
            <a:off x="634030" y="5380383"/>
            <a:ext cx="6773934" cy="936333"/>
          </a:xfrm>
        </p:spPr>
        <p:txBody>
          <a:bodyPr anchor="b">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C99D08-11FA-9A4F-8AE4-C4979B640AA7}" type="datetime1">
              <a:rPr lang="en-US" smtClean="0"/>
              <a:t>4/3/2026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A2C14DB2-31D1-2A77-5862-79EC80A884B1}"/>
              </a:ext>
            </a:extLst>
          </p:cNvPr>
          <p:cNvSpPr>
            <a:spLocks noGrp="1"/>
          </p:cNvSpPr>
          <p:nvPr>
            <p:ph sz="quarter" idx="14" hasCustomPrompt="1"/>
          </p:nvPr>
        </p:nvSpPr>
        <p:spPr>
          <a:xfrm>
            <a:off x="634030" y="1374952"/>
            <a:ext cx="10367347" cy="3833147"/>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22604697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0774BD-35B4-BDFD-98B2-123D58FC6550}"/>
              </a:ext>
            </a:extLst>
          </p:cNvPr>
          <p:cNvSpPr>
            <a:spLocks noGrp="1"/>
          </p:cNvSpPr>
          <p:nvPr>
            <p:ph type="title"/>
          </p:nvPr>
        </p:nvSpPr>
        <p:spPr>
          <a:xfrm>
            <a:off x="634030" y="5109709"/>
            <a:ext cx="10367340" cy="1207008"/>
          </a:xfrm>
        </p:spPr>
        <p:txBody>
          <a:bodyPr>
            <a:normAutofit/>
          </a:bodyPr>
          <a:lstStyle>
            <a:lvl1pPr>
              <a:defRPr sz="24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8AE8B27-11F7-194F-8BAB-D7C03BEEA90A}" type="datetime1">
              <a:rPr lang="en-US" smtClean="0"/>
              <a:t>4/3/2026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11">
            <a:extLst>
              <a:ext uri="{FF2B5EF4-FFF2-40B4-BE49-F238E27FC236}">
                <a16:creationId xmlns:a16="http://schemas.microsoft.com/office/drawing/2014/main" id="{856E9D3E-CEAC-9B88-5B32-F19B49057302}"/>
              </a:ext>
            </a:extLst>
          </p:cNvPr>
          <p:cNvSpPr>
            <a:spLocks noGrp="1"/>
          </p:cNvSpPr>
          <p:nvPr>
            <p:ph sz="quarter" idx="14" hasCustomPrompt="1"/>
          </p:nvPr>
        </p:nvSpPr>
        <p:spPr>
          <a:xfrm>
            <a:off x="634030" y="1340489"/>
            <a:ext cx="10369296" cy="3392424"/>
          </a:xfrm>
        </p:spPr>
        <p:txBody>
          <a:bodyPr>
            <a:noAutofit/>
          </a:bodyPr>
          <a:lstStyle>
            <a:lvl1pPr marL="0" indent="0">
              <a:lnSpc>
                <a:spcPct val="90000"/>
              </a:lnSpc>
              <a:buNone/>
              <a:defRPr sz="30000"/>
            </a:lvl1pPr>
          </a:lstStyle>
          <a:p>
            <a:pPr lvl="0"/>
            <a:r>
              <a:rPr lang="en-US"/>
              <a:t>##%</a:t>
            </a:r>
          </a:p>
        </p:txBody>
      </p:sp>
    </p:spTree>
    <p:extLst>
      <p:ext uri="{BB962C8B-B14F-4D97-AF65-F5344CB8AC3E}">
        <p14:creationId xmlns:p14="http://schemas.microsoft.com/office/powerpoint/2010/main" val="4100781990"/>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bg2"/>
        </a:solidFill>
        <a:effectLst/>
      </p:bgPr>
    </p:bg>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09600" y="-1186864"/>
            <a:ext cx="10652760" cy="1050725"/>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9D6C909-3D7F-834E-BB68-316E18E888F7}" type="datetime1">
              <a:rPr lang="en-US" smtClean="0"/>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EB9CB9C1-FB48-2C3D-F797-DF062B37A94B}"/>
              </a:ext>
            </a:extLst>
          </p:cNvPr>
          <p:cNvSpPr>
            <a:spLocks noGrp="1"/>
          </p:cNvSpPr>
          <p:nvPr>
            <p:ph sz="quarter" idx="13" hasCustomPrompt="1"/>
          </p:nvPr>
        </p:nvSpPr>
        <p:spPr>
          <a:xfrm>
            <a:off x="609600" y="634999"/>
            <a:ext cx="10972800" cy="5669280"/>
          </a:xfrm>
          <a:prstGeom prst="rect">
            <a:avLst/>
          </a:prstGeom>
        </p:spPr>
        <p:txBody>
          <a:bodyPr anchor="t">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79835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2">
            <a:lumMod val="9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A6BAF69-D870-EE43-874B-AC932294DF22}" type="datetime1">
              <a:rPr lang="en-US" smtClean="0"/>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5"/>
            <a:ext cx="10972800" cy="5553985"/>
          </a:xfrm>
          <a:prstGeom prst="rect">
            <a:avLst/>
          </a:prstGeom>
        </p:spPr>
        <p:txBody>
          <a:bodyPr anchor="b">
            <a:normAutofit/>
          </a:bodyPr>
          <a:lstStyle>
            <a:lvl1pPr marL="0" indent="0">
              <a:lnSpc>
                <a:spcPct val="90000"/>
              </a:lnSpc>
              <a:buNone/>
              <a:defRPr sz="6000" b="0" cap="all" baseline="0"/>
            </a:lvl1pPr>
            <a:lvl2pPr marL="228600" indent="0">
              <a:lnSpc>
                <a:spcPct val="90000"/>
              </a:lnSpc>
              <a:buNone/>
              <a:defRPr sz="6000" b="0" cap="all" baseline="0"/>
            </a:lvl2pPr>
            <a:lvl3pPr marL="457200" indent="0">
              <a:lnSpc>
                <a:spcPct val="90000"/>
              </a:lnSpc>
              <a:buNone/>
              <a:defRPr sz="6000" b="0" cap="all" baseline="0"/>
            </a:lvl3pPr>
            <a:lvl4pPr marL="685800" indent="0">
              <a:lnSpc>
                <a:spcPct val="90000"/>
              </a:lnSpc>
              <a:buNone/>
              <a:defRPr sz="6000" b="0" cap="all" baseline="0"/>
            </a:lvl4pPr>
            <a:lvl5pPr marL="914400" indent="0">
              <a:lnSpc>
                <a:spcPct val="90000"/>
              </a:lnSpc>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7332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4">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F7E9A70-5D05-F64F-A304-DFD75CCDEE2E}" type="datetime1">
              <a:rPr lang="en-US" smtClean="0"/>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7"/>
            <a:ext cx="10972800" cy="5553985"/>
          </a:xfrm>
          <a:prstGeom prst="rect">
            <a:avLst/>
          </a:prstGeom>
        </p:spPr>
        <p:txBody>
          <a:bodyPr anchor="b">
            <a:normAutofit/>
          </a:bodyPr>
          <a:lstStyle>
            <a:lvl1pPr marL="0" indent="0">
              <a:lnSpc>
                <a:spcPct val="90000"/>
              </a:lnSpc>
              <a:buNone/>
              <a:defRPr sz="6000" b="0" cap="all" baseline="0">
                <a:solidFill>
                  <a:schemeClr val="accent1">
                    <a:lumMod val="25000"/>
                  </a:schemeClr>
                </a:solidFill>
              </a:defRPr>
            </a:lvl1pPr>
            <a:lvl2pPr marL="228600" indent="0">
              <a:lnSpc>
                <a:spcPct val="90000"/>
              </a:lnSpc>
              <a:buNone/>
              <a:defRPr sz="6000" b="0" cap="all" baseline="0">
                <a:solidFill>
                  <a:schemeClr val="accent1">
                    <a:lumMod val="25000"/>
                  </a:schemeClr>
                </a:solidFill>
              </a:defRPr>
            </a:lvl2pPr>
            <a:lvl3pPr marL="457200" indent="0">
              <a:lnSpc>
                <a:spcPct val="90000"/>
              </a:lnSpc>
              <a:buNone/>
              <a:defRPr sz="6000" b="0" cap="all" baseline="0">
                <a:solidFill>
                  <a:schemeClr val="accent1">
                    <a:lumMod val="25000"/>
                  </a:schemeClr>
                </a:solidFill>
              </a:defRPr>
            </a:lvl3pPr>
            <a:lvl4pPr marL="685800" indent="0">
              <a:lnSpc>
                <a:spcPct val="90000"/>
              </a:lnSpc>
              <a:buNone/>
              <a:defRPr sz="6000" b="0" cap="all" baseline="0">
                <a:solidFill>
                  <a:schemeClr val="accent1">
                    <a:lumMod val="25000"/>
                  </a:schemeClr>
                </a:solidFill>
              </a:defRPr>
            </a:lvl4pPr>
            <a:lvl5pPr marL="914400" indent="0">
              <a:lnSpc>
                <a:spcPct val="90000"/>
              </a:lnSpc>
              <a:buNone/>
              <a:defRPr sz="6000" b="0" cap="all" baseline="0">
                <a:solidFill>
                  <a:schemeClr val="accent1">
                    <a:lumMod val="25000"/>
                  </a:schemeClr>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13434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5">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815201"/>
          </a:xfrm>
        </p:spPr>
        <p:txBody>
          <a:bodyPr/>
          <a:lstStyle>
            <a:lvl1pPr>
              <a:defRPr cap="none" baseline="0"/>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151979D-E75F-A743-8C5B-88CDEDEC73D6}" type="datetime1">
              <a:rPr lang="en-US" smtClean="0"/>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Content Placeholder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69011"/>
            <a:ext cx="10972800" cy="5553985"/>
          </a:xfrm>
          <a:prstGeom prst="rect">
            <a:avLst/>
          </a:prstGeom>
        </p:spPr>
        <p:txBody>
          <a:bodyPr anchor="b">
            <a:normAutofit/>
          </a:bodyPr>
          <a:lstStyle>
            <a:lvl1pPr marL="0" indent="0">
              <a:lnSpc>
                <a:spcPct val="90000"/>
              </a:lnSpc>
              <a:buNone/>
              <a:defRPr sz="6000" b="1" cap="all" baseline="0">
                <a:solidFill>
                  <a:schemeClr val="bg1"/>
                </a:solidFill>
              </a:defRPr>
            </a:lvl1pPr>
            <a:lvl2pPr marL="228600" indent="0">
              <a:lnSpc>
                <a:spcPct val="90000"/>
              </a:lnSpc>
              <a:buNone/>
              <a:defRPr sz="6000" b="1" cap="all" baseline="0">
                <a:solidFill>
                  <a:schemeClr val="bg1"/>
                </a:solidFill>
              </a:defRPr>
            </a:lvl2pPr>
            <a:lvl3pPr marL="457200" indent="0">
              <a:lnSpc>
                <a:spcPct val="90000"/>
              </a:lnSpc>
              <a:buNone/>
              <a:defRPr sz="6000" b="1" cap="all" baseline="0">
                <a:solidFill>
                  <a:schemeClr val="bg1"/>
                </a:solidFill>
              </a:defRPr>
            </a:lvl3pPr>
            <a:lvl4pPr marL="685800" indent="0">
              <a:lnSpc>
                <a:spcPct val="90000"/>
              </a:lnSpc>
              <a:buNone/>
              <a:defRPr sz="6000" b="1" cap="all" baseline="0">
                <a:solidFill>
                  <a:schemeClr val="bg1"/>
                </a:solidFill>
              </a:defRPr>
            </a:lvl4pPr>
            <a:lvl5pPr marL="914400" indent="0">
              <a:lnSpc>
                <a:spcPct val="90000"/>
              </a:lnSpc>
              <a:buNone/>
              <a:defRPr sz="6000" b="1" cap="all" baseline="0">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73895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3A49BD5-2A20-6D4F-BDE5-9C60FF133D72}"/>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tx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BC72B243-4245-AC4F-8428-841FDABED002}" type="datetime1">
              <a:rPr lang="en-US" smtClean="0"/>
              <a:t>4/3/2026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6CA0554C-4FF8-F224-177F-D44E2EA0BFBB}"/>
              </a:ext>
            </a:extLst>
          </p:cNvPr>
          <p:cNvSpPr>
            <a:spLocks noGrp="1"/>
          </p:cNvSpPr>
          <p:nvPr>
            <p:ph sz="quarter" idx="13" hasCustomPrompt="1"/>
          </p:nvPr>
        </p:nvSpPr>
        <p:spPr>
          <a:xfrm>
            <a:off x="628953" y="1373807"/>
            <a:ext cx="10069527" cy="4060635"/>
          </a:xfrm>
          <a:prstGeom prst="rect">
            <a:avLst/>
          </a:prstGeom>
        </p:spPr>
        <p:txBody>
          <a:bodyPr anchor="t">
            <a:normAutofit/>
          </a:bodyPr>
          <a:lstStyle>
            <a:lvl1pPr marL="164592" indent="-164592">
              <a:lnSpc>
                <a:spcPct val="100000"/>
              </a:lnSpc>
              <a:spcBef>
                <a:spcPts val="0"/>
              </a:spcBef>
              <a:buNone/>
              <a:defRPr sz="3600" cap="all" baseline="0">
                <a:latin typeface="+mj-lt"/>
              </a:defRPr>
            </a:lvl1pPr>
          </a:lstStyle>
          <a:p>
            <a:pPr lvl="0"/>
            <a:r>
              <a:rPr lang="en-US"/>
              <a:t>CLICK TO ADD QUOTE</a:t>
            </a:r>
          </a:p>
        </p:txBody>
      </p:sp>
    </p:spTree>
    <p:extLst>
      <p:ext uri="{BB962C8B-B14F-4D97-AF65-F5344CB8AC3E}">
        <p14:creationId xmlns:p14="http://schemas.microsoft.com/office/powerpoint/2010/main" val="25699976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4940376-AFED-3D68-777A-172B7001E87B}"/>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01A4D632-3FB7-744B-8469-F41F493E43AE}" type="datetime1">
              <a:rPr lang="en-US" smtClean="0"/>
              <a:t>4/3/2026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EE5118C8-ABCC-8F3E-B739-002235EBAB7C}"/>
              </a:ext>
            </a:extLst>
          </p:cNvPr>
          <p:cNvSpPr>
            <a:spLocks noGrp="1"/>
          </p:cNvSpPr>
          <p:nvPr>
            <p:ph sz="quarter" idx="13" hasCustomPrompt="1"/>
          </p:nvPr>
        </p:nvSpPr>
        <p:spPr>
          <a:xfrm>
            <a:off x="628953" y="667890"/>
            <a:ext cx="10069527" cy="4060635"/>
          </a:xfrm>
          <a:prstGeom prst="rect">
            <a:avLst/>
          </a:prstGeom>
        </p:spPr>
        <p:txBody>
          <a:bodyPr anchor="t">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a:t>CLICK TO ADD QUOTE</a:t>
            </a:r>
          </a:p>
        </p:txBody>
      </p:sp>
    </p:spTree>
    <p:extLst>
      <p:ext uri="{BB962C8B-B14F-4D97-AF65-F5344CB8AC3E}">
        <p14:creationId xmlns:p14="http://schemas.microsoft.com/office/powerpoint/2010/main" val="2507379908"/>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tx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05FFFF2-E35B-B16D-3D98-6A7B571A2044}"/>
              </a:ext>
            </a:extLst>
          </p:cNvPr>
          <p:cNvSpPr>
            <a:spLocks noGrp="1"/>
          </p:cNvSpPr>
          <p:nvPr>
            <p:ph type="title" hasCustomPrompt="1"/>
          </p:nvPr>
        </p:nvSpPr>
        <p:spPr>
          <a:xfrm>
            <a:off x="628953" y="5578741"/>
            <a:ext cx="10069527" cy="640080"/>
          </a:xfrm>
        </p:spPr>
        <p:txBody>
          <a:bodyPr anchor="b">
            <a:normAutofit/>
          </a:bodyPr>
          <a:lstStyle>
            <a:lvl1pPr>
              <a:lnSpc>
                <a:spcPct val="120000"/>
              </a:lnSpc>
              <a:defRPr sz="1600" cap="none" spc="0">
                <a:solidFill>
                  <a:schemeClr val="bg1"/>
                </a:solidFill>
                <a:latin typeface="+mn-lt"/>
              </a:defRPr>
            </a:lvl1pPr>
          </a:lstStyle>
          <a:p>
            <a:r>
              <a:rPr lang="en-US"/>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BE62FDEF-F6CD-6E40-89C3-8A8BB711875E}" type="datetime1">
              <a:rPr lang="en-US" smtClean="0"/>
              <a:t>4/3/2026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6" name="Straight Connector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ontent Placeholder 6">
            <a:extLst>
              <a:ext uri="{FF2B5EF4-FFF2-40B4-BE49-F238E27FC236}">
                <a16:creationId xmlns:a16="http://schemas.microsoft.com/office/drawing/2014/main" id="{2D1EB142-2C95-07B2-16A2-D3B362900569}"/>
              </a:ext>
            </a:extLst>
          </p:cNvPr>
          <p:cNvSpPr>
            <a:spLocks noGrp="1"/>
          </p:cNvSpPr>
          <p:nvPr>
            <p:ph sz="quarter" idx="13" hasCustomPrompt="1"/>
          </p:nvPr>
        </p:nvSpPr>
        <p:spPr>
          <a:xfrm>
            <a:off x="628953" y="634635"/>
            <a:ext cx="10069527" cy="4799807"/>
          </a:xfrm>
          <a:prstGeom prst="rect">
            <a:avLst/>
          </a:prstGeom>
        </p:spPr>
        <p:txBody>
          <a:bodyPr anchor="b">
            <a:normAutofit/>
          </a:bodyPr>
          <a:lstStyle>
            <a:lvl1pPr marL="164592" indent="-164592">
              <a:lnSpc>
                <a:spcPct val="100000"/>
              </a:lnSpc>
              <a:spcBef>
                <a:spcPts val="0"/>
              </a:spcBef>
              <a:buNone/>
              <a:defRPr sz="3600" cap="all" baseline="0">
                <a:solidFill>
                  <a:schemeClr val="bg1"/>
                </a:solidFill>
                <a:latin typeface="+mj-lt"/>
              </a:defRPr>
            </a:lvl1pPr>
          </a:lstStyle>
          <a:p>
            <a:pPr lvl="0"/>
            <a:r>
              <a:rPr lang="en-US"/>
              <a:t>CLICK TO ADD QUOTE</a:t>
            </a:r>
          </a:p>
        </p:txBody>
      </p:sp>
    </p:spTree>
    <p:extLst>
      <p:ext uri="{BB962C8B-B14F-4D97-AF65-F5344CB8AC3E}">
        <p14:creationId xmlns:p14="http://schemas.microsoft.com/office/powerpoint/2010/main" val="3252448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0"/>
            <a:ext cx="10923934" cy="1127756"/>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AA6F6B0-7BDB-FB4C-9D76-500FE2DDFD1B}"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70CAE2F0-3041-7269-FCA3-14BE4B94ECBB}"/>
              </a:ext>
            </a:extLst>
          </p:cNvPr>
          <p:cNvSpPr>
            <a:spLocks noGrp="1"/>
          </p:cNvSpPr>
          <p:nvPr>
            <p:ph sz="quarter" idx="15"/>
          </p:nvPr>
        </p:nvSpPr>
        <p:spPr>
          <a:xfrm>
            <a:off x="634030" y="2129474"/>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9">
            <a:extLst>
              <a:ext uri="{FF2B5EF4-FFF2-40B4-BE49-F238E27FC236}">
                <a16:creationId xmlns:a16="http://schemas.microsoft.com/office/drawing/2014/main" id="{202FAAFA-42C4-CFD2-DBA8-BC2201120380}"/>
              </a:ext>
            </a:extLst>
          </p:cNvPr>
          <p:cNvSpPr>
            <a:spLocks noGrp="1"/>
          </p:cNvSpPr>
          <p:nvPr>
            <p:ph sz="quarter" idx="16"/>
          </p:nvPr>
        </p:nvSpPr>
        <p:spPr>
          <a:xfrm>
            <a:off x="6290632" y="2128839"/>
            <a:ext cx="5267332" cy="4094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74798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41197"/>
            <a:ext cx="10923934" cy="688973"/>
          </a:xfrm>
        </p:spPr>
        <p:txBody>
          <a:bodyPr>
            <a:normAutofit/>
          </a:bodyPr>
          <a:lstStyle>
            <a:lvl1pPr>
              <a:defRPr sz="3600"/>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C4869-D3B1-C341-9C4A-88DDA4DA192E}" type="datetime1">
              <a:rPr lang="en-US" smtClean="0"/>
              <a:t>4/3/2026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3472" y="1456523"/>
            <a:ext cx="526664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9">
            <a:extLst>
              <a:ext uri="{FF2B5EF4-FFF2-40B4-BE49-F238E27FC236}">
                <a16:creationId xmlns:a16="http://schemas.microsoft.com/office/drawing/2014/main" id="{AAF7DC9C-9332-6860-8B76-290D8AE372F7}"/>
              </a:ext>
            </a:extLst>
          </p:cNvPr>
          <p:cNvSpPr>
            <a:spLocks noGrp="1"/>
          </p:cNvSpPr>
          <p:nvPr>
            <p:ph sz="quarter" idx="15"/>
          </p:nvPr>
        </p:nvSpPr>
        <p:spPr>
          <a:xfrm>
            <a:off x="633470"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456523"/>
            <a:ext cx="5271464" cy="688973"/>
          </a:xfrm>
          <a:prstGeom prst="rect">
            <a:avLst/>
          </a:prstGeo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9">
            <a:extLst>
              <a:ext uri="{FF2B5EF4-FFF2-40B4-BE49-F238E27FC236}">
                <a16:creationId xmlns:a16="http://schemas.microsoft.com/office/drawing/2014/main" id="{814A6650-A301-AE53-ACE9-C9F2CCD87CE8}"/>
              </a:ext>
            </a:extLst>
          </p:cNvPr>
          <p:cNvSpPr>
            <a:spLocks noGrp="1"/>
          </p:cNvSpPr>
          <p:nvPr>
            <p:ph sz="quarter" idx="16"/>
          </p:nvPr>
        </p:nvSpPr>
        <p:spPr>
          <a:xfrm>
            <a:off x="6290072" y="2271849"/>
            <a:ext cx="5267332" cy="39449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533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30" y="634990"/>
            <a:ext cx="10923933" cy="1127761"/>
          </a:xfrm>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1280AA4-9AC4-7644-BD1D-3608838FE24E}" type="datetime1">
              <a:rPr lang="en-US" smtClean="0"/>
              <a:t>4/3/2026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6" name="Straight Connector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2277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081334A-D224-D041-9F63-26A9E0C05551}" type="datetime1">
              <a:rPr lang="en-US" smtClean="0"/>
              <a:t>4/3/2026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15109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30" y="634990"/>
            <a:ext cx="4096995" cy="1874006"/>
          </a:xfrm>
        </p:spPr>
        <p:txBody>
          <a:bodyPr anchor="t">
            <a:noAutofit/>
          </a:bodyPr>
          <a:lstStyle>
            <a:lvl1pPr>
              <a:defRPr sz="36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F2E9456-38E2-B645-89F2-A4EE19009666}" type="datetime1">
              <a:rPr lang="en-US" smtClean="0"/>
              <a:t>4/3/2026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0" y="2866804"/>
            <a:ext cx="4096987" cy="2989469"/>
          </a:xfrm>
          <a:prstGeom prst="rect">
            <a:avLst/>
          </a:prstGeo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62330" y="634989"/>
            <a:ext cx="6495633" cy="5857517"/>
          </a:xfrm>
          <a:prstGeom prst="rect">
            <a:avLst/>
          </a:prstGeo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7250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0D70470-0208-0F43-B978-960D5782D9F1}" type="datetime1">
              <a:rPr lang="en-US" smtClean="0"/>
              <a:t>4/3/2026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56D9DA0-6EE9-83EA-17DF-CC70C2448FC9}"/>
              </a:ext>
            </a:extLst>
          </p:cNvPr>
          <p:cNvSpPr>
            <a:spLocks noGrp="1"/>
          </p:cNvSpPr>
          <p:nvPr>
            <p:ph type="title"/>
          </p:nvPr>
        </p:nvSpPr>
        <p:spPr>
          <a:xfrm>
            <a:off x="612648" y="634990"/>
            <a:ext cx="3595634" cy="1762083"/>
          </a:xfrm>
        </p:spPr>
        <p:txBody>
          <a:bodyPr anchor="t">
            <a:normAutofit/>
          </a:bodyPr>
          <a:lstStyle>
            <a:lvl1pPr>
              <a:defRPr sz="3600"/>
            </a:lvl1pPr>
          </a:lstStyle>
          <a:p>
            <a:r>
              <a:rPr lang="en-US"/>
              <a:t>Click to edit Master title style</a:t>
            </a:r>
          </a:p>
        </p:txBody>
      </p:sp>
      <p:sp>
        <p:nvSpPr>
          <p:cNvPr id="11" name="Text Placeholder 3">
            <a:extLst>
              <a:ext uri="{FF2B5EF4-FFF2-40B4-BE49-F238E27FC236}">
                <a16:creationId xmlns:a16="http://schemas.microsoft.com/office/drawing/2014/main" id="{D578782C-4033-2DC8-D9E6-78F704FB0CD8}"/>
              </a:ext>
            </a:extLst>
          </p:cNvPr>
          <p:cNvSpPr>
            <a:spLocks noGrp="1"/>
          </p:cNvSpPr>
          <p:nvPr>
            <p:ph type="body" sz="half" idx="2"/>
          </p:nvPr>
        </p:nvSpPr>
        <p:spPr>
          <a:xfrm>
            <a:off x="612648" y="2521515"/>
            <a:ext cx="3585586" cy="370111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4782C0C8-F3A4-B2F1-131D-63904B515429}"/>
              </a:ext>
            </a:extLst>
          </p:cNvPr>
          <p:cNvSpPr>
            <a:spLocks noGrp="1"/>
          </p:cNvSpPr>
          <p:nvPr>
            <p:ph type="pic" idx="1" hasCustomPrompt="1"/>
          </p:nvPr>
        </p:nvSpPr>
        <p:spPr>
          <a:xfrm>
            <a:off x="5340483" y="634990"/>
            <a:ext cx="6139637" cy="5587643"/>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8790010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373816"/>
            <a:ext cx="10906802" cy="1607128"/>
          </a:xfrm>
        </p:spPr>
        <p:txBody>
          <a:bodyPr anchor="b">
            <a:noAutofit/>
          </a:bodyPr>
          <a:lstStyle>
            <a:lvl1pPr>
              <a:defRPr sz="3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B19637D-AC4A-CB4E-96DC-9B86DEC28BAD}"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633480" y="3615051"/>
            <a:ext cx="10906781" cy="2607949"/>
          </a:xfrm>
          <a:prstGeom prst="rect">
            <a:avLst/>
          </a:prstGeo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6864035"/>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B729E58-15D4-9BFF-C39F-C683CED24138}"/>
              </a:ext>
            </a:extLst>
          </p:cNvPr>
          <p:cNvSpPr>
            <a:spLocks noGrp="1"/>
          </p:cNvSpPr>
          <p:nvPr>
            <p:ph type="title"/>
          </p:nvPr>
        </p:nvSpPr>
        <p:spPr>
          <a:xfrm>
            <a:off x="612647" y="1953889"/>
            <a:ext cx="8430767" cy="1842020"/>
          </a:xfrm>
        </p:spPr>
        <p:txBody>
          <a:bodyPr anchor="b">
            <a:noAutofit/>
          </a:bodyPr>
          <a:lstStyle>
            <a:lvl1pPr>
              <a:defRPr sz="3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16200000">
            <a:off x="-532352" y="5260879"/>
            <a:ext cx="1494475" cy="429768"/>
          </a:xfrm>
        </p:spPr>
        <p:txBody>
          <a:bodyPr/>
          <a:lstStyle>
            <a:lvl1pPr>
              <a:defRPr>
                <a:solidFill>
                  <a:schemeClr val="bg1"/>
                </a:solidFill>
              </a:defRPr>
            </a:lvl1pPr>
          </a:lstStyle>
          <a:p>
            <a:fld id="{68B0FE8A-6796-DE43-BAD7-69D8B3740AE7}"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6">
            <a:extLst>
              <a:ext uri="{FF2B5EF4-FFF2-40B4-BE49-F238E27FC236}">
                <a16:creationId xmlns:a16="http://schemas.microsoft.com/office/drawing/2014/main" id="{349BFD2E-FBA7-08CA-139F-3F60185F32DE}"/>
              </a:ext>
            </a:extLst>
          </p:cNvPr>
          <p:cNvSpPr>
            <a:spLocks noGrp="1"/>
          </p:cNvSpPr>
          <p:nvPr>
            <p:ph sz="quarter" idx="14" hasCustomPrompt="1"/>
          </p:nvPr>
        </p:nvSpPr>
        <p:spPr>
          <a:xfrm>
            <a:off x="612775" y="3971109"/>
            <a:ext cx="8430639" cy="2251892"/>
          </a:xfrm>
          <a:prstGeom prst="rect">
            <a:avLst/>
          </a:prstGeom>
        </p:spPr>
        <p:txBody>
          <a:bodyPr anchor="b">
            <a:no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631371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634990"/>
            <a:ext cx="10923934" cy="755659"/>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lstStyle>
            <a:lvl1pPr algn="r" rtl="0">
              <a:defRPr sz="800" b="0" i="0">
                <a:solidFill>
                  <a:schemeClr val="tx1"/>
                </a:solidFill>
                <a:latin typeface="+mn-lt"/>
                <a:ea typeface="Batang" panose="02030600000101010101" pitchFamily="18" charset="-127"/>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rtl="0">
              <a:defRPr sz="800" b="0" i="0">
                <a:solidFill>
                  <a:schemeClr val="tx1"/>
                </a:solidFill>
                <a:latin typeface="+mn-lt"/>
                <a:ea typeface="Batang" panose="02030600000101010101" pitchFamily="18" charset="-127"/>
              </a:defRPr>
            </a:lvl1pPr>
          </a:lstStyle>
          <a:p>
            <a:fld id="{43E9438E-6B36-A14E-B7B5-A87CBFCBC1F9}" type="datetime1">
              <a:rPr lang="en-US" smtClean="0"/>
              <a:pPr/>
              <a:t>4/3/2026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rtl="0">
              <a:defRPr sz="800" b="0" i="0">
                <a:solidFill>
                  <a:schemeClr val="tx1"/>
                </a:solidFill>
                <a:latin typeface="+mn-lt"/>
                <a:ea typeface="Batang" panose="02030600000101010101" pitchFamily="18" charset="-127"/>
              </a:defRPr>
            </a:lvl1pPr>
          </a:lstStyle>
          <a:p>
            <a:fld id="{CC057153-B650-4DEB-B370-79DDCFDCE934}" type="slidenum">
              <a:rPr lang="en-US" smtClean="0"/>
              <a:pPr/>
              <a:t>‹#›</a:t>
            </a:fld>
            <a:endParaRPr lang="en-US"/>
          </a:p>
        </p:txBody>
      </p:sp>
      <p:sp>
        <p:nvSpPr>
          <p:cNvPr id="9" name="Text Placeholder 2">
            <a:extLst>
              <a:ext uri="{FF2B5EF4-FFF2-40B4-BE49-F238E27FC236}">
                <a16:creationId xmlns:a16="http://schemas.microsoft.com/office/drawing/2014/main" id="{65102932-722B-3E65-A301-BE5A2490CA12}"/>
              </a:ext>
            </a:extLst>
          </p:cNvPr>
          <p:cNvSpPr>
            <a:spLocks noGrp="1"/>
          </p:cNvSpPr>
          <p:nvPr>
            <p:ph type="body" idx="1"/>
          </p:nvPr>
        </p:nvSpPr>
        <p:spPr>
          <a:xfrm>
            <a:off x="634030" y="1537958"/>
            <a:ext cx="10923934" cy="46850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7437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hdr="0"/>
  <p:txStyles>
    <p:titleStyle>
      <a:lvl1pPr algn="l" defTabSz="914400" rtl="0" eaLnBrk="1" latinLnBrk="0" hangingPunct="1">
        <a:lnSpc>
          <a:spcPct val="90000"/>
        </a:lnSpc>
        <a:spcBef>
          <a:spcPct val="0"/>
        </a:spcBef>
        <a:buNone/>
        <a:defRPr sz="3600" b="0" i="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CAD14-E3FD-D095-FE4A-4BA79950C7B9}"/>
              </a:ext>
            </a:extLst>
          </p:cNvPr>
          <p:cNvSpPr>
            <a:spLocks noGrp="1"/>
          </p:cNvSpPr>
          <p:nvPr>
            <p:ph type="ctrTitle"/>
          </p:nvPr>
        </p:nvSpPr>
        <p:spPr>
          <a:xfrm>
            <a:off x="612648" y="1373807"/>
            <a:ext cx="3892269" cy="3331896"/>
          </a:xfrm>
        </p:spPr>
        <p:txBody>
          <a:bodyPr anchor="t">
            <a:normAutofit/>
          </a:bodyPr>
          <a:lstStyle/>
          <a:p>
            <a:r>
              <a:rPr lang="en-US"/>
              <a:t>AI‑Driven Portfolio Intelligence Agent for Private Banking</a:t>
            </a:r>
          </a:p>
        </p:txBody>
      </p:sp>
      <p:sp>
        <p:nvSpPr>
          <p:cNvPr id="5" name="Date Placeholder 4">
            <a:extLst>
              <a:ext uri="{FF2B5EF4-FFF2-40B4-BE49-F238E27FC236}">
                <a16:creationId xmlns:a16="http://schemas.microsoft.com/office/drawing/2014/main" id="{65425B76-02E0-7A26-DF67-F5A33E9BEF4D}"/>
              </a:ext>
            </a:extLst>
          </p:cNvPr>
          <p:cNvSpPr>
            <a:spLocks noGrp="1"/>
          </p:cNvSpPr>
          <p:nvPr>
            <p:ph type="dt" sz="half" idx="14"/>
          </p:nvPr>
        </p:nvSpPr>
        <p:spPr>
          <a:xfrm rot="16200000">
            <a:off x="-537354" y="5265452"/>
            <a:ext cx="1494475" cy="420624"/>
          </a:xfrm>
        </p:spPr>
        <p:txBody>
          <a:bodyPr anchor="ctr">
            <a:normAutofit/>
          </a:bodyPr>
          <a:lstStyle/>
          <a:p>
            <a:pPr>
              <a:spcAft>
                <a:spcPts val="600"/>
              </a:spcAft>
            </a:pPr>
            <a:fld id="{49B045A2-93A3-0245-952F-F70516988491}" type="datetime1">
              <a:rPr lang="en-US" smtClean="0"/>
              <a:pPr>
                <a:spcAft>
                  <a:spcPts val="600"/>
                </a:spcAft>
              </a:pPr>
              <a:t>4/3/2026</a:t>
            </a:fld>
            <a:endParaRPr lang="en-US"/>
          </a:p>
        </p:txBody>
      </p:sp>
      <p:sp>
        <p:nvSpPr>
          <p:cNvPr id="6" name="Slide Number Placeholder 5">
            <a:extLst>
              <a:ext uri="{FF2B5EF4-FFF2-40B4-BE49-F238E27FC236}">
                <a16:creationId xmlns:a16="http://schemas.microsoft.com/office/drawing/2014/main" id="{E3ED8362-FD0D-334E-395A-18838057894B}"/>
              </a:ext>
            </a:extLst>
          </p:cNvPr>
          <p:cNvSpPr>
            <a:spLocks noGrp="1"/>
          </p:cNvSpPr>
          <p:nvPr>
            <p:ph type="sldNum" sz="quarter" idx="16"/>
          </p:nvPr>
        </p:nvSpPr>
        <p:spPr>
          <a:xfrm>
            <a:off x="-429" y="64928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pic>
        <p:nvPicPr>
          <p:cNvPr id="8" name="Picture Placeholder 7" descr="Blurred financial stock market data and graph">
            <a:extLst>
              <a:ext uri="{FF2B5EF4-FFF2-40B4-BE49-F238E27FC236}">
                <a16:creationId xmlns:a16="http://schemas.microsoft.com/office/drawing/2014/main" id="{6E6AEE1A-1E0F-4546-A92A-312FC90F37B5}"/>
              </a:ext>
            </a:extLst>
          </p:cNvPr>
          <p:cNvPicPr>
            <a:picLocks noGrp="1" noChangeAspect="1"/>
          </p:cNvPicPr>
          <p:nvPr>
            <p:ph type="pic" sz="quarter" idx="13"/>
          </p:nvPr>
        </p:nvPicPr>
        <p:blipFill>
          <a:blip r:embed="rId3"/>
          <a:srcRect l="24259" r="5793" b="-1"/>
          <a:stretch>
            <a:fillRect/>
          </a:stretch>
        </p:blipFill>
        <p:spPr>
          <a:xfrm>
            <a:off x="5111574" y="10"/>
            <a:ext cx="7080426" cy="6857990"/>
          </a:xfrm>
          <a:blipFill dpi="0" rotWithShape="1">
            <a:blip r:embed="rId4">
              <a:alphaModFix amt="60000"/>
            </a:blip>
            <a:srcRect/>
            <a:stretch>
              <a:fillRect/>
            </a:stretch>
          </a:blipFill>
        </p:spPr>
      </p:pic>
      <p:sp>
        <p:nvSpPr>
          <p:cNvPr id="7" name="Footer Placeholder 2">
            <a:extLst>
              <a:ext uri="{FF2B5EF4-FFF2-40B4-BE49-F238E27FC236}">
                <a16:creationId xmlns:a16="http://schemas.microsoft.com/office/drawing/2014/main" id="{FBD79DED-5728-0879-048E-9304D19A39F9}"/>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415550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A69B7-D633-39DE-EE11-9C958B7872E1}"/>
              </a:ext>
            </a:extLst>
          </p:cNvPr>
          <p:cNvSpPr>
            <a:spLocks noGrp="1"/>
          </p:cNvSpPr>
          <p:nvPr>
            <p:ph type="ctrTitle"/>
          </p:nvPr>
        </p:nvSpPr>
        <p:spPr>
          <a:xfrm>
            <a:off x="612648" y="1001713"/>
            <a:ext cx="7909560" cy="5477510"/>
          </a:xfrm>
        </p:spPr>
        <p:txBody>
          <a:bodyPr anchor="b">
            <a:normAutofit/>
          </a:bodyPr>
          <a:lstStyle/>
          <a:p>
            <a:r>
              <a:rPr lang="en-US"/>
              <a:t>Problem Context and Use Case Definition</a:t>
            </a:r>
          </a:p>
        </p:txBody>
      </p:sp>
      <p:sp>
        <p:nvSpPr>
          <p:cNvPr id="5" name="Date Placeholder 4">
            <a:extLst>
              <a:ext uri="{FF2B5EF4-FFF2-40B4-BE49-F238E27FC236}">
                <a16:creationId xmlns:a16="http://schemas.microsoft.com/office/drawing/2014/main" id="{671F823A-161C-FF0D-8028-74E4DC4C64DA}"/>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4/3/2026</a:t>
            </a:fld>
            <a:endParaRPr lang="en-US"/>
          </a:p>
        </p:txBody>
      </p:sp>
      <p:sp>
        <p:nvSpPr>
          <p:cNvPr id="6" name="Slide Number Placeholder 5">
            <a:extLst>
              <a:ext uri="{FF2B5EF4-FFF2-40B4-BE49-F238E27FC236}">
                <a16:creationId xmlns:a16="http://schemas.microsoft.com/office/drawing/2014/main" id="{415EE3CE-CB88-E710-3C2F-1E95E5B8DFDB}"/>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
        <p:nvSpPr>
          <p:cNvPr id="3" name="TextBox 2">
            <a:extLst>
              <a:ext uri="{FF2B5EF4-FFF2-40B4-BE49-F238E27FC236}">
                <a16:creationId xmlns:a16="http://schemas.microsoft.com/office/drawing/2014/main" id="{B785337A-25CF-3511-2EC8-868F910EC093}"/>
              </a:ext>
            </a:extLst>
          </p:cNvPr>
          <p:cNvSpPr txBox="1"/>
          <p:nvPr/>
        </p:nvSpPr>
        <p:spPr>
          <a:xfrm>
            <a:off x="722923" y="625231"/>
            <a:ext cx="6096000"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a:solidFill>
                  <a:schemeClr val="bg1"/>
                </a:solidFill>
                <a:latin typeface="Nunito Sans"/>
                <a:ea typeface="Consolas"/>
                <a:cs typeface="Consolas"/>
              </a:rPr>
              <a:t>1</a:t>
            </a:r>
          </a:p>
          <a:p>
            <a:endParaRPr lang="en-US" b="0">
              <a:solidFill>
                <a:srgbClr val="CCCCCC"/>
              </a:solidFill>
              <a:latin typeface="Consolas"/>
              <a:ea typeface="Consolas"/>
              <a:cs typeface="Consolas"/>
            </a:endParaRPr>
          </a:p>
          <a:p>
            <a:pPr algn="ctr"/>
            <a:endParaRPr lang="en-GB"/>
          </a:p>
        </p:txBody>
      </p:sp>
      <p:sp>
        <p:nvSpPr>
          <p:cNvPr id="11" name="Footer Placeholder 2">
            <a:extLst>
              <a:ext uri="{FF2B5EF4-FFF2-40B4-BE49-F238E27FC236}">
                <a16:creationId xmlns:a16="http://schemas.microsoft.com/office/drawing/2014/main" id="{43BE5B1F-B6B4-C938-7FDE-48857731BEF5}"/>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solidFill>
                  <a:schemeClr val="bg1"/>
                </a:solidFill>
              </a:rPr>
              <a:t>TEAM – AGENTIC PANDAS</a:t>
            </a:r>
          </a:p>
        </p:txBody>
      </p:sp>
    </p:spTree>
    <p:extLst>
      <p:ext uri="{BB962C8B-B14F-4D97-AF65-F5344CB8AC3E}">
        <p14:creationId xmlns:p14="http://schemas.microsoft.com/office/powerpoint/2010/main" val="30192049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E827-34FB-2DD8-05F2-0695F5DC0E11}"/>
              </a:ext>
            </a:extLst>
          </p:cNvPr>
          <p:cNvSpPr>
            <a:spLocks noGrp="1"/>
          </p:cNvSpPr>
          <p:nvPr>
            <p:ph type="title"/>
          </p:nvPr>
        </p:nvSpPr>
        <p:spPr>
          <a:xfrm>
            <a:off x="4487024" y="390407"/>
            <a:ext cx="6950232" cy="1331488"/>
          </a:xfrm>
        </p:spPr>
        <p:txBody>
          <a:bodyPr anchor="t">
            <a:normAutofit/>
          </a:bodyPr>
          <a:lstStyle/>
          <a:p>
            <a:r>
              <a:rPr lang="en-US" sz="3100"/>
              <a:t>Operational Challenges in Pre‑Review Portfolio Analysis</a:t>
            </a:r>
          </a:p>
        </p:txBody>
      </p:sp>
      <p:sp>
        <p:nvSpPr>
          <p:cNvPr id="4" name="Date Placeholder 3">
            <a:extLst>
              <a:ext uri="{FF2B5EF4-FFF2-40B4-BE49-F238E27FC236}">
                <a16:creationId xmlns:a16="http://schemas.microsoft.com/office/drawing/2014/main" id="{6D5EE90D-8380-D568-D1B2-2DADA748AFD9}"/>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FD8B7992-C117-AB9E-EA93-C10135FE538A}"/>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pic>
        <p:nvPicPr>
          <p:cNvPr id="8" name="Content Placeholder 7" descr="Reading daily reports is important work of a manager">
            <a:extLst>
              <a:ext uri="{FF2B5EF4-FFF2-40B4-BE49-F238E27FC236}">
                <a16:creationId xmlns:a16="http://schemas.microsoft.com/office/drawing/2014/main" id="{DC72732F-A5C3-4A38-98FE-9F85EDF0F7A6}"/>
              </a:ext>
            </a:extLst>
          </p:cNvPr>
          <p:cNvPicPr>
            <a:picLocks noGrp="1" noChangeAspect="1"/>
          </p:cNvPicPr>
          <p:nvPr>
            <p:ph type="pic" sz="quarter" idx="13"/>
          </p:nvPr>
        </p:nvPicPr>
        <p:blipFill>
          <a:blip r:embed="rId3"/>
          <a:srcRect l="22423" r="45880" b="-1"/>
          <a:stretch>
            <a:fillRect/>
          </a:stretch>
        </p:blipFill>
        <p:spPr>
          <a:xfrm>
            <a:off x="598328" y="10"/>
            <a:ext cx="3256513" cy="6857990"/>
          </a:xfrm>
        </p:spPr>
      </p:pic>
      <p:sp>
        <p:nvSpPr>
          <p:cNvPr id="7" name="Content Placeholder 6">
            <a:extLst>
              <a:ext uri="{FF2B5EF4-FFF2-40B4-BE49-F238E27FC236}">
                <a16:creationId xmlns:a16="http://schemas.microsoft.com/office/drawing/2014/main" id="{7EA5C1D6-D5EE-4FB7-ABB2-9CF4BD474E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471042"/>
            <a:ext cx="6950232" cy="5195887"/>
          </a:xfrm>
        </p:spPr>
        <p:txBody>
          <a:bodyPr vert="horz" lIns="91440" tIns="45720" rIns="91440" bIns="45720" rtlCol="0" anchor="t">
            <a:noAutofit/>
          </a:bodyPr>
          <a:lstStyle/>
          <a:p>
            <a:pPr>
              <a:buNone/>
            </a:pPr>
            <a:r>
              <a:rPr lang="en-US" b="1"/>
              <a:t>Data &amp; Operations Challenges</a:t>
            </a:r>
            <a:endParaRPr lang="en-US"/>
          </a:p>
          <a:p>
            <a:pPr>
              <a:buNone/>
            </a:pPr>
            <a:r>
              <a:rPr lang="en-US" b="1"/>
              <a:t>High Manual Workload</a:t>
            </a:r>
            <a:endParaRPr lang="en-US"/>
          </a:p>
          <a:p>
            <a:pPr>
              <a:buNone/>
            </a:pPr>
            <a:r>
              <a:rPr lang="en-US" sz="1100">
                <a:latin typeface="Segoe UI"/>
                <a:ea typeface="Calibri"/>
                <a:cs typeface="Segoe UI"/>
              </a:rPr>
              <a:t>      Analysts spend </a:t>
            </a:r>
            <a:r>
              <a:rPr lang="en-US" sz="1100" b="1">
                <a:latin typeface="Segoe UI"/>
                <a:ea typeface="Calibri"/>
                <a:cs typeface="Segoe UI"/>
              </a:rPr>
              <a:t>40–60% of their time</a:t>
            </a:r>
            <a:r>
              <a:rPr lang="en-US" sz="1100">
                <a:latin typeface="Segoe UI"/>
                <a:ea typeface="Calibri"/>
                <a:cs typeface="Segoe UI"/>
              </a:rPr>
              <a:t> manually gathering, cleaning, and validating data—limiting capacity for high‑value analysis.</a:t>
            </a:r>
            <a:endParaRPr lang="en-US"/>
          </a:p>
          <a:p>
            <a:pPr>
              <a:buNone/>
            </a:pPr>
            <a:r>
              <a:rPr lang="en-US" b="1"/>
              <a:t>Fragmented Data Landscape</a:t>
            </a:r>
            <a:endParaRPr lang="en-US"/>
          </a:p>
          <a:p>
            <a:pPr>
              <a:buNone/>
            </a:pPr>
            <a:r>
              <a:rPr lang="en-US" sz="1100">
                <a:latin typeface="Segoe UI"/>
                <a:ea typeface="Calibri"/>
                <a:cs typeface="Segoe UI"/>
              </a:rPr>
              <a:t>    Portfolio information is distributed across </a:t>
            </a:r>
            <a:r>
              <a:rPr lang="en-US" sz="1100" b="1">
                <a:latin typeface="Segoe UI"/>
                <a:ea typeface="Calibri"/>
                <a:cs typeface="Segoe UI"/>
              </a:rPr>
              <a:t>multiple custodians, internal systems, and unstructured   PDFs</a:t>
            </a:r>
            <a:r>
              <a:rPr lang="en-US" sz="1100">
                <a:latin typeface="Segoe UI"/>
                <a:ea typeface="Calibri"/>
                <a:cs typeface="Segoe UI"/>
              </a:rPr>
              <a:t>, making consolidation slow and inconsistent.</a:t>
            </a:r>
            <a:endParaRPr lang="en-US"/>
          </a:p>
          <a:p>
            <a:pPr>
              <a:buNone/>
            </a:pPr>
            <a:r>
              <a:rPr lang="en-US" b="1"/>
              <a:t>High Error Risk</a:t>
            </a:r>
            <a:br>
              <a:rPr lang="en-US"/>
            </a:br>
            <a:r>
              <a:rPr lang="en-US" sz="1100">
                <a:latin typeface="Segoe UI"/>
                <a:ea typeface="Calibri"/>
                <a:cs typeface="Segoe UI"/>
              </a:rPr>
              <a:t>Manual spreadsheet processes significantly increase the likelihood of </a:t>
            </a:r>
            <a:r>
              <a:rPr lang="en-US" sz="1100" b="1">
                <a:latin typeface="Segoe UI"/>
                <a:ea typeface="Calibri"/>
                <a:cs typeface="Segoe UI"/>
              </a:rPr>
              <a:t>data inconsistencies, reconciliation errors, and reporting inaccuracies</a:t>
            </a:r>
            <a:r>
              <a:rPr lang="en-US" sz="1100">
                <a:latin typeface="Segoe UI"/>
                <a:ea typeface="Calibri"/>
                <a:cs typeface="Segoe UI"/>
              </a:rPr>
              <a:t>.</a:t>
            </a:r>
            <a:endParaRPr lang="en-US"/>
          </a:p>
          <a:p>
            <a:pPr>
              <a:buNone/>
            </a:pPr>
            <a:r>
              <a:rPr lang="en-US" b="1"/>
              <a:t>Slow Insight &amp; Narrative Production</a:t>
            </a:r>
            <a:endParaRPr lang="en-US"/>
          </a:p>
          <a:p>
            <a:pPr>
              <a:buNone/>
            </a:pPr>
            <a:r>
              <a:rPr lang="en-US" sz="1100">
                <a:latin typeface="Segoe UI"/>
                <a:ea typeface="Calibri"/>
                <a:cs typeface="Segoe UI"/>
              </a:rPr>
              <a:t>      Teams struggle to produce </a:t>
            </a:r>
            <a:r>
              <a:rPr lang="en-US" sz="1100" b="1">
                <a:latin typeface="Segoe UI"/>
                <a:ea typeface="Calibri"/>
                <a:cs typeface="Segoe UI"/>
              </a:rPr>
              <a:t>client narratives, performance summaries, and review materials</a:t>
            </a:r>
            <a:r>
              <a:rPr lang="en-US" sz="1100">
                <a:latin typeface="Segoe UI"/>
                <a:ea typeface="Calibri"/>
                <a:cs typeface="Segoe UI"/>
              </a:rPr>
              <a:t> quickly due to upstream data delays.</a:t>
            </a:r>
            <a:endParaRPr lang="en-US"/>
          </a:p>
          <a:p>
            <a:pPr>
              <a:buNone/>
            </a:pPr>
            <a:r>
              <a:rPr lang="en-US" b="1"/>
              <a:t>Scalability Constraints</a:t>
            </a:r>
            <a:endParaRPr lang="en-US"/>
          </a:p>
          <a:p>
            <a:pPr>
              <a:buNone/>
            </a:pPr>
            <a:r>
              <a:rPr lang="en-US" sz="1100">
                <a:latin typeface="Segoe UI"/>
                <a:ea typeface="Calibri"/>
                <a:cs typeface="Segoe UI"/>
              </a:rPr>
              <a:t>      Administrative bottlenecks prevent teams from </a:t>
            </a:r>
            <a:r>
              <a:rPr lang="en-US" sz="1100" b="1">
                <a:latin typeface="Segoe UI"/>
                <a:ea typeface="Calibri"/>
                <a:cs typeface="Segoe UI"/>
              </a:rPr>
              <a:t>scaling client coverage</a:t>
            </a:r>
            <a:r>
              <a:rPr lang="en-US" sz="1100">
                <a:latin typeface="Segoe UI"/>
                <a:ea typeface="Calibri"/>
                <a:cs typeface="Segoe UI"/>
              </a:rPr>
              <a:t>, reducing their ability to deliver timely, strategic advisory.</a:t>
            </a:r>
            <a:endParaRPr lang="en-US"/>
          </a:p>
          <a:p>
            <a:pPr>
              <a:buNone/>
            </a:pPr>
            <a:endParaRPr lang="en-US" sz="1050" b="1">
              <a:latin typeface="Calibri"/>
              <a:ea typeface="Calibri"/>
              <a:cs typeface="Calibri"/>
            </a:endParaRPr>
          </a:p>
        </p:txBody>
      </p:sp>
      <p:sp>
        <p:nvSpPr>
          <p:cNvPr id="10" name="Footer Placeholder 2">
            <a:extLst>
              <a:ext uri="{FF2B5EF4-FFF2-40B4-BE49-F238E27FC236}">
                <a16:creationId xmlns:a16="http://schemas.microsoft.com/office/drawing/2014/main" id="{98CC8D53-015E-C801-D306-45703BC30094}"/>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12045496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cientists examines DNA models in modern Neurological Research Laboratory. Touch screens. Wearing clean suit and protective mask">
            <a:extLst>
              <a:ext uri="{FF2B5EF4-FFF2-40B4-BE49-F238E27FC236}">
                <a16:creationId xmlns:a16="http://schemas.microsoft.com/office/drawing/2014/main" id="{A06615EC-6029-4184-A3FE-7B147185A4C8}"/>
              </a:ext>
            </a:extLst>
          </p:cNvPr>
          <p:cNvPicPr>
            <a:picLocks noGrp="1" noChangeAspect="1"/>
          </p:cNvPicPr>
          <p:nvPr>
            <p:ph type="pic" sz="quarter" idx="13"/>
          </p:nvPr>
        </p:nvPicPr>
        <p:blipFill>
          <a:blip r:embed="rId3"/>
          <a:stretch/>
        </p:blipFill>
        <p:spPr>
          <a:xfrm>
            <a:off x="609600" y="2609860"/>
            <a:ext cx="4665863" cy="3499504"/>
          </a:xfrm>
        </p:spPr>
      </p:pic>
      <p:sp>
        <p:nvSpPr>
          <p:cNvPr id="4" name="Date Placeholder 3">
            <a:extLst>
              <a:ext uri="{FF2B5EF4-FFF2-40B4-BE49-F238E27FC236}">
                <a16:creationId xmlns:a16="http://schemas.microsoft.com/office/drawing/2014/main" id="{73701ED3-B089-B962-AF29-58487DE82BA7}"/>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A2EE331A-A22B-0CE9-C68E-9DD684AB7302}"/>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
        <p:nvSpPr>
          <p:cNvPr id="2" name="Title 1">
            <a:extLst>
              <a:ext uri="{FF2B5EF4-FFF2-40B4-BE49-F238E27FC236}">
                <a16:creationId xmlns:a16="http://schemas.microsoft.com/office/drawing/2014/main" id="{E4DB706E-0719-C329-E122-D9CC84B33E02}"/>
              </a:ext>
            </a:extLst>
          </p:cNvPr>
          <p:cNvSpPr>
            <a:spLocks noGrp="1"/>
          </p:cNvSpPr>
          <p:nvPr>
            <p:ph type="title"/>
          </p:nvPr>
        </p:nvSpPr>
        <p:spPr>
          <a:xfrm>
            <a:off x="612647" y="634999"/>
            <a:ext cx="4672584" cy="1269482"/>
          </a:xfrm>
        </p:spPr>
        <p:txBody>
          <a:bodyPr anchor="t">
            <a:normAutofit/>
          </a:bodyPr>
          <a:lstStyle/>
          <a:p>
            <a:r>
              <a:rPr lang="en-US" sz="2800"/>
              <a:t>AI‑Driven Portfolio Intelligence Agent Use Case Overview</a:t>
            </a:r>
          </a:p>
        </p:txBody>
      </p:sp>
      <p:sp>
        <p:nvSpPr>
          <p:cNvPr id="7" name="Content Placeholder 6">
            <a:extLst>
              <a:ext uri="{FF2B5EF4-FFF2-40B4-BE49-F238E27FC236}">
                <a16:creationId xmlns:a16="http://schemas.microsoft.com/office/drawing/2014/main" id="{8BC24A5C-F236-3675-3BAC-38B8513787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63414" y="174037"/>
            <a:ext cx="6118986" cy="6500512"/>
          </a:xfrm>
        </p:spPr>
        <p:txBody>
          <a:bodyPr vert="horz" lIns="91440" tIns="45720" rIns="91440" bIns="45720" rtlCol="0" anchor="t">
            <a:normAutofit fontScale="25000" lnSpcReduction="20000"/>
          </a:bodyPr>
          <a:lstStyle/>
          <a:p>
            <a:pPr>
              <a:buNone/>
            </a:pPr>
            <a:br>
              <a:rPr lang="en-US" sz="4000" b="1"/>
            </a:br>
            <a:br>
              <a:rPr lang="en-US" sz="4000" b="1"/>
            </a:br>
            <a:r>
              <a:rPr lang="en-US" sz="4000" b="1"/>
              <a:t>AI‑Driven Multi‑Agent System (WHAT IT DOES)</a:t>
            </a:r>
            <a:endParaRPr lang="en-US" sz="4000"/>
          </a:p>
          <a:p>
            <a:pPr>
              <a:buFont typeface="Arial"/>
              <a:buChar char="•"/>
            </a:pPr>
            <a:r>
              <a:rPr lang="en-US" sz="4000" b="1">
                <a:latin typeface="Segoe UI"/>
                <a:cs typeface="Segoe UI"/>
              </a:rPr>
              <a:t>Autonomously consolidates multi‑entity portfolio data</a:t>
            </a:r>
            <a:r>
              <a:rPr lang="en-US" sz="4000">
                <a:latin typeface="Segoe UI"/>
                <a:cs typeface="Segoe UI"/>
              </a:rPr>
              <a:t> from diverse banks, custodians, and internal systems, harmonizing formats, taxonomies, and classifications into a unified, high‑quality dataset.</a:t>
            </a:r>
          </a:p>
          <a:p>
            <a:pPr>
              <a:buFont typeface="Arial"/>
              <a:buChar char="•"/>
            </a:pPr>
            <a:r>
              <a:rPr lang="en-US" sz="4000" b="1">
                <a:latin typeface="Segoe UI"/>
                <a:cs typeface="Segoe UI"/>
              </a:rPr>
              <a:t>Parses and interprets unstructured documents</a:t>
            </a:r>
            <a:r>
              <a:rPr lang="en-US" sz="4000">
                <a:latin typeface="Segoe UI"/>
                <a:cs typeface="Segoe UI"/>
              </a:rPr>
              <a:t> such as PDFs, statements, contracts, and emails using LLM‑based document understanding, extracting key financial fields with built‑in validation.</a:t>
            </a:r>
            <a:endParaRPr lang="en-US" sz="4000"/>
          </a:p>
          <a:p>
            <a:pPr>
              <a:buFont typeface="Arial"/>
              <a:buChar char="•"/>
            </a:pPr>
            <a:r>
              <a:rPr lang="en-US" sz="4000" b="1">
                <a:latin typeface="Segoe UI"/>
                <a:cs typeface="Segoe UI"/>
              </a:rPr>
              <a:t>Fetches real‑time market benchmarks</a:t>
            </a:r>
            <a:r>
              <a:rPr lang="en-US" sz="4000">
                <a:latin typeface="Segoe UI"/>
                <a:cs typeface="Segoe UI"/>
              </a:rPr>
              <a:t> and index data across asset classes to ensure all portfolio insights, comparisons, and valuations stay current and market‑aligned.</a:t>
            </a:r>
            <a:endParaRPr lang="en-US" sz="4000"/>
          </a:p>
          <a:p>
            <a:pPr>
              <a:buFont typeface="Arial"/>
              <a:buChar char="•"/>
            </a:pPr>
            <a:r>
              <a:rPr lang="en-US" sz="4000" b="1">
                <a:latin typeface="Segoe UI"/>
                <a:cs typeface="Segoe UI"/>
              </a:rPr>
              <a:t>Performs Brinson‑</a:t>
            </a:r>
            <a:r>
              <a:rPr lang="en-US" sz="4000" b="1" err="1">
                <a:latin typeface="Segoe UI"/>
                <a:cs typeface="Segoe UI"/>
              </a:rPr>
              <a:t>Fachler</a:t>
            </a:r>
            <a:r>
              <a:rPr lang="en-US" sz="4000" b="1">
                <a:latin typeface="Segoe UI"/>
                <a:cs typeface="Segoe UI"/>
              </a:rPr>
              <a:t> performance attribution</a:t>
            </a:r>
            <a:r>
              <a:rPr lang="en-US" sz="4000">
                <a:latin typeface="Segoe UI"/>
                <a:cs typeface="Segoe UI"/>
              </a:rPr>
              <a:t>, breaking down allocation, selection, and interaction effects to clearly identify sources of over‑ or under‑performance.</a:t>
            </a:r>
            <a:endParaRPr lang="en-US" sz="4000"/>
          </a:p>
          <a:p>
            <a:pPr>
              <a:buFont typeface="Arial"/>
              <a:buChar char="•"/>
            </a:pPr>
            <a:r>
              <a:rPr lang="en-US" sz="4000" b="1">
                <a:latin typeface="Segoe UI"/>
                <a:cs typeface="Segoe UI"/>
              </a:rPr>
              <a:t>Automatically generates strategic client narratives</a:t>
            </a:r>
            <a:r>
              <a:rPr lang="en-US" sz="4000">
                <a:latin typeface="Segoe UI"/>
                <a:cs typeface="Segoe UI"/>
              </a:rPr>
              <a:t> summarizing performance drivers, risks, allocation changes, and investment rationale—creating polished, client‑ready material for relationship managers.</a:t>
            </a:r>
            <a:endParaRPr lang="en-US" sz="4000"/>
          </a:p>
          <a:p>
            <a:pPr>
              <a:buFont typeface="Arial"/>
              <a:buChar char="•"/>
            </a:pPr>
            <a:r>
              <a:rPr lang="en-US" sz="4000" b="1">
                <a:latin typeface="Segoe UI"/>
                <a:cs typeface="Segoe UI"/>
              </a:rPr>
              <a:t>Enables end‑to‑end workflow automation</a:t>
            </a:r>
            <a:r>
              <a:rPr lang="en-US" sz="4000">
                <a:latin typeface="Segoe UI"/>
                <a:cs typeface="Segoe UI"/>
              </a:rPr>
              <a:t>, reducing manual analyst effort, accelerating portfolio review cycles, and enhancing consistency across client reporting.</a:t>
            </a:r>
            <a:endParaRPr lang="en-US" sz="4000"/>
          </a:p>
          <a:p>
            <a:pPr>
              <a:buFont typeface="Arial"/>
              <a:buChar char="•"/>
            </a:pPr>
            <a:r>
              <a:rPr lang="en-US" sz="4400" b="1">
                <a:latin typeface="Segoe UI"/>
                <a:cs typeface="Segoe UI"/>
              </a:rPr>
              <a:t>Integrates securely with internal systems</a:t>
            </a:r>
            <a:r>
              <a:rPr lang="en-US" sz="4400">
                <a:latin typeface="Segoe UI"/>
                <a:cs typeface="Segoe UI"/>
              </a:rPr>
              <a:t> (CRM, portfolio management tools, reporting engines) while maintaining audit trails and compliance monitoring.</a:t>
            </a:r>
            <a:endParaRPr lang="en-US" sz="4000">
              <a:latin typeface="Segoe UI"/>
              <a:cs typeface="Segoe UI"/>
            </a:endParaRPr>
          </a:p>
          <a:p>
            <a:pPr>
              <a:buFont typeface="Arial"/>
              <a:buChar char="•"/>
            </a:pPr>
            <a:r>
              <a:rPr lang="en-US" sz="4400" b="1">
                <a:latin typeface="Segoe UI"/>
                <a:cs typeface="Segoe UI"/>
              </a:rPr>
              <a:t>Scales across thousands of client portfolios</a:t>
            </a:r>
            <a:r>
              <a:rPr lang="en-US" sz="4400">
                <a:latin typeface="Segoe UI"/>
                <a:cs typeface="Segoe UI"/>
              </a:rPr>
              <a:t>, enabling teams to expand coverage without increasing analyst workload.</a:t>
            </a:r>
            <a:endParaRPr lang="en-US" sz="4000">
              <a:latin typeface="Segoe UI"/>
              <a:cs typeface="Segoe UI"/>
            </a:endParaRPr>
          </a:p>
          <a:p>
            <a:pPr>
              <a:buFont typeface="Arial"/>
              <a:buChar char="•"/>
            </a:pPr>
            <a:endParaRPr lang="en-US" sz="4000">
              <a:latin typeface="Segoe UI"/>
              <a:cs typeface="Segoe UI"/>
            </a:endParaRPr>
          </a:p>
          <a:p>
            <a:pPr marL="0" indent="0">
              <a:buNone/>
            </a:pPr>
            <a:r>
              <a:rPr lang="en-US" sz="4000" b="1"/>
              <a:t> Stakeholders (WHO)</a:t>
            </a:r>
            <a:endParaRPr lang="en-US" sz="4000"/>
          </a:p>
          <a:p>
            <a:r>
              <a:rPr lang="en-US" sz="4000">
                <a:ea typeface="+mn-lt"/>
                <a:cs typeface="+mn-lt"/>
              </a:rPr>
              <a:t>Relationship Managers (RMs)</a:t>
            </a:r>
            <a:endParaRPr lang="en-US" sz="4000"/>
          </a:p>
          <a:p>
            <a:r>
              <a:rPr lang="en-US" sz="4000">
                <a:ea typeface="+mn-lt"/>
                <a:cs typeface="+mn-lt"/>
              </a:rPr>
              <a:t>Portfolio Analysts &amp; Investment Specialists</a:t>
            </a:r>
            <a:endParaRPr lang="en-US" sz="4000"/>
          </a:p>
          <a:p>
            <a:r>
              <a:rPr lang="en-US" sz="4000">
                <a:ea typeface="+mn-lt"/>
                <a:cs typeface="+mn-lt"/>
              </a:rPr>
              <a:t>Data Engineering Team</a:t>
            </a:r>
            <a:endParaRPr lang="en-US" sz="4000"/>
          </a:p>
          <a:p>
            <a:r>
              <a:rPr lang="en-US" sz="4000">
                <a:ea typeface="+mn-lt"/>
                <a:cs typeface="+mn-lt"/>
              </a:rPr>
              <a:t>Compliance &amp; Risk Teams</a:t>
            </a:r>
          </a:p>
          <a:p>
            <a:r>
              <a:rPr lang="en-US" sz="4000">
                <a:ea typeface="+mn-lt"/>
                <a:cs typeface="+mn-lt"/>
              </a:rPr>
              <a:t>Private Banking Clients (end‑beneficiaries)</a:t>
            </a:r>
            <a:endParaRPr lang="en-US" sz="4000"/>
          </a:p>
          <a:p>
            <a:pPr marL="0" indent="0">
              <a:buNone/>
            </a:pPr>
            <a:endParaRPr lang="en-US" sz="4000"/>
          </a:p>
          <a:p>
            <a:pPr>
              <a:buNone/>
            </a:pPr>
            <a:endParaRPr lang="en-US" sz="1200" b="1"/>
          </a:p>
          <a:p>
            <a:pPr>
              <a:buNone/>
            </a:pPr>
            <a:endParaRPr lang="en-US" sz="1200" b="1"/>
          </a:p>
          <a:p>
            <a:pPr marL="0" indent="0">
              <a:spcBef>
                <a:spcPts val="2500"/>
              </a:spcBef>
              <a:buNone/>
            </a:pPr>
            <a:endParaRPr lang="en-US" sz="1100"/>
          </a:p>
        </p:txBody>
      </p:sp>
      <p:sp>
        <p:nvSpPr>
          <p:cNvPr id="10" name="Footer Placeholder 2">
            <a:extLst>
              <a:ext uri="{FF2B5EF4-FFF2-40B4-BE49-F238E27FC236}">
                <a16:creationId xmlns:a16="http://schemas.microsoft.com/office/drawing/2014/main" id="{21B492BE-2B63-1028-24C3-9AA705C3DB58}"/>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39500431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416B6-79EE-5400-127C-738DFD118BB8}"/>
              </a:ext>
            </a:extLst>
          </p:cNvPr>
          <p:cNvSpPr>
            <a:spLocks noGrp="1"/>
          </p:cNvSpPr>
          <p:nvPr>
            <p:ph type="ctrTitle"/>
          </p:nvPr>
        </p:nvSpPr>
        <p:spPr>
          <a:xfrm>
            <a:off x="612648" y="1001713"/>
            <a:ext cx="7909560" cy="5477510"/>
          </a:xfrm>
        </p:spPr>
        <p:txBody>
          <a:bodyPr anchor="b">
            <a:normAutofit/>
          </a:bodyPr>
          <a:lstStyle/>
          <a:p>
            <a:r>
              <a:rPr lang="en-US"/>
              <a:t>Solution Architecture and Agent Design</a:t>
            </a:r>
          </a:p>
        </p:txBody>
      </p:sp>
      <p:sp>
        <p:nvSpPr>
          <p:cNvPr id="5" name="Date Placeholder 4">
            <a:extLst>
              <a:ext uri="{FF2B5EF4-FFF2-40B4-BE49-F238E27FC236}">
                <a16:creationId xmlns:a16="http://schemas.microsoft.com/office/drawing/2014/main" id="{D3C89818-96C6-EE3E-BE6D-42D9AD09D549}"/>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4/3/2026</a:t>
            </a:fld>
            <a:endParaRPr lang="en-US"/>
          </a:p>
        </p:txBody>
      </p:sp>
      <p:sp>
        <p:nvSpPr>
          <p:cNvPr id="6" name="Slide Number Placeholder 5">
            <a:extLst>
              <a:ext uri="{FF2B5EF4-FFF2-40B4-BE49-F238E27FC236}">
                <a16:creationId xmlns:a16="http://schemas.microsoft.com/office/drawing/2014/main" id="{1AFA3149-4C9A-CCBB-57EA-F6240DB4CC64}"/>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
        <p:nvSpPr>
          <p:cNvPr id="4" name="TextBox 3">
            <a:extLst>
              <a:ext uri="{FF2B5EF4-FFF2-40B4-BE49-F238E27FC236}">
                <a16:creationId xmlns:a16="http://schemas.microsoft.com/office/drawing/2014/main" id="{2945DE54-FB11-E882-466B-0B7F06C09980}"/>
              </a:ext>
            </a:extLst>
          </p:cNvPr>
          <p:cNvSpPr txBox="1"/>
          <p:nvPr/>
        </p:nvSpPr>
        <p:spPr>
          <a:xfrm>
            <a:off x="615462" y="449385"/>
            <a:ext cx="60960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a:solidFill>
                  <a:srgbClr val="000000"/>
                </a:solidFill>
                <a:latin typeface="Nunito Sans"/>
              </a:rPr>
              <a:t>2</a:t>
            </a:r>
            <a:endParaRPr lang="en-GB">
              <a:latin typeface="Nunito Sans"/>
            </a:endParaRPr>
          </a:p>
        </p:txBody>
      </p:sp>
      <p:sp>
        <p:nvSpPr>
          <p:cNvPr id="9" name="Footer Placeholder 2">
            <a:extLst>
              <a:ext uri="{FF2B5EF4-FFF2-40B4-BE49-F238E27FC236}">
                <a16:creationId xmlns:a16="http://schemas.microsoft.com/office/drawing/2014/main" id="{0BB2B1DA-B36D-B7B4-D0D6-36AE1BA27BBE}"/>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solidFill>
                  <a:schemeClr val="bg1"/>
                </a:solidFill>
              </a:rPr>
              <a:t>TEAM – AGENTIC PANDAS</a:t>
            </a:r>
          </a:p>
        </p:txBody>
      </p:sp>
    </p:spTree>
    <p:extLst>
      <p:ext uri="{BB962C8B-B14F-4D97-AF65-F5344CB8AC3E}">
        <p14:creationId xmlns:p14="http://schemas.microsoft.com/office/powerpoint/2010/main" val="1477909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335894E-3B37-322B-A74D-8A07BABDC761}"/>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40C90610-2D4C-8422-2BE9-D2CD17985E3E}"/>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
        <p:nvSpPr>
          <p:cNvPr id="2" name="Title 1">
            <a:extLst>
              <a:ext uri="{FF2B5EF4-FFF2-40B4-BE49-F238E27FC236}">
                <a16:creationId xmlns:a16="http://schemas.microsoft.com/office/drawing/2014/main" id="{490286A4-20CD-6B06-AC3C-856D53B09FF4}"/>
              </a:ext>
            </a:extLst>
          </p:cNvPr>
          <p:cNvSpPr>
            <a:spLocks noGrp="1"/>
          </p:cNvSpPr>
          <p:nvPr>
            <p:ph type="title"/>
          </p:nvPr>
        </p:nvSpPr>
        <p:spPr>
          <a:xfrm>
            <a:off x="612647" y="634999"/>
            <a:ext cx="4672584" cy="773578"/>
          </a:xfrm>
        </p:spPr>
        <p:txBody>
          <a:bodyPr anchor="t">
            <a:normAutofit/>
          </a:bodyPr>
          <a:lstStyle/>
          <a:p>
            <a:r>
              <a:rPr lang="en-US" sz="2500"/>
              <a:t>Functional Architecture</a:t>
            </a:r>
          </a:p>
        </p:txBody>
      </p:sp>
      <p:sp>
        <p:nvSpPr>
          <p:cNvPr id="7" name="Content Placeholder 6">
            <a:extLst>
              <a:ext uri="{FF2B5EF4-FFF2-40B4-BE49-F238E27FC236}">
                <a16:creationId xmlns:a16="http://schemas.microsoft.com/office/drawing/2014/main" id="{E321DEFD-162A-4553-081C-8D0EEBDCDA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4772" y="1554237"/>
            <a:ext cx="5130466" cy="4643526"/>
          </a:xfrm>
        </p:spPr>
        <p:txBody>
          <a:bodyPr>
            <a:normAutofit fontScale="92500" lnSpcReduction="10000"/>
          </a:bodyPr>
          <a:lstStyle/>
          <a:p>
            <a:pPr marL="0" indent="0">
              <a:spcBef>
                <a:spcPts val="2500"/>
              </a:spcBef>
              <a:buFont typeface="Arial" panose="020B0604020202020204" pitchFamily="34" charset="0"/>
              <a:buNone/>
            </a:pPr>
            <a:r>
              <a:rPr lang="en-US" b="1"/>
              <a:t>Multi-Agent Orchestration</a:t>
            </a:r>
          </a:p>
          <a:p>
            <a:pPr marL="0" lvl="1" indent="0">
              <a:buFont typeface="Arial" panose="020B0604020202020204" pitchFamily="34" charset="0"/>
              <a:buNone/>
            </a:pPr>
            <a:r>
              <a:t>Orchestrator Agent coordinates specialized agents by decomposing complex tasks into manageable subtasks, ensuring efficient collaboration.</a:t>
            </a:r>
            <a:endParaRPr lang="en-US"/>
          </a:p>
          <a:p>
            <a:pPr marL="0" indent="0">
              <a:spcBef>
                <a:spcPts val="2500"/>
              </a:spcBef>
              <a:buFont typeface="Arial" panose="020B0604020202020204" pitchFamily="34" charset="0"/>
              <a:buNone/>
            </a:pPr>
            <a:r>
              <a:rPr lang="en-US" b="1"/>
              <a:t>Data Retrieval and Processing</a:t>
            </a:r>
          </a:p>
          <a:p>
            <a:pPr marL="0" lvl="1" indent="0">
              <a:buFont typeface="Arial" panose="020B0604020202020204" pitchFamily="34" charset="0"/>
              <a:buNone/>
            </a:pPr>
            <a:r>
              <a:t>SQL Data Agent and Document Intelligence Agent securely extract structured and unstructured financial data from various sources.</a:t>
            </a:r>
            <a:endParaRPr lang="en-US"/>
          </a:p>
          <a:p>
            <a:pPr marL="0" indent="0">
              <a:spcBef>
                <a:spcPts val="2500"/>
              </a:spcBef>
              <a:buFont typeface="Arial" panose="020B0604020202020204" pitchFamily="34" charset="0"/>
              <a:buNone/>
            </a:pPr>
            <a:r>
              <a:rPr lang="en-US" b="1"/>
              <a:t>Narrative Generation</a:t>
            </a:r>
          </a:p>
          <a:p>
            <a:pPr marL="0" lvl="1" indent="0">
              <a:buFont typeface="Arial" panose="020B0604020202020204" pitchFamily="34" charset="0"/>
              <a:buNone/>
            </a:pPr>
            <a:r>
              <a:t>Narrative Generation Agent synthesizes data into coherent strategic stories for client communication, enhancing clarity and engagement.</a:t>
            </a:r>
            <a:endParaRPr lang="en-US"/>
          </a:p>
          <a:p>
            <a:pPr marL="0" indent="0">
              <a:spcBef>
                <a:spcPts val="2500"/>
              </a:spcBef>
              <a:buFont typeface="Arial" panose="020B0604020202020204" pitchFamily="34" charset="0"/>
              <a:buNone/>
            </a:pPr>
            <a:r>
              <a:rPr lang="en-US" b="1"/>
              <a:t>AI-Human Collaboration</a:t>
            </a:r>
          </a:p>
          <a:p>
            <a:pPr marL="0" lvl="1" indent="0">
              <a:buFont typeface="Arial" panose="020B0604020202020204" pitchFamily="34" charset="0"/>
              <a:buNone/>
            </a:pPr>
            <a:r>
              <a:t>Human analysts review AI-generated insights, maintain judgment and accountability, fostering trust and regulatory compliance.</a:t>
            </a:r>
            <a:endParaRPr lang="en-US"/>
          </a:p>
        </p:txBody>
      </p:sp>
      <p:pic>
        <p:nvPicPr>
          <p:cNvPr id="9" name="Picture 8" descr="A diagram of a workflow&#10;&#10;AI-generated content may be incorrect.">
            <a:extLst>
              <a:ext uri="{FF2B5EF4-FFF2-40B4-BE49-F238E27FC236}">
                <a16:creationId xmlns:a16="http://schemas.microsoft.com/office/drawing/2014/main" id="{07FF47DF-D425-8BD5-1816-E0B31B774C36}"/>
              </a:ext>
            </a:extLst>
          </p:cNvPr>
          <p:cNvPicPr>
            <a:picLocks noChangeAspect="1"/>
          </p:cNvPicPr>
          <p:nvPr/>
        </p:nvPicPr>
        <p:blipFill>
          <a:blip r:embed="rId3"/>
          <a:stretch>
            <a:fillRect/>
          </a:stretch>
        </p:blipFill>
        <p:spPr>
          <a:xfrm>
            <a:off x="5597071" y="761999"/>
            <a:ext cx="6597953" cy="5442858"/>
          </a:xfrm>
          <a:prstGeom prst="rect">
            <a:avLst/>
          </a:prstGeom>
        </p:spPr>
      </p:pic>
      <p:sp>
        <p:nvSpPr>
          <p:cNvPr id="10" name="Footer Placeholder 2">
            <a:extLst>
              <a:ext uri="{FF2B5EF4-FFF2-40B4-BE49-F238E27FC236}">
                <a16:creationId xmlns:a16="http://schemas.microsoft.com/office/drawing/2014/main" id="{C9304C13-FDD4-6E57-3D77-272A68400F02}"/>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5803548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44A78-488E-C3C1-D7F1-8840BEB61FCC}"/>
              </a:ext>
            </a:extLst>
          </p:cNvPr>
          <p:cNvSpPr>
            <a:spLocks noGrp="1"/>
          </p:cNvSpPr>
          <p:nvPr>
            <p:ph type="title"/>
          </p:nvPr>
        </p:nvSpPr>
        <p:spPr>
          <a:xfrm>
            <a:off x="609599" y="634988"/>
            <a:ext cx="4754563" cy="5568895"/>
          </a:xfrm>
        </p:spPr>
        <p:txBody>
          <a:bodyPr vert="horz" lIns="91440" tIns="45720" rIns="91440" bIns="45720" rtlCol="0" anchor="t">
            <a:normAutofit/>
          </a:bodyPr>
          <a:lstStyle/>
          <a:p>
            <a:r>
              <a:rPr lang="en-US"/>
              <a:t>Technical Architecture (high-level)</a:t>
            </a:r>
          </a:p>
        </p:txBody>
      </p:sp>
      <p:sp>
        <p:nvSpPr>
          <p:cNvPr id="4" name="Date Placeholder 3">
            <a:extLst>
              <a:ext uri="{FF2B5EF4-FFF2-40B4-BE49-F238E27FC236}">
                <a16:creationId xmlns:a16="http://schemas.microsoft.com/office/drawing/2014/main" id="{6BB140EA-0D42-8AF5-A6DC-A7E9FD716203}"/>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5F28DB35-F47F-C6AC-A601-C32FC21D5D1D}"/>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74B1DE4D-5FE5-B92E-2854-C2A9A58DCB4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3991" y="329844"/>
            <a:ext cx="6648008" cy="3911958"/>
          </a:xfrm>
        </p:spPr>
        <p:txBody>
          <a:bodyPr>
            <a:normAutofit fontScale="92500" lnSpcReduction="10000"/>
          </a:bodyPr>
          <a:lstStyle/>
          <a:p>
            <a:pPr marL="0" indent="0">
              <a:spcBef>
                <a:spcPts val="2500"/>
              </a:spcBef>
              <a:buFont typeface="Arial" panose="020B0604020202020204" pitchFamily="34" charset="0"/>
              <a:buNone/>
            </a:pPr>
            <a:r>
              <a:rPr lang="en-GB" b="1"/>
              <a:t>AI Workflow Orchestration</a:t>
            </a:r>
          </a:p>
          <a:p>
            <a:pPr marL="0" lvl="1" indent="0">
              <a:buFont typeface="Arial" panose="020B0604020202020204" pitchFamily="34" charset="0"/>
              <a:buNone/>
            </a:pPr>
            <a:r>
              <a:rPr lang="en-GB"/>
              <a:t>Azure AI Foundry and Microsoft Agent Framework enable scalable multi-agent workflow orchestration for AI solutions.</a:t>
            </a:r>
          </a:p>
          <a:p>
            <a:pPr marL="0" indent="0">
              <a:spcBef>
                <a:spcPts val="2500"/>
              </a:spcBef>
              <a:buFont typeface="Arial" panose="020B0604020202020204" pitchFamily="34" charset="0"/>
              <a:buNone/>
            </a:pPr>
            <a:r>
              <a:rPr lang="en-GB" b="1"/>
              <a:t>Data Storage and Semantic Search</a:t>
            </a:r>
          </a:p>
          <a:p>
            <a:pPr marL="0" lvl="1" indent="0">
              <a:buFont typeface="Arial" panose="020B0604020202020204" pitchFamily="34" charset="0"/>
              <a:buNone/>
            </a:pPr>
            <a:r>
              <a:rPr lang="en-GB"/>
              <a:t>Azure SQL Database with vector search supports semantic entity matching across complex data structures.</a:t>
            </a:r>
          </a:p>
          <a:p>
            <a:pPr marL="0" indent="0">
              <a:spcBef>
                <a:spcPts val="2500"/>
              </a:spcBef>
              <a:buFont typeface="Arial" panose="020B0604020202020204" pitchFamily="34" charset="0"/>
              <a:buNone/>
            </a:pPr>
            <a:r>
              <a:rPr lang="en-GB" b="1"/>
              <a:t>Secure Data Access and Governance</a:t>
            </a:r>
          </a:p>
          <a:p>
            <a:pPr marL="0" lvl="1" indent="0">
              <a:buFont typeface="Arial" panose="020B0604020202020204" pitchFamily="34" charset="0"/>
              <a:buNone/>
            </a:pPr>
            <a:r>
              <a:rPr lang="en-GB"/>
              <a:t>Microsoft Entra ID and Azure Role-Based Access Control enforce least-privilege policies with network isolation and secrets management.</a:t>
            </a:r>
          </a:p>
          <a:p>
            <a:pPr marL="0" indent="0">
              <a:spcBef>
                <a:spcPts val="2500"/>
              </a:spcBef>
              <a:buFont typeface="Arial" panose="020B0604020202020204" pitchFamily="34" charset="0"/>
              <a:buNone/>
            </a:pPr>
            <a:r>
              <a:rPr lang="en-GB" b="1"/>
              <a:t>Advanced Document and Query Capabilities</a:t>
            </a:r>
          </a:p>
          <a:p>
            <a:pPr marL="0" lvl="1" indent="0">
              <a:buFont typeface="Arial" panose="020B0604020202020204" pitchFamily="34" charset="0"/>
              <a:buNone/>
            </a:pPr>
            <a:r>
              <a:rPr lang="en-GB"/>
              <a:t>Azure AI Document Intelligence and AI Search enable high-precision data extraction and semantic queries across enterprise knowledge.</a:t>
            </a:r>
          </a:p>
        </p:txBody>
      </p:sp>
      <p:pic>
        <p:nvPicPr>
          <p:cNvPr id="6" name="Picture 5" descr="A diagram of a company&#10;&#10;AI-generated content may be incorrect.">
            <a:extLst>
              <a:ext uri="{FF2B5EF4-FFF2-40B4-BE49-F238E27FC236}">
                <a16:creationId xmlns:a16="http://schemas.microsoft.com/office/drawing/2014/main" id="{B45B966A-A43F-B301-864C-12DA1AC7AFB2}"/>
              </a:ext>
            </a:extLst>
          </p:cNvPr>
          <p:cNvPicPr>
            <a:picLocks noChangeAspect="1"/>
          </p:cNvPicPr>
          <p:nvPr/>
        </p:nvPicPr>
        <p:blipFill>
          <a:blip r:embed="rId3"/>
          <a:srcRect l="583" t="24266" r="668" b="16886"/>
          <a:stretch>
            <a:fillRect/>
          </a:stretch>
        </p:blipFill>
        <p:spPr>
          <a:xfrm>
            <a:off x="491067" y="4588572"/>
            <a:ext cx="11630607" cy="2209799"/>
          </a:xfrm>
          <a:prstGeom prst="rect">
            <a:avLst/>
          </a:prstGeom>
        </p:spPr>
      </p:pic>
      <p:sp>
        <p:nvSpPr>
          <p:cNvPr id="11" name="Footer Placeholder 2">
            <a:extLst>
              <a:ext uri="{FF2B5EF4-FFF2-40B4-BE49-F238E27FC236}">
                <a16:creationId xmlns:a16="http://schemas.microsoft.com/office/drawing/2014/main" id="{85C97453-85BD-B2CB-4CCA-A3A490857ECC}"/>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3008807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B13DF-1590-4ABE-2B50-6E2289700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00C57-0AEE-A652-FEA0-6DFCADC3182C}"/>
              </a:ext>
            </a:extLst>
          </p:cNvPr>
          <p:cNvSpPr>
            <a:spLocks noGrp="1"/>
          </p:cNvSpPr>
          <p:nvPr>
            <p:ph type="title"/>
          </p:nvPr>
        </p:nvSpPr>
        <p:spPr>
          <a:xfrm>
            <a:off x="612646" y="183435"/>
            <a:ext cx="11323505" cy="388771"/>
          </a:xfrm>
        </p:spPr>
        <p:txBody>
          <a:bodyPr anchor="t">
            <a:normAutofit fontScale="90000"/>
          </a:bodyPr>
          <a:lstStyle/>
          <a:p>
            <a:r>
              <a:rPr lang="en-US" sz="2300"/>
              <a:t>Technical Architecture Using Microsoft AI and Data Platforms</a:t>
            </a:r>
          </a:p>
        </p:txBody>
      </p:sp>
      <p:sp>
        <p:nvSpPr>
          <p:cNvPr id="4" name="Date Placeholder 3">
            <a:extLst>
              <a:ext uri="{FF2B5EF4-FFF2-40B4-BE49-F238E27FC236}">
                <a16:creationId xmlns:a16="http://schemas.microsoft.com/office/drawing/2014/main" id="{1930CD4C-59FA-7E40-2E14-48B281F8D121}"/>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AF18CB67-E6C5-8DFD-3747-6555004FCE6C}"/>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pic>
        <p:nvPicPr>
          <p:cNvPr id="9" name="Picture 8" descr="A diagram of a diagram&#10;&#10;AI-generated content may be incorrect.">
            <a:extLst>
              <a:ext uri="{FF2B5EF4-FFF2-40B4-BE49-F238E27FC236}">
                <a16:creationId xmlns:a16="http://schemas.microsoft.com/office/drawing/2014/main" id="{6E445282-4425-A004-35C0-C7FAA5642D48}"/>
              </a:ext>
            </a:extLst>
          </p:cNvPr>
          <p:cNvPicPr>
            <a:picLocks noChangeAspect="1"/>
          </p:cNvPicPr>
          <p:nvPr/>
        </p:nvPicPr>
        <p:blipFill>
          <a:blip r:embed="rId3"/>
          <a:stretch>
            <a:fillRect/>
          </a:stretch>
        </p:blipFill>
        <p:spPr>
          <a:xfrm>
            <a:off x="721578" y="573851"/>
            <a:ext cx="11219215" cy="6284149"/>
          </a:xfrm>
          <a:prstGeom prst="rect">
            <a:avLst/>
          </a:prstGeom>
        </p:spPr>
      </p:pic>
      <p:sp>
        <p:nvSpPr>
          <p:cNvPr id="7" name="Footer Placeholder 2">
            <a:extLst>
              <a:ext uri="{FF2B5EF4-FFF2-40B4-BE49-F238E27FC236}">
                <a16:creationId xmlns:a16="http://schemas.microsoft.com/office/drawing/2014/main" id="{A976426A-B240-14EB-B008-EFBF58ACB31E}"/>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40356294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A67BA-E77E-E6C1-3D06-A299F18B5D75}"/>
              </a:ext>
            </a:extLst>
          </p:cNvPr>
          <p:cNvSpPr>
            <a:spLocks noGrp="1"/>
          </p:cNvSpPr>
          <p:nvPr>
            <p:ph type="ctrTitle"/>
          </p:nvPr>
        </p:nvSpPr>
        <p:spPr>
          <a:xfrm>
            <a:off x="798263" y="1021252"/>
            <a:ext cx="7909560" cy="5477510"/>
          </a:xfrm>
        </p:spPr>
        <p:txBody>
          <a:bodyPr anchor="b">
            <a:normAutofit/>
          </a:bodyPr>
          <a:lstStyle/>
          <a:p>
            <a:r>
              <a:rPr lang="en-US"/>
              <a:t>Business Value, technical view and Financial Justification</a:t>
            </a:r>
          </a:p>
        </p:txBody>
      </p:sp>
      <p:sp>
        <p:nvSpPr>
          <p:cNvPr id="5" name="Date Placeholder 4">
            <a:extLst>
              <a:ext uri="{FF2B5EF4-FFF2-40B4-BE49-F238E27FC236}">
                <a16:creationId xmlns:a16="http://schemas.microsoft.com/office/drawing/2014/main" id="{6FCC32DC-4D32-89F0-EF80-B1D9490AE918}"/>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4/3/2026</a:t>
            </a:fld>
            <a:endParaRPr lang="en-US"/>
          </a:p>
        </p:txBody>
      </p:sp>
      <p:sp>
        <p:nvSpPr>
          <p:cNvPr id="6" name="Slide Number Placeholder 5">
            <a:extLst>
              <a:ext uri="{FF2B5EF4-FFF2-40B4-BE49-F238E27FC236}">
                <a16:creationId xmlns:a16="http://schemas.microsoft.com/office/drawing/2014/main" id="{4AD59A2F-1633-4A88-6C01-98A06CE39842}"/>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
        <p:nvSpPr>
          <p:cNvPr id="3" name="TextBox 2">
            <a:extLst>
              <a:ext uri="{FF2B5EF4-FFF2-40B4-BE49-F238E27FC236}">
                <a16:creationId xmlns:a16="http://schemas.microsoft.com/office/drawing/2014/main" id="{991914F5-05BB-4615-B3BA-B84D6A47F8D2}"/>
              </a:ext>
            </a:extLst>
          </p:cNvPr>
          <p:cNvSpPr txBox="1"/>
          <p:nvPr/>
        </p:nvSpPr>
        <p:spPr>
          <a:xfrm>
            <a:off x="605692" y="508000"/>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0">
                <a:solidFill>
                  <a:schemeClr val="bg1"/>
                </a:solidFill>
                <a:latin typeface="Nunito Sans"/>
                <a:ea typeface="Nunito Sans"/>
                <a:cs typeface="Nunito Sans"/>
              </a:rPr>
              <a:t>3</a:t>
            </a:r>
            <a:r>
              <a:rPr sz="8000">
                <a:solidFill>
                  <a:schemeClr val="bg1"/>
                </a:solidFill>
                <a:latin typeface="Nunito Sans"/>
                <a:ea typeface="Nunito Sans"/>
                <a:cs typeface="Nunito Sans"/>
              </a:rPr>
              <a:t>​</a:t>
            </a:r>
            <a:endParaRPr lang="en-GB">
              <a:solidFill>
                <a:schemeClr val="bg1"/>
              </a:solidFill>
            </a:endParaRPr>
          </a:p>
          <a:p>
            <a:pPr algn="ctr"/>
            <a:endParaRPr lang="en-GB"/>
          </a:p>
        </p:txBody>
      </p:sp>
      <p:sp>
        <p:nvSpPr>
          <p:cNvPr id="8" name="Footer Placeholder 2">
            <a:extLst>
              <a:ext uri="{FF2B5EF4-FFF2-40B4-BE49-F238E27FC236}">
                <a16:creationId xmlns:a16="http://schemas.microsoft.com/office/drawing/2014/main" id="{679E1AE4-12EB-32A5-8EDE-78D4EB871B76}"/>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solidFill>
                  <a:schemeClr val="bg1"/>
                </a:solidFill>
              </a:rPr>
              <a:t>TEAM – AGENTIC PANDAS</a:t>
            </a:r>
          </a:p>
        </p:txBody>
      </p:sp>
    </p:spTree>
    <p:extLst>
      <p:ext uri="{BB962C8B-B14F-4D97-AF65-F5344CB8AC3E}">
        <p14:creationId xmlns:p14="http://schemas.microsoft.com/office/powerpoint/2010/main" val="25079828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EB23-99D2-11DE-63CE-95A71E25448E}"/>
              </a:ext>
            </a:extLst>
          </p:cNvPr>
          <p:cNvSpPr>
            <a:spLocks noGrp="1"/>
          </p:cNvSpPr>
          <p:nvPr>
            <p:ph type="title"/>
          </p:nvPr>
        </p:nvSpPr>
        <p:spPr>
          <a:xfrm>
            <a:off x="4016654" y="258703"/>
            <a:ext cx="6950232" cy="1124525"/>
          </a:xfrm>
        </p:spPr>
        <p:txBody>
          <a:bodyPr anchor="t">
            <a:normAutofit/>
          </a:bodyPr>
          <a:lstStyle/>
          <a:p>
            <a:r>
              <a:rPr lang="en-US"/>
              <a:t>Operational and Strategic Business Impact</a:t>
            </a:r>
          </a:p>
        </p:txBody>
      </p:sp>
      <p:sp>
        <p:nvSpPr>
          <p:cNvPr id="4" name="Date Placeholder 3">
            <a:extLst>
              <a:ext uri="{FF2B5EF4-FFF2-40B4-BE49-F238E27FC236}">
                <a16:creationId xmlns:a16="http://schemas.microsoft.com/office/drawing/2014/main" id="{667D7B3F-C890-80DF-02C8-0E7D8A562DF8}"/>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7008FB36-7C8E-8D6F-5901-AC1FD133F753}"/>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pic>
        <p:nvPicPr>
          <p:cNvPr id="8" name="Content Placeholder 7" descr="Cropped shot of young computer programmers working on source code">
            <a:extLst>
              <a:ext uri="{FF2B5EF4-FFF2-40B4-BE49-F238E27FC236}">
                <a16:creationId xmlns:a16="http://schemas.microsoft.com/office/drawing/2014/main" id="{D0FB401B-9129-4CEB-B941-94F7B80BD55E}"/>
              </a:ext>
            </a:extLst>
          </p:cNvPr>
          <p:cNvPicPr>
            <a:picLocks noGrp="1" noChangeAspect="1"/>
          </p:cNvPicPr>
          <p:nvPr>
            <p:ph type="pic" sz="quarter" idx="13"/>
          </p:nvPr>
        </p:nvPicPr>
        <p:blipFill>
          <a:blip r:embed="rId3"/>
          <a:srcRect l="25245" r="27270"/>
          <a:stretch>
            <a:fillRect/>
          </a:stretch>
        </p:blipFill>
        <p:spPr>
          <a:xfrm>
            <a:off x="598328" y="10"/>
            <a:ext cx="3256513" cy="6857990"/>
          </a:xfrm>
        </p:spPr>
      </p:pic>
      <p:sp>
        <p:nvSpPr>
          <p:cNvPr id="7" name="Content Placeholder 6">
            <a:extLst>
              <a:ext uri="{FF2B5EF4-FFF2-40B4-BE49-F238E27FC236}">
                <a16:creationId xmlns:a16="http://schemas.microsoft.com/office/drawing/2014/main" id="{7CD9E98B-319B-82AE-4C34-3271F11DE1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16654" y="1380397"/>
            <a:ext cx="7900380" cy="5302447"/>
          </a:xfrm>
        </p:spPr>
        <p:txBody>
          <a:bodyPr vert="horz" lIns="91440" tIns="45720" rIns="91440" bIns="45720" rtlCol="0" anchor="t">
            <a:noAutofit/>
          </a:bodyPr>
          <a:lstStyle/>
          <a:p>
            <a:pPr>
              <a:buNone/>
            </a:pPr>
            <a:r>
              <a:rPr lang="en-US" b="1"/>
              <a:t>Operational Impacts</a:t>
            </a:r>
            <a:endParaRPr lang="en-US"/>
          </a:p>
          <a:p>
            <a:pPr>
              <a:buFont typeface="Arial"/>
              <a:buChar char="•"/>
            </a:pPr>
            <a:r>
              <a:rPr lang="en-US" b="1">
                <a:latin typeface="Nunito Sans"/>
                <a:cs typeface="Segoe UI"/>
              </a:rPr>
              <a:t>Operational Efficiency:</a:t>
            </a:r>
            <a:r>
              <a:rPr lang="en-US">
                <a:latin typeface="Nunito Sans"/>
                <a:cs typeface="Segoe UI"/>
              </a:rPr>
              <a:t> Automation reduces manual effort, saving analyst time and enabling efficient management of complex portfolios.</a:t>
            </a:r>
            <a:endParaRPr lang="en-US">
              <a:latin typeface="Nunito Sans"/>
            </a:endParaRPr>
          </a:p>
          <a:p>
            <a:pPr>
              <a:buFont typeface="Arial"/>
              <a:buChar char="•"/>
            </a:pPr>
            <a:r>
              <a:rPr lang="en-US" b="1">
                <a:latin typeface="Nunito Sans"/>
                <a:cs typeface="Segoe UI"/>
              </a:rPr>
              <a:t>Accuracy &amp; Compliance:</a:t>
            </a:r>
            <a:r>
              <a:rPr lang="en-US">
                <a:latin typeface="Nunito Sans"/>
                <a:cs typeface="Segoe UI"/>
              </a:rPr>
              <a:t> Deterministic data retrieval minimizes errors and strengthens compliance confidence and auditability.</a:t>
            </a:r>
            <a:endParaRPr lang="en-US">
              <a:latin typeface="Nunito Sans"/>
            </a:endParaRPr>
          </a:p>
          <a:p>
            <a:pPr>
              <a:buFont typeface="Arial"/>
              <a:buChar char="•"/>
            </a:pPr>
            <a:r>
              <a:rPr lang="en-US" b="1">
                <a:latin typeface="Nunito Sans"/>
                <a:cs typeface="Segoe UI"/>
              </a:rPr>
              <a:t>Strategic Insights:</a:t>
            </a:r>
            <a:r>
              <a:rPr lang="en-US">
                <a:latin typeface="Nunito Sans"/>
                <a:cs typeface="Segoe UI"/>
              </a:rPr>
              <a:t> Timely, high‑quality insights help relationship managers deliver more personalized and effective advice.</a:t>
            </a:r>
            <a:endParaRPr lang="en-US">
              <a:latin typeface="Nunito Sans"/>
            </a:endParaRPr>
          </a:p>
          <a:p>
            <a:pPr>
              <a:buFont typeface="Arial"/>
              <a:buChar char="•"/>
            </a:pPr>
            <a:r>
              <a:rPr lang="en-US" b="1">
                <a:latin typeface="Nunito Sans"/>
                <a:cs typeface="Segoe UI"/>
              </a:rPr>
              <a:t>Scalable Growth:</a:t>
            </a:r>
            <a:r>
              <a:rPr lang="en-US">
                <a:latin typeface="Nunito Sans"/>
                <a:cs typeface="Segoe UI"/>
              </a:rPr>
              <a:t> Faster turnaround and consistent outputs build client trust, enabling growth without increasing operational costs.</a:t>
            </a:r>
            <a:endParaRPr lang="en-US">
              <a:latin typeface="Nunito Sans"/>
            </a:endParaRPr>
          </a:p>
          <a:p>
            <a:pPr>
              <a:buNone/>
            </a:pPr>
            <a:r>
              <a:rPr lang="en-US" b="1"/>
              <a:t>KPIs Impacts</a:t>
            </a:r>
          </a:p>
          <a:p>
            <a:pPr>
              <a:buFont typeface="Arial"/>
              <a:buChar char="•"/>
            </a:pPr>
            <a:r>
              <a:rPr lang="en-US">
                <a:ea typeface="+mn-lt"/>
                <a:cs typeface="+mn-lt"/>
              </a:rPr>
              <a:t>↓ 60% reduction in manual data preparation time</a:t>
            </a:r>
            <a:endParaRPr lang="en-US"/>
          </a:p>
          <a:p>
            <a:pPr>
              <a:buFont typeface="Arial"/>
              <a:buChar char="•"/>
            </a:pPr>
            <a:r>
              <a:rPr lang="en-US">
                <a:ea typeface="+mn-lt"/>
                <a:cs typeface="+mn-lt"/>
              </a:rPr>
              <a:t>↑ 40–50% increase in analyst productivity</a:t>
            </a:r>
            <a:endParaRPr lang="en-US"/>
          </a:p>
          <a:p>
            <a:pPr>
              <a:buFont typeface="Arial"/>
              <a:buChar char="•"/>
            </a:pPr>
            <a:r>
              <a:rPr lang="en-US">
                <a:ea typeface="+mn-lt"/>
                <a:cs typeface="+mn-lt"/>
              </a:rPr>
              <a:t>↓ 90% reduction in human error in reporting</a:t>
            </a:r>
            <a:endParaRPr lang="en-US"/>
          </a:p>
          <a:p>
            <a:pPr>
              <a:buFont typeface="Arial"/>
              <a:buChar char="•"/>
            </a:pPr>
            <a:r>
              <a:rPr lang="en-US">
                <a:ea typeface="+mn-lt"/>
                <a:cs typeface="+mn-lt"/>
              </a:rPr>
              <a:t>↑ 25–35% faster client review cycles</a:t>
            </a:r>
            <a:endParaRPr lang="en-US"/>
          </a:p>
          <a:p>
            <a:pPr>
              <a:buFont typeface="Arial"/>
              <a:buChar char="•"/>
            </a:pPr>
            <a:r>
              <a:rPr lang="en-US">
                <a:ea typeface="+mn-lt"/>
                <a:cs typeface="+mn-lt"/>
              </a:rPr>
              <a:t>↑ Higher RM coverage capacity (multi‑entity clients)</a:t>
            </a:r>
            <a:endParaRPr lang="en-US"/>
          </a:p>
          <a:p>
            <a:pPr>
              <a:buNone/>
            </a:pPr>
            <a:endParaRPr lang="en-US" sz="1100">
              <a:latin typeface="Segoe UI"/>
              <a:cs typeface="Segoe UI"/>
            </a:endParaRPr>
          </a:p>
          <a:p>
            <a:pPr marL="0" indent="0">
              <a:lnSpc>
                <a:spcPct val="110000"/>
              </a:lnSpc>
              <a:spcBef>
                <a:spcPts val="2500"/>
              </a:spcBef>
              <a:buNone/>
            </a:pPr>
            <a:endParaRPr lang="en-US"/>
          </a:p>
        </p:txBody>
      </p:sp>
      <p:sp>
        <p:nvSpPr>
          <p:cNvPr id="9" name="Footer Placeholder 2">
            <a:extLst>
              <a:ext uri="{FF2B5EF4-FFF2-40B4-BE49-F238E27FC236}">
                <a16:creationId xmlns:a16="http://schemas.microsoft.com/office/drawing/2014/main" id="{509B616F-EDCF-38E9-B214-5ED1E445FC2B}"/>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2434273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ED72-B52C-D454-FED3-74930C736D0B}"/>
              </a:ext>
            </a:extLst>
          </p:cNvPr>
          <p:cNvSpPr>
            <a:spLocks noGrp="1"/>
          </p:cNvSpPr>
          <p:nvPr>
            <p:ph type="title"/>
          </p:nvPr>
        </p:nvSpPr>
        <p:spPr>
          <a:xfrm>
            <a:off x="3857435" y="165831"/>
            <a:ext cx="7869470" cy="1032220"/>
          </a:xfrm>
        </p:spPr>
        <p:txBody>
          <a:bodyPr>
            <a:normAutofit fontScale="90000"/>
          </a:bodyPr>
          <a:lstStyle/>
          <a:p>
            <a:r>
              <a:rPr lang="en-US">
                <a:ea typeface="+mj-lt"/>
                <a:cs typeface="+mj-lt"/>
              </a:rPr>
              <a:t>Technical &amp; Functional Solution </a:t>
            </a:r>
          </a:p>
        </p:txBody>
      </p:sp>
      <p:sp>
        <p:nvSpPr>
          <p:cNvPr id="4" name="Date Placeholder 3">
            <a:extLst>
              <a:ext uri="{FF2B5EF4-FFF2-40B4-BE49-F238E27FC236}">
                <a16:creationId xmlns:a16="http://schemas.microsoft.com/office/drawing/2014/main" id="{B8AACCD7-CB3C-A07D-2694-64FC90E8B85A}"/>
              </a:ext>
            </a:extLst>
          </p:cNvPr>
          <p:cNvSpPr>
            <a:spLocks noGrp="1"/>
          </p:cNvSpPr>
          <p:nvPr>
            <p:ph type="dt" sz="half" idx="15"/>
          </p:nvPr>
        </p:nvSpPr>
        <p:spPr/>
        <p:txBody>
          <a:bodyPr/>
          <a:lstStyle/>
          <a:p>
            <a:fld id="{F2A5EBC1-EEC5-7C42-832C-A9026EE0BC29}" type="datetime1">
              <a:rPr lang="en-US" smtClean="0"/>
              <a:t>4/3/2026</a:t>
            </a:fld>
            <a:endParaRPr lang="en-US"/>
          </a:p>
        </p:txBody>
      </p:sp>
      <p:sp>
        <p:nvSpPr>
          <p:cNvPr id="5" name="Slide Number Placeholder 4">
            <a:extLst>
              <a:ext uri="{FF2B5EF4-FFF2-40B4-BE49-F238E27FC236}">
                <a16:creationId xmlns:a16="http://schemas.microsoft.com/office/drawing/2014/main" id="{F1270FD6-8C66-601E-6780-4DDD0369251B}"/>
              </a:ext>
            </a:extLst>
          </p:cNvPr>
          <p:cNvSpPr>
            <a:spLocks noGrp="1"/>
          </p:cNvSpPr>
          <p:nvPr>
            <p:ph type="sldNum" sz="quarter" idx="17"/>
          </p:nvPr>
        </p:nvSpPr>
        <p:spPr/>
        <p:txBody>
          <a:bodyPr/>
          <a:lstStyle/>
          <a:p>
            <a:fld id="{CC057153-B650-4DEB-B370-79DDCFDCE934}" type="slidenum">
              <a:rPr lang="en-US" smtClean="0"/>
              <a:t>11</a:t>
            </a:fld>
            <a:endParaRPr lang="en-US"/>
          </a:p>
        </p:txBody>
      </p:sp>
      <p:sp>
        <p:nvSpPr>
          <p:cNvPr id="10" name="Content Placeholder 6">
            <a:extLst>
              <a:ext uri="{FF2B5EF4-FFF2-40B4-BE49-F238E27FC236}">
                <a16:creationId xmlns:a16="http://schemas.microsoft.com/office/drawing/2014/main" id="{55540722-BAA4-53F2-D0EF-E2EF63666673}"/>
              </a:ext>
            </a:extLst>
          </p:cNvPr>
          <p:cNvSpPr txBox="1">
            <a:spLocks/>
          </p:cNvSpPr>
          <p:nvPr/>
        </p:nvSpPr>
        <p:spPr>
          <a:xfrm>
            <a:off x="8519485" y="1199080"/>
            <a:ext cx="3551311" cy="365132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Functional Solution</a:t>
            </a:r>
          </a:p>
          <a:p>
            <a:r>
              <a:rPr lang="en-US" sz="1200">
                <a:latin typeface="Nunito Sans"/>
              </a:rPr>
              <a:t>Client Request Intake &amp; Orchestration</a:t>
            </a:r>
            <a:endParaRPr lang="en-US" sz="1200" b="1">
              <a:latin typeface="Nunito Sans"/>
            </a:endParaRPr>
          </a:p>
          <a:p>
            <a:r>
              <a:rPr lang="en-US" sz="1200">
                <a:latin typeface="Nunito Sans"/>
              </a:rPr>
              <a:t>Unified Data Access (Structured &amp; Unstructured)</a:t>
            </a:r>
            <a:endParaRPr lang="en-US" sz="1200" b="1">
              <a:latin typeface="Nunito Sans"/>
            </a:endParaRPr>
          </a:p>
          <a:p>
            <a:r>
              <a:rPr lang="en-US" sz="1200">
                <a:latin typeface="Nunito Sans"/>
              </a:rPr>
              <a:t>Intelligent Document Understanding</a:t>
            </a:r>
            <a:endParaRPr lang="en-US" sz="1200" b="1">
              <a:latin typeface="Nunito Sans"/>
            </a:endParaRPr>
          </a:p>
          <a:p>
            <a:r>
              <a:rPr lang="en-US" sz="1200">
                <a:latin typeface="Nunito Sans"/>
              </a:rPr>
              <a:t>Market Benchmark &amp; External Data Enrichment</a:t>
            </a:r>
            <a:endParaRPr lang="en-US" sz="1200" b="1">
              <a:latin typeface="Nunito Sans"/>
            </a:endParaRPr>
          </a:p>
          <a:p>
            <a:r>
              <a:rPr lang="en-US" sz="1200">
                <a:latin typeface="Nunito Sans"/>
              </a:rPr>
              <a:t>Attribution &amp; Performance Analysis</a:t>
            </a:r>
            <a:endParaRPr lang="en-US" sz="1200" b="1">
              <a:latin typeface="Nunito Sans"/>
            </a:endParaRPr>
          </a:p>
          <a:p>
            <a:r>
              <a:rPr lang="en-US" sz="1200">
                <a:latin typeface="Nunito Sans"/>
              </a:rPr>
              <a:t>Explainable Insights &amp; Narratives</a:t>
            </a:r>
            <a:endParaRPr lang="en-US" sz="1200" b="1">
              <a:latin typeface="Nunito Sans"/>
            </a:endParaRPr>
          </a:p>
          <a:p>
            <a:r>
              <a:rPr lang="en-US" sz="1200">
                <a:latin typeface="Nunito Sans"/>
              </a:rPr>
              <a:t>Reviewer‑Ready Final Reports</a:t>
            </a:r>
            <a:endParaRPr lang="en-US" sz="1200" b="1">
              <a:latin typeface="Nunito Sans"/>
            </a:endParaRPr>
          </a:p>
          <a:p>
            <a:r>
              <a:rPr lang="en-US" sz="1200">
                <a:latin typeface="Nunito Sans"/>
              </a:rPr>
              <a:t>Security, Compliance &amp; Governance by Design</a:t>
            </a:r>
            <a:endParaRPr lang="en-US" sz="1200" b="1">
              <a:latin typeface="Nunito Sans"/>
            </a:endParaRPr>
          </a:p>
          <a:p>
            <a:endParaRPr lang="en-US" b="1"/>
          </a:p>
          <a:p>
            <a:endParaRPr lang="en-US"/>
          </a:p>
        </p:txBody>
      </p:sp>
      <p:sp>
        <p:nvSpPr>
          <p:cNvPr id="13" name="Content Placeholder 6">
            <a:extLst>
              <a:ext uri="{FF2B5EF4-FFF2-40B4-BE49-F238E27FC236}">
                <a16:creationId xmlns:a16="http://schemas.microsoft.com/office/drawing/2014/main" id="{23FF7B52-7DB7-E0CC-107C-C28F015CA4B6}"/>
              </a:ext>
            </a:extLst>
          </p:cNvPr>
          <p:cNvSpPr txBox="1">
            <a:spLocks/>
          </p:cNvSpPr>
          <p:nvPr/>
        </p:nvSpPr>
        <p:spPr>
          <a:xfrm>
            <a:off x="4050966" y="1199080"/>
            <a:ext cx="3551311" cy="365132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Technical Solution</a:t>
            </a:r>
          </a:p>
          <a:p>
            <a:r>
              <a:rPr lang="en-US" sz="1300" b="1"/>
              <a:t>Core Azure Components</a:t>
            </a:r>
            <a:endParaRPr lang="en-US" sz="1300" b="1">
              <a:latin typeface="Nunito Sans"/>
            </a:endParaRPr>
          </a:p>
          <a:p>
            <a:pPr lvl="1"/>
            <a:r>
              <a:rPr lang="en-US" sz="1300">
                <a:ea typeface="+mn-lt"/>
                <a:cs typeface="+mn-lt"/>
              </a:rPr>
              <a:t>Azure AI Foundry </a:t>
            </a:r>
          </a:p>
          <a:p>
            <a:pPr lvl="1"/>
            <a:r>
              <a:rPr lang="en-US" sz="1300">
                <a:ea typeface="+mn-lt"/>
                <a:cs typeface="+mn-lt"/>
              </a:rPr>
              <a:t>Microsoft Agent Framework </a:t>
            </a:r>
          </a:p>
          <a:p>
            <a:pPr lvl="1"/>
            <a:r>
              <a:rPr lang="en-US" sz="1300">
                <a:ea typeface="+mn-lt"/>
                <a:cs typeface="+mn-lt"/>
              </a:rPr>
              <a:t>Azure SQL Database</a:t>
            </a:r>
          </a:p>
          <a:p>
            <a:pPr lvl="1"/>
            <a:r>
              <a:rPr lang="en-US" sz="1300">
                <a:ea typeface="+mn-lt"/>
                <a:cs typeface="+mn-lt"/>
              </a:rPr>
              <a:t>Azure AI Document Intelligence </a:t>
            </a:r>
          </a:p>
          <a:p>
            <a:pPr lvl="1"/>
            <a:r>
              <a:rPr lang="en-US" sz="1300">
                <a:ea typeface="+mn-lt"/>
                <a:cs typeface="+mn-lt"/>
              </a:rPr>
              <a:t>Azure AI Search (Agentic RAG) </a:t>
            </a:r>
          </a:p>
          <a:p>
            <a:pPr lvl="1"/>
            <a:r>
              <a:rPr lang="en-US" sz="1300">
                <a:ea typeface="+mn-lt"/>
                <a:cs typeface="+mn-lt"/>
              </a:rPr>
              <a:t>MCP Tooling </a:t>
            </a:r>
          </a:p>
          <a:p>
            <a:pPr lvl="1"/>
            <a:r>
              <a:rPr lang="en-US" sz="1300">
                <a:ea typeface="+mn-lt"/>
                <a:cs typeface="+mn-lt"/>
              </a:rPr>
              <a:t>Azure Key Vault </a:t>
            </a:r>
          </a:p>
          <a:p>
            <a:pPr lvl="1"/>
            <a:r>
              <a:rPr lang="en-US" sz="1300">
                <a:ea typeface="+mn-lt"/>
                <a:cs typeface="+mn-lt"/>
              </a:rPr>
              <a:t>Microsoft Entra ID </a:t>
            </a:r>
            <a:endParaRPr lang="en-US" sz="1300"/>
          </a:p>
          <a:p>
            <a:pPr lvl="1"/>
            <a:r>
              <a:rPr lang="en-US" sz="1300">
                <a:ea typeface="+mn-lt"/>
                <a:cs typeface="+mn-lt"/>
              </a:rPr>
              <a:t>Azure </a:t>
            </a:r>
            <a:r>
              <a:rPr lang="en-US" sz="1300" err="1">
                <a:ea typeface="+mn-lt"/>
                <a:cs typeface="+mn-lt"/>
              </a:rPr>
              <a:t>VNet</a:t>
            </a:r>
            <a:r>
              <a:rPr lang="en-US" sz="1300">
                <a:ea typeface="+mn-lt"/>
                <a:cs typeface="+mn-lt"/>
              </a:rPr>
              <a:t> + Private Link</a:t>
            </a:r>
          </a:p>
          <a:p>
            <a:pPr lvl="1"/>
            <a:r>
              <a:rPr lang="en-US" sz="1300">
                <a:ea typeface="+mn-lt"/>
                <a:cs typeface="+mn-lt"/>
              </a:rPr>
              <a:t>Purview DLP</a:t>
            </a:r>
            <a:endParaRPr lang="en-US" sz="1300">
              <a:latin typeface="Nunito Sans"/>
            </a:endParaRPr>
          </a:p>
          <a:p>
            <a:pPr marL="228600"/>
            <a:endParaRPr lang="en-US" sz="1200">
              <a:latin typeface="Nunito Sans"/>
            </a:endParaRPr>
          </a:p>
          <a:p>
            <a:endParaRPr lang="en-US" b="1">
              <a:latin typeface="Nunito Sans"/>
            </a:endParaRPr>
          </a:p>
          <a:p>
            <a:pPr marL="228600"/>
            <a:endParaRPr lang="en-US"/>
          </a:p>
        </p:txBody>
      </p:sp>
      <p:sp>
        <p:nvSpPr>
          <p:cNvPr id="15" name="TextBox 14">
            <a:extLst>
              <a:ext uri="{FF2B5EF4-FFF2-40B4-BE49-F238E27FC236}">
                <a16:creationId xmlns:a16="http://schemas.microsoft.com/office/drawing/2014/main" id="{493D1B20-08AF-8E10-A117-778AD38B95CB}"/>
              </a:ext>
            </a:extLst>
          </p:cNvPr>
          <p:cNvSpPr txBox="1"/>
          <p:nvPr/>
        </p:nvSpPr>
        <p:spPr>
          <a:xfrm>
            <a:off x="4054593" y="5461000"/>
            <a:ext cx="801511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400" b="1"/>
              <a:t>Architecture Overview</a:t>
            </a:r>
            <a:endParaRPr lang="en-US" sz="1400"/>
          </a:p>
          <a:p>
            <a:r>
              <a:rPr lang="en-US" sz="1400"/>
              <a:t>Client RM → Orchestrator Agent → SQL Agent (internal structured data) → Document Agent (unstructured PDFs) → Market API Agent (benchmarks) → Attribution Engine (BF model) → Narrative Agent → Final Review Report</a:t>
            </a:r>
          </a:p>
          <a:p>
            <a:endParaRPr lang="en-US" sz="1400"/>
          </a:p>
          <a:p>
            <a:pPr algn="ctr"/>
            <a:endParaRPr lang="en-US" sz="1400"/>
          </a:p>
        </p:txBody>
      </p:sp>
      <p:pic>
        <p:nvPicPr>
          <p:cNvPr id="9" name="Picture 8">
            <a:extLst>
              <a:ext uri="{FF2B5EF4-FFF2-40B4-BE49-F238E27FC236}">
                <a16:creationId xmlns:a16="http://schemas.microsoft.com/office/drawing/2014/main" id="{37CF43B1-9C94-3D00-42AD-43B8A193E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435" y="165831"/>
            <a:ext cx="3429000" cy="6519334"/>
          </a:xfrm>
          <a:prstGeom prst="rect">
            <a:avLst/>
          </a:prstGeom>
        </p:spPr>
      </p:pic>
      <p:sp>
        <p:nvSpPr>
          <p:cNvPr id="6" name="Footer Placeholder 2">
            <a:extLst>
              <a:ext uri="{FF2B5EF4-FFF2-40B4-BE49-F238E27FC236}">
                <a16:creationId xmlns:a16="http://schemas.microsoft.com/office/drawing/2014/main" id="{DAA409A7-6FB1-EEB4-3038-BDFB7AD35F77}"/>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152910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5G and AI technology, Global communication network concept.">
            <a:extLst>
              <a:ext uri="{FF2B5EF4-FFF2-40B4-BE49-F238E27FC236}">
                <a16:creationId xmlns:a16="http://schemas.microsoft.com/office/drawing/2014/main" id="{6E5C9395-ACE5-40F6-91AF-C39ED4E98F35}"/>
              </a:ext>
            </a:extLst>
          </p:cNvPr>
          <p:cNvPicPr>
            <a:picLocks noGrp="1" noChangeAspect="1"/>
          </p:cNvPicPr>
          <p:nvPr>
            <p:ph type="pic" sz="quarter" idx="13"/>
          </p:nvPr>
        </p:nvPicPr>
        <p:blipFill>
          <a:blip r:embed="rId3"/>
          <a:srcRect l="12707" r="22339" b="-1"/>
          <a:stretch>
            <a:fillRect/>
          </a:stretch>
        </p:blipFill>
        <p:spPr>
          <a:xfrm>
            <a:off x="609600" y="2173849"/>
            <a:ext cx="4675632" cy="4049141"/>
          </a:xfrm>
        </p:spPr>
      </p:pic>
      <p:sp>
        <p:nvSpPr>
          <p:cNvPr id="4" name="Date Placeholder 3">
            <a:extLst>
              <a:ext uri="{FF2B5EF4-FFF2-40B4-BE49-F238E27FC236}">
                <a16:creationId xmlns:a16="http://schemas.microsoft.com/office/drawing/2014/main" id="{F7D08B73-7650-B326-E7ED-B3BAFCCCA5C9}"/>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27915F21-1FE9-B48D-0C87-E636EE78C44A}"/>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12</a:t>
            </a:fld>
            <a:endParaRPr lang="en-US"/>
          </a:p>
        </p:txBody>
      </p:sp>
      <p:sp>
        <p:nvSpPr>
          <p:cNvPr id="2" name="Title 1">
            <a:extLst>
              <a:ext uri="{FF2B5EF4-FFF2-40B4-BE49-F238E27FC236}">
                <a16:creationId xmlns:a16="http://schemas.microsoft.com/office/drawing/2014/main" id="{34908779-1EA7-A5E0-9F1D-65C377BCB814}"/>
              </a:ext>
            </a:extLst>
          </p:cNvPr>
          <p:cNvSpPr>
            <a:spLocks noGrp="1"/>
          </p:cNvSpPr>
          <p:nvPr>
            <p:ph type="title"/>
          </p:nvPr>
        </p:nvSpPr>
        <p:spPr>
          <a:xfrm>
            <a:off x="612647" y="634999"/>
            <a:ext cx="4672584" cy="1269482"/>
          </a:xfrm>
        </p:spPr>
        <p:txBody>
          <a:bodyPr anchor="t">
            <a:normAutofit/>
          </a:bodyPr>
          <a:lstStyle/>
          <a:p>
            <a:r>
              <a:rPr lang="en-US" sz="2800"/>
              <a:t>Business Case, Cost Structure, and Break‑Even Analysis</a:t>
            </a:r>
          </a:p>
        </p:txBody>
      </p:sp>
      <p:sp>
        <p:nvSpPr>
          <p:cNvPr id="7" name="Content Placeholder 6">
            <a:extLst>
              <a:ext uri="{FF2B5EF4-FFF2-40B4-BE49-F238E27FC236}">
                <a16:creationId xmlns:a16="http://schemas.microsoft.com/office/drawing/2014/main" id="{41EE9EB8-D452-B931-90BD-34512AFA649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84720" y="243973"/>
            <a:ext cx="6478943" cy="6590627"/>
          </a:xfrm>
        </p:spPr>
        <p:txBody>
          <a:bodyPr vert="horz" lIns="91440" tIns="45720" rIns="91440" bIns="45720" rtlCol="0" anchor="t">
            <a:normAutofit lnSpcReduction="10000"/>
          </a:bodyPr>
          <a:lstStyle/>
          <a:p>
            <a:pPr marL="0" indent="0">
              <a:spcBef>
                <a:spcPts val="2500"/>
              </a:spcBef>
              <a:buFont typeface="Arial" panose="020B0604020202020204" pitchFamily="34" charset="0"/>
              <a:buNone/>
            </a:pPr>
            <a:r>
              <a:rPr lang="en-US" b="1"/>
              <a:t>Initial and Ongoing Costs</a:t>
            </a:r>
          </a:p>
          <a:p>
            <a:pPr marL="0" lvl="1" indent="0">
              <a:buFont typeface="Arial" panose="020B0604020202020204" pitchFamily="34" charset="0"/>
              <a:buNone/>
            </a:pPr>
            <a:r>
              <a:t>Initial costs include AI setup, development, and infrastructure estimated at ₹20–30 lakhs, with ongoing cloud and enhancement expenses.</a:t>
            </a:r>
            <a:endParaRPr lang="en-US"/>
          </a:p>
          <a:p>
            <a:pPr marL="0" indent="0">
              <a:spcBef>
                <a:spcPts val="2500"/>
              </a:spcBef>
              <a:buFont typeface="Arial" panose="020B0604020202020204" pitchFamily="34" charset="0"/>
              <a:buNone/>
            </a:pPr>
            <a:r>
              <a:rPr lang="en-US" b="1"/>
              <a:t>Financial Benefits</a:t>
            </a:r>
          </a:p>
          <a:p>
            <a:pPr marL="0" lvl="1" indent="0">
              <a:buFont typeface="Arial" panose="020B0604020202020204" pitchFamily="34" charset="0"/>
              <a:buNone/>
            </a:pPr>
            <a:r>
              <a:t>Savings come from reduced analyst workload, fewer errors, and improved efficiency driving significant operational cost reductions.</a:t>
            </a:r>
            <a:endParaRPr lang="en-US"/>
          </a:p>
          <a:p>
            <a:pPr marL="0" indent="0">
              <a:spcBef>
                <a:spcPts val="2500"/>
              </a:spcBef>
              <a:buFont typeface="Arial" panose="020B0604020202020204" pitchFamily="34" charset="0"/>
              <a:buNone/>
            </a:pPr>
            <a:r>
              <a:rPr lang="en-US" b="1"/>
              <a:t>Revenue Uplift and Break‑Even</a:t>
            </a:r>
          </a:p>
          <a:p>
            <a:pPr marL="0" lvl="1" indent="0">
              <a:buFont typeface="Arial" panose="020B0604020202020204" pitchFamily="34" charset="0"/>
              <a:buNone/>
            </a:pPr>
            <a:r>
              <a:t>Increased client throughput and faster reviews support revenue growth; break‑even is projected within 8 to 12 months.</a:t>
            </a:r>
            <a:endParaRPr lang="en-US"/>
          </a:p>
          <a:p>
            <a:pPr marL="0" indent="0">
              <a:spcBef>
                <a:spcPts val="2500"/>
              </a:spcBef>
              <a:buFont typeface="Arial" panose="020B0604020202020204" pitchFamily="34" charset="0"/>
              <a:buNone/>
            </a:pPr>
            <a:r>
              <a:rPr lang="en-US" b="1"/>
              <a:t>Scalability and ROI</a:t>
            </a:r>
          </a:p>
          <a:p>
            <a:pPr marL="0" lvl="1" indent="0">
              <a:buNone/>
            </a:pPr>
            <a:r>
              <a:t>Post break‑even, scalable architecture enables continued value creation with minimal cost increase, aligning with digital transformation goals.</a:t>
            </a:r>
            <a:endParaRPr lang="en-US"/>
          </a:p>
          <a:p>
            <a:pPr marL="0" indent="0">
              <a:buNone/>
            </a:pPr>
            <a:r>
              <a:rPr lang="en-US" b="1"/>
              <a:t>Business Benefits </a:t>
            </a:r>
            <a:endParaRPr lang="en-US"/>
          </a:p>
          <a:p>
            <a:r>
              <a:rPr lang="en-US">
                <a:ea typeface="+mn-lt"/>
                <a:cs typeface="+mn-lt"/>
              </a:rPr>
              <a:t>↑ RM can handle more clients (multi‑entity)</a:t>
            </a:r>
            <a:endParaRPr lang="en-US"/>
          </a:p>
          <a:p>
            <a:r>
              <a:rPr lang="en-US">
                <a:ea typeface="+mn-lt"/>
                <a:cs typeface="+mn-lt"/>
              </a:rPr>
              <a:t>↑ Faster delivery → improved client retention</a:t>
            </a:r>
          </a:p>
          <a:p>
            <a:r>
              <a:rPr lang="en-US">
                <a:ea typeface="+mn-lt"/>
                <a:cs typeface="+mn-lt"/>
              </a:rPr>
              <a:t>↑ Strategic insights → better investment outcomes</a:t>
            </a:r>
          </a:p>
          <a:p>
            <a:r>
              <a:rPr lang="en-US">
                <a:ea typeface="+mn-lt"/>
                <a:cs typeface="+mn-lt"/>
              </a:rPr>
              <a:t>↓ Operational overhead → fewer analysts needed for prep work</a:t>
            </a:r>
          </a:p>
          <a:p>
            <a:r>
              <a:rPr lang="en-US">
                <a:ea typeface="+mn-lt"/>
                <a:cs typeface="+mn-lt"/>
              </a:rPr>
              <a:t>↑ Reduction in SLA delays with clients</a:t>
            </a:r>
            <a:br>
              <a:rPr lang="en-US"/>
            </a:br>
            <a:endParaRPr lang="en-US"/>
          </a:p>
        </p:txBody>
      </p:sp>
      <p:sp>
        <p:nvSpPr>
          <p:cNvPr id="9" name="Footer Placeholder 2">
            <a:extLst>
              <a:ext uri="{FF2B5EF4-FFF2-40B4-BE49-F238E27FC236}">
                <a16:creationId xmlns:a16="http://schemas.microsoft.com/office/drawing/2014/main" id="{D9E63E16-EEDB-5C9B-658B-DE6D6922D74E}"/>
              </a:ext>
            </a:extLst>
          </p:cNvPr>
          <p:cNvSpPr txBox="1">
            <a:spLocks/>
          </p:cNvSpPr>
          <p:nvPr/>
        </p:nvSpPr>
        <p:spPr>
          <a:xfrm rot="16200000">
            <a:off x="-1277083" y="1497677"/>
            <a:ext cx="3021562" cy="467397"/>
          </a:xfrm>
          <a:prstGeom prst="rect">
            <a:avLst/>
          </a:prstGeom>
        </p:spPr>
        <p:txBody>
          <a:bodyPr lIns="91440" tIns="45720" rIns="91440" bIns="45720" anchor="ctr">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TEAM – AGENTIC PANDAS</a:t>
            </a:r>
            <a:endParaRPr lang="en-US" dirty="0"/>
          </a:p>
        </p:txBody>
      </p:sp>
    </p:spTree>
    <p:extLst>
      <p:ext uri="{BB962C8B-B14F-4D97-AF65-F5344CB8AC3E}">
        <p14:creationId xmlns:p14="http://schemas.microsoft.com/office/powerpoint/2010/main" val="3049181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Japandi linear">
  <a:themeElements>
    <a:clrScheme name="Japandi linear 2">
      <a:dk1>
        <a:srgbClr val="000000"/>
      </a:dk1>
      <a:lt1>
        <a:srgbClr val="FFFFFF"/>
      </a:lt1>
      <a:dk2>
        <a:srgbClr val="2C3832"/>
      </a:dk2>
      <a:lt2>
        <a:srgbClr val="F2EDE3"/>
      </a:lt2>
      <a:accent1>
        <a:srgbClr val="B79C8F"/>
      </a:accent1>
      <a:accent2>
        <a:srgbClr val="8A835B"/>
      </a:accent2>
      <a:accent3>
        <a:srgbClr val="A3A588"/>
      </a:accent3>
      <a:accent4>
        <a:srgbClr val="A39382"/>
      </a:accent4>
      <a:accent5>
        <a:srgbClr val="87A3BF"/>
      </a:accent5>
      <a:accent6>
        <a:srgbClr val="6464A0"/>
      </a:accent6>
      <a:hlink>
        <a:srgbClr val="BF6E45"/>
      </a:hlink>
      <a:folHlink>
        <a:srgbClr val="B3932A"/>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Copilot Layouts_win32_SD_V13" id="{1A98D2ED-8D8F-4042-89AC-2EE345497259}" vid="{2E77DE8A-CCF8-42DD-89D0-20AB94D79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Props1.xml><?xml version="1.0" encoding="utf-8"?>
<ds:datastoreItem xmlns:ds="http://schemas.openxmlformats.org/officeDocument/2006/customXml" ds:itemID="{C672242D-F59D-4B5F-9AD6-927A432E0C40}"/>
</file>

<file path=customXml/itemProps2.xml><?xml version="1.0" encoding="utf-8"?>
<ds:datastoreItem xmlns:ds="http://schemas.openxmlformats.org/officeDocument/2006/customXml" ds:itemID="{80466070-2DBB-4868-92EE-5A6FBA9BBB72}"/>
</file>

<file path=customXml/itemProps3.xml><?xml version="1.0" encoding="utf-8"?>
<ds:datastoreItem xmlns:ds="http://schemas.openxmlformats.org/officeDocument/2006/customXml" ds:itemID="{966A1564-3FEC-4098-97C1-0F232858A520}"/>
</file>

<file path=docMetadata/LabelInfo.xml><?xml version="1.0" encoding="utf-8"?>
<clbl:labelList xmlns:clbl="http://schemas.microsoft.com/office/2020/mipLabelMetadata">
  <clbl:label id="{bb5d96ea-ab39-44a0-a6d6-b6f0aac5958b}" enabled="1" method="Standar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0</TotalTime>
  <Words>2669</Words>
  <Application>Microsoft Office PowerPoint</Application>
  <PresentationFormat>Widescreen</PresentationFormat>
  <Paragraphs>167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Consolas</vt:lpstr>
      <vt:lpstr>Nunito Sans</vt:lpstr>
      <vt:lpstr>Segoe UI</vt:lpstr>
      <vt:lpstr>Univers Light</vt:lpstr>
      <vt:lpstr>Japandi linear</vt:lpstr>
      <vt:lpstr>AI‑Driven Portfolio Intelligence Agent for Private Banking</vt:lpstr>
      <vt:lpstr>Problem Context and Use Case Definition</vt:lpstr>
      <vt:lpstr>Operational Challenges in Pre‑Review Portfolio Analysis</vt:lpstr>
      <vt:lpstr>AI‑Driven Portfolio Intelligence Agent Use Case Overview</vt:lpstr>
      <vt:lpstr>Solution Architecture and Agent Design</vt:lpstr>
      <vt:lpstr>Functional Architecture</vt:lpstr>
      <vt:lpstr>Technical Architecture (high-level)</vt:lpstr>
      <vt:lpstr>Technical Architecture Using Microsoft AI and Data Platforms</vt:lpstr>
      <vt:lpstr>Business Value, technical view and Financial Justification</vt:lpstr>
      <vt:lpstr>Operational and Strategic Business Impact</vt:lpstr>
      <vt:lpstr>Technical &amp; Functional Solution </vt:lpstr>
      <vt:lpstr>Business Case, Cost Structure, and Break‑Even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rohan.kumar-sharma@capgemini.com</dc:creator>
  <cp:lastModifiedBy>Kumar Sharma, Rohan</cp:lastModifiedBy>
  <cp:revision>23</cp:revision>
  <dcterms:modified xsi:type="dcterms:W3CDTF">2026-04-03T04:26:54Z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0x010100D72C44C9799C9545A5261C0AF70B4333</vt:lpwstr>
  </property>
</Properties>
</file>