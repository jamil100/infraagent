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5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59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4297680"/>
          </a:xfrm>
          <a:prstGeom prst="rect">
            <a:avLst/>
          </a:prstGeom>
          <a:solidFill>
            <a:srgbClr val="1F4E8C"/>
          </a:solidFill>
          <a:ln w="12700">
            <a:solidFill>
              <a:srgbClr val="1F4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91440"/>
            <a:ext cx="1371600" cy="21945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CASE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286000" y="91440"/>
            <a:ext cx="685800" cy="21945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914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3A6B"/>
                </a:solidFill>
              </a:rPr>
              <a:t>Industry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12848" y="32918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722"/>
                </a:solidFill>
              </a:rPr>
              <a:t>Financial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87722"/>
                </a:solidFill>
              </a:rPr>
              <a:t>Services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Process 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" y="658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A84B"/>
                </a:solidFill>
              </a:rPr>
              <a:t>Autonomous Underwriting Workbench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" y="1042416"/>
            <a:ext cx="2834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C8A84B"/>
                </a:solidFill>
              </a:rPr>
              <a:t>The use case addresses fully autonomous, AI-driven commercial underwriting — from broker submission ingestion through risk scoring, compliance checking and indicative term generation — using Azure AI Foundry, Microsoft Fabric and Copilot Studio.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08960" y="0"/>
            <a:ext cx="90525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54864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6B"/>
                </a:solidFill>
              </a:rPr>
              <a:t>Autonomous Underwriting Workbench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1777472" y="64008"/>
            <a:ext cx="274320" cy="2743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82112" y="1097280"/>
            <a:ext cx="27432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73552" y="1188720"/>
            <a:ext cx="2560320" cy="256032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Business Challenges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19272" y="1508760"/>
            <a:ext cx="2468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</a:rPr>
              <a:t>Manual, fragmented underwriting reliant on email chains, spreadsheets, and disconnected legacy systems creates slow decision cycles and pricing inconsistency.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</a:rPr>
              <a:t>Inconsistent risk assessment across portfolios due to absence of a standardised decisioning framework and real-time market data access.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</a:rPr>
              <a:t>Regulatory exposure under FCA/PRA from incomplete audit trails and inability to evidence AI-assisted decisioning to supervisors.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98464" y="1097280"/>
            <a:ext cx="34290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1188720"/>
            <a:ext cx="3246120" cy="256032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1887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Use Case Description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35624" y="2697480"/>
            <a:ext cx="3154680" cy="0"/>
          </a:xfrm>
          <a:prstGeom prst="line">
            <a:avLst/>
          </a:prstGeom>
          <a:noFill/>
          <a:ln w="12700">
            <a:solidFill>
              <a:srgbClr val="0070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35624" y="1499616"/>
            <a:ext cx="3154680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</a:rPr>
              <a:t>The Autonomous Underwriting Workbench is an AI-driven platform that orchestrates end-to-end commercial underwriting. It ingests broker submissions and structured/unstructured risk data, applies predictive models to generate indicative terms and risk scores, flags compliance exceptions under FCA/PRA rules, and routes cases to human underwriters with a fully evidenced recommendation pack.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2D2D2D"/>
                </a:solidFill>
              </a:rPr>
              <a:t>The solution is built on Microsoft Fabric, Azure AI Foundry and Copilot Studio — with a governed data product layer ensuring complete audit trail coverage and decisioning transparency.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500616" y="1097280"/>
            <a:ext cx="2660904" cy="32004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500616" y="1097280"/>
            <a:ext cx="2660904" cy="274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92056" y="1097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WHY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92056" y="1426464"/>
            <a:ext cx="2478024" cy="228600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92056" y="1426464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</a:rPr>
              <a:t>KPIs Impacted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592056" y="1691640"/>
            <a:ext cx="24780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750" dirty="0">
                <a:solidFill>
                  <a:srgbClr val="DDEEFF"/>
                </a:solidFill>
              </a:rPr>
              <a:t>Underwriting cycle time: </a:t>
            </a:r>
            <a:r>
              <a:rPr lang="en-US" sz="750" b="1" dirty="0">
                <a:solidFill>
                  <a:srgbClr val="FF8888"/>
                </a:solidFill>
              </a:rPr>
              <a:t>–40–60%
</a:t>
            </a:r>
            <a:r>
              <a:rPr lang="en-US" sz="750" dirty="0">
                <a:solidFill>
                  <a:srgbClr val="DDEEFF"/>
                </a:solidFill>
              </a:rPr>
              <a:t>Risk pricing accuracy: </a:t>
            </a:r>
            <a:r>
              <a:rPr lang="en-US" sz="750" b="1" dirty="0">
                <a:solidFill>
                  <a:srgbClr val="90EE90"/>
                </a:solidFill>
              </a:rPr>
              <a:t>+25–35%
</a:t>
            </a:r>
            <a:r>
              <a:rPr lang="en-US" sz="750" dirty="0">
                <a:solidFill>
                  <a:srgbClr val="DDEEFF"/>
                </a:solidFill>
              </a:rPr>
              <a:t>FCA/PRA audit coverage: </a:t>
            </a:r>
            <a:r>
              <a:rPr lang="en-US" sz="750" b="1" dirty="0">
                <a:solidFill>
                  <a:srgbClr val="90EE90"/>
                </a:solidFill>
              </a:rPr>
              <a:t>&gt;90%
</a:t>
            </a:r>
            <a:r>
              <a:rPr lang="en-US" sz="750" dirty="0">
                <a:solidFill>
                  <a:srgbClr val="DDEEFF"/>
                </a:solidFill>
              </a:rPr>
              <a:t>FTE hours saved: </a:t>
            </a:r>
            <a:r>
              <a:rPr lang="en-US" sz="750" b="1" dirty="0">
                <a:solidFill>
                  <a:srgbClr val="90EE90"/>
                </a:solidFill>
              </a:rPr>
              <a:t>30–50%
</a:t>
            </a:r>
            <a:r>
              <a:rPr lang="en-US" sz="750" dirty="0">
                <a:solidFill>
                  <a:srgbClr val="DDEEFF"/>
                </a:solidFill>
              </a:rPr>
              <a:t>Operational cost: </a:t>
            </a:r>
            <a:r>
              <a:rPr lang="en-US" sz="750" b="1" dirty="0">
                <a:solidFill>
                  <a:srgbClr val="FF8888"/>
                </a:solidFill>
              </a:rPr>
              <a:t>Reduced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592056" y="2706624"/>
            <a:ext cx="2478024" cy="228600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92056" y="2706624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592056" y="2971800"/>
            <a:ext cx="2478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DDEEFF"/>
                </a:solidFill>
              </a:rPr>
              <a:t>Faster time-to-quote</a:t>
            </a:r>
            <a:endParaRPr lang="en-US" sz="7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DDEEFF"/>
                </a:solidFill>
              </a:rPr>
              <a:t>Fewer legal loops</a:t>
            </a:r>
            <a:endParaRPr lang="en-US" sz="7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DDEEFF"/>
                </a:solidFill>
              </a:rPr>
              <a:t>Stronger auditability</a:t>
            </a:r>
            <a:endParaRPr lang="en-US" sz="7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DDEEFF"/>
                </a:solidFill>
              </a:rPr>
              <a:t>Better risk negotiations</a:t>
            </a:r>
            <a:endParaRPr lang="en-US" sz="7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DDEEFF"/>
                </a:solidFill>
              </a:rPr>
              <a:t>Improved decision quality</a:t>
            </a:r>
            <a:endParaRPr lang="en-US" sz="7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DDEEFF"/>
                </a:solidFill>
              </a:rPr>
              <a:t>Reduced regulatory risk</a:t>
            </a:r>
            <a:endParaRPr lang="en-US" sz="750" dirty="0"/>
          </a:p>
          <a:p>
            <a:pPr marL="342900" indent="-342900" algn="l">
              <a:spcAft>
                <a:spcPts val="100"/>
              </a:spcAft>
              <a:buSzPct val="100000"/>
              <a:buChar char="•"/>
            </a:pPr>
            <a:r>
              <a:rPr lang="en-US" sz="750" dirty="0">
                <a:solidFill>
                  <a:srgbClr val="DDEEFF"/>
                </a:solidFill>
              </a:rPr>
              <a:t>Multi-stakeholder access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4352544"/>
            <a:ext cx="7955280" cy="2322576"/>
          </a:xfrm>
          <a:prstGeom prst="rect">
            <a:avLst/>
          </a:prstGeom>
          <a:solidFill>
            <a:srgbClr val="EAEE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352544"/>
            <a:ext cx="4375404" cy="25603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75404" y="4352544"/>
            <a:ext cx="3579876" cy="256032"/>
          </a:xfrm>
          <a:prstGeom prst="rect">
            <a:avLst/>
          </a:prstGeom>
          <a:solidFill>
            <a:srgbClr val="CCB0B5"/>
          </a:solidFill>
          <a:ln w="12700">
            <a:solidFill>
              <a:srgbClr val="CCB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" y="43525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HOW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728" y="4654296"/>
            <a:ext cx="3813048" cy="219456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9728" y="4654296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</a:rPr>
              <a:t>Functional Solution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9728" y="4910328"/>
            <a:ext cx="381304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Submission ingestion &amp; document parsing (broker pack, financials, exposure data)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Automated risk scoring against underwriting appetite rules with external data enrichment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Compliance &amp; sanctions screening with automated referral routing to senior underwriters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AI-generated indicative term sheet with confidence scores and evidence pack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Human-in-the-loop Copilot workbench for review, override and sign-off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977640" y="4654296"/>
            <a:ext cx="0" cy="1975104"/>
          </a:xfrm>
          <a:prstGeom prst="line">
            <a:avLst/>
          </a:prstGeom>
          <a:noFill/>
          <a:ln w="6350">
            <a:solidFill>
              <a:srgbClr val="BBBBB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50792" y="4654296"/>
            <a:ext cx="3794760" cy="219456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0792" y="465429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</a:rPr>
              <a:t>Technical Solution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50792" y="4910328"/>
            <a:ext cx="37947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Microsoft Fabric Lakehouse: governed data product ingesting IFS ERP, broker portals, CAT model feeds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Azure AI Foundry + Prompt Flow: multi-agent orchestration with RAG, tool calling and memory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Copilot Studio (M365): underwriter-facing workbench with AI rationale, highlights and approval workflow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Azure Document Intelligence: submission parsing and metadata extraction at ingestion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GitHub Copilot + Claude Code: accelerated agent development, YAML source registry and dbt transforms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010144" y="4352544"/>
            <a:ext cx="4151376" cy="2322576"/>
          </a:xfrm>
          <a:prstGeom prst="rect">
            <a:avLst/>
          </a:prstGeom>
          <a:solidFill>
            <a:srgbClr val="EAEE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10144" y="4352544"/>
            <a:ext cx="2075688" cy="256032"/>
          </a:xfrm>
          <a:prstGeom prst="rect">
            <a:avLst/>
          </a:prstGeom>
          <a:solidFill>
            <a:srgbClr val="006B80"/>
          </a:solidFill>
          <a:ln w="12700">
            <a:solidFill>
              <a:srgbClr val="006B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85832" y="4352544"/>
            <a:ext cx="2075688" cy="256032"/>
          </a:xfrm>
          <a:prstGeom prst="rect">
            <a:avLst/>
          </a:prstGeom>
          <a:solidFill>
            <a:srgbClr val="A0C8D5"/>
          </a:solidFill>
          <a:ln w="12700">
            <a:solidFill>
              <a:srgbClr val="A0C8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01584" y="435254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WHO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101584" y="4654296"/>
            <a:ext cx="3968496" cy="219456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01584" y="4654296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2E"/>
                </a:solidFill>
              </a:rPr>
              <a:t>Stakeholders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119872" y="4910328"/>
            <a:ext cx="3950208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Commercial Underwriters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Reinsurance Managers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Risk &amp; Compliance Officers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Broker / Distribution Partners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Chief Underwriting Officer</a:t>
            </a:r>
            <a:endParaRPr lang="en-US" sz="75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750" dirty="0">
                <a:solidFill>
                  <a:srgbClr val="2D2D2D"/>
                </a:solidFill>
              </a:rPr>
              <a:t>FCA / PRA Regulators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64592" y="66751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Presentation Title | Nilesh Ashra | 2026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492240" y="66751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Company Confidential © Capgemini 2026. All rights reserved.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1841480" y="6675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10241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91440"/>
            <a:ext cx="1371600" cy="21945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CASE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286000" y="91440"/>
            <a:ext cx="685800" cy="21945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914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3A6B"/>
                </a:solidFill>
              </a:rPr>
              <a:t>Industry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12848" y="32918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722"/>
                </a:solidFill>
              </a:rPr>
              <a:t>Financial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87722"/>
                </a:solidFill>
              </a:rPr>
              <a:t>Services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Process 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" y="658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A84B"/>
                </a:solidFill>
              </a:rPr>
              <a:t>Autonomous Underwriting Workbench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0"/>
            <a:ext cx="90525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54864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70C0"/>
                </a:solidFill>
              </a:rPr>
              <a:t>Functional Solution + AI-Human Chemistry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777472" y="64008"/>
            <a:ext cx="274320" cy="2743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1097280"/>
            <a:ext cx="11832336" cy="347472"/>
          </a:xfrm>
          <a:prstGeom prst="rect">
            <a:avLst/>
          </a:prstGeom>
          <a:solidFill>
            <a:srgbClr val="FFF2CC"/>
          </a:solidFill>
          <a:ln w="10160">
            <a:solidFill>
              <a:srgbClr val="FFC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106424"/>
            <a:ext cx="1164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5E00"/>
                </a:solidFill>
              </a:rPr>
              <a:t>Diagram showing functional components with agent decision points and human handover triggers across the Underwriting Workbench pipeline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1536192"/>
            <a:ext cx="6858000" cy="2331720"/>
          </a:xfrm>
          <a:prstGeom prst="rect">
            <a:avLst/>
          </a:prstGeom>
          <a:solidFill>
            <a:srgbClr val="F7FAFF"/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5910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Submission &amp; Risk Pipeline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764792"/>
            <a:ext cx="960120" cy="960120"/>
          </a:xfrm>
          <a:prstGeom prst="ellipse">
            <a:avLst/>
          </a:prstGeom>
          <a:solidFill>
            <a:srgbClr val="D0D8F0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" y="27706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</a:rPr>
              <a:t>Agent 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</a:rPr>
              <a:t>(Intake)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09728" y="320040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44444"/>
                </a:solidFill>
              </a:rPr>
              <a:t>Inbound Channels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481328" y="1673352"/>
            <a:ext cx="1463040" cy="502920"/>
          </a:xfrm>
          <a:prstGeom prst="rect">
            <a:avLst/>
          </a:prstGeom>
          <a:solidFill>
            <a:srgbClr val="E8EDF6"/>
          </a:solidFill>
          <a:ln w="10160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81328" y="16733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Broker Submission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(Email / Portal)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481328" y="2267712"/>
            <a:ext cx="1463040" cy="502920"/>
          </a:xfrm>
          <a:prstGeom prst="rect">
            <a:avLst/>
          </a:prstGeom>
          <a:solidFill>
            <a:srgbClr val="E8EDF6"/>
          </a:solidFill>
          <a:ln w="10160">
            <a:solidFill>
              <a:srgbClr val="447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81328" y="22677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Financials &amp;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Exposure Data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44368" y="2221992"/>
            <a:ext cx="320040" cy="0"/>
          </a:xfrm>
          <a:prstGeom prst="line">
            <a:avLst/>
          </a:prstGeom>
          <a:noFill/>
          <a:ln w="15240">
            <a:solidFill>
              <a:srgbClr val="1B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37560" y="1993392"/>
            <a:ext cx="594360" cy="594360"/>
          </a:xfrm>
          <a:prstGeom prst="ellipse">
            <a:avLst/>
          </a:prstGeom>
          <a:solidFill>
            <a:srgbClr val="E0E8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993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26334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Parse 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Classify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931920" y="2286000"/>
            <a:ext cx="5943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26280" y="1993392"/>
            <a:ext cx="594360" cy="594360"/>
          </a:xfrm>
          <a:prstGeom prst="ellipse">
            <a:avLst/>
          </a:prstGeom>
          <a:solidFill>
            <a:srgbClr val="E0E8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26280" y="1993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480560" y="26334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Extract Risk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Attributes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120640" y="2286000"/>
            <a:ext cx="5943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5715000" y="1993392"/>
            <a:ext cx="594360" cy="594360"/>
          </a:xfrm>
          <a:prstGeom prst="ellipse">
            <a:avLst/>
          </a:prstGeom>
          <a:solidFill>
            <a:srgbClr val="E0E8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1993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69280" y="26334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Score 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Price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309360" y="2286000"/>
            <a:ext cx="5943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903720" y="1993392"/>
            <a:ext cx="594360" cy="594360"/>
          </a:xfrm>
          <a:prstGeom prst="ellipse">
            <a:avLst/>
          </a:prstGeom>
          <a:solidFill>
            <a:srgbClr val="FFE0B2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1993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58000" y="26334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Compliance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Check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498080" y="2286000"/>
            <a:ext cx="5943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8092440" y="1993392"/>
            <a:ext cx="594360" cy="594360"/>
          </a:xfrm>
          <a:prstGeom prst="ellipse">
            <a:avLst/>
          </a:prstGeom>
          <a:solidFill>
            <a:srgbClr val="E0E8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92440" y="19933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046720" y="26334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Generate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Term Sheet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429000" y="3273552"/>
            <a:ext cx="411480" cy="411480"/>
          </a:xfrm>
          <a:prstGeom prst="ellipse">
            <a:avLst/>
          </a:prstGeom>
          <a:solidFill>
            <a:srgbClr val="E8F5E9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04488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Risk Score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Report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257800" y="3273552"/>
            <a:ext cx="411480" cy="411480"/>
          </a:xfrm>
          <a:prstGeom prst="ellipse">
            <a:avLst/>
          </a:prstGeom>
          <a:solidFill>
            <a:srgbClr val="E8F5E9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33288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Indicative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Term Sheet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086600" y="3273552"/>
            <a:ext cx="411480" cy="411480"/>
          </a:xfrm>
          <a:prstGeom prst="ellipse">
            <a:avLst/>
          </a:prstGeom>
          <a:solidFill>
            <a:srgbClr val="E8F5E9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62088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Referral to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Underwriter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377440" y="4050792"/>
            <a:ext cx="6858000" cy="2194560"/>
          </a:xfrm>
          <a:prstGeom prst="rect">
            <a:avLst/>
          </a:prstGeom>
          <a:solidFill>
            <a:srgbClr val="FFFDF5"/>
          </a:solidFill>
          <a:ln w="12700">
            <a:solidFill>
              <a:srgbClr val="DDCCA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0" y="411480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Human Review &amp; Decision (Copilot Workbench)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4279392"/>
            <a:ext cx="960120" cy="960120"/>
          </a:xfrm>
          <a:prstGeom prst="ellipse">
            <a:avLst/>
          </a:prstGeom>
          <a:solidFill>
            <a:srgbClr val="F0E8D0"/>
          </a:solidFill>
          <a:ln w="19050">
            <a:solidFill>
              <a:srgbClr val="C8A84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528523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</a:rPr>
              <a:t>Underwriter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1B3A6B"/>
                </a:solidFill>
              </a:rPr>
              <a:t>(Human)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481328" y="455371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Copilot Studio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(M365 Workbench)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481328" y="4507992"/>
            <a:ext cx="1463040" cy="548640"/>
          </a:xfrm>
          <a:prstGeom prst="rect">
            <a:avLst/>
          </a:prstGeom>
          <a:solidFill>
            <a:srgbClr val="E8EDF6"/>
          </a:solidFill>
          <a:ln w="10160">
            <a:solidFill>
              <a:srgbClr val="4472C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481328" y="45079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Copilot Studio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(M365 Workbench)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944368" y="4782312"/>
            <a:ext cx="320040" cy="0"/>
          </a:xfrm>
          <a:prstGeom prst="line">
            <a:avLst/>
          </a:prstGeom>
          <a:noFill/>
          <a:ln w="15240">
            <a:solidFill>
              <a:srgbClr val="1B3A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37560" y="4462272"/>
            <a:ext cx="594360" cy="594360"/>
          </a:xfrm>
          <a:prstGeom prst="ellipse">
            <a:avLst/>
          </a:prstGeom>
          <a:solidFill>
            <a:srgbClr val="FFF5E0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37560" y="4462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3291840" y="51023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Review AI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Rationale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3931920" y="4754880"/>
            <a:ext cx="5943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4526280" y="4462272"/>
            <a:ext cx="594360" cy="594360"/>
          </a:xfrm>
          <a:prstGeom prst="ellipse">
            <a:avLst/>
          </a:prstGeom>
          <a:solidFill>
            <a:srgbClr val="FFE0B2"/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26280" y="4462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480560" y="51023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Override /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Approve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120640" y="4754880"/>
            <a:ext cx="5943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5715000" y="4462272"/>
            <a:ext cx="594360" cy="594360"/>
          </a:xfrm>
          <a:prstGeom prst="ellipse">
            <a:avLst/>
          </a:prstGeom>
          <a:solidFill>
            <a:srgbClr val="FFF5E0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15000" y="4462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669280" y="51023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Bind 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Document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309360" y="4754880"/>
            <a:ext cx="5943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6903720" y="4462272"/>
            <a:ext cx="594360" cy="594360"/>
          </a:xfrm>
          <a:prstGeom prst="ellipse">
            <a:avLst/>
          </a:prstGeom>
          <a:solidFill>
            <a:srgbClr val="FFF5E0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03720" y="4462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6858000" y="51023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Notify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Broker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7498080" y="4754880"/>
            <a:ext cx="594360" cy="0"/>
          </a:xfrm>
          <a:prstGeom prst="line">
            <a:avLst/>
          </a:prstGeom>
          <a:noFill/>
          <a:ln w="10160">
            <a:solidFill>
              <a:srgbClr val="AAAAAA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8092440" y="4462272"/>
            <a:ext cx="594360" cy="594360"/>
          </a:xfrm>
          <a:prstGeom prst="ellipse">
            <a:avLst/>
          </a:prstGeom>
          <a:solidFill>
            <a:srgbClr val="FFF5E0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92440" y="446227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8046720" y="510235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Audit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44444"/>
                </a:solidFill>
              </a:rPr>
              <a:t>Trail Log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429000" y="5742432"/>
            <a:ext cx="411480" cy="411480"/>
          </a:xfrm>
          <a:prstGeom prst="ellipse">
            <a:avLst/>
          </a:prstGeom>
          <a:solidFill>
            <a:srgbClr val="E8F5E9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904488" y="5760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Bound Policy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Created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257800" y="5742432"/>
            <a:ext cx="411480" cy="411480"/>
          </a:xfrm>
          <a:prstGeom prst="ellipse">
            <a:avLst/>
          </a:prstGeom>
          <a:solidFill>
            <a:srgbClr val="E8F5E9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733288" y="5760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Audit Trail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(FCA/PRA)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086600" y="5742432"/>
            <a:ext cx="411480" cy="411480"/>
          </a:xfrm>
          <a:prstGeom prst="ellipse">
            <a:avLst/>
          </a:prstGeom>
          <a:solidFill>
            <a:srgbClr val="E8F5E9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62088" y="57607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Broker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444444"/>
                </a:solidFill>
              </a:rPr>
              <a:t>Notified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9418320" y="1627632"/>
            <a:ext cx="347472" cy="347472"/>
          </a:xfrm>
          <a:prstGeom prst="ellipse">
            <a:avLst/>
          </a:prstGeom>
          <a:solidFill>
            <a:srgbClr val="E0E8F8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41832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🤖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9820656" y="162763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Interaction with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human teams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9418320" y="2066544"/>
            <a:ext cx="347472" cy="347472"/>
          </a:xfrm>
          <a:prstGeom prst="ellipse">
            <a:avLst/>
          </a:prstGeom>
          <a:solidFill>
            <a:srgbClr val="FFF5E0"/>
          </a:solidFill>
          <a:ln w="12700">
            <a:solidFill>
              <a:srgbClr val="C8A84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41832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🤖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9820656" y="2066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Agent interacting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1A1A2E"/>
                </a:solidFill>
              </a:rPr>
              <a:t>only with systems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418320" y="25877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1A2E"/>
                </a:solidFill>
              </a:rPr>
              <a:t>Solution Brief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9418320" y="2862072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800" b="1" dirty="0">
                <a:solidFill>
                  <a:srgbClr val="1A1A2E"/>
                </a:solidFill>
              </a:rPr>
              <a:t>Classifier Agent: </a:t>
            </a:r>
            <a:r>
              <a:rPr lang="en-US" sz="800" dirty="0">
                <a:solidFill>
                  <a:srgbClr val="444444"/>
                </a:solidFill>
              </a:rPr>
              <a:t>Parses and classifies broker submissions, financials and third-party exposure data by document type.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418320" y="3520440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800" b="1" dirty="0">
                <a:solidFill>
                  <a:srgbClr val="1A1A2E"/>
                </a:solidFill>
              </a:rPr>
              <a:t>Risk Scoring Agent: </a:t>
            </a:r>
            <a:r>
              <a:rPr lang="en-US" sz="800" dirty="0">
                <a:solidFill>
                  <a:srgbClr val="444444"/>
                </a:solidFill>
              </a:rPr>
              <a:t>Scores against underwriting appetite rules with real-time external data enrichment (credit, CAT, market).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418320" y="417880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800" b="1" dirty="0">
                <a:solidFill>
                  <a:srgbClr val="1A1A2E"/>
                </a:solidFill>
              </a:rPr>
              <a:t>Compliance Agent: </a:t>
            </a:r>
            <a:r>
              <a:rPr lang="en-US" sz="800" dirty="0">
                <a:solidFill>
                  <a:srgbClr val="444444"/>
                </a:solidFill>
              </a:rPr>
              <a:t>Screens for sanctions, regulatory exceptions; flags breaches and routes referrals with evidence pack.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9418320" y="4837176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800" b="1" dirty="0">
                <a:solidFill>
                  <a:srgbClr val="1A1A2E"/>
                </a:solidFill>
              </a:rPr>
              <a:t>Term Generation Agent: </a:t>
            </a:r>
            <a:r>
              <a:rPr lang="en-US" sz="800" dirty="0">
                <a:solidFill>
                  <a:srgbClr val="444444"/>
                </a:solidFill>
              </a:rPr>
              <a:t>Produces indicative premium, coverage terms and conditions aligned to treaty constraints.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9418320" y="5495544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800" b="1" dirty="0">
                <a:solidFill>
                  <a:srgbClr val="1A1A2E"/>
                </a:solidFill>
              </a:rPr>
              <a:t>Copilot Workbench: </a:t>
            </a:r>
            <a:r>
              <a:rPr lang="en-US" sz="800" dirty="0">
                <a:solidFill>
                  <a:srgbClr val="444444"/>
                </a:solidFill>
              </a:rPr>
              <a:t>Human-in-the-loop interface for underwriter review, decision rationale capture and FCA/PRA audit logging.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164592" y="66751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Presentation Title | Nilesh Ashra | 2026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6492240" y="66751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Company Confidential © Capgemini 2026. All rights reserved.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11841480" y="6675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10241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91440"/>
            <a:ext cx="1371600" cy="21945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CASE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286000" y="91440"/>
            <a:ext cx="685800" cy="21945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914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3A6B"/>
                </a:solidFill>
              </a:rPr>
              <a:t>Industry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12848" y="32918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722"/>
                </a:solidFill>
              </a:rPr>
              <a:t>Financial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87722"/>
                </a:solidFill>
              </a:rPr>
              <a:t>Services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Process 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" y="658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A84B"/>
                </a:solidFill>
              </a:rPr>
              <a:t>Autonomous Underwriting Workbench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0"/>
            <a:ext cx="90525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54864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1A2E"/>
                </a:solidFill>
              </a:rPr>
              <a:t>Technical Solution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11777472" y="64008"/>
            <a:ext cx="274320" cy="2743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" y="1097280"/>
            <a:ext cx="11832336" cy="347472"/>
          </a:xfrm>
          <a:prstGeom prst="rect">
            <a:avLst/>
          </a:prstGeom>
          <a:solidFill>
            <a:srgbClr val="FFF2CC"/>
          </a:solidFill>
          <a:ln w="10160">
            <a:solidFill>
              <a:srgbClr val="FFC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" y="1106424"/>
            <a:ext cx="11649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B5E00"/>
                </a:solidFill>
              </a:rPr>
              <a:t>Technical architecture showing Microsoft platform components, agent services, data flows and the governed data product layer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646920" y="1536192"/>
            <a:ext cx="2441448" cy="274320"/>
          </a:xfrm>
          <a:prstGeom prst="rect">
            <a:avLst/>
          </a:prstGeom>
          <a:solidFill>
            <a:srgbClr val="006B80"/>
          </a:solidFill>
          <a:ln w="12700">
            <a:solidFill>
              <a:srgbClr val="006B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20072" y="1536192"/>
            <a:ext cx="2368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Tech 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720072" y="1865376"/>
            <a:ext cx="23682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E8C000"/>
                </a:solidFill>
              </a:rPr>
              <a:t>GitHub Copilot</a:t>
            </a:r>
            <a:endParaRPr lang="en-US" sz="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E8C000"/>
                </a:solidFill>
              </a:rPr>
              <a:t>Microsoft Foundry</a:t>
            </a:r>
            <a:endParaRPr lang="en-US" sz="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E8C000"/>
                </a:solidFill>
              </a:rPr>
              <a:t>Microsoft Fabric</a:t>
            </a:r>
            <a:endParaRPr lang="en-US" sz="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E8C000"/>
                </a:solidFill>
              </a:rPr>
              <a:t>M365 Copilot</a:t>
            </a:r>
            <a:endParaRPr lang="en-US" sz="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E8C000"/>
                </a:solidFill>
              </a:rPr>
              <a:t>Copilot Studio</a:t>
            </a:r>
            <a:endParaRPr lang="en-US" sz="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E8C000"/>
                </a:solidFill>
              </a:rPr>
              <a:t>Azure AI Services</a:t>
            </a:r>
            <a:endParaRPr lang="en-US" sz="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E8C000"/>
                </a:solidFill>
              </a:rPr>
              <a:t>Claude Code</a:t>
            </a:r>
            <a:endParaRPr lang="en-US" sz="8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800" dirty="0">
                <a:solidFill>
                  <a:srgbClr val="E8C000"/>
                </a:solidFill>
              </a:rPr>
              <a:t>Azure MCP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91840" y="1627632"/>
            <a:ext cx="1554480" cy="384048"/>
          </a:xfrm>
          <a:prstGeom prst="rect">
            <a:avLst/>
          </a:prstGeom>
          <a:solidFill>
            <a:srgbClr val="C8A0D8"/>
          </a:solidFill>
          <a:ln w="12700">
            <a:solidFill>
              <a:srgbClr val="9060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6276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Orchestrator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(Azure AI Foundry)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00800" y="1627632"/>
            <a:ext cx="1645920" cy="384048"/>
          </a:xfrm>
          <a:prstGeom prst="rect">
            <a:avLst/>
          </a:prstGeom>
          <a:solidFill>
            <a:srgbClr val="C8A0D8"/>
          </a:solidFill>
          <a:ln w="12700">
            <a:solidFill>
              <a:srgbClr val="9060B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16276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Guardrails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(Azure AI Content Safety)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46320" y="1819656"/>
            <a:ext cx="1554480" cy="0"/>
          </a:xfrm>
          <a:prstGeom prst="line">
            <a:avLst/>
          </a:prstGeom>
          <a:noFill/>
          <a:ln w="12700">
            <a:solidFill>
              <a:srgbClr val="9060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" y="2267712"/>
            <a:ext cx="1737360" cy="1234440"/>
          </a:xfrm>
          <a:prstGeom prst="rect">
            <a:avLst/>
          </a:prstGeom>
          <a:solidFill>
            <a:srgbClr val="D0E8F5"/>
          </a:solidFill>
          <a:ln w="12700">
            <a:solidFill>
              <a:srgbClr val="3080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" y="230428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3A6B"/>
                </a:solidFill>
              </a:rPr>
              <a:t>Source Documents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7744" y="25420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B3A6B"/>
                </a:solidFill>
              </a:rPr>
              <a:t>• Broker Submission Pack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7744" y="27614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B3A6B"/>
                </a:solidFill>
              </a:rPr>
              <a:t>• Financials &amp; Exposure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37744" y="298094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B3A6B"/>
                </a:solidFill>
              </a:rPr>
              <a:t>• External Market Feeds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37744" y="32004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1B3A6B"/>
                </a:solidFill>
              </a:rPr>
              <a:t>• Treaty / Appetite Rules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901952" y="2880360"/>
            <a:ext cx="320040" cy="0"/>
          </a:xfrm>
          <a:prstGeom prst="line">
            <a:avLst/>
          </a:prstGeom>
          <a:noFill/>
          <a:ln w="15240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05456" y="2011680"/>
            <a:ext cx="0" cy="164592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1920240" y="2176272"/>
            <a:ext cx="1170432" cy="960120"/>
          </a:xfrm>
          <a:prstGeom prst="rect">
            <a:avLst/>
          </a:prstGeom>
          <a:solidFill>
            <a:srgbClr val="C8C0E8"/>
          </a:solidFill>
          <a:ln w="10160">
            <a:solidFill>
              <a:srgbClr val="8060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22128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Document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Classifier Agent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956816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AI Foundry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(GPT-4o DocAI)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1956816" y="2816352"/>
            <a:ext cx="475488" cy="164592"/>
          </a:xfrm>
          <a:prstGeom prst="rect">
            <a:avLst/>
          </a:prstGeom>
          <a:solidFill>
            <a:srgbClr val="EEE8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56816" y="2816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040A0"/>
                </a:solidFill>
              </a:rPr>
              <a:t>Memory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468880" y="2816352"/>
            <a:ext cx="548640" cy="164592"/>
          </a:xfrm>
          <a:prstGeom prst="rect">
            <a:avLst/>
          </a:prstGeom>
          <a:solidFill>
            <a:srgbClr val="D0C0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2816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020A0"/>
                </a:solidFill>
              </a:rPr>
              <a:t>Azure MCP</a:t>
            </a:r>
            <a:endParaRPr lang="en-US" sz="550" dirty="0"/>
          </a:p>
        </p:txBody>
      </p:sp>
      <p:sp>
        <p:nvSpPr>
          <p:cNvPr id="38" name="Shape 36"/>
          <p:cNvSpPr/>
          <p:nvPr/>
        </p:nvSpPr>
        <p:spPr>
          <a:xfrm>
            <a:off x="1920240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0240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Doc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Classify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203704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42032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Metadata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Extract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825496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67328" y="2011680"/>
            <a:ext cx="0" cy="164592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3182112" y="2176272"/>
            <a:ext cx="1170432" cy="960120"/>
          </a:xfrm>
          <a:prstGeom prst="rect">
            <a:avLst/>
          </a:prstGeom>
          <a:solidFill>
            <a:srgbClr val="C8C0E8"/>
          </a:solidFill>
          <a:ln w="10160">
            <a:solidFill>
              <a:srgbClr val="8060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82112" y="22128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Risk Extraction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Agent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18688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AI Foundry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(GPT-4o Turbo)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3218688" y="2816352"/>
            <a:ext cx="475488" cy="164592"/>
          </a:xfrm>
          <a:prstGeom prst="rect">
            <a:avLst/>
          </a:prstGeom>
          <a:solidFill>
            <a:srgbClr val="EEE8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18688" y="2816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040A0"/>
                </a:solidFill>
              </a:rPr>
              <a:t>Memory</a:t>
            </a:r>
            <a:endParaRPr lang="en-US" sz="550" dirty="0"/>
          </a:p>
        </p:txBody>
      </p:sp>
      <p:sp>
        <p:nvSpPr>
          <p:cNvPr id="50" name="Shape 48"/>
          <p:cNvSpPr/>
          <p:nvPr/>
        </p:nvSpPr>
        <p:spPr>
          <a:xfrm>
            <a:off x="3730752" y="2816352"/>
            <a:ext cx="548640" cy="164592"/>
          </a:xfrm>
          <a:prstGeom prst="rect">
            <a:avLst/>
          </a:prstGeom>
          <a:solidFill>
            <a:srgbClr val="D0C0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0752" y="2816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020A0"/>
                </a:solidFill>
              </a:rPr>
              <a:t>Azure MCP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3182112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82112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Track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Extract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3465576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03904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03904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Q&amp;A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Extract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4087368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29200" y="2011680"/>
            <a:ext cx="0" cy="164592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4443984" y="2176272"/>
            <a:ext cx="1170432" cy="960120"/>
          </a:xfrm>
          <a:prstGeom prst="rect">
            <a:avLst/>
          </a:prstGeom>
          <a:solidFill>
            <a:srgbClr val="C8C0E8"/>
          </a:solidFill>
          <a:ln w="10160">
            <a:solidFill>
              <a:srgbClr val="8060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43984" y="22128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Scoring &amp;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Pricing Agent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480560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AI Foundry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(GPT-4o)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4480560" y="2816352"/>
            <a:ext cx="475488" cy="164592"/>
          </a:xfrm>
          <a:prstGeom prst="rect">
            <a:avLst/>
          </a:prstGeom>
          <a:solidFill>
            <a:srgbClr val="EEE8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80560" y="2816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040A0"/>
                </a:solidFill>
              </a:rPr>
              <a:t>Memory</a:t>
            </a:r>
            <a:endParaRPr lang="en-US" sz="550" dirty="0"/>
          </a:p>
        </p:txBody>
      </p:sp>
      <p:sp>
        <p:nvSpPr>
          <p:cNvPr id="64" name="Shape 62"/>
          <p:cNvSpPr/>
          <p:nvPr/>
        </p:nvSpPr>
        <p:spPr>
          <a:xfrm>
            <a:off x="4992624" y="2816352"/>
            <a:ext cx="548640" cy="164592"/>
          </a:xfrm>
          <a:prstGeom prst="rect">
            <a:avLst/>
          </a:prstGeom>
          <a:solidFill>
            <a:srgbClr val="D0C0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92624" y="2816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020A0"/>
                </a:solidFill>
              </a:rPr>
              <a:t>Azure MCP</a:t>
            </a:r>
            <a:endParaRPr lang="en-US" sz="550" dirty="0"/>
          </a:p>
        </p:txBody>
      </p:sp>
      <p:sp>
        <p:nvSpPr>
          <p:cNvPr id="66" name="Shape 64"/>
          <p:cNvSpPr/>
          <p:nvPr/>
        </p:nvSpPr>
        <p:spPr>
          <a:xfrm>
            <a:off x="4443984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43984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Risk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Scoring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4727448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65776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65776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Pricing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Calc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5349240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291072" y="2011680"/>
            <a:ext cx="0" cy="164592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5705856" y="2176272"/>
            <a:ext cx="1170432" cy="960120"/>
          </a:xfrm>
          <a:prstGeom prst="rect">
            <a:avLst/>
          </a:prstGeom>
          <a:solidFill>
            <a:srgbClr val="C8C0E8"/>
          </a:solidFill>
          <a:ln w="10160">
            <a:solidFill>
              <a:srgbClr val="8060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05856" y="22128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Benchmarking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Agent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742432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AI Foundry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(GPT-4)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5742432" y="2816352"/>
            <a:ext cx="475488" cy="164592"/>
          </a:xfrm>
          <a:prstGeom prst="rect">
            <a:avLst/>
          </a:prstGeom>
          <a:solidFill>
            <a:srgbClr val="EEE8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42432" y="2816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040A0"/>
                </a:solidFill>
              </a:rPr>
              <a:t>Memory</a:t>
            </a:r>
            <a:endParaRPr lang="en-US" sz="550" dirty="0"/>
          </a:p>
        </p:txBody>
      </p:sp>
      <p:sp>
        <p:nvSpPr>
          <p:cNvPr id="78" name="Shape 76"/>
          <p:cNvSpPr/>
          <p:nvPr/>
        </p:nvSpPr>
        <p:spPr>
          <a:xfrm>
            <a:off x="6254496" y="2816352"/>
            <a:ext cx="548640" cy="164592"/>
          </a:xfrm>
          <a:prstGeom prst="rect">
            <a:avLst/>
          </a:prstGeom>
          <a:solidFill>
            <a:srgbClr val="D0C0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254496" y="2816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020A0"/>
                </a:solidFill>
              </a:rPr>
              <a:t>Azure MCP</a:t>
            </a:r>
            <a:endParaRPr lang="en-US" sz="550" dirty="0"/>
          </a:p>
        </p:txBody>
      </p:sp>
      <p:sp>
        <p:nvSpPr>
          <p:cNvPr id="80" name="Shape 78"/>
          <p:cNvSpPr/>
          <p:nvPr/>
        </p:nvSpPr>
        <p:spPr>
          <a:xfrm>
            <a:off x="5705856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05856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Scenario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Select</a:t>
            </a:r>
            <a:endParaRPr lang="en-US" sz="600" dirty="0"/>
          </a:p>
        </p:txBody>
      </p:sp>
      <p:sp>
        <p:nvSpPr>
          <p:cNvPr id="82" name="Shape 80"/>
          <p:cNvSpPr/>
          <p:nvPr/>
        </p:nvSpPr>
        <p:spPr>
          <a:xfrm>
            <a:off x="5989320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27648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327648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Gap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Analysis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6611112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552944" y="2011680"/>
            <a:ext cx="0" cy="164592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6967728" y="2176272"/>
            <a:ext cx="1170432" cy="960120"/>
          </a:xfrm>
          <a:prstGeom prst="rect">
            <a:avLst/>
          </a:prstGeom>
          <a:solidFill>
            <a:srgbClr val="C8A0D8"/>
          </a:solidFill>
          <a:ln w="10160">
            <a:solidFill>
              <a:srgbClr val="8060C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67728" y="22128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Recommendation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&amp; Compliance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004304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AI Foundry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(GPT-4.1 RAG)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7004304" y="2816352"/>
            <a:ext cx="475488" cy="164592"/>
          </a:xfrm>
          <a:prstGeom prst="rect">
            <a:avLst/>
          </a:prstGeom>
          <a:solidFill>
            <a:srgbClr val="EEE8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004304" y="2816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040A0"/>
                </a:solidFill>
              </a:rPr>
              <a:t>Memory</a:t>
            </a:r>
            <a:endParaRPr lang="en-US" sz="550" dirty="0"/>
          </a:p>
        </p:txBody>
      </p:sp>
      <p:sp>
        <p:nvSpPr>
          <p:cNvPr id="92" name="Shape 90"/>
          <p:cNvSpPr/>
          <p:nvPr/>
        </p:nvSpPr>
        <p:spPr>
          <a:xfrm>
            <a:off x="7516368" y="2816352"/>
            <a:ext cx="548640" cy="164592"/>
          </a:xfrm>
          <a:prstGeom prst="rect">
            <a:avLst/>
          </a:prstGeom>
          <a:solidFill>
            <a:srgbClr val="D0C0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16368" y="28163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4020A0"/>
                </a:solidFill>
              </a:rPr>
              <a:t>Azure MCP</a:t>
            </a:r>
            <a:endParaRPr lang="en-US" sz="550" dirty="0"/>
          </a:p>
        </p:txBody>
      </p:sp>
      <p:sp>
        <p:nvSpPr>
          <p:cNvPr id="94" name="Shape 92"/>
          <p:cNvSpPr/>
          <p:nvPr/>
        </p:nvSpPr>
        <p:spPr>
          <a:xfrm>
            <a:off x="6967728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967728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Recommend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7251192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589520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589520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Mitigation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Insights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7872984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814816" y="2011680"/>
            <a:ext cx="0" cy="164592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>
            <a:off x="8229600" y="2176272"/>
            <a:ext cx="1170432" cy="960120"/>
          </a:xfrm>
          <a:prstGeom prst="rect">
            <a:avLst/>
          </a:prstGeom>
          <a:solidFill>
            <a:srgbClr val="D0D8F0"/>
          </a:solidFill>
          <a:ln w="10160">
            <a:solidFill>
              <a:srgbClr val="8060C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8229600" y="22128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Copilot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Assistant (UI)</a:t>
            </a:r>
            <a:endParaRPr lang="en-US" sz="700" dirty="0"/>
          </a:p>
        </p:txBody>
      </p:sp>
      <p:sp>
        <p:nvSpPr>
          <p:cNvPr id="103" name="Text 101"/>
          <p:cNvSpPr/>
          <p:nvPr/>
        </p:nvSpPr>
        <p:spPr>
          <a:xfrm>
            <a:off x="8266176" y="2560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Copilot Studio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0E8FF"/>
                </a:solidFill>
              </a:rPr>
              <a:t>(M365)</a:t>
            </a:r>
            <a:endParaRPr lang="en-US" sz="600" dirty="0"/>
          </a:p>
        </p:txBody>
      </p:sp>
      <p:sp>
        <p:nvSpPr>
          <p:cNvPr id="104" name="Shape 102"/>
          <p:cNvSpPr/>
          <p:nvPr/>
        </p:nvSpPr>
        <p:spPr>
          <a:xfrm>
            <a:off x="8266176" y="2816352"/>
            <a:ext cx="475488" cy="164592"/>
          </a:xfrm>
          <a:prstGeom prst="rect">
            <a:avLst/>
          </a:prstGeom>
          <a:solidFill>
            <a:srgbClr val="EEE8FF"/>
          </a:solidFill>
          <a:ln w="6350">
            <a:solidFill>
              <a:srgbClr val="9060B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266176" y="281635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040A0"/>
                </a:solidFill>
              </a:rPr>
              <a:t>Memory</a:t>
            </a:r>
            <a:endParaRPr lang="en-US" sz="550" dirty="0"/>
          </a:p>
        </p:txBody>
      </p:sp>
      <p:sp>
        <p:nvSpPr>
          <p:cNvPr id="106" name="Shape 104"/>
          <p:cNvSpPr/>
          <p:nvPr/>
        </p:nvSpPr>
        <p:spPr>
          <a:xfrm>
            <a:off x="8229600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29600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Workbench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UI</a:t>
            </a:r>
            <a:endParaRPr lang="en-US" sz="600" dirty="0"/>
          </a:p>
        </p:txBody>
      </p:sp>
      <p:sp>
        <p:nvSpPr>
          <p:cNvPr id="108" name="Shape 106"/>
          <p:cNvSpPr/>
          <p:nvPr/>
        </p:nvSpPr>
        <p:spPr>
          <a:xfrm>
            <a:off x="8513064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851392" y="3547872"/>
            <a:ext cx="566928" cy="329184"/>
          </a:xfrm>
          <a:prstGeom prst="rect">
            <a:avLst/>
          </a:prstGeom>
          <a:solidFill>
            <a:srgbClr val="C8C0E8"/>
          </a:solidFill>
          <a:ln w="7620">
            <a:solidFill>
              <a:srgbClr val="9060B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851392" y="354787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Approval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</a:rPr>
              <a:t>Flow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9134856" y="3136392"/>
            <a:ext cx="0" cy="411480"/>
          </a:xfrm>
          <a:prstGeom prst="line">
            <a:avLst/>
          </a:prstGeom>
          <a:noFill/>
          <a:ln w="6350">
            <a:solidFill>
              <a:srgbClr val="AAAAA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64592" y="3547872"/>
            <a:ext cx="1371600" cy="329184"/>
          </a:xfrm>
          <a:prstGeom prst="rect">
            <a:avLst/>
          </a:prstGeom>
          <a:solidFill>
            <a:srgbClr val="C8C0E8"/>
          </a:solidFill>
          <a:ln w="10160">
            <a:solidFill>
              <a:srgbClr val="9060B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64592" y="354787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Copilot UI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(Workbench)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850392" y="3136392"/>
            <a:ext cx="0" cy="411480"/>
          </a:xfrm>
          <a:prstGeom prst="line">
            <a:avLst/>
          </a:prstGeom>
          <a:noFill/>
          <a:ln w="10160">
            <a:solidFill>
              <a:srgbClr val="1B3A6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920240" y="3986784"/>
            <a:ext cx="7552944" cy="292608"/>
          </a:xfrm>
          <a:prstGeom prst="rect">
            <a:avLst/>
          </a:prstGeom>
          <a:solidFill>
            <a:srgbClr val="C8C0E8"/>
          </a:solidFill>
          <a:ln w="10160">
            <a:solidFill>
              <a:srgbClr val="9060B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920240" y="3986784"/>
            <a:ext cx="7552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Microsoft Fabric Lakehouse  —  Governed Data Products  (Bronze / Silver / Gold)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0" y="5870448"/>
            <a:ext cx="12161520" cy="804672"/>
          </a:xfrm>
          <a:prstGeom prst="rect">
            <a:avLst/>
          </a:prstGeom>
          <a:solidFill>
            <a:srgbClr val="1A2540"/>
          </a:solidFill>
          <a:ln w="12700">
            <a:solidFill>
              <a:srgbClr val="1A254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28600" y="5870448"/>
            <a:ext cx="1280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Outcomes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1645920" y="5916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EE90"/>
                </a:solidFill>
              </a:rPr>
              <a:t>&gt;40%</a:t>
            </a:r>
            <a:endParaRPr lang="en-US" sz="1700" dirty="0"/>
          </a:p>
        </p:txBody>
      </p:sp>
      <p:sp>
        <p:nvSpPr>
          <p:cNvPr id="120" name="Text 118"/>
          <p:cNvSpPr/>
          <p:nvPr/>
        </p:nvSpPr>
        <p:spPr>
          <a:xfrm>
            <a:off x="1645920" y="6263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CDDFF"/>
                </a:solidFill>
              </a:rPr>
              <a:t>Faster Submission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CDDFF"/>
                </a:solidFill>
              </a:rPr>
              <a:t>to Decision Time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4251960" y="5916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EE90"/>
                </a:solidFill>
              </a:rPr>
              <a:t>&gt;35%</a:t>
            </a:r>
            <a:endParaRPr lang="en-US" sz="1700" dirty="0"/>
          </a:p>
        </p:txBody>
      </p:sp>
      <p:sp>
        <p:nvSpPr>
          <p:cNvPr id="122" name="Text 120"/>
          <p:cNvSpPr/>
          <p:nvPr/>
        </p:nvSpPr>
        <p:spPr>
          <a:xfrm>
            <a:off x="4251960" y="6263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CDDFF"/>
                </a:solidFill>
              </a:rPr>
              <a:t>Reduction in Manual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CDDFF"/>
                </a:solidFill>
              </a:rPr>
              <a:t>Underwriting Effort</a:t>
            </a:r>
            <a:endParaRPr lang="en-US" sz="850" dirty="0"/>
          </a:p>
        </p:txBody>
      </p:sp>
      <p:sp>
        <p:nvSpPr>
          <p:cNvPr id="123" name="Text 121"/>
          <p:cNvSpPr/>
          <p:nvPr/>
        </p:nvSpPr>
        <p:spPr>
          <a:xfrm>
            <a:off x="6858000" y="5916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EE90"/>
                </a:solidFill>
              </a:rPr>
              <a:t>&gt;90%</a:t>
            </a:r>
            <a:endParaRPr lang="en-US" sz="1700" dirty="0"/>
          </a:p>
        </p:txBody>
      </p:sp>
      <p:sp>
        <p:nvSpPr>
          <p:cNvPr id="124" name="Text 122"/>
          <p:cNvSpPr/>
          <p:nvPr/>
        </p:nvSpPr>
        <p:spPr>
          <a:xfrm>
            <a:off x="6858000" y="6263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CDDFF"/>
                </a:solidFill>
              </a:rPr>
              <a:t>Automated Compliance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CDDFF"/>
                </a:solidFill>
              </a:rPr>
              <a:t>&amp; Audit Coverage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9464040" y="59161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EE90"/>
                </a:solidFill>
              </a:rPr>
              <a:t>+25–35%</a:t>
            </a:r>
            <a:endParaRPr lang="en-US" sz="1700" dirty="0"/>
          </a:p>
        </p:txBody>
      </p:sp>
      <p:sp>
        <p:nvSpPr>
          <p:cNvPr id="126" name="Text 124"/>
          <p:cNvSpPr/>
          <p:nvPr/>
        </p:nvSpPr>
        <p:spPr>
          <a:xfrm>
            <a:off x="9464040" y="6263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CCDDFF"/>
                </a:solidFill>
              </a:rPr>
              <a:t>Improvement in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CDDFF"/>
                </a:solidFill>
              </a:rPr>
              <a:t>Risk Pricing Accuracy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164592" y="66751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Presentation Title | Nilesh Ashra | 2026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6492240" y="66751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Company Confidential © Capgemini 2026. All rights reserved.</a:t>
            </a:r>
            <a:endParaRPr lang="en-US" sz="700" dirty="0"/>
          </a:p>
        </p:txBody>
      </p:sp>
      <p:sp>
        <p:nvSpPr>
          <p:cNvPr id="129" name="Text 127"/>
          <p:cNvSpPr/>
          <p:nvPr/>
        </p:nvSpPr>
        <p:spPr>
          <a:xfrm>
            <a:off x="11841480" y="6675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10241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91440"/>
            <a:ext cx="1371600" cy="21945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3A6B"/>
                </a:solidFill>
              </a:rPr>
              <a:t>CASE OVERVIEW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286000" y="91440"/>
            <a:ext cx="685800" cy="21945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914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B3A6B"/>
                </a:solidFill>
              </a:rPr>
              <a:t>Industry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12848" y="329184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7722"/>
                </a:solidFill>
              </a:rPr>
              <a:t>Financial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E87722"/>
                </a:solidFill>
              </a:rPr>
              <a:t>Services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7160" y="329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</a:rPr>
              <a:t>Process Name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" y="658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8A84B"/>
                </a:solidFill>
              </a:rPr>
              <a:t>Autonomous Underwriting Workbench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0"/>
            <a:ext cx="905256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54864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A6B"/>
                </a:solidFill>
              </a:rPr>
              <a:t>Business Case Proposal – Autonomous Underwriting Workbench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777472" y="64008"/>
            <a:ext cx="274320" cy="27432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1115568"/>
            <a:ext cx="3291840" cy="55138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0" y="1115568"/>
            <a:ext cx="3291840" cy="2560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" y="1115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WHY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160" y="1435608"/>
            <a:ext cx="3017520" cy="237744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" y="1435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KPIs Impacted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37160" y="17190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</a:rPr>
              <a:t>• Underwriting Cycle Time: </a:t>
            </a:r>
            <a:r>
              <a:rPr lang="en-US" sz="800" b="1" dirty="0">
                <a:solidFill>
                  <a:srgbClr val="C62828"/>
                </a:solidFill>
              </a:rPr>
              <a:t>–40–60% ↓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" y="19751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</a:rPr>
              <a:t>• Risk Pricing Accuracy: </a:t>
            </a:r>
            <a:r>
              <a:rPr lang="en-US" sz="800" b="1" dirty="0">
                <a:solidFill>
                  <a:srgbClr val="2E7D32"/>
                </a:solidFill>
              </a:rPr>
              <a:t>+25–35% ↑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7160" y="22311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</a:rPr>
              <a:t>• Compliance/Audit Coverage: </a:t>
            </a:r>
            <a:r>
              <a:rPr lang="en-US" sz="800" b="1" dirty="0">
                <a:solidFill>
                  <a:srgbClr val="2E7D32"/>
                </a:solidFill>
              </a:rPr>
              <a:t>&gt;90% ↑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7160" y="24871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</a:rPr>
              <a:t>• FTE Hours Saved: </a:t>
            </a:r>
            <a:r>
              <a:rPr lang="en-US" sz="800" b="1" dirty="0">
                <a:solidFill>
                  <a:srgbClr val="2E7D32"/>
                </a:solidFill>
              </a:rPr>
              <a:t>30–50% ↑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37160" y="27432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D2D2D"/>
                </a:solidFill>
              </a:rPr>
              <a:t>• Operational Cost: </a:t>
            </a:r>
            <a:r>
              <a:rPr lang="en-US" sz="800" b="1" dirty="0">
                <a:solidFill>
                  <a:srgbClr val="C62828"/>
                </a:solidFill>
              </a:rPr>
              <a:t>Reduced ↓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37160" y="3035808"/>
            <a:ext cx="3017520" cy="237744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" y="30358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Business Impact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37160" y="3328416"/>
            <a:ext cx="301752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Faster decisions &amp; time-to-quote</a:t>
            </a:r>
            <a:endParaRPr lang="en-US" sz="8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Fewer legal and compliance loops</a:t>
            </a:r>
            <a:endParaRPr lang="en-US" sz="8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Stronger auditability (FCA/PRA)</a:t>
            </a:r>
            <a:endParaRPr lang="en-US" sz="8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Better risk negotiations</a:t>
            </a:r>
            <a:endParaRPr lang="en-US" sz="8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Improved underwriting quality</a:t>
            </a:r>
            <a:endParaRPr lang="en-US" sz="8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Reduced regulatory exposure</a:t>
            </a:r>
            <a:endParaRPr lang="en-US" sz="8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Reusable MCP assets across FS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01568" y="1115568"/>
            <a:ext cx="8686800" cy="551383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01568" y="1115568"/>
            <a:ext cx="8686800" cy="256032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11155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3A6B"/>
                </a:solidFill>
              </a:rPr>
              <a:t>BUSINESS CASE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93008" y="1435608"/>
            <a:ext cx="4206240" cy="237744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93008" y="14356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Current Scenario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11296" y="1709928"/>
            <a:ext cx="41696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Manual underwriting workload is very high — email chains, spreadsheets, legacy tools</a:t>
            </a:r>
            <a:endParaRPr lang="en-US" sz="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Heavy dependency on Legal &amp; Compliance for every policy variant or clause change</a:t>
            </a:r>
            <a:endParaRPr lang="en-US" sz="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Delayed decisioning: average underwriting cycle 5–15 business days</a:t>
            </a:r>
            <a:endParaRPr lang="en-US" sz="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High rework cycles across teams due to inconsistent data and missing submissions</a:t>
            </a:r>
            <a:endParaRPr lang="en-US" sz="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Slow decisions impacting broker NPS and competitive positioning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717536" y="1435608"/>
            <a:ext cx="0" cy="192024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1435608"/>
            <a:ext cx="4206240" cy="237744"/>
          </a:xfrm>
          <a:prstGeom prst="rect">
            <a:avLst/>
          </a:prstGeom>
          <a:solidFill>
            <a:srgbClr val="CBD8EA"/>
          </a:solidFill>
          <a:ln w="12700">
            <a:solidFill>
              <a:srgbClr val="CBD8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14356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Proposed Scenario (Autonomous Workbench)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72400" y="1709928"/>
            <a:ext cx="416966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Automated submission ingestion → earlier triage and faster risk scoring</a:t>
            </a:r>
            <a:endParaRPr lang="en-US" sz="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AI-generated term sheets with confidence scores → fewer legal review loops</a:t>
            </a:r>
            <a:endParaRPr lang="en-US" sz="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Decisioning cycle reduced to hours for standard risks (STP targets &gt;60%)</a:t>
            </a:r>
            <a:endParaRPr lang="en-US" sz="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Better compliance → audit trail auto-generated for every FCA/PRA submission</a:t>
            </a:r>
            <a:endParaRPr lang="en-US" sz="8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Expected Revenue Increase: +10–20% from broker retention and faster binding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93008" y="3419856"/>
            <a:ext cx="8503920" cy="0"/>
          </a:xfrm>
          <a:prstGeom prst="line">
            <a:avLst/>
          </a:prstGeom>
          <a:noFill/>
          <a:ln w="1016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11296" y="3474720"/>
            <a:ext cx="8467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1A2E"/>
                </a:solidFill>
              </a:rPr>
              <a:t>BREAK EVEN: </a:t>
            </a:r>
            <a:r>
              <a:rPr lang="en-US" sz="850" dirty="0">
                <a:solidFill>
                  <a:srgbClr val="2D2D2D"/>
                </a:solidFill>
              </a:rPr>
              <a:t>The solution becomes financially viable within 12–18 months due to: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511296" y="3785616"/>
            <a:ext cx="8467344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Elimination of manual data collation effort across underwriting, risk and legal teams</a:t>
            </a:r>
            <a:endParaRPr lang="en-US" sz="8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Faster time-to-bind reduces opportunity cost of delayed policy execution</a:t>
            </a:r>
            <a:endParaRPr lang="en-US" sz="8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Reduction in rework, fewer compliance exceptions, lower remediation costs</a:t>
            </a:r>
            <a:endParaRPr lang="en-US" sz="8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Scalable architecture — incremental agent deployment requires no platform redesign</a:t>
            </a:r>
            <a:endParaRPr lang="en-US" sz="8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D2D2D"/>
                </a:solidFill>
              </a:rPr>
              <a:t>Reusable MCP components contribute to Capgemini FS asset library → ROI in 4–6 months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64592" y="66751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</a:rPr>
              <a:t>Presentation Title | Nilesh Ashra | 2026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492240" y="66751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Company Confidential © Capgemini 2026. All rights reserved.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1841480" y="667512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99999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2C44C9799C9545A5261C0AF70B4333" ma:contentTypeVersion="12" ma:contentTypeDescription="Create a new document." ma:contentTypeScope="" ma:versionID="5e4cadbf8931f3a42467c8a0955d4fc4">
  <xsd:schema xmlns:xsd="http://www.w3.org/2001/XMLSchema" xmlns:xs="http://www.w3.org/2001/XMLSchema" xmlns:p="http://schemas.microsoft.com/office/2006/metadata/properties" xmlns:ns2="71ec4482-8a5f-419e-a3fb-f1ff39837bb1" xmlns:ns3="289d593b-f9da-44ad-aeed-35e8c5022e75" targetNamespace="http://schemas.microsoft.com/office/2006/metadata/properties" ma:root="true" ma:fieldsID="914513dae8da38dff2ffd10bf6795a4a" ns2:_="" ns3:_="">
    <xsd:import namespace="71ec4482-8a5f-419e-a3fb-f1ff39837bb1"/>
    <xsd:import namespace="289d593b-f9da-44ad-aeed-35e8c5022e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ec4482-8a5f-419e-a3fb-f1ff39837b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d593b-f9da-44ad-aeed-35e8c5022e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1e7f45-79c5-438a-9c31-31bb88d8ed8a}" ma:internalName="TaxCatchAll" ma:showField="CatchAllData" ma:web="289d593b-f9da-44ad-aeed-35e8c5022e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ec4482-8a5f-419e-a3fb-f1ff39837bb1">
      <Terms xmlns="http://schemas.microsoft.com/office/infopath/2007/PartnerControls"/>
    </lcf76f155ced4ddcb4097134ff3c332f>
    <TaxCatchAll xmlns="289d593b-f9da-44ad-aeed-35e8c5022e75" xsi:nil="true"/>
  </documentManagement>
</p:properties>
</file>

<file path=customXml/itemProps1.xml><?xml version="1.0" encoding="utf-8"?>
<ds:datastoreItem xmlns:ds="http://schemas.openxmlformats.org/officeDocument/2006/customXml" ds:itemID="{94F17121-8A1F-4E32-A77B-C486A2C72E71}"/>
</file>

<file path=customXml/itemProps2.xml><?xml version="1.0" encoding="utf-8"?>
<ds:datastoreItem xmlns:ds="http://schemas.openxmlformats.org/officeDocument/2006/customXml" ds:itemID="{A9F4AB10-31D3-41A0-9BA3-02636929CF32}"/>
</file>

<file path=customXml/itemProps3.xml><?xml version="1.0" encoding="utf-8"?>
<ds:datastoreItem xmlns:ds="http://schemas.openxmlformats.org/officeDocument/2006/customXml" ds:itemID="{763150CF-E2AF-4E3B-B831-939C7366D2A3}"/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1258</Words>
  <Application>Microsoft Office PowerPoint</Application>
  <PresentationFormat>Widescreen</PresentationFormat>
  <Paragraphs>284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Chauhan, Nilesh</cp:lastModifiedBy>
  <cp:revision>2</cp:revision>
  <dcterms:created xsi:type="dcterms:W3CDTF">2026-04-01T18:38:24Z</dcterms:created>
  <dcterms:modified xsi:type="dcterms:W3CDTF">2026-04-01T18:49:07Z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0x010100D72C44C9799C9545A5261C0AF70B4333</vt:lpwstr>
  </property>
</Properties>
</file>