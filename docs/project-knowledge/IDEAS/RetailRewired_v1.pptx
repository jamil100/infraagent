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9"/>
  </p:notesMasterIdLst>
  <p:sldIdLst>
    <p:sldId id="263" r:id="rId5"/>
    <p:sldId id="2145706672" r:id="rId6"/>
    <p:sldId id="2145706673" r:id="rId7"/>
    <p:sldId id="2145706674" r:id="rId8"/>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2"/>
            <p14:sldId id="2145706673"/>
            <p14:sldId id="2145706674"/>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6F1814-44F0-678E-A48B-C3D1FD081A16}" v="1" dt="2026-04-02T10:27:28.672"/>
    <p1510:client id="{CD48ADF1-B94B-7E94-41B4-4146B435BF32}" v="26" dt="2026-04-02T07:30:36.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HR, Narjiss" userId="S::narjiss.zahr@capgemini.com::3f760fbf-dfd2-4a7b-a5f6-cfe993e15615" providerId="AD" clId="Web-{B86F1814-44F0-678E-A48B-C3D1FD081A16}"/>
    <pc:docChg chg="modSld">
      <pc:chgData name="ZAHR, Narjiss" userId="S::narjiss.zahr@capgemini.com::3f760fbf-dfd2-4a7b-a5f6-cfe993e15615" providerId="AD" clId="Web-{B86F1814-44F0-678E-A48B-C3D1FD081A16}" dt="2026-04-02T10:27:28.672" v="0" actId="14100"/>
      <pc:docMkLst>
        <pc:docMk/>
      </pc:docMkLst>
      <pc:sldChg chg="modSp">
        <pc:chgData name="ZAHR, Narjiss" userId="S::narjiss.zahr@capgemini.com::3f760fbf-dfd2-4a7b-a5f6-cfe993e15615" providerId="AD" clId="Web-{B86F1814-44F0-678E-A48B-C3D1FD081A16}" dt="2026-04-02T10:27:28.672" v="0" actId="14100"/>
        <pc:sldMkLst>
          <pc:docMk/>
          <pc:sldMk cId="3113083619" sldId="2145706674"/>
        </pc:sldMkLst>
        <pc:spChg chg="mod">
          <ac:chgData name="ZAHR, Narjiss" userId="S::narjiss.zahr@capgemini.com::3f760fbf-dfd2-4a7b-a5f6-cfe993e15615" providerId="AD" clId="Web-{B86F1814-44F0-678E-A48B-C3D1FD081A16}" dt="2026-04-02T10:27:28.672" v="0" actId="14100"/>
          <ac:spMkLst>
            <pc:docMk/>
            <pc:sldMk cId="3113083619" sldId="2145706674"/>
            <ac:spMk id="5" creationId="{0168BBED-AA26-187A-8B94-AFB49B96403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04/02/2026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16.jpeg"/></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758242" y="396815"/>
            <a:ext cx="5732370" cy="38100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200">
              <a:solidFill>
                <a:schemeClr val="tx1"/>
              </a:solidFill>
            </a:endParaRPr>
          </a:p>
          <a:p>
            <a:pPr algn="ctr"/>
            <a:endParaRPr lang="en-IN" sz="1200">
              <a:solidFill>
                <a:schemeClr val="tx1"/>
              </a:solidFill>
            </a:endParaRPr>
          </a:p>
          <a:p>
            <a:pPr algn="ctr"/>
            <a:endParaRPr lang="en-IN" sz="1200">
              <a:solidFill>
                <a:schemeClr val="tx1"/>
              </a:solidFill>
            </a:endParaRPr>
          </a:p>
          <a:p>
            <a:pPr algn="ctr"/>
            <a:endParaRPr lang="en-IN" sz="1200">
              <a:solidFill>
                <a:schemeClr val="tx1"/>
              </a:solidFill>
            </a:endParaRPr>
          </a:p>
          <a:p>
            <a:pPr algn="ctr"/>
            <a:endParaRPr lang="en-IN" sz="1200">
              <a:solidFill>
                <a:schemeClr val="tx1"/>
              </a:solidFill>
            </a:endParaRPr>
          </a:p>
          <a:p>
            <a:pPr algn="ctr"/>
            <a:endParaRPr lang="en-IN" sz="1200">
              <a:solidFill>
                <a:schemeClr val="tx1"/>
              </a:solidFill>
            </a:endParaRPr>
          </a:p>
          <a:p>
            <a:r>
              <a:rPr lang="en-IN" sz="1100" b="1">
                <a:solidFill>
                  <a:schemeClr val="tx1"/>
                </a:solidFill>
              </a:rPr>
              <a:t>Use Case Description- </a:t>
            </a:r>
            <a:r>
              <a:rPr lang="en-IN" sz="1100">
                <a:solidFill>
                  <a:schemeClr val="tx1"/>
                </a:solidFill>
              </a:rPr>
              <a:t>Build a Retail Autonomous Inventory Control Tower using three Azure AI Foundry agents- Inventory Planning, Supplier &amp; Risk, and Logistics &amp; Fulfilment. These agents sense demand spikes, supplier delays, and logistics risks in real time and autonomously generate replenishment, transfer, and sourcing actions with guardrails, approvals, and dynamic goal switching.</a:t>
            </a:r>
          </a:p>
          <a:p>
            <a:pPr algn="ctr"/>
            <a:endParaRPr lang="en-IN" sz="1000">
              <a:solidFill>
                <a:schemeClr val="tx1"/>
              </a:solidFill>
            </a:endParaRPr>
          </a:p>
          <a:p>
            <a:pPr lvl="0"/>
            <a:r>
              <a:rPr lang="en-IN" sz="1100" b="1">
                <a:solidFill>
                  <a:schemeClr val="tx1"/>
                </a:solidFill>
              </a:rPr>
              <a:t>Business Challenges- </a:t>
            </a:r>
            <a:r>
              <a:rPr lang="en-IN" sz="1100">
                <a:solidFill>
                  <a:schemeClr val="tx1"/>
                </a:solidFill>
              </a:rPr>
              <a:t>Demand is volatile (weather, trends, events) causing 300–450% spikes; rule-based planning reacts too late.</a:t>
            </a:r>
          </a:p>
          <a:p>
            <a:pPr lvl="0"/>
            <a:r>
              <a:rPr lang="en-IN" sz="1100">
                <a:solidFill>
                  <a:schemeClr val="tx1"/>
                </a:solidFill>
              </a:rPr>
              <a:t>Existing systems cannot switch dynamically between service, margin, and sell-through goals.</a:t>
            </a:r>
          </a:p>
          <a:p>
            <a:pPr lvl="0"/>
            <a:r>
              <a:rPr lang="en-IN" sz="1100">
                <a:solidFill>
                  <a:schemeClr val="tx1"/>
                </a:solidFill>
              </a:rPr>
              <a:t>Supplier integration is slow (EDI refresh 24–48 hrs); too late for disruptions.</a:t>
            </a:r>
          </a:p>
          <a:p>
            <a:pPr lvl="0"/>
            <a:r>
              <a:rPr lang="en-IN" sz="1100">
                <a:solidFill>
                  <a:schemeClr val="tx1"/>
                </a:solidFill>
              </a:rPr>
              <a:t>Inventory decisions are fragmented across ERP, WMS, TMS, suppliers.</a:t>
            </a:r>
          </a:p>
          <a:p>
            <a:pPr lvl="0"/>
            <a:r>
              <a:rPr lang="en-IN" sz="1100">
                <a:solidFill>
                  <a:schemeClr val="tx1"/>
                </a:solidFill>
              </a:rPr>
              <a:t>No autonomous multi-objective reasoning in current retail systems.</a:t>
            </a:r>
          </a:p>
          <a:p>
            <a:pPr algn="ctr"/>
            <a:endParaRPr lang="en-IN" sz="1200">
              <a:solidFill>
                <a:schemeClr val="tx1"/>
              </a:solidFill>
            </a:endParaRPr>
          </a:p>
          <a:p>
            <a:pPr algn="ctr"/>
            <a:endParaRPr lang="en-IN" sz="1200">
              <a:solidFill>
                <a:schemeClr val="tx1"/>
              </a:solidFill>
            </a:endParaRPr>
          </a:p>
          <a:p>
            <a:pPr algn="ctr"/>
            <a:endParaRPr lang="en-IN" sz="1200">
              <a:solidFill>
                <a:schemeClr val="tx1"/>
              </a:solidFill>
            </a:endParaRPr>
          </a:p>
          <a:p>
            <a:pPr algn="ctr"/>
            <a:endParaRPr lang="en-IN" sz="1200">
              <a:solidFill>
                <a:schemeClr val="tx1"/>
              </a:solidFill>
            </a:endParaRPr>
          </a:p>
          <a:p>
            <a:pPr algn="ctr"/>
            <a:endParaRPr lang="en-IN" sz="1200">
              <a:solidFill>
                <a:schemeClr val="tx1"/>
              </a:solidFill>
            </a:endParaRPr>
          </a:p>
          <a:p>
            <a:pPr algn="ctr"/>
            <a:endParaRPr lang="en-US" sz="1400">
              <a:solidFill>
                <a:schemeClr val="bg1"/>
              </a:solidFill>
            </a:endParaRPr>
          </a:p>
        </p:txBody>
      </p:sp>
      <p:sp>
        <p:nvSpPr>
          <p:cNvPr id="11" name="Rectangle 10">
            <a:extLst>
              <a:ext uri="{FF2B5EF4-FFF2-40B4-BE49-F238E27FC236}">
                <a16:creationId xmlns:a16="http://schemas.microsoft.com/office/drawing/2014/main" id="{33711452-3C0B-5481-1F97-7044EA76F04A}"/>
              </a:ext>
            </a:extLst>
          </p:cNvPr>
          <p:cNvSpPr/>
          <p:nvPr/>
        </p:nvSpPr>
        <p:spPr>
          <a:xfrm>
            <a:off x="3657600" y="396690"/>
            <a:ext cx="548640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Box 12">
            <a:extLst>
              <a:ext uri="{FF2B5EF4-FFF2-40B4-BE49-F238E27FC236}">
                <a16:creationId xmlns:a16="http://schemas.microsoft.com/office/drawing/2014/main" id="{2948CA3B-B98D-E8B9-3B80-B6C20CD6914A}"/>
              </a:ext>
            </a:extLst>
          </p:cNvPr>
          <p:cNvSpPr txBox="1"/>
          <p:nvPr/>
        </p:nvSpPr>
        <p:spPr>
          <a:xfrm>
            <a:off x="3681933" y="374789"/>
            <a:ext cx="58571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WHAT</a:t>
            </a: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536921" cy="649825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r>
              <a:rPr lang="en-US" sz="1100">
                <a:solidFill>
                  <a:schemeClr val="tx1"/>
                </a:solidFill>
              </a:rPr>
              <a:t>Decreased Stockouts</a:t>
            </a:r>
          </a:p>
          <a:p>
            <a:pPr lvl="0"/>
            <a:r>
              <a:rPr lang="en-US" sz="1100">
                <a:solidFill>
                  <a:schemeClr val="tx1"/>
                </a:solidFill>
              </a:rPr>
              <a:t>Increased OTIF</a:t>
            </a:r>
            <a:br>
              <a:rPr lang="en-US" sz="1100">
                <a:solidFill>
                  <a:schemeClr val="tx1"/>
                </a:solidFill>
              </a:rPr>
            </a:br>
            <a:r>
              <a:rPr lang="en-US" sz="1100">
                <a:solidFill>
                  <a:schemeClr val="tx1"/>
                </a:solidFill>
              </a:rPr>
              <a:t>Impact on Working capital</a:t>
            </a:r>
            <a:br>
              <a:rPr lang="en-US" sz="1100">
                <a:solidFill>
                  <a:schemeClr val="tx1"/>
                </a:solidFill>
              </a:rPr>
            </a:br>
            <a:r>
              <a:rPr lang="en-US" sz="1100">
                <a:solidFill>
                  <a:schemeClr val="tx1"/>
                </a:solidFill>
              </a:rPr>
              <a:t>Reduced Expedite/markdown cost</a:t>
            </a:r>
            <a:br>
              <a:rPr lang="en-US" sz="1100">
                <a:solidFill>
                  <a:schemeClr val="tx1"/>
                </a:solidFill>
              </a:rPr>
            </a:br>
            <a:r>
              <a:rPr lang="en-US" sz="1100">
                <a:solidFill>
                  <a:schemeClr val="tx1"/>
                </a:solidFill>
              </a:rPr>
              <a:t>SLA meet less than accepted time</a:t>
            </a:r>
            <a:endParaRPr lang="en-IN" sz="1100">
              <a:solidFill>
                <a:schemeClr val="tx1"/>
              </a:solidFill>
            </a:endParaRPr>
          </a:p>
          <a:p>
            <a:pPr marL="171450" lvl="0" indent="-171450">
              <a:buFont typeface="Arial" panose="020B0604020202020204" pitchFamily="34" charset="0"/>
              <a:buChar char="•"/>
            </a:pPr>
            <a:endParaRPr lang="en-IN" sz="1100">
              <a:solidFill>
                <a:schemeClr val="tx1"/>
              </a:solidFill>
            </a:endParaRPr>
          </a:p>
          <a:p>
            <a:endParaRPr lang="en-IN" sz="1100">
              <a:solidFill>
                <a:schemeClr val="tx1"/>
              </a:solidFill>
            </a:endParaRPr>
          </a:p>
          <a:p>
            <a:pPr marL="171450" indent="-171450">
              <a:buFont typeface="Arial" panose="020B0604020202020204" pitchFamily="34" charset="0"/>
              <a:buChar char="•"/>
            </a:pPr>
            <a:endParaRPr lang="en-IN" sz="1100">
              <a:solidFill>
                <a:schemeClr val="tx1"/>
              </a:solidFill>
            </a:endParaRPr>
          </a:p>
          <a:p>
            <a:pPr marL="171450" indent="-171450">
              <a:buFont typeface="Arial" panose="020B0604020202020204" pitchFamily="34" charset="0"/>
              <a:buChar char="•"/>
            </a:pPr>
            <a:endParaRPr lang="en-IN" sz="1100">
              <a:solidFill>
                <a:schemeClr val="tx1"/>
              </a:solidFill>
            </a:endParaRPr>
          </a:p>
          <a:p>
            <a:pPr marL="171450" indent="-171450">
              <a:buFont typeface="Arial" panose="020B0604020202020204" pitchFamily="34" charset="0"/>
              <a:buChar char="•"/>
            </a:pPr>
            <a:r>
              <a:rPr lang="en-IN" sz="1100">
                <a:solidFill>
                  <a:schemeClr val="tx1"/>
                </a:solidFill>
              </a:rPr>
              <a:t>Faster reaction to demand/supply changes, reduced stockouts &amp; costs, improved service levels, fewer manual interventions, increased planner productivity.</a:t>
            </a:r>
          </a:p>
          <a:p>
            <a:pPr marL="171450" lvl="0" indent="-171450">
              <a:buFont typeface="Arial" panose="020B0604020202020204" pitchFamily="34" charset="0"/>
              <a:buChar char="•"/>
            </a:pPr>
            <a:endParaRPr lang="en-IN" sz="1100">
              <a:solidFill>
                <a:schemeClr val="tx1"/>
              </a:solidFill>
            </a:endParaRPr>
          </a:p>
          <a:p>
            <a:pPr marL="171450" lvl="0" indent="-171450">
              <a:buFont typeface="Arial" panose="020B0604020202020204" pitchFamily="34" charset="0"/>
              <a:buChar char="•"/>
            </a:pPr>
            <a:endParaRPr lang="en-IN" sz="1100">
              <a:solidFill>
                <a:schemeClr val="tx1"/>
              </a:solidFill>
            </a:endParaRPr>
          </a:p>
          <a:p>
            <a:pPr marL="171450" lvl="0" indent="-171450">
              <a:buFont typeface="Arial" panose="020B0604020202020204" pitchFamily="34" charset="0"/>
              <a:buChar char="•"/>
            </a:pPr>
            <a:endParaRPr lang="en-IN" sz="1100">
              <a:solidFill>
                <a:schemeClr val="tx1"/>
              </a:solidFill>
            </a:endParaRPr>
          </a:p>
          <a:p>
            <a:pPr marL="171450" lvl="0" indent="-171450">
              <a:buFont typeface="Arial" panose="020B0604020202020204" pitchFamily="34" charset="0"/>
              <a:buChar char="•"/>
            </a:pPr>
            <a:endParaRPr lang="en-IN" sz="1100">
              <a:solidFill>
                <a:schemeClr val="tx1"/>
              </a:solidFill>
            </a:endParaRPr>
          </a:p>
          <a:p>
            <a:pPr marL="171450" lvl="0" indent="-171450">
              <a:buFont typeface="Arial" panose="020B0604020202020204" pitchFamily="34" charset="0"/>
              <a:buChar char="•"/>
            </a:pPr>
            <a:endParaRPr lang="en-IN" sz="1100">
              <a:solidFill>
                <a:schemeClr val="tx1"/>
              </a:solidFill>
            </a:endParaRPr>
          </a:p>
          <a:p>
            <a:pPr marL="171450" lvl="0" indent="-171450">
              <a:buFont typeface="Arial" panose="020B0604020202020204" pitchFamily="34" charset="0"/>
              <a:buChar char="•"/>
            </a:pPr>
            <a:endParaRPr lang="en-IN" sz="1100">
              <a:solidFill>
                <a:schemeClr val="tx1"/>
              </a:solidFill>
            </a:endParaRPr>
          </a:p>
          <a:p>
            <a:pPr lvl="0"/>
            <a:endParaRPr lang="en-IN" sz="1100">
              <a:solidFill>
                <a:schemeClr val="tx1"/>
              </a:solidFill>
            </a:endParaRPr>
          </a:p>
          <a:p>
            <a:endParaRPr lang="en-US" sz="1100">
              <a:solidFill>
                <a:schemeClr val="tx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3997901"/>
            <a:ext cx="1922839" cy="265276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100">
              <a:solidFill>
                <a:schemeClr val="tx1"/>
              </a:solidFill>
            </a:endParaRPr>
          </a:p>
          <a:p>
            <a:pPr algn="ctr"/>
            <a:endParaRPr lang="en-IN" sz="1100">
              <a:solidFill>
                <a:schemeClr val="tx1"/>
              </a:solidFill>
            </a:endParaRPr>
          </a:p>
          <a:p>
            <a:pPr algn="ctr"/>
            <a:endParaRPr lang="en-IN" sz="1100">
              <a:solidFill>
                <a:schemeClr val="tx1"/>
              </a:solidFill>
            </a:endParaRPr>
          </a:p>
          <a:p>
            <a:pPr algn="ctr"/>
            <a:endParaRPr lang="en-IN" sz="1100">
              <a:solidFill>
                <a:schemeClr val="tx1"/>
              </a:solidFill>
            </a:endParaRPr>
          </a:p>
          <a:p>
            <a:r>
              <a:rPr lang="en-IN" sz="1100">
                <a:solidFill>
                  <a:schemeClr val="tx1"/>
                </a:solidFill>
              </a:rPr>
              <a:t>Buyers/Planners, Supply Planners, Logistics Managers, Store/DC Operations, Merchandising Leaders.</a:t>
            </a:r>
          </a:p>
          <a:p>
            <a:endParaRPr lang="en-IN" sz="1100">
              <a:solidFill>
                <a:schemeClr val="tx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62532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sz="1100" b="1">
              <a:solidFill>
                <a:schemeClr val="tx1"/>
              </a:solidFill>
            </a:endParaRPr>
          </a:p>
          <a:p>
            <a:endParaRPr lang="en-IN" sz="1100" b="1">
              <a:solidFill>
                <a:schemeClr val="tx1"/>
              </a:solidFill>
            </a:endParaRPr>
          </a:p>
          <a:p>
            <a:endParaRPr lang="en-IN" sz="1100" b="1">
              <a:solidFill>
                <a:schemeClr val="tx1"/>
              </a:solidFill>
            </a:endParaRPr>
          </a:p>
          <a:p>
            <a:endParaRPr lang="en-IN" sz="1100" b="1">
              <a:solidFill>
                <a:schemeClr val="tx1"/>
              </a:solidFill>
            </a:endParaRPr>
          </a:p>
          <a:p>
            <a:endParaRPr lang="en-IN" sz="1100" b="1">
              <a:solidFill>
                <a:schemeClr val="tx1"/>
              </a:solidFill>
            </a:endParaRPr>
          </a:p>
          <a:p>
            <a:endParaRPr lang="en-IN" sz="1100" b="1">
              <a:solidFill>
                <a:schemeClr val="tx1"/>
              </a:solidFill>
            </a:endParaRPr>
          </a:p>
          <a:p>
            <a:endParaRPr lang="en-IN" sz="1100" b="1">
              <a:solidFill>
                <a:schemeClr val="tx1"/>
              </a:solidFill>
            </a:endParaRPr>
          </a:p>
          <a:p>
            <a:endParaRPr lang="en-IN" sz="1100" b="1">
              <a:solidFill>
                <a:schemeClr val="tx1"/>
              </a:solidFill>
            </a:endParaRPr>
          </a:p>
          <a:p>
            <a:r>
              <a:rPr lang="en-IN" sz="1100" b="1">
                <a:solidFill>
                  <a:schemeClr val="tx1"/>
                </a:solidFill>
              </a:rPr>
              <a:t>Functional Solution-</a:t>
            </a:r>
            <a:endParaRPr lang="en-IN" sz="1100">
              <a:solidFill>
                <a:schemeClr val="tx1"/>
              </a:solidFill>
            </a:endParaRPr>
          </a:p>
          <a:p>
            <a:pPr lvl="0"/>
            <a:r>
              <a:rPr lang="en-US" sz="1000" b="1">
                <a:solidFill>
                  <a:schemeClr val="tx1"/>
                </a:solidFill>
              </a:rPr>
              <a:t>Sales Manager Agent : </a:t>
            </a:r>
            <a:r>
              <a:rPr lang="en-US" sz="1100">
                <a:solidFill>
                  <a:schemeClr val="tx1"/>
                </a:solidFill>
              </a:rPr>
              <a:t>Monitors the transactions, Stock alert, promotions and Store KPIs</a:t>
            </a:r>
          </a:p>
          <a:p>
            <a:pPr lvl="0"/>
            <a:r>
              <a:rPr lang="en-US" sz="1000" b="1">
                <a:solidFill>
                  <a:schemeClr val="tx1"/>
                </a:solidFill>
              </a:rPr>
              <a:t>Supplier Manager Agent : </a:t>
            </a:r>
            <a:r>
              <a:rPr lang="en-US" sz="1100">
                <a:solidFill>
                  <a:schemeClr val="tx1"/>
                </a:solidFill>
              </a:rPr>
              <a:t>Purchase orders, supplier performance and replenishments</a:t>
            </a:r>
          </a:p>
          <a:p>
            <a:pPr lvl="0"/>
            <a:r>
              <a:rPr lang="en-US" sz="1000" b="1">
                <a:solidFill>
                  <a:schemeClr val="tx1"/>
                </a:solidFill>
              </a:rPr>
              <a:t>Business Analysts :</a:t>
            </a:r>
            <a:r>
              <a:rPr lang="en-US" sz="1000">
                <a:solidFill>
                  <a:schemeClr val="tx1"/>
                </a:solidFill>
              </a:rPr>
              <a:t> </a:t>
            </a:r>
            <a:r>
              <a:rPr lang="en-US" sz="1100">
                <a:solidFill>
                  <a:schemeClr val="tx1"/>
                </a:solidFill>
              </a:rPr>
              <a:t>Sales forecast, anomaly detection, aggregates</a:t>
            </a:r>
          </a:p>
          <a:p>
            <a:pPr lvl="0"/>
            <a:endParaRPr lang="en-IN" sz="1100">
              <a:solidFill>
                <a:schemeClr val="tx1"/>
              </a:solidFill>
            </a:endParaRPr>
          </a:p>
          <a:p>
            <a:r>
              <a:rPr lang="en-IN" sz="1100" b="1">
                <a:solidFill>
                  <a:schemeClr val="tx1"/>
                </a:solidFill>
              </a:rPr>
              <a:t>Technical Solution-</a:t>
            </a:r>
            <a:endParaRPr lang="en-IN" sz="1100">
              <a:solidFill>
                <a:schemeClr val="tx1"/>
              </a:solidFill>
            </a:endParaRPr>
          </a:p>
          <a:p>
            <a:r>
              <a:rPr lang="en-IN" sz="1100">
                <a:solidFill>
                  <a:schemeClr val="tx1"/>
                </a:solidFill>
              </a:rPr>
              <a:t>Azure AI Foundry (Agent Service), Microsoft Agent Framework, Fabric/ADLS, PostgreSQL Flexible Server, Azure AI Search (policy-as-code), Event Grid/Service Bus, Logic Apps/Durable Function, Copilot Studio.</a:t>
            </a:r>
          </a:p>
          <a:p>
            <a:pPr lvl="0"/>
            <a:endParaRPr lang="en-IN" sz="1100">
              <a:solidFill>
                <a:schemeClr val="tx1"/>
              </a:solidFill>
            </a:endParaRPr>
          </a:p>
          <a:p>
            <a:pPr algn="ctr"/>
            <a:endParaRPr lang="en-US" sz="1100">
              <a:solidFill>
                <a:schemeClr val="tx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996374" y="660485"/>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4014224" y="650609"/>
            <a:ext cx="1472176" cy="263791"/>
          </a:xfrm>
          <a:prstGeom prst="rect">
            <a:avLst/>
          </a:prstGeom>
          <a:noFill/>
        </p:spPr>
        <p:txBody>
          <a:bodyPr vert="horz" wrap="non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5" name="TextBox 4">
            <a:extLst>
              <a:ext uri="{FF2B5EF4-FFF2-40B4-BE49-F238E27FC236}">
                <a16:creationId xmlns:a16="http://schemas.microsoft.com/office/drawing/2014/main" id="{BF4E2EC5-539A-5F82-38E8-97F162CCC72F}"/>
              </a:ext>
            </a:extLst>
          </p:cNvPr>
          <p:cNvSpPr txBox="1"/>
          <p:nvPr/>
        </p:nvSpPr>
        <p:spPr>
          <a:xfrm>
            <a:off x="550863" y="941757"/>
            <a:ext cx="2635099" cy="1417953"/>
          </a:xfrm>
          <a:prstGeom prst="rect">
            <a:avLst/>
          </a:prstGeom>
          <a:noFill/>
        </p:spPr>
        <p:txBody>
          <a:bodyPr vert="horz" wrap="square" lIns="90000" tIns="46800" rIns="90000" bIns="46800" rtlCol="0" anchor="ctr">
            <a:spAutoFit/>
          </a:bodyPr>
          <a:lstStyle/>
          <a:p>
            <a:pPr>
              <a:spcBef>
                <a:spcPct val="0"/>
              </a:spcBef>
            </a:pPr>
            <a:r>
              <a:rPr lang="en-IN">
                <a:solidFill>
                  <a:schemeClr val="bg1"/>
                </a:solidFill>
              </a:rPr>
              <a:t>Inventory Replenishment &amp; Supply Chain Control Tower</a:t>
            </a:r>
          </a:p>
          <a:p>
            <a:pPr algn="l">
              <a:spcBef>
                <a:spcPct val="0"/>
              </a:spcBef>
            </a:pPr>
            <a:endParaRPr lang="en-IN" sz="1400" err="1"/>
          </a:p>
        </p:txBody>
      </p:sp>
      <p:sp>
        <p:nvSpPr>
          <p:cNvPr id="36" name="TextBox 35">
            <a:extLst>
              <a:ext uri="{FF2B5EF4-FFF2-40B4-BE49-F238E27FC236}">
                <a16:creationId xmlns:a16="http://schemas.microsoft.com/office/drawing/2014/main" id="{829D41ED-A7A3-47DB-2649-960BEA573483}"/>
              </a:ext>
            </a:extLst>
          </p:cNvPr>
          <p:cNvSpPr txBox="1"/>
          <p:nvPr/>
        </p:nvSpPr>
        <p:spPr>
          <a:xfrm flipH="1">
            <a:off x="2576971" y="416712"/>
            <a:ext cx="804944" cy="371513"/>
          </a:xfrm>
          <a:prstGeom prst="rect">
            <a:avLst/>
          </a:prstGeom>
          <a:noFill/>
        </p:spPr>
        <p:txBody>
          <a:bodyPr vert="horz" wrap="square" lIns="90000" tIns="46800" rIns="90000" bIns="46800" rtlCol="0" anchor="ctr">
            <a:spAutoFit/>
          </a:bodyPr>
          <a:lstStyle/>
          <a:p>
            <a:pPr algn="l">
              <a:spcBef>
                <a:spcPct val="0"/>
              </a:spcBef>
            </a:pPr>
            <a:r>
              <a:rPr lang="en-US">
                <a:solidFill>
                  <a:schemeClr val="bg1"/>
                </a:solidFill>
              </a:rPr>
              <a:t>Retail</a:t>
            </a:r>
            <a:endParaRPr lang="en-IN" err="1">
              <a:solidFill>
                <a:schemeClr val="bg1"/>
              </a:solidFill>
            </a:endParaRPr>
          </a:p>
        </p:txBody>
      </p:sp>
      <p:sp>
        <p:nvSpPr>
          <p:cNvPr id="42" name="Rounded Rectangle 26">
            <a:extLst>
              <a:ext uri="{FF2B5EF4-FFF2-40B4-BE49-F238E27FC236}">
                <a16:creationId xmlns:a16="http://schemas.microsoft.com/office/drawing/2014/main" id="{92BD26DF-6B19-7CE0-F903-4865D10CC264}"/>
              </a:ext>
            </a:extLst>
          </p:cNvPr>
          <p:cNvSpPr/>
          <p:nvPr/>
        </p:nvSpPr>
        <p:spPr>
          <a:xfrm>
            <a:off x="9564796" y="2884618"/>
            <a:ext cx="2321471"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chemeClr val="tx1"/>
                </a:solidFill>
              </a:rPr>
              <a:t>        </a:t>
            </a:r>
          </a:p>
          <a:p>
            <a:r>
              <a:rPr lang="en-US" sz="1100">
                <a:solidFill>
                  <a:schemeClr val="tx1"/>
                </a:solidFill>
              </a:rPr>
              <a:t>           Business Impact</a:t>
            </a:r>
          </a:p>
          <a:p>
            <a:endParaRPr lang="en-US" sz="1100">
              <a:solidFill>
                <a:schemeClr val="tx1"/>
              </a:solidFill>
            </a:endParaRP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6" name="TextBox 5">
            <a:extLst>
              <a:ext uri="{FF2B5EF4-FFF2-40B4-BE49-F238E27FC236}">
                <a16:creationId xmlns:a16="http://schemas.microsoft.com/office/drawing/2014/main" id="{38255EAA-115B-7CE6-9C4F-C36E1330BDA8}"/>
              </a:ext>
            </a:extLst>
          </p:cNvPr>
          <p:cNvSpPr txBox="1"/>
          <p:nvPr/>
        </p:nvSpPr>
        <p:spPr>
          <a:xfrm>
            <a:off x="451721" y="1207598"/>
            <a:ext cx="11145028" cy="525401"/>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functional components of the solution and the points where the Agent(s) will take decisions or will handle it to humans</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ERP / IoT Alert​</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Analyse​</a:t>
            </a:r>
          </a:p>
          <a:p>
            <a:pPr algn="ctr" defTabSz="685115">
              <a:defRPr/>
            </a:pPr>
            <a:r>
              <a:rPr lang="en-GB" sz="675" noProof="0">
                <a:solidFill>
                  <a:prstClr val="black"/>
                </a:solidFill>
                <a:latin typeface="Verdana"/>
              </a:rPr>
              <a:t>Demand​</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Generate​</a:t>
            </a:r>
          </a:p>
          <a:p>
            <a:pPr algn="ctr" defTabSz="685115">
              <a:defRPr/>
            </a:pPr>
            <a:r>
              <a:rPr lang="en-GB" sz="675" noProof="0">
                <a:solidFill>
                  <a:prstClr val="black"/>
                </a:solidFill>
                <a:latin typeface="Verdana"/>
              </a:rPr>
              <a:t>PO Draft​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18314" y="2387513"/>
            <a:ext cx="52841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Detect Low​</a:t>
            </a:r>
          </a:p>
          <a:p>
            <a:pPr algn="ctr" defTabSz="685115">
              <a:defRPr/>
            </a:pPr>
            <a:r>
              <a:rPr lang="en-GB" sz="675" noProof="0">
                <a:solidFill>
                  <a:prstClr val="black"/>
                </a:solidFill>
                <a:latin typeface="Verdana"/>
              </a:rPr>
              <a:t>Stock​</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a:t>
            </a:r>
          </a:p>
          <a:p>
            <a:pPr algn="ctr" defTabSz="685115">
              <a:defRPr/>
            </a:pPr>
            <a:r>
              <a:rPr lang="en-GB" sz="675" noProof="0">
                <a:solidFill>
                  <a:prstClr val="black"/>
                </a:solidFill>
                <a:latin typeface="Verdana"/>
              </a:rPr>
              <a:t>Approval​</a:t>
            </a:r>
          </a:p>
          <a:p>
            <a:pPr algn="ctr" defTabSz="685115">
              <a:defRPr/>
            </a:pPr>
            <a:r>
              <a:rPr lang="en-GB" sz="675" noProof="0">
                <a:solidFill>
                  <a:prstClr val="black"/>
                </a:solidFill>
                <a:latin typeface="Verdana"/>
              </a:rPr>
              <a:t>if Needed​</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PO</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703020" y="275338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8027020" y="273249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PO</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Customer Order​</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 CRM Request​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CRM / 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Demand​</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Forecast Input​</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Manual Request​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711422" y="336634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7044580" y="3650266"/>
            <a:ext cx="178783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a:t>
            </a:r>
          </a:p>
          <a:p>
            <a:pPr algn="ctr" defTabSz="685115">
              <a:defRPr/>
            </a:pPr>
            <a:r>
              <a:rPr lang="en-GB" sz="675" noProof="0">
                <a:solidFill>
                  <a:prstClr val="black"/>
                </a:solidFill>
                <a:latin typeface="Verdana"/>
              </a:rPr>
              <a:t>Procurement &amp;​</a:t>
            </a:r>
          </a:p>
          <a:p>
            <a:pPr algn="ctr" defTabSz="685115">
              <a:defRPr/>
            </a:pPr>
            <a:r>
              <a:rPr lang="en-GB" sz="675" noProof="0">
                <a:solidFill>
                  <a:prstClr val="black"/>
                </a:solidFill>
                <a:latin typeface="Verdana"/>
              </a:rPr>
              <a:t>WH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865020" y="307738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7044580" y="291538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579375" y="4593108"/>
            <a:ext cx="604981" cy="3693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Sales Agent</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627801" y="1891383"/>
            <a:ext cx="604981" cy="3693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Supply Agent</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grpSp>
        <p:nvGrpSpPr>
          <p:cNvPr id="113" name="Group 112">
            <a:extLst>
              <a:ext uri="{FF2B5EF4-FFF2-40B4-BE49-F238E27FC236}">
                <a16:creationId xmlns:a16="http://schemas.microsoft.com/office/drawing/2014/main" id="{4CAE304F-5FF3-7F04-695E-675CEA62D28B}"/>
              </a:ext>
            </a:extLst>
          </p:cNvPr>
          <p:cNvGrpSpPr/>
          <p:nvPr/>
        </p:nvGrpSpPr>
        <p:grpSpPr>
          <a:xfrm>
            <a:off x="6931730" y="2747179"/>
            <a:ext cx="316762" cy="316762"/>
            <a:chOff x="3904884" y="4179013"/>
            <a:chExt cx="720000" cy="720000"/>
          </a:xfrm>
        </p:grpSpPr>
        <p:sp>
          <p:nvSpPr>
            <p:cNvPr id="114" name="Oval 113">
              <a:extLst>
                <a:ext uri="{FF2B5EF4-FFF2-40B4-BE49-F238E27FC236}">
                  <a16:creationId xmlns:a16="http://schemas.microsoft.com/office/drawing/2014/main" id="{39641040-FF98-907D-C49E-C7919349D52A}"/>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15" name="Picture 114">
              <a:extLst>
                <a:ext uri="{FF2B5EF4-FFF2-40B4-BE49-F238E27FC236}">
                  <a16:creationId xmlns:a16="http://schemas.microsoft.com/office/drawing/2014/main" id="{7E2E92E2-E88C-2F9C-466C-8D778D770C8B}"/>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116" name="Straight Connector 115">
            <a:extLst>
              <a:ext uri="{FF2B5EF4-FFF2-40B4-BE49-F238E27FC236}">
                <a16:creationId xmlns:a16="http://schemas.microsoft.com/office/drawing/2014/main" id="{AAD74548-31F8-790D-AF8A-A4C63E8EB411}"/>
              </a:ext>
            </a:extLst>
          </p:cNvPr>
          <p:cNvCxnSpPr>
            <a:cxnSpLocks/>
            <a:endCxn id="114" idx="2"/>
          </p:cNvCxnSpPr>
          <p:nvPr/>
        </p:nvCxnSpPr>
        <p:spPr>
          <a:xfrm>
            <a:off x="6706816" y="2901534"/>
            <a:ext cx="224914"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0" name="ZoneTexte 40">
            <a:extLst>
              <a:ext uri="{FF2B5EF4-FFF2-40B4-BE49-F238E27FC236}">
                <a16:creationId xmlns:a16="http://schemas.microsoft.com/office/drawing/2014/main" id="{20847354-4DBA-9E5C-57BB-2B09AC18AAF4}"/>
              </a:ext>
            </a:extLst>
          </p:cNvPr>
          <p:cNvSpPr txBox="1"/>
          <p:nvPr/>
        </p:nvSpPr>
        <p:spPr>
          <a:xfrm>
            <a:off x="6800054" y="229950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ERP​</a:t>
            </a:r>
          </a:p>
          <a:p>
            <a:pPr algn="ctr" defTabSz="685115">
              <a:defRPr/>
            </a:pPr>
            <a:r>
              <a:rPr lang="en-GB" sz="675" noProof="0">
                <a:solidFill>
                  <a:prstClr val="black"/>
                </a:solidFill>
                <a:latin typeface="Verdana"/>
              </a:rPr>
              <a:t>&amp; Stock​</a:t>
            </a:r>
          </a:p>
        </p:txBody>
      </p:sp>
      <p:grpSp>
        <p:nvGrpSpPr>
          <p:cNvPr id="121" name="Group 120">
            <a:extLst>
              <a:ext uri="{FF2B5EF4-FFF2-40B4-BE49-F238E27FC236}">
                <a16:creationId xmlns:a16="http://schemas.microsoft.com/office/drawing/2014/main" id="{20F38AE1-ADCC-1429-FFF4-382ACB94EB76}"/>
              </a:ext>
            </a:extLst>
          </p:cNvPr>
          <p:cNvGrpSpPr/>
          <p:nvPr/>
        </p:nvGrpSpPr>
        <p:grpSpPr>
          <a:xfrm>
            <a:off x="4592080" y="5519780"/>
            <a:ext cx="316762" cy="316762"/>
            <a:chOff x="3904884" y="4179013"/>
            <a:chExt cx="720000" cy="720000"/>
          </a:xfrm>
        </p:grpSpPr>
        <p:sp>
          <p:nvSpPr>
            <p:cNvPr id="122" name="Oval 121">
              <a:extLst>
                <a:ext uri="{FF2B5EF4-FFF2-40B4-BE49-F238E27FC236}">
                  <a16:creationId xmlns:a16="http://schemas.microsoft.com/office/drawing/2014/main" id="{F37E827A-B0B9-63A6-5B70-39CA032988F0}"/>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23" name="Picture 122">
              <a:extLst>
                <a:ext uri="{FF2B5EF4-FFF2-40B4-BE49-F238E27FC236}">
                  <a16:creationId xmlns:a16="http://schemas.microsoft.com/office/drawing/2014/main" id="{B626E7A8-4116-3AC7-7695-CE9716AFC1C8}"/>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24" name="ZoneTexte 40">
            <a:extLst>
              <a:ext uri="{FF2B5EF4-FFF2-40B4-BE49-F238E27FC236}">
                <a16:creationId xmlns:a16="http://schemas.microsoft.com/office/drawing/2014/main" id="{E9E0C8A6-86A0-0D52-8CE6-216A97396C81}"/>
              </a:ext>
            </a:extLst>
          </p:cNvPr>
          <p:cNvSpPr txBox="1"/>
          <p:nvPr/>
        </p:nvSpPr>
        <p:spPr>
          <a:xfrm>
            <a:off x="4392036" y="5771305"/>
            <a:ext cx="71337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a:t>
            </a:r>
          </a:p>
          <a:p>
            <a:pPr algn="ctr" defTabSz="685115">
              <a:defRPr/>
            </a:pPr>
            <a:r>
              <a:rPr lang="en-GB" sz="675" noProof="0">
                <a:solidFill>
                  <a:prstClr val="black"/>
                </a:solidFill>
                <a:latin typeface="Verdana"/>
              </a:rPr>
              <a:t>Update</a:t>
            </a:r>
          </a:p>
          <a:p>
            <a:pPr algn="ctr" defTabSz="685115">
              <a:defRPr/>
            </a:pPr>
            <a:r>
              <a:rPr lang="en-GB" sz="675" noProof="0">
                <a:solidFill>
                  <a:prstClr val="black"/>
                </a:solidFill>
                <a:latin typeface="Verdana"/>
              </a:rPr>
              <a:t>Settlement​</a:t>
            </a:r>
          </a:p>
        </p:txBody>
      </p:sp>
      <p:grpSp>
        <p:nvGrpSpPr>
          <p:cNvPr id="125" name="Group 124">
            <a:extLst>
              <a:ext uri="{FF2B5EF4-FFF2-40B4-BE49-F238E27FC236}">
                <a16:creationId xmlns:a16="http://schemas.microsoft.com/office/drawing/2014/main" id="{D40FE270-C4C6-290D-17FA-395C3331387F}"/>
              </a:ext>
            </a:extLst>
          </p:cNvPr>
          <p:cNvGrpSpPr/>
          <p:nvPr/>
        </p:nvGrpSpPr>
        <p:grpSpPr>
          <a:xfrm>
            <a:off x="5348810" y="5520853"/>
            <a:ext cx="316762" cy="316762"/>
            <a:chOff x="3904884" y="4179013"/>
            <a:chExt cx="720000" cy="720000"/>
          </a:xfrm>
        </p:grpSpPr>
        <p:sp>
          <p:nvSpPr>
            <p:cNvPr id="126" name="Oval 125">
              <a:extLst>
                <a:ext uri="{FF2B5EF4-FFF2-40B4-BE49-F238E27FC236}">
                  <a16:creationId xmlns:a16="http://schemas.microsoft.com/office/drawing/2014/main" id="{EE158C73-113C-B372-D627-F5C23E587E3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27" name="Picture 126">
              <a:extLst>
                <a:ext uri="{FF2B5EF4-FFF2-40B4-BE49-F238E27FC236}">
                  <a16:creationId xmlns:a16="http://schemas.microsoft.com/office/drawing/2014/main" id="{D45A94ED-67D2-90B1-179C-5BECF8A46269}"/>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28" name="ZoneTexte 40">
            <a:extLst>
              <a:ext uri="{FF2B5EF4-FFF2-40B4-BE49-F238E27FC236}">
                <a16:creationId xmlns:a16="http://schemas.microsoft.com/office/drawing/2014/main" id="{B5EB2C8D-6294-5DC6-7509-CC2E6C3913FA}"/>
              </a:ext>
            </a:extLst>
          </p:cNvPr>
          <p:cNvSpPr txBox="1"/>
          <p:nvPr/>
        </p:nvSpPr>
        <p:spPr>
          <a:xfrm>
            <a:off x="5186862" y="5814045"/>
            <a:ext cx="726512" cy="5538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Get</a:t>
            </a:r>
          </a:p>
          <a:p>
            <a:pPr algn="ctr" defTabSz="685115">
              <a:defRPr/>
            </a:pPr>
            <a:r>
              <a:rPr lang="en-GB" sz="675" noProof="0">
                <a:solidFill>
                  <a:prstClr val="black"/>
                </a:solidFill>
                <a:latin typeface="Verdana"/>
              </a:rPr>
              <a:t>Approval​</a:t>
            </a:r>
          </a:p>
          <a:p>
            <a:pPr algn="ctr" defTabSz="685115">
              <a:defRPr/>
            </a:pPr>
            <a:r>
              <a:rPr lang="en-GB" sz="675" noProof="0">
                <a:solidFill>
                  <a:prstClr val="black"/>
                </a:solidFill>
                <a:latin typeface="Verdana"/>
              </a:rPr>
              <a:t>(out-of-</a:t>
            </a:r>
          </a:p>
          <a:p>
            <a:pPr algn="ctr" defTabSz="685115">
              <a:defRPr/>
            </a:pPr>
            <a:r>
              <a:rPr lang="en-GB" sz="675" noProof="0">
                <a:solidFill>
                  <a:prstClr val="black"/>
                </a:solidFill>
                <a:latin typeface="Verdana"/>
              </a:rPr>
              <a:t>threshold)​</a:t>
            </a:r>
            <a:endParaRPr lang="en-GB" sz="675" noProof="0">
              <a:solidFill>
                <a:srgbClr val="FF304D"/>
              </a:solidFill>
              <a:latin typeface="Verdana"/>
            </a:endParaRPr>
          </a:p>
        </p:txBody>
      </p:sp>
      <p:grpSp>
        <p:nvGrpSpPr>
          <p:cNvPr id="129" name="Group 128">
            <a:extLst>
              <a:ext uri="{FF2B5EF4-FFF2-40B4-BE49-F238E27FC236}">
                <a16:creationId xmlns:a16="http://schemas.microsoft.com/office/drawing/2014/main" id="{11D35002-B1D6-0A24-C791-92646A036974}"/>
              </a:ext>
            </a:extLst>
          </p:cNvPr>
          <p:cNvGrpSpPr/>
          <p:nvPr/>
        </p:nvGrpSpPr>
        <p:grpSpPr>
          <a:xfrm>
            <a:off x="4579926" y="4976771"/>
            <a:ext cx="316762" cy="316762"/>
            <a:chOff x="3904884" y="4179013"/>
            <a:chExt cx="720000" cy="720000"/>
          </a:xfrm>
        </p:grpSpPr>
        <p:sp>
          <p:nvSpPr>
            <p:cNvPr id="130" name="Oval 129">
              <a:extLst>
                <a:ext uri="{FF2B5EF4-FFF2-40B4-BE49-F238E27FC236}">
                  <a16:creationId xmlns:a16="http://schemas.microsoft.com/office/drawing/2014/main" id="{A48BA06D-0933-1455-4C3B-529F087620C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31" name="Picture 130">
              <a:extLst>
                <a:ext uri="{FF2B5EF4-FFF2-40B4-BE49-F238E27FC236}">
                  <a16:creationId xmlns:a16="http://schemas.microsoft.com/office/drawing/2014/main" id="{46D2FA15-3BA5-E948-C64B-878FE57111B0}"/>
                </a:ext>
              </a:extLst>
            </p:cNvPr>
            <p:cNvPicPr>
              <a:picLocks noChangeAspect="1"/>
            </p:cNvPicPr>
            <p:nvPr/>
          </p:nvPicPr>
          <p:blipFill>
            <a:blip r:embed="rId3"/>
            <a:stretch>
              <a:fillRect/>
            </a:stretch>
          </p:blipFill>
          <p:spPr>
            <a:xfrm>
              <a:off x="3936476" y="4189228"/>
              <a:ext cx="634622" cy="634622"/>
            </a:xfrm>
            <a:prstGeom prst="rect">
              <a:avLst/>
            </a:prstGeom>
          </p:spPr>
        </p:pic>
      </p:grpSp>
      <p:grpSp>
        <p:nvGrpSpPr>
          <p:cNvPr id="132" name="Group 131">
            <a:extLst>
              <a:ext uri="{FF2B5EF4-FFF2-40B4-BE49-F238E27FC236}">
                <a16:creationId xmlns:a16="http://schemas.microsoft.com/office/drawing/2014/main" id="{ABED5857-16CA-99B7-A4FB-DB65A7A0DF19}"/>
              </a:ext>
            </a:extLst>
          </p:cNvPr>
          <p:cNvGrpSpPr/>
          <p:nvPr/>
        </p:nvGrpSpPr>
        <p:grpSpPr>
          <a:xfrm>
            <a:off x="3686044" y="5545703"/>
            <a:ext cx="316762" cy="316762"/>
            <a:chOff x="3904884" y="4179013"/>
            <a:chExt cx="720000" cy="720000"/>
          </a:xfrm>
        </p:grpSpPr>
        <p:sp>
          <p:nvSpPr>
            <p:cNvPr id="133" name="Oval 132">
              <a:extLst>
                <a:ext uri="{FF2B5EF4-FFF2-40B4-BE49-F238E27FC236}">
                  <a16:creationId xmlns:a16="http://schemas.microsoft.com/office/drawing/2014/main" id="{F196C896-89E9-8062-8E9E-DB2A3377DB5A}"/>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34" name="Picture 133">
              <a:extLst>
                <a:ext uri="{FF2B5EF4-FFF2-40B4-BE49-F238E27FC236}">
                  <a16:creationId xmlns:a16="http://schemas.microsoft.com/office/drawing/2014/main" id="{CF056687-E2C5-FB47-4688-7F1338E1135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35" name="ZoneTexte 40">
            <a:extLst>
              <a:ext uri="{FF2B5EF4-FFF2-40B4-BE49-F238E27FC236}">
                <a16:creationId xmlns:a16="http://schemas.microsoft.com/office/drawing/2014/main" id="{BC4D2803-3836-3421-FBFC-04334BCD3F95}"/>
              </a:ext>
            </a:extLst>
          </p:cNvPr>
          <p:cNvSpPr txBox="1"/>
          <p:nvPr/>
        </p:nvSpPr>
        <p:spPr>
          <a:xfrm>
            <a:off x="3598675" y="5845360"/>
            <a:ext cx="52841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a:t>
            </a:r>
          </a:p>
          <a:p>
            <a:pPr algn="ctr" defTabSz="685115">
              <a:defRPr/>
            </a:pPr>
            <a:r>
              <a:rPr lang="en-GB" sz="675" noProof="0">
                <a:solidFill>
                  <a:prstClr val="black"/>
                </a:solidFill>
                <a:latin typeface="Verdana"/>
              </a:rPr>
              <a:t>Stock Avail.​</a:t>
            </a:r>
          </a:p>
        </p:txBody>
      </p:sp>
      <p:cxnSp>
        <p:nvCxnSpPr>
          <p:cNvPr id="136" name="Straight Connector 135">
            <a:extLst>
              <a:ext uri="{FF2B5EF4-FFF2-40B4-BE49-F238E27FC236}">
                <a16:creationId xmlns:a16="http://schemas.microsoft.com/office/drawing/2014/main" id="{8319ACD5-1A87-B848-9097-C32936FC7887}"/>
              </a:ext>
            </a:extLst>
          </p:cNvPr>
          <p:cNvCxnSpPr>
            <a:cxnSpLocks/>
          </p:cNvCxnSpPr>
          <p:nvPr/>
        </p:nvCxnSpPr>
        <p:spPr>
          <a:xfrm flipV="1">
            <a:off x="4007688" y="567816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0414187-BDF1-49A4-FE51-EB0599C3B65F}"/>
              </a:ext>
            </a:extLst>
          </p:cNvPr>
          <p:cNvCxnSpPr>
            <a:cxnSpLocks/>
          </p:cNvCxnSpPr>
          <p:nvPr/>
        </p:nvCxnSpPr>
        <p:spPr>
          <a:xfrm flipH="1" flipV="1">
            <a:off x="4738307" y="529353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FB35D6A-2DDE-40E9-61D4-704C14402C3B}"/>
              </a:ext>
            </a:extLst>
          </p:cNvPr>
          <p:cNvCxnSpPr>
            <a:cxnSpLocks/>
          </p:cNvCxnSpPr>
          <p:nvPr/>
        </p:nvCxnSpPr>
        <p:spPr>
          <a:xfrm>
            <a:off x="4908842" y="567816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39" name="Group 138">
            <a:extLst>
              <a:ext uri="{FF2B5EF4-FFF2-40B4-BE49-F238E27FC236}">
                <a16:creationId xmlns:a16="http://schemas.microsoft.com/office/drawing/2014/main" id="{64C2CE58-C7F9-D484-2B8E-2C74F4CCD693}"/>
              </a:ext>
            </a:extLst>
          </p:cNvPr>
          <p:cNvGrpSpPr/>
          <p:nvPr/>
        </p:nvGrpSpPr>
        <p:grpSpPr>
          <a:xfrm>
            <a:off x="6307378" y="5516827"/>
            <a:ext cx="316762" cy="316762"/>
            <a:chOff x="3904884" y="4179013"/>
            <a:chExt cx="720000" cy="720000"/>
          </a:xfrm>
        </p:grpSpPr>
        <p:sp>
          <p:nvSpPr>
            <p:cNvPr id="140" name="Oval 139">
              <a:extLst>
                <a:ext uri="{FF2B5EF4-FFF2-40B4-BE49-F238E27FC236}">
                  <a16:creationId xmlns:a16="http://schemas.microsoft.com/office/drawing/2014/main" id="{BE50298C-2CAF-C2B6-292F-F60C9E62EA54}"/>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1" name="Picture 140">
              <a:extLst>
                <a:ext uri="{FF2B5EF4-FFF2-40B4-BE49-F238E27FC236}">
                  <a16:creationId xmlns:a16="http://schemas.microsoft.com/office/drawing/2014/main" id="{8A74FA70-E615-C570-A1AA-F283D58D02D7}"/>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42" name="ZoneTexte 40">
            <a:extLst>
              <a:ext uri="{FF2B5EF4-FFF2-40B4-BE49-F238E27FC236}">
                <a16:creationId xmlns:a16="http://schemas.microsoft.com/office/drawing/2014/main" id="{9DC5CB33-0A89-3E69-FAD5-13BCFAC0B641}"/>
              </a:ext>
            </a:extLst>
          </p:cNvPr>
          <p:cNvSpPr txBox="1"/>
          <p:nvPr/>
        </p:nvSpPr>
        <p:spPr>
          <a:xfrm>
            <a:off x="6234666" y="588949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p>
          <a:p>
            <a:pPr algn="ctr" defTabSz="685115">
              <a:defRPr/>
            </a:pPr>
            <a:r>
              <a:rPr lang="en-GB" sz="675" noProof="0">
                <a:solidFill>
                  <a:prstClr val="black"/>
                </a:solidFill>
                <a:latin typeface="Verdana"/>
              </a:rPr>
              <a:t>Credit​</a:t>
            </a:r>
          </a:p>
          <a:p>
            <a:pPr algn="ctr" defTabSz="685115">
              <a:defRPr/>
            </a:pPr>
            <a:r>
              <a:rPr lang="en-GB" sz="675" noProof="0">
                <a:solidFill>
                  <a:prstClr val="black"/>
                </a:solidFill>
                <a:latin typeface="Verdana"/>
              </a:rPr>
              <a:t>Note​</a:t>
            </a:r>
          </a:p>
        </p:txBody>
      </p:sp>
      <p:cxnSp>
        <p:nvCxnSpPr>
          <p:cNvPr id="143" name="Straight Connector 142">
            <a:extLst>
              <a:ext uri="{FF2B5EF4-FFF2-40B4-BE49-F238E27FC236}">
                <a16:creationId xmlns:a16="http://schemas.microsoft.com/office/drawing/2014/main" id="{09E6F8D1-A0A2-A90E-641F-381212B689D8}"/>
              </a:ext>
            </a:extLst>
          </p:cNvPr>
          <p:cNvCxnSpPr>
            <a:cxnSpLocks/>
          </p:cNvCxnSpPr>
          <p:nvPr/>
        </p:nvCxnSpPr>
        <p:spPr>
          <a:xfrm flipV="1">
            <a:off x="5680132" y="567520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5B2B66E2-75B8-D0CE-9A0C-06423F448D36}"/>
              </a:ext>
            </a:extLst>
          </p:cNvPr>
          <p:cNvSpPr/>
          <p:nvPr/>
        </p:nvSpPr>
        <p:spPr>
          <a:xfrm>
            <a:off x="7282922" y="5518448"/>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151" name="ZoneTexte 40">
            <a:extLst>
              <a:ext uri="{FF2B5EF4-FFF2-40B4-BE49-F238E27FC236}">
                <a16:creationId xmlns:a16="http://schemas.microsoft.com/office/drawing/2014/main" id="{785060D2-A07D-189F-14C5-95CF0C3E1AD8}"/>
              </a:ext>
            </a:extLst>
          </p:cNvPr>
          <p:cNvSpPr txBox="1"/>
          <p:nvPr/>
        </p:nvSpPr>
        <p:spPr>
          <a:xfrm>
            <a:off x="7606922" y="54975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a:t>
            </a:r>
          </a:p>
          <a:p>
            <a:pPr algn="ctr" defTabSz="685115">
              <a:defRPr/>
            </a:pPr>
            <a:r>
              <a:rPr lang="en-GB" sz="675" noProof="0">
                <a:solidFill>
                  <a:prstClr val="black"/>
                </a:solidFill>
                <a:latin typeface="Verdana"/>
              </a:rPr>
              <a:t>Created​</a:t>
            </a:r>
          </a:p>
        </p:txBody>
      </p:sp>
      <p:grpSp>
        <p:nvGrpSpPr>
          <p:cNvPr id="152" name="Group 151">
            <a:extLst>
              <a:ext uri="{FF2B5EF4-FFF2-40B4-BE49-F238E27FC236}">
                <a16:creationId xmlns:a16="http://schemas.microsoft.com/office/drawing/2014/main" id="{F722C0B1-89CA-F448-A541-77C233CFAD11}"/>
              </a:ext>
            </a:extLst>
          </p:cNvPr>
          <p:cNvGrpSpPr/>
          <p:nvPr/>
        </p:nvGrpSpPr>
        <p:grpSpPr>
          <a:xfrm>
            <a:off x="7291324" y="6131411"/>
            <a:ext cx="316762" cy="316762"/>
            <a:chOff x="3904884" y="4179013"/>
            <a:chExt cx="720000" cy="720000"/>
          </a:xfrm>
        </p:grpSpPr>
        <p:sp>
          <p:nvSpPr>
            <p:cNvPr id="153" name="Oval 152">
              <a:extLst>
                <a:ext uri="{FF2B5EF4-FFF2-40B4-BE49-F238E27FC236}">
                  <a16:creationId xmlns:a16="http://schemas.microsoft.com/office/drawing/2014/main" id="{D7D168FB-DF47-29AC-68E1-C59A3DE16FD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54" name="Picture 153">
              <a:extLst>
                <a:ext uri="{FF2B5EF4-FFF2-40B4-BE49-F238E27FC236}">
                  <a16:creationId xmlns:a16="http://schemas.microsoft.com/office/drawing/2014/main" id="{1247464C-336F-6265-18D6-E58E5C264AE3}"/>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55" name="ZoneTexte 40">
            <a:extLst>
              <a:ext uri="{FF2B5EF4-FFF2-40B4-BE49-F238E27FC236}">
                <a16:creationId xmlns:a16="http://schemas.microsoft.com/office/drawing/2014/main" id="{78461339-2E2E-9ADC-895A-779EE47FB91D}"/>
              </a:ext>
            </a:extLst>
          </p:cNvPr>
          <p:cNvSpPr txBox="1"/>
          <p:nvPr/>
        </p:nvSpPr>
        <p:spPr>
          <a:xfrm>
            <a:off x="7150211" y="6063438"/>
            <a:ext cx="178783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a:t>
            </a:r>
          </a:p>
          <a:p>
            <a:pPr algn="ctr" defTabSz="685115">
              <a:defRPr/>
            </a:pPr>
            <a:r>
              <a:rPr lang="en-GB" sz="675" noProof="0">
                <a:solidFill>
                  <a:prstClr val="black"/>
                </a:solidFill>
                <a:latin typeface="Verdana"/>
              </a:rPr>
              <a:t>Customer/Sales​</a:t>
            </a:r>
          </a:p>
          <a:p>
            <a:pPr algn="ctr" defTabSz="685115">
              <a:defRPr/>
            </a:pPr>
            <a:r>
              <a:rPr lang="en-GB" sz="675" noProof="0">
                <a:solidFill>
                  <a:prstClr val="black"/>
                </a:solidFill>
                <a:latin typeface="Verdana"/>
              </a:rPr>
              <a:t>&amp; AR Team​</a:t>
            </a:r>
            <a:endParaRPr lang="en-GB" sz="675" noProof="0">
              <a:solidFill>
                <a:srgbClr val="FF304D"/>
              </a:solidFill>
              <a:latin typeface="Verdana"/>
            </a:endParaRPr>
          </a:p>
        </p:txBody>
      </p:sp>
      <p:cxnSp>
        <p:nvCxnSpPr>
          <p:cNvPr id="156" name="Straight Connector 155">
            <a:extLst>
              <a:ext uri="{FF2B5EF4-FFF2-40B4-BE49-F238E27FC236}">
                <a16:creationId xmlns:a16="http://schemas.microsoft.com/office/drawing/2014/main" id="{5F68C0D4-A274-12B3-E6B9-60C73A27850E}"/>
              </a:ext>
            </a:extLst>
          </p:cNvPr>
          <p:cNvCxnSpPr>
            <a:cxnSpLocks/>
            <a:stCxn id="150" idx="4"/>
          </p:cNvCxnSpPr>
          <p:nvPr/>
        </p:nvCxnSpPr>
        <p:spPr>
          <a:xfrm>
            <a:off x="7444922" y="5842448"/>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7DD6B7E5-47A3-382E-7316-71B811582E1E}"/>
              </a:ext>
            </a:extLst>
          </p:cNvPr>
          <p:cNvCxnSpPr>
            <a:cxnSpLocks/>
            <a:endCxn id="150" idx="2"/>
          </p:cNvCxnSpPr>
          <p:nvPr/>
        </p:nvCxnSpPr>
        <p:spPr>
          <a:xfrm flipV="1">
            <a:off x="6624482" y="5680448"/>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58" name="Group 157">
            <a:extLst>
              <a:ext uri="{FF2B5EF4-FFF2-40B4-BE49-F238E27FC236}">
                <a16:creationId xmlns:a16="http://schemas.microsoft.com/office/drawing/2014/main" id="{5D366037-DAC4-1A10-F095-ECC9430D8932}"/>
              </a:ext>
            </a:extLst>
          </p:cNvPr>
          <p:cNvGrpSpPr/>
          <p:nvPr/>
        </p:nvGrpSpPr>
        <p:grpSpPr>
          <a:xfrm>
            <a:off x="5348810" y="4976771"/>
            <a:ext cx="316762" cy="316762"/>
            <a:chOff x="3904884" y="4179013"/>
            <a:chExt cx="720000" cy="720000"/>
          </a:xfrm>
        </p:grpSpPr>
        <p:sp>
          <p:nvSpPr>
            <p:cNvPr id="159" name="Oval 158">
              <a:extLst>
                <a:ext uri="{FF2B5EF4-FFF2-40B4-BE49-F238E27FC236}">
                  <a16:creationId xmlns:a16="http://schemas.microsoft.com/office/drawing/2014/main" id="{BDBE20B6-EA35-5A61-DEB9-F37B2C7792B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60" name="Picture 159">
              <a:extLst>
                <a:ext uri="{FF2B5EF4-FFF2-40B4-BE49-F238E27FC236}">
                  <a16:creationId xmlns:a16="http://schemas.microsoft.com/office/drawing/2014/main" id="{87AB89B8-A5C5-0A47-DC1F-5B9653009819}"/>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161" name="ZoneTexte 40">
            <a:extLst>
              <a:ext uri="{FF2B5EF4-FFF2-40B4-BE49-F238E27FC236}">
                <a16:creationId xmlns:a16="http://schemas.microsoft.com/office/drawing/2014/main" id="{BA7364D9-EDBE-A974-0BA8-C0502516A572}"/>
              </a:ext>
            </a:extLst>
          </p:cNvPr>
          <p:cNvSpPr txBox="1"/>
          <p:nvPr/>
        </p:nvSpPr>
        <p:spPr>
          <a:xfrm>
            <a:off x="5614902" y="486148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162" name="Straight Connector 161">
            <a:extLst>
              <a:ext uri="{FF2B5EF4-FFF2-40B4-BE49-F238E27FC236}">
                <a16:creationId xmlns:a16="http://schemas.microsoft.com/office/drawing/2014/main" id="{A4BE87E3-2051-4D3E-AAC4-CA598CCE4BE7}"/>
              </a:ext>
            </a:extLst>
          </p:cNvPr>
          <p:cNvCxnSpPr>
            <a:cxnSpLocks/>
          </p:cNvCxnSpPr>
          <p:nvPr/>
        </p:nvCxnSpPr>
        <p:spPr>
          <a:xfrm flipH="1" flipV="1">
            <a:off x="5507191" y="529353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9E25291-3916-549D-7B20-E09230A0B7EF}"/>
              </a:ext>
            </a:extLst>
          </p:cNvPr>
          <p:cNvCxnSpPr>
            <a:cxnSpLocks/>
          </p:cNvCxnSpPr>
          <p:nvPr/>
        </p:nvCxnSpPr>
        <p:spPr>
          <a:xfrm flipH="1">
            <a:off x="4896688" y="513515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89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pic>
        <p:nvPicPr>
          <p:cNvPr id="7" name="Picture 6">
            <a:extLst>
              <a:ext uri="{FF2B5EF4-FFF2-40B4-BE49-F238E27FC236}">
                <a16:creationId xmlns:a16="http://schemas.microsoft.com/office/drawing/2014/main" id="{4FDCA57E-277F-172E-B2DE-7FF38393EFBA}"/>
              </a:ext>
            </a:extLst>
          </p:cNvPr>
          <p:cNvPicPr>
            <a:picLocks noChangeAspect="1"/>
          </p:cNvPicPr>
          <p:nvPr/>
        </p:nvPicPr>
        <p:blipFill>
          <a:blip r:embed="rId2"/>
          <a:stretch>
            <a:fillRect/>
          </a:stretch>
        </p:blipFill>
        <p:spPr>
          <a:xfrm>
            <a:off x="1175290" y="1713793"/>
            <a:ext cx="7149726" cy="4713523"/>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588F2-E76D-4559-3200-1B2A02715A5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67610B8C-0A4F-4AA5-1AA4-B61EAFA5733E}"/>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087F997F-C186-125A-A809-53DA6770E533}"/>
              </a:ext>
            </a:extLst>
          </p:cNvPr>
          <p:cNvSpPr>
            <a:spLocks noGrp="1"/>
          </p:cNvSpPr>
          <p:nvPr>
            <p:ph type="sldNum" sz="quarter" idx="12"/>
          </p:nvPr>
        </p:nvSpPr>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0168BBED-AA26-187A-8B94-AFB49B964030}"/>
              </a:ext>
            </a:extLst>
          </p:cNvPr>
          <p:cNvSpPr>
            <a:spLocks noGrp="1"/>
          </p:cNvSpPr>
          <p:nvPr>
            <p:ph type="title"/>
          </p:nvPr>
        </p:nvSpPr>
        <p:spPr>
          <a:xfrm>
            <a:off x="3888610" y="324019"/>
            <a:ext cx="5510641" cy="666581"/>
          </a:xfrm>
        </p:spPr>
        <p:txBody>
          <a:bodyPr/>
          <a:lstStyle/>
          <a:p>
            <a:r>
              <a:rPr lang="en-US"/>
              <a:t>Technical Solution - Option2</a:t>
            </a:r>
          </a:p>
        </p:txBody>
      </p:sp>
      <p:pic>
        <p:nvPicPr>
          <p:cNvPr id="6" name="Picture 5" descr="A diagram of a security system&#10;&#10;AI-generated content may be incorrect.">
            <a:extLst>
              <a:ext uri="{FF2B5EF4-FFF2-40B4-BE49-F238E27FC236}">
                <a16:creationId xmlns:a16="http://schemas.microsoft.com/office/drawing/2014/main" id="{D10B5523-FD32-6F42-FAB8-4C29DA85AC0E}"/>
              </a:ext>
            </a:extLst>
          </p:cNvPr>
          <p:cNvPicPr>
            <a:picLocks noChangeAspect="1"/>
          </p:cNvPicPr>
          <p:nvPr/>
        </p:nvPicPr>
        <p:blipFill>
          <a:blip r:embed="rId2"/>
          <a:stretch>
            <a:fillRect/>
          </a:stretch>
        </p:blipFill>
        <p:spPr>
          <a:xfrm>
            <a:off x="2436924" y="1396016"/>
            <a:ext cx="6953250" cy="4838700"/>
          </a:xfrm>
          <a:prstGeom prst="rect">
            <a:avLst/>
          </a:prstGeom>
        </p:spPr>
      </p:pic>
    </p:spTree>
    <p:extLst>
      <p:ext uri="{BB962C8B-B14F-4D97-AF65-F5344CB8AC3E}">
        <p14:creationId xmlns:p14="http://schemas.microsoft.com/office/powerpoint/2010/main" val="3113083619"/>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Props1.xml><?xml version="1.0" encoding="utf-8"?>
<ds:datastoreItem xmlns:ds="http://schemas.openxmlformats.org/officeDocument/2006/customXml" ds:itemID="{4E8B78EF-AD01-42D8-B90A-3DF849A84D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ec4482-8a5f-419e-a3fb-f1ff39837bb1"/>
    <ds:schemaRef ds:uri="289d593b-f9da-44ad-aeed-35e8c5022e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Application>Microsoft Office PowerPoint</Application>
  <PresentationFormat>Widescreen</PresentationFormat>
  <Slides>4</Slides>
  <Notes>1</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Capgemini_Bright_2025</vt:lpstr>
      <vt:lpstr>PowerPoint Presentation</vt:lpstr>
      <vt:lpstr>Functional Solution + AI-Human Chemistry</vt:lpstr>
      <vt:lpstr>Technical Solution</vt:lpstr>
      <vt:lpstr>Technical Solution - Option2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revision>3</cp:revision>
  <dcterms:created xsi:type="dcterms:W3CDTF">2026-02-09T11:16:54Z</dcterms:created>
  <dcterms:modified xsi:type="dcterms:W3CDTF">2026-04-02T10:27:29Z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