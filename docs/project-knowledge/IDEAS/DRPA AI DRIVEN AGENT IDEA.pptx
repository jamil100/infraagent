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9"/>
  </p:notesMasterIdLst>
  <p:sldIdLst>
    <p:sldId id="263" r:id="rId5"/>
    <p:sldId id="257" r:id="rId6"/>
    <p:sldId id="259" r:id="rId7"/>
    <p:sldId id="2145706672" r:id="rId8"/>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63"/>
            <p14:sldId id="257"/>
            <p14:sldId id="259"/>
            <p14:sldId id="2145706672"/>
          </p14:sldIdLst>
        </p14:section>
        <p14:section name="Untitled Section" id="{BF9A5F03-27B0-478D-9363-154BCB2578BD}">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32" autoAdjust="0"/>
    <p:restoredTop sz="94660"/>
  </p:normalViewPr>
  <p:slideViewPr>
    <p:cSldViewPr snapToGrid="0">
      <p:cViewPr varScale="1">
        <p:scale>
          <a:sx n="105" d="100"/>
          <a:sy n="105" d="100"/>
        </p:scale>
        <p:origin x="82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04/07/2026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1</a:t>
            </a:fld>
            <a:endParaRPr lang="en-PL"/>
          </a:p>
        </p:txBody>
      </p:sp>
    </p:spTree>
    <p:extLst>
      <p:ext uri="{BB962C8B-B14F-4D97-AF65-F5344CB8AC3E}">
        <p14:creationId xmlns:p14="http://schemas.microsoft.com/office/powerpoint/2010/main" val="973568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0.png"/><Relationship Id="rId7" Type="http://schemas.microsoft.com/office/2007/relationships/hdphoto" Target="../media/hdphoto2.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325598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6">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 id="2147484009"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5" Type="http://schemas.openxmlformats.org/officeDocument/2006/relationships/image" Target="../media/image18.jpeg"/><Relationship Id="rId4"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28" name="Date Placeholder 27">
            <a:extLst>
              <a:ext uri="{FF2B5EF4-FFF2-40B4-BE49-F238E27FC236}">
                <a16:creationId xmlns:a16="http://schemas.microsoft.com/office/drawing/2014/main" id="{7B068F88-BA31-177A-C2B5-1585FE35BD48}"/>
              </a:ext>
            </a:extLst>
          </p:cNvPr>
          <p:cNvSpPr>
            <a:spLocks noGrp="1"/>
          </p:cNvSpPr>
          <p:nvPr>
            <p:ph type="dt" sz="half" idx="10"/>
          </p:nvPr>
        </p:nvSpPr>
        <p:spPr/>
        <p:txBody>
          <a:bodyPr/>
          <a:lstStyle/>
          <a:p>
            <a:r>
              <a:rPr lang="en-US"/>
              <a:t>Company Confidential © Capgemini 2026. All rights reserved.</a:t>
            </a:r>
          </a:p>
        </p:txBody>
      </p:sp>
      <p:sp>
        <p:nvSpPr>
          <p:cNvPr id="29" name="Footer Placeholder 28">
            <a:extLst>
              <a:ext uri="{FF2B5EF4-FFF2-40B4-BE49-F238E27FC236}">
                <a16:creationId xmlns:a16="http://schemas.microsoft.com/office/drawing/2014/main" id="{0CAC0EBB-B542-A534-D976-2952B8491909}"/>
              </a:ext>
            </a:extLst>
          </p:cNvPr>
          <p:cNvSpPr>
            <a:spLocks noGrp="1"/>
          </p:cNvSpPr>
          <p:nvPr>
            <p:ph type="ftr" sz="quarter" idx="11"/>
          </p:nvPr>
        </p:nvSpPr>
        <p:spPr/>
        <p:txBody>
          <a:bodyPr/>
          <a:lstStyle/>
          <a:p>
            <a:r>
              <a:rPr lang="en-US"/>
              <a:t>Presentation Title | Author | Date</a:t>
            </a:r>
          </a:p>
        </p:txBody>
      </p:sp>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1</a:t>
            </a:fld>
            <a:endParaRPr lang="en-US"/>
          </a:p>
        </p:txBody>
      </p:sp>
      <p:sp>
        <p:nvSpPr>
          <p:cNvPr id="7" name="Rounded Rectangle 6">
            <a:extLst>
              <a:ext uri="{FF2B5EF4-FFF2-40B4-BE49-F238E27FC236}">
                <a16:creationId xmlns:a16="http://schemas.microsoft.com/office/drawing/2014/main" id="{3EF55D29-D549-A161-BAC6-AF540E6AF3A6}"/>
              </a:ext>
            </a:extLst>
          </p:cNvPr>
          <p:cNvSpPr/>
          <p:nvPr/>
        </p:nvSpPr>
        <p:spPr>
          <a:xfrm>
            <a:off x="3581400" y="814220"/>
            <a:ext cx="5887997" cy="3174436"/>
          </a:xfrm>
          <a:prstGeom prst="roundRect">
            <a:avLst>
              <a:gd name="adj" fmla="val 5793"/>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bg1"/>
              </a:solidFill>
            </a:endParaRPr>
          </a:p>
        </p:txBody>
      </p:sp>
      <p:sp>
        <p:nvSpPr>
          <p:cNvPr id="14" name="Rounded Rectangle 13">
            <a:extLst>
              <a:ext uri="{FF2B5EF4-FFF2-40B4-BE49-F238E27FC236}">
                <a16:creationId xmlns:a16="http://schemas.microsoft.com/office/drawing/2014/main" id="{D34C0E58-2B38-D9D4-F6DD-CA95D28EBBB5}"/>
              </a:ext>
            </a:extLst>
          </p:cNvPr>
          <p:cNvSpPr/>
          <p:nvPr/>
        </p:nvSpPr>
        <p:spPr>
          <a:xfrm>
            <a:off x="9450921" y="432897"/>
            <a:ext cx="2717916" cy="621751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sz="1400" dirty="0">
              <a:solidFill>
                <a:schemeClr val="bg1"/>
              </a:solidFill>
            </a:endParaRP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7374860" y="4099452"/>
            <a:ext cx="1922839"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 </a:t>
            </a:r>
          </a:p>
        </p:txBody>
      </p:sp>
      <p:sp>
        <p:nvSpPr>
          <p:cNvPr id="18" name="Rectangle 17">
            <a:extLst>
              <a:ext uri="{FF2B5EF4-FFF2-40B4-BE49-F238E27FC236}">
                <a16:creationId xmlns:a16="http://schemas.microsoft.com/office/drawing/2014/main" id="{BD0C65E4-4EA2-695A-0974-696F98D3C9D6}"/>
              </a:ext>
            </a:extLst>
          </p:cNvPr>
          <p:cNvSpPr/>
          <p:nvPr/>
        </p:nvSpPr>
        <p:spPr>
          <a:xfrm>
            <a:off x="7467600" y="4269623"/>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49234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59147" y="4025333"/>
            <a:ext cx="7075417"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bg1"/>
              </a:solidFill>
            </a:endParaRPr>
          </a:p>
        </p:txBody>
      </p:sp>
      <p:sp>
        <p:nvSpPr>
          <p:cNvPr id="21" name="Rectangle 20">
            <a:extLst>
              <a:ext uri="{FF2B5EF4-FFF2-40B4-BE49-F238E27FC236}">
                <a16:creationId xmlns:a16="http://schemas.microsoft.com/office/drawing/2014/main" id="{A6CD3C9A-FACF-2625-5F64-D30C21608F62}"/>
              </a:ext>
            </a:extLst>
          </p:cNvPr>
          <p:cNvSpPr/>
          <p:nvPr/>
        </p:nvSpPr>
        <p:spPr>
          <a:xfrm>
            <a:off x="249250" y="4269623"/>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7399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839717" y="646592"/>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C2303EE9-3969-ACA1-BD43-C4EA3992EAB8}"/>
              </a:ext>
            </a:extLst>
          </p:cNvPr>
          <p:cNvSpPr/>
          <p:nvPr/>
        </p:nvSpPr>
        <p:spPr>
          <a:xfrm>
            <a:off x="9592837" y="2182041"/>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630DAF87-00F5-ECF5-8767-99FD7B4932D2}"/>
              </a:ext>
            </a:extLst>
          </p:cNvPr>
          <p:cNvSpPr txBox="1"/>
          <p:nvPr/>
        </p:nvSpPr>
        <p:spPr>
          <a:xfrm>
            <a:off x="9839717" y="2167408"/>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7" name="Rounded Rectangle 36">
            <a:extLst>
              <a:ext uri="{FF2B5EF4-FFF2-40B4-BE49-F238E27FC236}">
                <a16:creationId xmlns:a16="http://schemas.microsoft.com/office/drawing/2014/main" id="{AC704906-FAC6-CC28-217C-0492D17700D9}"/>
              </a:ext>
            </a:extLst>
          </p:cNvPr>
          <p:cNvSpPr/>
          <p:nvPr/>
        </p:nvSpPr>
        <p:spPr>
          <a:xfrm>
            <a:off x="368250" y="4576963"/>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8" name="TextBox 37">
            <a:extLst>
              <a:ext uri="{FF2B5EF4-FFF2-40B4-BE49-F238E27FC236}">
                <a16:creationId xmlns:a16="http://schemas.microsoft.com/office/drawing/2014/main" id="{D2B81A26-9964-1A11-0A3A-5279DC076D6C}"/>
              </a:ext>
            </a:extLst>
          </p:cNvPr>
          <p:cNvSpPr txBox="1"/>
          <p:nvPr/>
        </p:nvSpPr>
        <p:spPr>
          <a:xfrm>
            <a:off x="619706" y="4562330"/>
            <a:ext cx="1422482" cy="263791"/>
          </a:xfrm>
          <a:prstGeom prst="rect">
            <a:avLst/>
          </a:prstGeom>
          <a:noFill/>
        </p:spPr>
        <p:txBody>
          <a:bodyPr vert="horz" wrap="none" lIns="90000" tIns="46800" rIns="90000" bIns="46800" rtlCol="0" anchor="ctr">
            <a:spAutoFit/>
          </a:bodyPr>
          <a:lstStyle/>
          <a:p>
            <a:pPr algn="l">
              <a:spcBef>
                <a:spcPct val="0"/>
              </a:spcBef>
            </a:pPr>
            <a:r>
              <a:rPr lang="en-US" sz="110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3892490" y="637444"/>
            <a:ext cx="1593910" cy="263791"/>
          </a:xfrm>
          <a:prstGeom prst="rect">
            <a:avLst/>
          </a:prstGeom>
          <a:noFill/>
        </p:spPr>
        <p:txBody>
          <a:bodyPr vert="horz" wrap="square" lIns="90000" tIns="46800" rIns="90000" bIns="46800" rtlCol="0" anchor="ctr">
            <a:spAutoFit/>
          </a:bodyPr>
          <a:lstStyle/>
          <a:p>
            <a:pPr algn="l">
              <a:spcBef>
                <a:spcPct val="0"/>
              </a:spcBef>
            </a:pPr>
            <a:r>
              <a:rPr lang="en-US" sz="1100"/>
              <a:t>Business Challenges</a:t>
            </a:r>
          </a:p>
        </p:txBody>
      </p:sp>
      <p:sp>
        <p:nvSpPr>
          <p:cNvPr id="49" name="Rounded Rectangle 48">
            <a:extLst>
              <a:ext uri="{FF2B5EF4-FFF2-40B4-BE49-F238E27FC236}">
                <a16:creationId xmlns:a16="http://schemas.microsoft.com/office/drawing/2014/main" id="{392F7412-4824-43D8-B880-447809FF3874}"/>
              </a:ext>
            </a:extLst>
          </p:cNvPr>
          <p:cNvSpPr/>
          <p:nvPr/>
        </p:nvSpPr>
        <p:spPr>
          <a:xfrm>
            <a:off x="3657600" y="4575762"/>
            <a:ext cx="347472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0" name="TextBox 49">
            <a:extLst>
              <a:ext uri="{FF2B5EF4-FFF2-40B4-BE49-F238E27FC236}">
                <a16:creationId xmlns:a16="http://schemas.microsoft.com/office/drawing/2014/main" id="{E8659E0E-D1DB-0C16-AB8F-4E27AAE2CD22}"/>
              </a:ext>
            </a:extLst>
          </p:cNvPr>
          <p:cNvSpPr txBox="1"/>
          <p:nvPr/>
        </p:nvSpPr>
        <p:spPr>
          <a:xfrm>
            <a:off x="3909056" y="4561129"/>
            <a:ext cx="1348744" cy="263791"/>
          </a:xfrm>
          <a:prstGeom prst="rect">
            <a:avLst/>
          </a:prstGeom>
          <a:noFill/>
        </p:spPr>
        <p:txBody>
          <a:bodyPr vert="horz" wrap="none" lIns="90000" tIns="46800" rIns="90000" bIns="46800" rtlCol="0" anchor="ctr">
            <a:spAutoFit/>
          </a:bodyPr>
          <a:lstStyle/>
          <a:p>
            <a:pPr algn="l">
              <a:spcBef>
                <a:spcPct val="0"/>
              </a:spcBef>
            </a:pPr>
            <a:r>
              <a:rPr lang="en-US" sz="1100"/>
              <a:t>Technical Solution</a:t>
            </a:r>
          </a:p>
        </p:txBody>
      </p:sp>
      <p:cxnSp>
        <p:nvCxnSpPr>
          <p:cNvPr id="51" name="Straight Connector 50">
            <a:extLst>
              <a:ext uri="{FF2B5EF4-FFF2-40B4-BE49-F238E27FC236}">
                <a16:creationId xmlns:a16="http://schemas.microsoft.com/office/drawing/2014/main" id="{AC51E32A-5104-AB8F-9EBC-85EB2204E734}"/>
              </a:ext>
            </a:extLst>
          </p:cNvPr>
          <p:cNvCxnSpPr>
            <a:cxnSpLocks/>
          </p:cNvCxnSpPr>
          <p:nvPr/>
        </p:nvCxnSpPr>
        <p:spPr>
          <a:xfrm>
            <a:off x="3581400" y="4863533"/>
            <a:ext cx="0" cy="13716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none" lIns="90000" tIns="46800" rIns="90000" bIns="46800" rtlCol="0" anchor="ctr">
            <a:spAutoFit/>
          </a:bodyPr>
          <a:lstStyle/>
          <a:p>
            <a:pPr algn="l">
              <a:spcBef>
                <a:spcPct val="0"/>
              </a:spcBef>
            </a:pPr>
            <a:r>
              <a:rPr lang="en-US" sz="1100"/>
              <a:t>Use Case Description</a:t>
            </a:r>
          </a:p>
        </p:txBody>
      </p:sp>
      <p:cxnSp>
        <p:nvCxnSpPr>
          <p:cNvPr id="56" name="Straight Connector 55">
            <a:extLst>
              <a:ext uri="{FF2B5EF4-FFF2-40B4-BE49-F238E27FC236}">
                <a16:creationId xmlns:a16="http://schemas.microsoft.com/office/drawing/2014/main" id="{E1B55769-E7F5-AEBF-1338-E94DBF7FBCB1}"/>
              </a:ext>
            </a:extLst>
          </p:cNvPr>
          <p:cNvCxnSpPr>
            <a:cxnSpLocks/>
          </p:cNvCxnSpPr>
          <p:nvPr/>
        </p:nvCxnSpPr>
        <p:spPr>
          <a:xfrm>
            <a:off x="6147931" y="1271049"/>
            <a:ext cx="0" cy="271812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56EB4857-71BC-0F5D-8D31-5A71D2C9EEEF}"/>
              </a:ext>
            </a:extLst>
          </p:cNvPr>
          <p:cNvSpPr/>
          <p:nvPr/>
        </p:nvSpPr>
        <p:spPr>
          <a:xfrm>
            <a:off x="7624941" y="4588418"/>
            <a:ext cx="1655541"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819071" y="4573785"/>
            <a:ext cx="1020129" cy="263791"/>
          </a:xfrm>
          <a:prstGeom prst="rect">
            <a:avLst/>
          </a:prstGeom>
          <a:noFill/>
        </p:spPr>
        <p:txBody>
          <a:bodyPr vert="horz" wrap="none" lIns="90000" tIns="46800" rIns="90000" bIns="46800" rtlCol="0" anchor="ctr">
            <a:spAutoFit/>
          </a:bodyPr>
          <a:lstStyle/>
          <a:p>
            <a:pPr algn="l">
              <a:spcBef>
                <a:spcPct val="0"/>
              </a:spcBef>
            </a:pPr>
            <a:r>
              <a:rPr lang="en-US" sz="1100"/>
              <a:t>Stakeholders</a:t>
            </a:r>
          </a:p>
        </p:txBody>
      </p:sp>
      <p:sp>
        <p:nvSpPr>
          <p:cNvPr id="3" name="TextBox 2">
            <a:extLst>
              <a:ext uri="{FF2B5EF4-FFF2-40B4-BE49-F238E27FC236}">
                <a16:creationId xmlns:a16="http://schemas.microsoft.com/office/drawing/2014/main" id="{24922FAE-5875-4458-D774-D48AED43DDDB}"/>
              </a:ext>
            </a:extLst>
          </p:cNvPr>
          <p:cNvSpPr txBox="1"/>
          <p:nvPr/>
        </p:nvSpPr>
        <p:spPr>
          <a:xfrm>
            <a:off x="273990" y="1823027"/>
            <a:ext cx="3203220" cy="1140954"/>
          </a:xfrm>
          <a:prstGeom prst="rect">
            <a:avLst/>
          </a:prstGeom>
          <a:noFill/>
        </p:spPr>
        <p:txBody>
          <a:bodyPr vert="horz" wrap="square" lIns="90000" tIns="46800" rIns="90000" bIns="46800" rtlCol="0" anchor="ctr">
            <a:spAutoFit/>
          </a:bodyPr>
          <a:lstStyle/>
          <a:p>
            <a:pPr>
              <a:spcBef>
                <a:spcPct val="0"/>
              </a:spcBef>
            </a:pPr>
            <a:r>
              <a:rPr lang="en-IE" b="1" dirty="0">
                <a:solidFill>
                  <a:schemeClr val="bg1"/>
                </a:solidFill>
              </a:rPr>
              <a:t>AI Driven DRPA – Dynamic Risk‑Participation Agreement</a:t>
            </a:r>
            <a:endParaRPr lang="en-IE" dirty="0">
              <a:solidFill>
                <a:schemeClr val="bg1"/>
              </a:solidFill>
            </a:endParaRPr>
          </a:p>
          <a:p>
            <a:pPr algn="l">
              <a:spcBef>
                <a:spcPct val="0"/>
              </a:spcBef>
            </a:pPr>
            <a:endParaRPr lang="en-IE" sz="1400" dirty="0" err="1"/>
          </a:p>
        </p:txBody>
      </p:sp>
      <p:sp>
        <p:nvSpPr>
          <p:cNvPr id="6" name="TextBox 5">
            <a:extLst>
              <a:ext uri="{FF2B5EF4-FFF2-40B4-BE49-F238E27FC236}">
                <a16:creationId xmlns:a16="http://schemas.microsoft.com/office/drawing/2014/main" id="{67CB6521-14F4-C31A-4CF6-5FF8C0B24811}"/>
              </a:ext>
            </a:extLst>
          </p:cNvPr>
          <p:cNvSpPr txBox="1"/>
          <p:nvPr/>
        </p:nvSpPr>
        <p:spPr>
          <a:xfrm>
            <a:off x="3550987" y="949805"/>
            <a:ext cx="2438397" cy="1633397"/>
          </a:xfrm>
          <a:prstGeom prst="rect">
            <a:avLst/>
          </a:prstGeom>
          <a:noFill/>
        </p:spPr>
        <p:txBody>
          <a:bodyPr vert="horz" wrap="square" lIns="90000" tIns="46800" rIns="90000" bIns="46800" rtlCol="0" anchor="ctr">
            <a:spAutoFit/>
          </a:bodyPr>
          <a:lstStyle/>
          <a:p>
            <a:pPr marL="285750" indent="-285750" algn="l">
              <a:spcBef>
                <a:spcPct val="0"/>
              </a:spcBef>
              <a:buFont typeface="Arial" panose="020B0604020202020204" pitchFamily="34" charset="0"/>
              <a:buChar char="•"/>
            </a:pPr>
            <a:r>
              <a:rPr lang="en-US" sz="1000" dirty="0"/>
              <a:t>Most traditional risk participation agreements are unable to capture market volatility in real time leading to slower decision cycles.</a:t>
            </a:r>
          </a:p>
          <a:p>
            <a:pPr marL="285750" indent="-285750" algn="l">
              <a:spcBef>
                <a:spcPct val="0"/>
              </a:spcBef>
              <a:buFont typeface="Arial" panose="020B0604020202020204" pitchFamily="34" charset="0"/>
              <a:buChar char="•"/>
            </a:pPr>
            <a:r>
              <a:rPr lang="en-US" sz="1000" dirty="0"/>
              <a:t>Less time efficient performance , risk and agreement changes.</a:t>
            </a:r>
          </a:p>
          <a:p>
            <a:pPr marL="285750" indent="-285750" algn="l">
              <a:spcBef>
                <a:spcPct val="0"/>
              </a:spcBef>
              <a:buFont typeface="Arial" panose="020B0604020202020204" pitchFamily="34" charset="0"/>
              <a:buChar char="•"/>
            </a:pPr>
            <a:r>
              <a:rPr lang="en-US" sz="1000" dirty="0"/>
              <a:t>Inaccuracies in participation and pricing terms due to incomplete data.</a:t>
            </a:r>
          </a:p>
          <a:p>
            <a:pPr marL="285750" indent="-285750" algn="l">
              <a:spcBef>
                <a:spcPct val="0"/>
              </a:spcBef>
              <a:buFont typeface="Arial" panose="020B0604020202020204" pitchFamily="34" charset="0"/>
              <a:buChar char="•"/>
            </a:pPr>
            <a:endParaRPr lang="en-US" sz="1000" dirty="0"/>
          </a:p>
        </p:txBody>
      </p:sp>
      <p:sp>
        <p:nvSpPr>
          <p:cNvPr id="8" name="TextBox 7">
            <a:extLst>
              <a:ext uri="{FF2B5EF4-FFF2-40B4-BE49-F238E27FC236}">
                <a16:creationId xmlns:a16="http://schemas.microsoft.com/office/drawing/2014/main" id="{CB07AE31-E2C9-1EF9-EBD4-F9A34BAB7ECE}"/>
              </a:ext>
            </a:extLst>
          </p:cNvPr>
          <p:cNvSpPr txBox="1"/>
          <p:nvPr/>
        </p:nvSpPr>
        <p:spPr>
          <a:xfrm>
            <a:off x="6318507" y="925016"/>
            <a:ext cx="3125162" cy="2464394"/>
          </a:xfrm>
          <a:prstGeom prst="rect">
            <a:avLst/>
          </a:prstGeom>
          <a:noFill/>
        </p:spPr>
        <p:txBody>
          <a:bodyPr vert="horz" wrap="square" lIns="90000" tIns="46800" rIns="90000" bIns="46800" rtlCol="0" anchor="ctr">
            <a:spAutoFit/>
          </a:bodyPr>
          <a:lstStyle/>
          <a:p>
            <a:pPr marL="171450" indent="-171450">
              <a:spcBef>
                <a:spcPct val="0"/>
              </a:spcBef>
              <a:buFont typeface="Arial" panose="020B0604020202020204" pitchFamily="34" charset="0"/>
              <a:buChar char="•"/>
            </a:pPr>
            <a:r>
              <a:rPr lang="en-IE" sz="1000" dirty="0"/>
              <a:t>DPRA (Dynamic Risk Participation Agreement) is an investment partnership agreement that automatically adjusts risk sharing terms in real time. Based on portfolio risk, investment behaviour, Market conditions and Predictive AI signals. </a:t>
            </a:r>
          </a:p>
          <a:p>
            <a:pPr>
              <a:spcBef>
                <a:spcPct val="0"/>
              </a:spcBef>
            </a:pPr>
            <a:endParaRPr lang="en-IE" sz="1000" dirty="0"/>
          </a:p>
          <a:p>
            <a:pPr marL="171450" indent="-171450">
              <a:spcBef>
                <a:spcPct val="0"/>
              </a:spcBef>
              <a:buFont typeface="Arial" panose="020B0604020202020204" pitchFamily="34" charset="0"/>
              <a:buChar char="•"/>
            </a:pPr>
            <a:r>
              <a:rPr lang="en-IE" sz="1000" dirty="0"/>
              <a:t>The Goal of this project is to produce an advanced AI driven DRPA technology that solves real world problems in portfolio management.  The solution incorporates Microsoft Fabric, Azure Machine Learning , Azure OpenAI + Copilot and Power BI</a:t>
            </a:r>
          </a:p>
          <a:p>
            <a:pPr>
              <a:spcBef>
                <a:spcPct val="0"/>
              </a:spcBef>
            </a:pPr>
            <a:endParaRPr lang="en-IE" sz="1000" dirty="0"/>
          </a:p>
          <a:p>
            <a:pPr algn="l">
              <a:spcBef>
                <a:spcPct val="0"/>
              </a:spcBef>
            </a:pPr>
            <a:endParaRPr lang="en-IE" sz="1400" dirty="0" err="1"/>
          </a:p>
        </p:txBody>
      </p:sp>
      <p:sp>
        <p:nvSpPr>
          <p:cNvPr id="9" name="TextBox 8">
            <a:extLst>
              <a:ext uri="{FF2B5EF4-FFF2-40B4-BE49-F238E27FC236}">
                <a16:creationId xmlns:a16="http://schemas.microsoft.com/office/drawing/2014/main" id="{2BF1CF3C-DA37-F4CC-FD62-404A4D2FF4B7}"/>
              </a:ext>
            </a:extLst>
          </p:cNvPr>
          <p:cNvSpPr txBox="1"/>
          <p:nvPr/>
        </p:nvSpPr>
        <p:spPr>
          <a:xfrm>
            <a:off x="259147" y="4878765"/>
            <a:ext cx="3276995" cy="1694952"/>
          </a:xfrm>
          <a:prstGeom prst="rect">
            <a:avLst/>
          </a:prstGeom>
          <a:noFill/>
        </p:spPr>
        <p:txBody>
          <a:bodyPr vert="horz" wrap="square" lIns="90000" tIns="46800" rIns="90000" bIns="46800" rtlCol="0" anchor="ctr">
            <a:spAutoFit/>
          </a:bodyPr>
          <a:lstStyle/>
          <a:p>
            <a:pPr marL="285750" indent="-285750" algn="l">
              <a:spcBef>
                <a:spcPct val="0"/>
              </a:spcBef>
              <a:buFont typeface="Arial" panose="020B0604020202020204" pitchFamily="34" charset="0"/>
              <a:buChar char="•"/>
            </a:pPr>
            <a:r>
              <a:rPr lang="en-US" sz="1000" dirty="0"/>
              <a:t>Realtime market risk, portfolio exposures and liquidity updates.</a:t>
            </a:r>
          </a:p>
          <a:p>
            <a:pPr marL="285750" indent="-285750" algn="l">
              <a:spcBef>
                <a:spcPct val="0"/>
              </a:spcBef>
              <a:buFont typeface="Arial" panose="020B0604020202020204" pitchFamily="34" charset="0"/>
              <a:buChar char="•"/>
            </a:pPr>
            <a:r>
              <a:rPr lang="en-US" sz="1000" dirty="0"/>
              <a:t>Auto-Recalculations of participation pricing and percentages.</a:t>
            </a:r>
          </a:p>
          <a:p>
            <a:pPr marL="285750" indent="-285750" algn="l">
              <a:spcBef>
                <a:spcPct val="0"/>
              </a:spcBef>
              <a:buFont typeface="Arial" panose="020B0604020202020204" pitchFamily="34" charset="0"/>
              <a:buChar char="•"/>
            </a:pPr>
            <a:r>
              <a:rPr lang="en-US" sz="1000" dirty="0"/>
              <a:t>Auto generate custom and modified contract terms with GEN AI.</a:t>
            </a:r>
          </a:p>
          <a:p>
            <a:pPr marL="285750" indent="-285750" algn="l">
              <a:spcBef>
                <a:spcPct val="0"/>
              </a:spcBef>
              <a:buFont typeface="Arial" panose="020B0604020202020204" pitchFamily="34" charset="0"/>
              <a:buChar char="•"/>
            </a:pPr>
            <a:r>
              <a:rPr lang="en-US" sz="1000" dirty="0"/>
              <a:t>AI driven Audit trails of why and how terms changed</a:t>
            </a:r>
          </a:p>
          <a:p>
            <a:pPr marL="285750" indent="-285750" algn="l">
              <a:spcBef>
                <a:spcPct val="0"/>
              </a:spcBef>
              <a:buFont typeface="Arial" panose="020B0604020202020204" pitchFamily="34" charset="0"/>
              <a:buChar char="•"/>
            </a:pPr>
            <a:r>
              <a:rPr lang="en-US" sz="1000" dirty="0"/>
              <a:t>Live DPRA adjustments for stakeholders</a:t>
            </a:r>
          </a:p>
          <a:p>
            <a:pPr marL="285750" indent="-285750" algn="l">
              <a:spcBef>
                <a:spcPct val="0"/>
              </a:spcBef>
              <a:buFont typeface="Arial" panose="020B0604020202020204" pitchFamily="34" charset="0"/>
              <a:buChar char="•"/>
            </a:pPr>
            <a:endParaRPr lang="en-IE" sz="1400" dirty="0" err="1"/>
          </a:p>
        </p:txBody>
      </p:sp>
      <p:sp>
        <p:nvSpPr>
          <p:cNvPr id="2" name="TextBox 1">
            <a:extLst>
              <a:ext uri="{FF2B5EF4-FFF2-40B4-BE49-F238E27FC236}">
                <a16:creationId xmlns:a16="http://schemas.microsoft.com/office/drawing/2014/main" id="{1B74AAD1-206D-B738-87AE-6C461AD786BD}"/>
              </a:ext>
            </a:extLst>
          </p:cNvPr>
          <p:cNvSpPr txBox="1"/>
          <p:nvPr/>
        </p:nvSpPr>
        <p:spPr>
          <a:xfrm>
            <a:off x="3646417" y="4851861"/>
            <a:ext cx="3602720" cy="2310505"/>
          </a:xfrm>
          <a:prstGeom prst="rect">
            <a:avLst/>
          </a:prstGeom>
          <a:noFill/>
        </p:spPr>
        <p:txBody>
          <a:bodyPr vert="horz" wrap="square" lIns="90000" tIns="46800" rIns="90000" bIns="46800" rtlCol="0" anchor="ctr">
            <a:spAutoFit/>
          </a:bodyPr>
          <a:lstStyle/>
          <a:p>
            <a:pPr marL="285750" indent="-285750" algn="l">
              <a:spcBef>
                <a:spcPct val="0"/>
              </a:spcBef>
              <a:buFont typeface="Arial" panose="020B0604020202020204" pitchFamily="34" charset="0"/>
              <a:buChar char="•"/>
            </a:pPr>
            <a:r>
              <a:rPr lang="en-US" sz="1000" dirty="0"/>
              <a:t>Microsoft Fabric- Real-Time data ingestion, Lakehouse for market and portfolio data</a:t>
            </a:r>
          </a:p>
          <a:p>
            <a:pPr marL="285750" indent="-285750" algn="l">
              <a:spcBef>
                <a:spcPct val="0"/>
              </a:spcBef>
              <a:buFont typeface="Arial" panose="020B0604020202020204" pitchFamily="34" charset="0"/>
              <a:buChar char="•"/>
            </a:pPr>
            <a:r>
              <a:rPr lang="en-US" sz="1000" dirty="0"/>
              <a:t>Azure Machine Learning- Volatility Forecasting, Drawdown Predictions, Correlation Regime switching models and stress testing</a:t>
            </a:r>
          </a:p>
          <a:p>
            <a:pPr marL="285750" indent="-285750">
              <a:spcBef>
                <a:spcPct val="0"/>
              </a:spcBef>
              <a:buFont typeface="Arial" panose="020B0604020202020204" pitchFamily="34" charset="0"/>
              <a:buChar char="•"/>
            </a:pPr>
            <a:r>
              <a:rPr lang="en-US" sz="1000" dirty="0"/>
              <a:t>Azure OpenAI and Copilot-</a:t>
            </a:r>
            <a:r>
              <a:rPr lang="en-IE" sz="1000" dirty="0"/>
              <a:t>Explain risk changes, Generate modified agreement clauses and Produce daily portfolio insights</a:t>
            </a:r>
          </a:p>
          <a:p>
            <a:pPr marL="285750" indent="-285750">
              <a:spcBef>
                <a:spcPct val="0"/>
              </a:spcBef>
              <a:buFont typeface="Arial" panose="020B0604020202020204" pitchFamily="34" charset="0"/>
              <a:buChar char="•"/>
            </a:pPr>
            <a:r>
              <a:rPr lang="en-IE" sz="1000" dirty="0"/>
              <a:t>Power BI -Live dashboards of how the AI is adjusting risk terms and visualized triggers for agreement changes</a:t>
            </a:r>
          </a:p>
          <a:p>
            <a:pPr marL="285750" indent="-285750">
              <a:spcBef>
                <a:spcPct val="0"/>
              </a:spcBef>
              <a:buFont typeface="Arial" panose="020B0604020202020204" pitchFamily="34" charset="0"/>
              <a:buChar char="•"/>
            </a:pPr>
            <a:endParaRPr lang="en-IE" sz="1000" dirty="0"/>
          </a:p>
          <a:p>
            <a:pPr marL="285750" indent="-285750" algn="l">
              <a:spcBef>
                <a:spcPct val="0"/>
              </a:spcBef>
              <a:buFont typeface="Arial" panose="020B0604020202020204" pitchFamily="34" charset="0"/>
              <a:buChar char="•"/>
            </a:pPr>
            <a:endParaRPr lang="en-US" sz="1000" dirty="0"/>
          </a:p>
          <a:p>
            <a:pPr algn="l">
              <a:spcBef>
                <a:spcPct val="0"/>
              </a:spcBef>
            </a:pPr>
            <a:endParaRPr lang="en-IE" sz="1400" dirty="0" err="1"/>
          </a:p>
        </p:txBody>
      </p:sp>
      <p:sp>
        <p:nvSpPr>
          <p:cNvPr id="4" name="TextBox 3">
            <a:extLst>
              <a:ext uri="{FF2B5EF4-FFF2-40B4-BE49-F238E27FC236}">
                <a16:creationId xmlns:a16="http://schemas.microsoft.com/office/drawing/2014/main" id="{44016C25-C25B-F8BD-250C-D6547E43D3DC}"/>
              </a:ext>
            </a:extLst>
          </p:cNvPr>
          <p:cNvSpPr txBox="1"/>
          <p:nvPr/>
        </p:nvSpPr>
        <p:spPr>
          <a:xfrm>
            <a:off x="9592837" y="965425"/>
            <a:ext cx="2377440" cy="1171732"/>
          </a:xfrm>
          <a:prstGeom prst="rect">
            <a:avLst/>
          </a:prstGeom>
          <a:noFill/>
        </p:spPr>
        <p:txBody>
          <a:bodyPr vert="horz" wrap="square" lIns="90000" tIns="46800" rIns="90000" bIns="46800" rtlCol="0" anchor="ctr">
            <a:spAutoFit/>
          </a:bodyPr>
          <a:lstStyle/>
          <a:p>
            <a:pPr marL="285750" indent="-285750" algn="l">
              <a:spcBef>
                <a:spcPct val="0"/>
              </a:spcBef>
              <a:buFont typeface="Arial" panose="020B0604020202020204" pitchFamily="34" charset="0"/>
              <a:buChar char="•"/>
            </a:pPr>
            <a:r>
              <a:rPr lang="en-US" sz="1000" dirty="0"/>
              <a:t>Reduced credit risk</a:t>
            </a:r>
          </a:p>
          <a:p>
            <a:pPr marL="285750" indent="-285750" algn="l">
              <a:spcBef>
                <a:spcPct val="0"/>
              </a:spcBef>
              <a:buFont typeface="Arial" panose="020B0604020202020204" pitchFamily="34" charset="0"/>
              <a:buChar char="•"/>
            </a:pPr>
            <a:r>
              <a:rPr lang="en-US" sz="1000" dirty="0"/>
              <a:t>Automation leading to more time efficiency</a:t>
            </a:r>
          </a:p>
          <a:p>
            <a:pPr marL="285750" indent="-285750" algn="l">
              <a:spcBef>
                <a:spcPct val="0"/>
              </a:spcBef>
              <a:buFont typeface="Arial" panose="020B0604020202020204" pitchFamily="34" charset="0"/>
              <a:buChar char="•"/>
            </a:pPr>
            <a:r>
              <a:rPr lang="en-US" sz="1000" dirty="0"/>
              <a:t>Better underwriting throughput</a:t>
            </a:r>
          </a:p>
          <a:p>
            <a:pPr marL="285750" indent="-285750" algn="l">
              <a:spcBef>
                <a:spcPct val="0"/>
              </a:spcBef>
              <a:buFont typeface="Arial" panose="020B0604020202020204" pitchFamily="34" charset="0"/>
              <a:buChar char="•"/>
            </a:pPr>
            <a:r>
              <a:rPr lang="en-US" sz="1000" dirty="0"/>
              <a:t>More accurate risk participation calculations</a:t>
            </a:r>
          </a:p>
          <a:p>
            <a:pPr marL="285750" indent="-285750" algn="l">
              <a:spcBef>
                <a:spcPct val="0"/>
              </a:spcBef>
              <a:buFont typeface="Arial" panose="020B0604020202020204" pitchFamily="34" charset="0"/>
              <a:buChar char="•"/>
            </a:pPr>
            <a:r>
              <a:rPr lang="en-US" sz="1000" dirty="0"/>
              <a:t>Quicker partner response time</a:t>
            </a:r>
            <a:endParaRPr lang="en-IE" sz="1000" dirty="0" err="1"/>
          </a:p>
        </p:txBody>
      </p:sp>
      <p:sp>
        <p:nvSpPr>
          <p:cNvPr id="5" name="TextBox 4">
            <a:extLst>
              <a:ext uri="{FF2B5EF4-FFF2-40B4-BE49-F238E27FC236}">
                <a16:creationId xmlns:a16="http://schemas.microsoft.com/office/drawing/2014/main" id="{63391F30-78FF-1E7B-6BD9-7C29D169223D}"/>
              </a:ext>
            </a:extLst>
          </p:cNvPr>
          <p:cNvSpPr txBox="1"/>
          <p:nvPr/>
        </p:nvSpPr>
        <p:spPr>
          <a:xfrm>
            <a:off x="7394309" y="4824920"/>
            <a:ext cx="1898912" cy="2125839"/>
          </a:xfrm>
          <a:prstGeom prst="rect">
            <a:avLst/>
          </a:prstGeom>
          <a:noFill/>
        </p:spPr>
        <p:txBody>
          <a:bodyPr vert="horz" wrap="square" lIns="90000" tIns="46800" rIns="90000" bIns="46800" rtlCol="0" anchor="ctr">
            <a:spAutoFit/>
          </a:bodyPr>
          <a:lstStyle/>
          <a:p>
            <a:pPr marL="285750" indent="-285750" algn="l">
              <a:spcBef>
                <a:spcPct val="0"/>
              </a:spcBef>
              <a:buFont typeface="Arial" panose="020B0604020202020204" pitchFamily="34" charset="0"/>
              <a:buChar char="•"/>
            </a:pPr>
            <a:r>
              <a:rPr lang="en-US" sz="1000" dirty="0"/>
              <a:t>Product Owners and DPRA Governance Teams</a:t>
            </a:r>
          </a:p>
          <a:p>
            <a:pPr marL="285750" indent="-285750">
              <a:spcBef>
                <a:spcPct val="0"/>
              </a:spcBef>
              <a:buFont typeface="Arial" panose="020B0604020202020204" pitchFamily="34" charset="0"/>
              <a:buChar char="•"/>
            </a:pPr>
            <a:r>
              <a:rPr lang="en-US" sz="1000" dirty="0"/>
              <a:t>Credit Risk Team</a:t>
            </a:r>
          </a:p>
          <a:p>
            <a:pPr marL="285750" indent="-285750" algn="l">
              <a:spcBef>
                <a:spcPct val="0"/>
              </a:spcBef>
              <a:buFont typeface="Arial" panose="020B0604020202020204" pitchFamily="34" charset="0"/>
              <a:buChar char="•"/>
            </a:pPr>
            <a:r>
              <a:rPr lang="en-US" sz="1000" dirty="0"/>
              <a:t>Legal compliance Team</a:t>
            </a:r>
          </a:p>
          <a:p>
            <a:pPr marL="285750" indent="-285750" algn="l">
              <a:spcBef>
                <a:spcPct val="0"/>
              </a:spcBef>
              <a:buFont typeface="Arial" panose="020B0604020202020204" pitchFamily="34" charset="0"/>
              <a:buChar char="•"/>
            </a:pPr>
            <a:r>
              <a:rPr lang="en-US" sz="1000" dirty="0"/>
              <a:t>Data and AI Team</a:t>
            </a:r>
          </a:p>
          <a:p>
            <a:pPr marL="285750" indent="-285750">
              <a:spcBef>
                <a:spcPct val="0"/>
              </a:spcBef>
              <a:buFont typeface="Arial" panose="020B0604020202020204" pitchFamily="34" charset="0"/>
              <a:buChar char="•"/>
            </a:pPr>
            <a:r>
              <a:rPr lang="en-US" sz="1000" dirty="0"/>
              <a:t>Portfolio and Underwriting Management</a:t>
            </a:r>
          </a:p>
          <a:p>
            <a:pPr marL="285750" indent="-285750" algn="l">
              <a:spcBef>
                <a:spcPct val="0"/>
              </a:spcBef>
              <a:buFont typeface="Arial" panose="020B0604020202020204" pitchFamily="34" charset="0"/>
              <a:buChar char="•"/>
            </a:pPr>
            <a:endParaRPr lang="en-US" sz="1400" dirty="0"/>
          </a:p>
          <a:p>
            <a:pPr marL="285750" indent="-285750" algn="l">
              <a:spcBef>
                <a:spcPct val="0"/>
              </a:spcBef>
              <a:buFont typeface="Arial" panose="020B0604020202020204" pitchFamily="34" charset="0"/>
              <a:buChar char="•"/>
            </a:pPr>
            <a:endParaRPr lang="en-US" sz="1400" dirty="0"/>
          </a:p>
          <a:p>
            <a:pPr algn="l">
              <a:spcBef>
                <a:spcPct val="0"/>
              </a:spcBef>
            </a:pPr>
            <a:endParaRPr lang="en-IE" sz="1400" dirty="0" err="1"/>
          </a:p>
        </p:txBody>
      </p:sp>
      <p:sp>
        <p:nvSpPr>
          <p:cNvPr id="10" name="TextBox 9">
            <a:extLst>
              <a:ext uri="{FF2B5EF4-FFF2-40B4-BE49-F238E27FC236}">
                <a16:creationId xmlns:a16="http://schemas.microsoft.com/office/drawing/2014/main" id="{DE83BD04-1126-A780-6D54-5EA3C1054D9C}"/>
              </a:ext>
            </a:extLst>
          </p:cNvPr>
          <p:cNvSpPr txBox="1"/>
          <p:nvPr/>
        </p:nvSpPr>
        <p:spPr>
          <a:xfrm>
            <a:off x="9468903" y="2536399"/>
            <a:ext cx="2681952" cy="4095609"/>
          </a:xfrm>
          <a:prstGeom prst="rect">
            <a:avLst/>
          </a:prstGeom>
          <a:noFill/>
        </p:spPr>
        <p:txBody>
          <a:bodyPr vert="horz" wrap="square" lIns="90000" tIns="46800" rIns="90000" bIns="46800" rtlCol="0" anchor="ctr">
            <a:spAutoFit/>
          </a:bodyPr>
          <a:lstStyle/>
          <a:p>
            <a:pPr marL="285750" indent="-285750" algn="l">
              <a:spcBef>
                <a:spcPct val="0"/>
              </a:spcBef>
              <a:buFont typeface="Arial" panose="020B0604020202020204" pitchFamily="34" charset="0"/>
              <a:buChar char="•"/>
            </a:pPr>
            <a:r>
              <a:rPr lang="en-US" sz="1000" dirty="0"/>
              <a:t>Time efficiency- Automating manual DPRA tasks significantly decreases processing time and effort. Improves counterparty engagement and participation offer times</a:t>
            </a:r>
          </a:p>
          <a:p>
            <a:pPr marL="285750" indent="-285750" algn="l">
              <a:spcBef>
                <a:spcPct val="0"/>
              </a:spcBef>
              <a:buFont typeface="Arial" panose="020B0604020202020204" pitchFamily="34" charset="0"/>
              <a:buChar char="•"/>
            </a:pPr>
            <a:endParaRPr lang="en-US" sz="1000" dirty="0"/>
          </a:p>
          <a:p>
            <a:pPr marL="285750" indent="-285750" algn="l">
              <a:spcBef>
                <a:spcPct val="0"/>
              </a:spcBef>
              <a:buFont typeface="Arial" panose="020B0604020202020204" pitchFamily="34" charset="0"/>
              <a:buChar char="•"/>
            </a:pPr>
            <a:r>
              <a:rPr lang="en-US" sz="1000" dirty="0"/>
              <a:t>Risk and Compliance – Limits and Risk participation rules remain consistent and slashes risk by replacing spready sheet calculations. Enhances audit readiness and traceability with centralized. The incorporation of real-time risk allocation decreases credit risk.</a:t>
            </a:r>
          </a:p>
          <a:p>
            <a:pPr marL="285750" indent="-285750" algn="l">
              <a:spcBef>
                <a:spcPct val="0"/>
              </a:spcBef>
              <a:buFont typeface="Arial" panose="020B0604020202020204" pitchFamily="34" charset="0"/>
              <a:buChar char="•"/>
            </a:pPr>
            <a:endParaRPr lang="en-US" sz="1000" dirty="0"/>
          </a:p>
          <a:p>
            <a:pPr marL="285750" indent="-285750" algn="l">
              <a:spcBef>
                <a:spcPct val="0"/>
              </a:spcBef>
              <a:buFont typeface="Arial" panose="020B0604020202020204" pitchFamily="34" charset="0"/>
              <a:buChar char="•"/>
            </a:pPr>
            <a:r>
              <a:rPr lang="en-US" sz="1000" dirty="0"/>
              <a:t>Customer Experience- More coherent risk sharing decisions and improves partnership through accuracy and consistency.</a:t>
            </a:r>
          </a:p>
          <a:p>
            <a:pPr marL="285750" indent="-285750" algn="l">
              <a:spcBef>
                <a:spcPct val="0"/>
              </a:spcBef>
              <a:buFont typeface="Arial" panose="020B0604020202020204" pitchFamily="34" charset="0"/>
              <a:buChar char="•"/>
            </a:pPr>
            <a:endParaRPr lang="en-US" sz="1000" dirty="0"/>
          </a:p>
          <a:p>
            <a:pPr marL="285750" indent="-285750" algn="l">
              <a:spcBef>
                <a:spcPct val="0"/>
              </a:spcBef>
              <a:buFont typeface="Arial" panose="020B0604020202020204" pitchFamily="34" charset="0"/>
              <a:buChar char="•"/>
            </a:pPr>
            <a:r>
              <a:rPr lang="en-US" sz="1000" dirty="0"/>
              <a:t>Strategic Advantage- A unified data driven optimization of risk strategies and credit that extends across many regions and products.</a:t>
            </a:r>
          </a:p>
          <a:p>
            <a:pPr marL="285750" indent="-285750" algn="l">
              <a:spcBef>
                <a:spcPct val="0"/>
              </a:spcBef>
              <a:buFont typeface="Arial" panose="020B0604020202020204" pitchFamily="34" charset="0"/>
              <a:buChar char="•"/>
            </a:pPr>
            <a:endParaRPr lang="en-US" sz="1000" dirty="0"/>
          </a:p>
          <a:p>
            <a:pPr marL="285750" indent="-285750" algn="l">
              <a:spcBef>
                <a:spcPct val="0"/>
              </a:spcBef>
              <a:buFont typeface="Arial" panose="020B0604020202020204" pitchFamily="34" charset="0"/>
              <a:buChar char="•"/>
            </a:pPr>
            <a:endParaRPr lang="en-IE" sz="1000" dirty="0" err="1"/>
          </a:p>
        </p:txBody>
      </p:sp>
      <p:sp>
        <p:nvSpPr>
          <p:cNvPr id="13" name="TextBox 12">
            <a:extLst>
              <a:ext uri="{FF2B5EF4-FFF2-40B4-BE49-F238E27FC236}">
                <a16:creationId xmlns:a16="http://schemas.microsoft.com/office/drawing/2014/main" id="{8D11F589-E286-60AB-191B-827069055E27}"/>
              </a:ext>
            </a:extLst>
          </p:cNvPr>
          <p:cNvSpPr txBox="1"/>
          <p:nvPr/>
        </p:nvSpPr>
        <p:spPr>
          <a:xfrm>
            <a:off x="2484120" y="422413"/>
            <a:ext cx="740202" cy="402291"/>
          </a:xfrm>
          <a:prstGeom prst="rect">
            <a:avLst/>
          </a:prstGeom>
          <a:noFill/>
        </p:spPr>
        <p:txBody>
          <a:bodyPr vert="horz" wrap="square" lIns="90000" tIns="46800" rIns="90000" bIns="46800" rtlCol="0" anchor="ctr">
            <a:spAutoFit/>
          </a:bodyPr>
          <a:lstStyle/>
          <a:p>
            <a:pPr algn="l">
              <a:spcBef>
                <a:spcPct val="0"/>
              </a:spcBef>
            </a:pPr>
            <a:r>
              <a:rPr lang="en-US" sz="1000" dirty="0">
                <a:solidFill>
                  <a:schemeClr val="bg1"/>
                </a:solidFill>
              </a:rPr>
              <a:t>Financial Services</a:t>
            </a:r>
            <a:endParaRPr lang="en-IE" sz="1000" dirty="0" err="1">
              <a:solidFill>
                <a:schemeClr val="bg1"/>
              </a:solidFill>
            </a:endParaRPr>
          </a:p>
        </p:txBody>
      </p:sp>
    </p:spTree>
    <p:extLst>
      <p:ext uri="{BB962C8B-B14F-4D97-AF65-F5344CB8AC3E}">
        <p14:creationId xmlns:p14="http://schemas.microsoft.com/office/powerpoint/2010/main" val="4141162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2348A0"/>
          </a:solidFill>
          <a:ln w="12700">
            <a:solidFill>
              <a:srgbClr val="2348A0"/>
            </a:solidFill>
            <a:prstDash val="solid"/>
          </a:ln>
        </p:spPr>
        <p:txBody>
          <a:bodyPr/>
          <a:lstStyle/>
          <a:p>
            <a:endParaRPr lang="en-IE"/>
          </a:p>
        </p:txBody>
      </p:sp>
      <p:sp>
        <p:nvSpPr>
          <p:cNvPr id="3" name="Text 1"/>
          <p:cNvSpPr/>
          <p:nvPr/>
        </p:nvSpPr>
        <p:spPr>
          <a:xfrm>
            <a:off x="121920" y="60960"/>
            <a:ext cx="2438400" cy="341376"/>
          </a:xfrm>
          <a:prstGeom prst="rect">
            <a:avLst/>
          </a:prstGeom>
          <a:noFill/>
          <a:ln/>
        </p:spPr>
        <p:txBody>
          <a:bodyPr wrap="square" lIns="0" tIns="0" rIns="0" bIns="0" rtlCol="0" anchor="ctr"/>
          <a:lstStyle/>
          <a:p>
            <a:r>
              <a:rPr lang="en-US" sz="1200" b="1" dirty="0">
                <a:solidFill>
                  <a:srgbClr val="FFFFFF"/>
                </a:solidFill>
              </a:rPr>
              <a:t>CASE OVERVIEW</a:t>
            </a:r>
            <a:endParaRPr lang="en-US" sz="1200" dirty="0"/>
          </a:p>
        </p:txBody>
      </p:sp>
      <p:sp>
        <p:nvSpPr>
          <p:cNvPr id="4" name="Text 2"/>
          <p:cNvSpPr/>
          <p:nvPr/>
        </p:nvSpPr>
        <p:spPr>
          <a:xfrm>
            <a:off x="2560320" y="60960"/>
            <a:ext cx="3048000" cy="341376"/>
          </a:xfrm>
          <a:prstGeom prst="rect">
            <a:avLst/>
          </a:prstGeom>
          <a:noFill/>
          <a:ln/>
        </p:spPr>
        <p:txBody>
          <a:bodyPr wrap="square" lIns="0" tIns="0" rIns="0" bIns="0" rtlCol="0" anchor="ctr"/>
          <a:lstStyle/>
          <a:p>
            <a:r>
              <a:rPr lang="en-US" sz="1200" dirty="0">
                <a:solidFill>
                  <a:srgbClr val="FFFFFF"/>
                </a:solidFill>
              </a:rPr>
              <a:t>Industry: Financial Services</a:t>
            </a:r>
            <a:endParaRPr lang="en-US" sz="1200" dirty="0"/>
          </a:p>
        </p:txBody>
      </p:sp>
      <p:sp>
        <p:nvSpPr>
          <p:cNvPr id="5" name="Shape 3"/>
          <p:cNvSpPr/>
          <p:nvPr/>
        </p:nvSpPr>
        <p:spPr>
          <a:xfrm>
            <a:off x="3901440" y="0"/>
            <a:ext cx="8290560" cy="670560"/>
          </a:xfrm>
          <a:prstGeom prst="rect">
            <a:avLst/>
          </a:prstGeom>
          <a:solidFill>
            <a:srgbClr val="1A2A6C"/>
          </a:solidFill>
          <a:ln w="12700">
            <a:solidFill>
              <a:srgbClr val="1A2A6C"/>
            </a:solidFill>
            <a:prstDash val="solid"/>
          </a:ln>
        </p:spPr>
        <p:txBody>
          <a:bodyPr/>
          <a:lstStyle/>
          <a:p>
            <a:endParaRPr lang="en-IE"/>
          </a:p>
        </p:txBody>
      </p:sp>
      <p:sp>
        <p:nvSpPr>
          <p:cNvPr id="6" name="Text 4"/>
          <p:cNvSpPr/>
          <p:nvPr/>
        </p:nvSpPr>
        <p:spPr>
          <a:xfrm>
            <a:off x="3962400" y="60960"/>
            <a:ext cx="8168640" cy="536448"/>
          </a:xfrm>
          <a:prstGeom prst="rect">
            <a:avLst/>
          </a:prstGeom>
          <a:noFill/>
          <a:ln/>
        </p:spPr>
        <p:txBody>
          <a:bodyPr wrap="square" lIns="0" tIns="0" rIns="0" bIns="0" rtlCol="0" anchor="ctr"/>
          <a:lstStyle/>
          <a:p>
            <a:r>
              <a:rPr lang="en-US" sz="2400" b="1" dirty="0">
                <a:solidFill>
                  <a:srgbClr val="FFFFFF"/>
                </a:solidFill>
              </a:rPr>
              <a:t>Use Case Scope in the Business Process</a:t>
            </a:r>
            <a:endParaRPr lang="en-US" sz="2400" dirty="0"/>
          </a:p>
        </p:txBody>
      </p:sp>
      <p:sp>
        <p:nvSpPr>
          <p:cNvPr id="7" name="Shape 5"/>
          <p:cNvSpPr/>
          <p:nvPr/>
        </p:nvSpPr>
        <p:spPr>
          <a:xfrm>
            <a:off x="121920" y="731520"/>
            <a:ext cx="9144000" cy="341376"/>
          </a:xfrm>
          <a:prstGeom prst="rect">
            <a:avLst/>
          </a:prstGeom>
          <a:solidFill>
            <a:srgbClr val="F5A623"/>
          </a:solidFill>
          <a:ln w="12700">
            <a:solidFill>
              <a:srgbClr val="F5A623"/>
            </a:solidFill>
            <a:prstDash val="solid"/>
          </a:ln>
        </p:spPr>
        <p:txBody>
          <a:bodyPr/>
          <a:lstStyle/>
          <a:p>
            <a:endParaRPr lang="en-IE"/>
          </a:p>
        </p:txBody>
      </p:sp>
      <p:sp>
        <p:nvSpPr>
          <p:cNvPr id="8" name="Text 6"/>
          <p:cNvSpPr/>
          <p:nvPr/>
        </p:nvSpPr>
        <p:spPr>
          <a:xfrm>
            <a:off x="182880" y="755904"/>
            <a:ext cx="9022080" cy="292608"/>
          </a:xfrm>
          <a:prstGeom prst="rect">
            <a:avLst/>
          </a:prstGeom>
          <a:noFill/>
          <a:ln/>
        </p:spPr>
        <p:txBody>
          <a:bodyPr wrap="square" lIns="0" tIns="0" rIns="0" bIns="0" rtlCol="0" anchor="ctr"/>
          <a:lstStyle/>
          <a:p>
            <a:r>
              <a:rPr lang="en-US" sz="1200" b="1" i="1" dirty="0">
                <a:solidFill>
                  <a:srgbClr val="1A2A6C"/>
                </a:solidFill>
              </a:rPr>
              <a:t>Detail the DRPA business process and highlight the AI Use Case in the process</a:t>
            </a:r>
            <a:endParaRPr lang="en-US" sz="1200" dirty="0"/>
          </a:p>
        </p:txBody>
      </p:sp>
      <p:sp>
        <p:nvSpPr>
          <p:cNvPr id="9" name="Shape 7"/>
          <p:cNvSpPr/>
          <p:nvPr/>
        </p:nvSpPr>
        <p:spPr>
          <a:xfrm>
            <a:off x="9326880" y="731520"/>
            <a:ext cx="2804160" cy="341376"/>
          </a:xfrm>
          <a:prstGeom prst="rect">
            <a:avLst/>
          </a:prstGeom>
          <a:solidFill>
            <a:srgbClr val="D4E8FF"/>
          </a:solidFill>
          <a:ln w="12700">
            <a:solidFill>
              <a:srgbClr val="3A5FC5"/>
            </a:solidFill>
            <a:prstDash val="solid"/>
          </a:ln>
        </p:spPr>
        <p:txBody>
          <a:bodyPr/>
          <a:lstStyle/>
          <a:p>
            <a:endParaRPr lang="en-IE"/>
          </a:p>
        </p:txBody>
      </p:sp>
      <p:sp>
        <p:nvSpPr>
          <p:cNvPr id="10" name="Text 8"/>
          <p:cNvSpPr/>
          <p:nvPr/>
        </p:nvSpPr>
        <p:spPr>
          <a:xfrm>
            <a:off x="9351264" y="755904"/>
            <a:ext cx="2755392" cy="292608"/>
          </a:xfrm>
          <a:prstGeom prst="rect">
            <a:avLst/>
          </a:prstGeom>
          <a:noFill/>
          <a:ln/>
        </p:spPr>
        <p:txBody>
          <a:bodyPr wrap="square" lIns="0" tIns="0" rIns="0" bIns="0" rtlCol="0" anchor="ctr"/>
          <a:lstStyle/>
          <a:p>
            <a:r>
              <a:rPr lang="en-US" sz="1133" b="1" dirty="0">
                <a:solidFill>
                  <a:srgbClr val="2348A0"/>
                </a:solidFill>
              </a:rPr>
              <a:t>Use Case scope</a:t>
            </a:r>
            <a:endParaRPr lang="en-US" sz="1133" dirty="0"/>
          </a:p>
        </p:txBody>
      </p:sp>
      <p:sp>
        <p:nvSpPr>
          <p:cNvPr id="11" name="Shape 9"/>
          <p:cNvSpPr/>
          <p:nvPr/>
        </p:nvSpPr>
        <p:spPr>
          <a:xfrm>
            <a:off x="60960" y="1219200"/>
            <a:ext cx="390144" cy="1950720"/>
          </a:xfrm>
          <a:prstGeom prst="rect">
            <a:avLst/>
          </a:prstGeom>
          <a:solidFill>
            <a:srgbClr val="1A2A6C"/>
          </a:solidFill>
          <a:ln w="12700">
            <a:solidFill>
              <a:srgbClr val="1A2A6C"/>
            </a:solidFill>
            <a:prstDash val="solid"/>
          </a:ln>
        </p:spPr>
        <p:txBody>
          <a:bodyPr/>
          <a:lstStyle/>
          <a:p>
            <a:endParaRPr lang="en-IE"/>
          </a:p>
        </p:txBody>
      </p:sp>
      <p:sp>
        <p:nvSpPr>
          <p:cNvPr id="12" name="Text 10"/>
          <p:cNvSpPr/>
          <p:nvPr/>
        </p:nvSpPr>
        <p:spPr>
          <a:xfrm rot="16200000">
            <a:off x="73152" y="1280160"/>
            <a:ext cx="365760" cy="1828800"/>
          </a:xfrm>
          <a:prstGeom prst="rect">
            <a:avLst/>
          </a:prstGeom>
          <a:noFill/>
          <a:ln/>
        </p:spPr>
        <p:txBody>
          <a:bodyPr wrap="square" lIns="0" tIns="0" rIns="0" bIns="0" rtlCol="0" anchor="ctr"/>
          <a:lstStyle/>
          <a:p>
            <a:pPr algn="ctr"/>
            <a:r>
              <a:rPr lang="en-US" sz="933" b="1" dirty="0">
                <a:solidFill>
                  <a:srgbClr val="FFFFFF"/>
                </a:solidFill>
              </a:rPr>
              <a:t>PROCESSES</a:t>
            </a:r>
            <a:endParaRPr lang="en-US" sz="933" dirty="0"/>
          </a:p>
        </p:txBody>
      </p:sp>
      <p:sp>
        <p:nvSpPr>
          <p:cNvPr id="13" name="Shape 11"/>
          <p:cNvSpPr/>
          <p:nvPr/>
        </p:nvSpPr>
        <p:spPr>
          <a:xfrm>
            <a:off x="60960" y="3291840"/>
            <a:ext cx="390144" cy="1584960"/>
          </a:xfrm>
          <a:prstGeom prst="rect">
            <a:avLst/>
          </a:prstGeom>
          <a:solidFill>
            <a:srgbClr val="1A2A6C"/>
          </a:solidFill>
          <a:ln w="12700">
            <a:solidFill>
              <a:srgbClr val="1A2A6C"/>
            </a:solidFill>
            <a:prstDash val="solid"/>
          </a:ln>
        </p:spPr>
        <p:txBody>
          <a:bodyPr/>
          <a:lstStyle/>
          <a:p>
            <a:endParaRPr lang="en-IE"/>
          </a:p>
        </p:txBody>
      </p:sp>
      <p:sp>
        <p:nvSpPr>
          <p:cNvPr id="14" name="Text 12"/>
          <p:cNvSpPr/>
          <p:nvPr/>
        </p:nvSpPr>
        <p:spPr>
          <a:xfrm rot="16200000">
            <a:off x="73152" y="3352800"/>
            <a:ext cx="365760" cy="1341120"/>
          </a:xfrm>
          <a:prstGeom prst="rect">
            <a:avLst/>
          </a:prstGeom>
          <a:noFill/>
          <a:ln/>
        </p:spPr>
        <p:txBody>
          <a:bodyPr wrap="square" lIns="0" tIns="0" rIns="0" bIns="0" rtlCol="0" anchor="ctr"/>
          <a:lstStyle/>
          <a:p>
            <a:pPr algn="ctr"/>
            <a:r>
              <a:rPr lang="en-US" sz="933" b="1" dirty="0">
                <a:solidFill>
                  <a:srgbClr val="FFFFFF"/>
                </a:solidFill>
              </a:rPr>
              <a:t>DATA &amp; AI</a:t>
            </a:r>
            <a:endParaRPr lang="en-US" sz="933" dirty="0"/>
          </a:p>
        </p:txBody>
      </p:sp>
      <p:sp>
        <p:nvSpPr>
          <p:cNvPr id="15" name="Shape 13"/>
          <p:cNvSpPr/>
          <p:nvPr/>
        </p:nvSpPr>
        <p:spPr>
          <a:xfrm>
            <a:off x="60960" y="4998720"/>
            <a:ext cx="390144" cy="1097280"/>
          </a:xfrm>
          <a:prstGeom prst="rect">
            <a:avLst/>
          </a:prstGeom>
          <a:solidFill>
            <a:srgbClr val="1A2A6C"/>
          </a:solidFill>
          <a:ln w="12700">
            <a:solidFill>
              <a:srgbClr val="1A2A6C"/>
            </a:solidFill>
            <a:prstDash val="solid"/>
          </a:ln>
        </p:spPr>
        <p:txBody>
          <a:bodyPr/>
          <a:lstStyle/>
          <a:p>
            <a:endParaRPr lang="en-IE"/>
          </a:p>
        </p:txBody>
      </p:sp>
      <p:sp>
        <p:nvSpPr>
          <p:cNvPr id="16" name="Text 14"/>
          <p:cNvSpPr/>
          <p:nvPr/>
        </p:nvSpPr>
        <p:spPr>
          <a:xfrm rot="16200000">
            <a:off x="73152" y="5059680"/>
            <a:ext cx="365760" cy="1341120"/>
          </a:xfrm>
          <a:prstGeom prst="rect">
            <a:avLst/>
          </a:prstGeom>
          <a:noFill/>
          <a:ln/>
        </p:spPr>
        <p:txBody>
          <a:bodyPr wrap="square" lIns="0" tIns="0" rIns="0" bIns="0" rtlCol="0" anchor="ctr"/>
          <a:lstStyle/>
          <a:p>
            <a:pPr algn="ctr"/>
            <a:r>
              <a:rPr lang="en-US" sz="933" b="1" dirty="0">
                <a:solidFill>
                  <a:srgbClr val="FFFFFF"/>
                </a:solidFill>
              </a:rPr>
              <a:t>DIGITAL</a:t>
            </a:r>
            <a:endParaRPr lang="en-US" sz="933" dirty="0"/>
          </a:p>
        </p:txBody>
      </p:sp>
      <p:sp>
        <p:nvSpPr>
          <p:cNvPr id="17" name="Shape 15"/>
          <p:cNvSpPr/>
          <p:nvPr/>
        </p:nvSpPr>
        <p:spPr>
          <a:xfrm>
            <a:off x="512064" y="1158240"/>
            <a:ext cx="11582400" cy="365760"/>
          </a:xfrm>
          <a:prstGeom prst="rect">
            <a:avLst/>
          </a:prstGeom>
          <a:solidFill>
            <a:srgbClr val="D0DCF5"/>
          </a:solidFill>
          <a:ln w="12700">
            <a:solidFill>
              <a:srgbClr val="B0C0E8"/>
            </a:solidFill>
            <a:prstDash val="solid"/>
          </a:ln>
        </p:spPr>
        <p:txBody>
          <a:bodyPr/>
          <a:lstStyle/>
          <a:p>
            <a:endParaRPr lang="en-IE"/>
          </a:p>
        </p:txBody>
      </p:sp>
      <p:sp>
        <p:nvSpPr>
          <p:cNvPr id="18" name="Text 16"/>
          <p:cNvSpPr/>
          <p:nvPr/>
        </p:nvSpPr>
        <p:spPr>
          <a:xfrm>
            <a:off x="609600" y="1182624"/>
            <a:ext cx="6096000" cy="304800"/>
          </a:xfrm>
          <a:prstGeom prst="rect">
            <a:avLst/>
          </a:prstGeom>
          <a:noFill/>
          <a:ln/>
        </p:spPr>
        <p:txBody>
          <a:bodyPr wrap="square" lIns="0" tIns="0" rIns="0" bIns="0" rtlCol="0" anchor="ctr"/>
          <a:lstStyle/>
          <a:p>
            <a:r>
              <a:rPr lang="en-US" sz="1133" b="1" dirty="0">
                <a:solidFill>
                  <a:srgbClr val="1A2A6C"/>
                </a:solidFill>
              </a:rPr>
              <a:t>DRPA Process Flow</a:t>
            </a:r>
            <a:endParaRPr lang="en-US" sz="1133" dirty="0"/>
          </a:p>
        </p:txBody>
      </p:sp>
      <p:sp>
        <p:nvSpPr>
          <p:cNvPr id="19" name="Shape 17"/>
          <p:cNvSpPr/>
          <p:nvPr/>
        </p:nvSpPr>
        <p:spPr>
          <a:xfrm>
            <a:off x="512064" y="1560576"/>
            <a:ext cx="2072640" cy="390144"/>
          </a:xfrm>
          <a:prstGeom prst="rect">
            <a:avLst/>
          </a:prstGeom>
          <a:solidFill>
            <a:srgbClr val="3A5FC5"/>
          </a:solidFill>
          <a:ln w="12700">
            <a:solidFill>
              <a:srgbClr val="3A5FC5"/>
            </a:solidFill>
            <a:prstDash val="solid"/>
          </a:ln>
        </p:spPr>
        <p:txBody>
          <a:bodyPr/>
          <a:lstStyle/>
          <a:p>
            <a:endParaRPr lang="en-IE"/>
          </a:p>
        </p:txBody>
      </p:sp>
      <p:sp>
        <p:nvSpPr>
          <p:cNvPr id="20" name="Text 18"/>
          <p:cNvSpPr/>
          <p:nvPr/>
        </p:nvSpPr>
        <p:spPr>
          <a:xfrm>
            <a:off x="560832" y="1584960"/>
            <a:ext cx="1975104" cy="341376"/>
          </a:xfrm>
          <a:prstGeom prst="rect">
            <a:avLst/>
          </a:prstGeom>
          <a:noFill/>
          <a:ln/>
        </p:spPr>
        <p:txBody>
          <a:bodyPr wrap="square" lIns="0" tIns="0" rIns="0" bIns="0" rtlCol="0" anchor="ctr"/>
          <a:lstStyle/>
          <a:p>
            <a:pPr algn="ctr"/>
            <a:r>
              <a:rPr lang="en-US" sz="933" b="1" dirty="0">
                <a:solidFill>
                  <a:srgbClr val="FFFFFF"/>
                </a:solidFill>
              </a:rPr>
              <a:t>Market Data Ingestion</a:t>
            </a:r>
            <a:endParaRPr lang="en-US" sz="933" dirty="0"/>
          </a:p>
        </p:txBody>
      </p:sp>
      <p:sp>
        <p:nvSpPr>
          <p:cNvPr id="21" name="Shape 19"/>
          <p:cNvSpPr/>
          <p:nvPr/>
        </p:nvSpPr>
        <p:spPr>
          <a:xfrm>
            <a:off x="2584704" y="1755648"/>
            <a:ext cx="219456" cy="0"/>
          </a:xfrm>
          <a:prstGeom prst="line">
            <a:avLst/>
          </a:prstGeom>
          <a:noFill/>
          <a:ln w="19050">
            <a:solidFill>
              <a:srgbClr val="1A2A6C"/>
            </a:solidFill>
            <a:prstDash val="solid"/>
          </a:ln>
        </p:spPr>
        <p:txBody>
          <a:bodyPr/>
          <a:lstStyle/>
          <a:p>
            <a:endParaRPr lang="en-IE"/>
          </a:p>
        </p:txBody>
      </p:sp>
      <p:sp>
        <p:nvSpPr>
          <p:cNvPr id="22" name="Shape 20"/>
          <p:cNvSpPr/>
          <p:nvPr/>
        </p:nvSpPr>
        <p:spPr>
          <a:xfrm>
            <a:off x="2804160" y="1560576"/>
            <a:ext cx="2072640" cy="390144"/>
          </a:xfrm>
          <a:prstGeom prst="rect">
            <a:avLst/>
          </a:prstGeom>
          <a:solidFill>
            <a:srgbClr val="2348A0"/>
          </a:solidFill>
          <a:ln w="12700">
            <a:solidFill>
              <a:srgbClr val="2348A0"/>
            </a:solidFill>
            <a:prstDash val="solid"/>
          </a:ln>
        </p:spPr>
        <p:txBody>
          <a:bodyPr/>
          <a:lstStyle/>
          <a:p>
            <a:endParaRPr lang="en-IE"/>
          </a:p>
        </p:txBody>
      </p:sp>
      <p:sp>
        <p:nvSpPr>
          <p:cNvPr id="23" name="Text 21"/>
          <p:cNvSpPr/>
          <p:nvPr/>
        </p:nvSpPr>
        <p:spPr>
          <a:xfrm>
            <a:off x="2852928" y="1584960"/>
            <a:ext cx="1975104" cy="341376"/>
          </a:xfrm>
          <a:prstGeom prst="rect">
            <a:avLst/>
          </a:prstGeom>
          <a:noFill/>
          <a:ln/>
        </p:spPr>
        <p:txBody>
          <a:bodyPr wrap="square" lIns="0" tIns="0" rIns="0" bIns="0" rtlCol="0" anchor="ctr"/>
          <a:lstStyle/>
          <a:p>
            <a:pPr algn="ctr"/>
            <a:r>
              <a:rPr lang="en-US" sz="933" b="1" dirty="0">
                <a:solidFill>
                  <a:srgbClr val="FFFFFF"/>
                </a:solidFill>
              </a:rPr>
              <a:t>Risk Calculation Engine</a:t>
            </a:r>
            <a:endParaRPr lang="en-US" sz="933" dirty="0"/>
          </a:p>
        </p:txBody>
      </p:sp>
      <p:sp>
        <p:nvSpPr>
          <p:cNvPr id="24" name="Shape 22"/>
          <p:cNvSpPr/>
          <p:nvPr/>
        </p:nvSpPr>
        <p:spPr>
          <a:xfrm>
            <a:off x="4876800" y="1755648"/>
            <a:ext cx="219456" cy="0"/>
          </a:xfrm>
          <a:prstGeom prst="line">
            <a:avLst/>
          </a:prstGeom>
          <a:noFill/>
          <a:ln w="19050">
            <a:solidFill>
              <a:srgbClr val="1A2A6C"/>
            </a:solidFill>
            <a:prstDash val="solid"/>
          </a:ln>
        </p:spPr>
        <p:txBody>
          <a:bodyPr/>
          <a:lstStyle/>
          <a:p>
            <a:endParaRPr lang="en-IE"/>
          </a:p>
        </p:txBody>
      </p:sp>
      <p:sp>
        <p:nvSpPr>
          <p:cNvPr id="25" name="Shape 23"/>
          <p:cNvSpPr/>
          <p:nvPr/>
        </p:nvSpPr>
        <p:spPr>
          <a:xfrm>
            <a:off x="5096256" y="1560576"/>
            <a:ext cx="2072640" cy="390144"/>
          </a:xfrm>
          <a:prstGeom prst="rect">
            <a:avLst/>
          </a:prstGeom>
          <a:solidFill>
            <a:srgbClr val="1A2A6C"/>
          </a:solidFill>
          <a:ln w="12700">
            <a:solidFill>
              <a:srgbClr val="1A2A6C"/>
            </a:solidFill>
            <a:prstDash val="solid"/>
          </a:ln>
        </p:spPr>
        <p:txBody>
          <a:bodyPr/>
          <a:lstStyle/>
          <a:p>
            <a:endParaRPr lang="en-IE"/>
          </a:p>
        </p:txBody>
      </p:sp>
      <p:sp>
        <p:nvSpPr>
          <p:cNvPr id="26" name="Text 24"/>
          <p:cNvSpPr/>
          <p:nvPr/>
        </p:nvSpPr>
        <p:spPr>
          <a:xfrm>
            <a:off x="5145024" y="1584960"/>
            <a:ext cx="1975104" cy="341376"/>
          </a:xfrm>
          <a:prstGeom prst="rect">
            <a:avLst/>
          </a:prstGeom>
          <a:noFill/>
          <a:ln/>
        </p:spPr>
        <p:txBody>
          <a:bodyPr wrap="square" lIns="0" tIns="0" rIns="0" bIns="0" rtlCol="0" anchor="ctr"/>
          <a:lstStyle/>
          <a:p>
            <a:pPr algn="ctr"/>
            <a:r>
              <a:rPr lang="en-US" sz="933" b="1" dirty="0">
                <a:solidFill>
                  <a:srgbClr val="FFFFFF"/>
                </a:solidFill>
              </a:rPr>
              <a:t>AI-Driven Agreement Adjustments</a:t>
            </a:r>
            <a:endParaRPr lang="en-US" sz="933" dirty="0"/>
          </a:p>
        </p:txBody>
      </p:sp>
      <p:sp>
        <p:nvSpPr>
          <p:cNvPr id="27" name="Shape 25"/>
          <p:cNvSpPr/>
          <p:nvPr/>
        </p:nvSpPr>
        <p:spPr>
          <a:xfrm>
            <a:off x="7168896" y="1755648"/>
            <a:ext cx="219456" cy="0"/>
          </a:xfrm>
          <a:prstGeom prst="line">
            <a:avLst/>
          </a:prstGeom>
          <a:noFill/>
          <a:ln w="19050">
            <a:solidFill>
              <a:srgbClr val="1A2A6C"/>
            </a:solidFill>
            <a:prstDash val="solid"/>
          </a:ln>
        </p:spPr>
        <p:txBody>
          <a:bodyPr/>
          <a:lstStyle/>
          <a:p>
            <a:endParaRPr lang="en-IE"/>
          </a:p>
        </p:txBody>
      </p:sp>
      <p:sp>
        <p:nvSpPr>
          <p:cNvPr id="28" name="Shape 26"/>
          <p:cNvSpPr/>
          <p:nvPr/>
        </p:nvSpPr>
        <p:spPr>
          <a:xfrm>
            <a:off x="7388352" y="1560576"/>
            <a:ext cx="2072640" cy="390144"/>
          </a:xfrm>
          <a:prstGeom prst="rect">
            <a:avLst/>
          </a:prstGeom>
          <a:solidFill>
            <a:srgbClr val="2348A0"/>
          </a:solidFill>
          <a:ln w="12700">
            <a:solidFill>
              <a:srgbClr val="2348A0"/>
            </a:solidFill>
            <a:prstDash val="solid"/>
          </a:ln>
        </p:spPr>
        <p:txBody>
          <a:bodyPr/>
          <a:lstStyle/>
          <a:p>
            <a:endParaRPr lang="en-IE"/>
          </a:p>
        </p:txBody>
      </p:sp>
      <p:sp>
        <p:nvSpPr>
          <p:cNvPr id="29" name="Text 27"/>
          <p:cNvSpPr/>
          <p:nvPr/>
        </p:nvSpPr>
        <p:spPr>
          <a:xfrm>
            <a:off x="7437120" y="1584960"/>
            <a:ext cx="1975104" cy="341376"/>
          </a:xfrm>
          <a:prstGeom prst="rect">
            <a:avLst/>
          </a:prstGeom>
          <a:noFill/>
          <a:ln/>
        </p:spPr>
        <p:txBody>
          <a:bodyPr wrap="square" lIns="0" tIns="0" rIns="0" bIns="0" rtlCol="0" anchor="ctr"/>
          <a:lstStyle/>
          <a:p>
            <a:pPr algn="ctr"/>
            <a:r>
              <a:rPr lang="en-US" sz="933" b="1" dirty="0">
                <a:solidFill>
                  <a:srgbClr val="FFFFFF"/>
                </a:solidFill>
              </a:rPr>
              <a:t>Stakeholder Notification &amp; Approval</a:t>
            </a:r>
            <a:endParaRPr lang="en-US" sz="933" dirty="0"/>
          </a:p>
        </p:txBody>
      </p:sp>
      <p:sp>
        <p:nvSpPr>
          <p:cNvPr id="30" name="Shape 28"/>
          <p:cNvSpPr/>
          <p:nvPr/>
        </p:nvSpPr>
        <p:spPr>
          <a:xfrm>
            <a:off x="9460992" y="1755648"/>
            <a:ext cx="219456" cy="0"/>
          </a:xfrm>
          <a:prstGeom prst="line">
            <a:avLst/>
          </a:prstGeom>
          <a:noFill/>
          <a:ln w="19050">
            <a:solidFill>
              <a:srgbClr val="1A2A6C"/>
            </a:solidFill>
            <a:prstDash val="solid"/>
          </a:ln>
        </p:spPr>
        <p:txBody>
          <a:bodyPr/>
          <a:lstStyle/>
          <a:p>
            <a:endParaRPr lang="en-IE"/>
          </a:p>
        </p:txBody>
      </p:sp>
      <p:sp>
        <p:nvSpPr>
          <p:cNvPr id="31" name="Shape 29"/>
          <p:cNvSpPr/>
          <p:nvPr/>
        </p:nvSpPr>
        <p:spPr>
          <a:xfrm>
            <a:off x="9680448" y="1560576"/>
            <a:ext cx="2072640" cy="390144"/>
          </a:xfrm>
          <a:prstGeom prst="rect">
            <a:avLst/>
          </a:prstGeom>
          <a:solidFill>
            <a:srgbClr val="3A5FC5"/>
          </a:solidFill>
          <a:ln w="12700">
            <a:solidFill>
              <a:srgbClr val="3A5FC5"/>
            </a:solidFill>
            <a:prstDash val="solid"/>
          </a:ln>
        </p:spPr>
        <p:txBody>
          <a:bodyPr/>
          <a:lstStyle/>
          <a:p>
            <a:endParaRPr lang="en-IE"/>
          </a:p>
        </p:txBody>
      </p:sp>
      <p:sp>
        <p:nvSpPr>
          <p:cNvPr id="32" name="Text 30"/>
          <p:cNvSpPr/>
          <p:nvPr/>
        </p:nvSpPr>
        <p:spPr>
          <a:xfrm>
            <a:off x="9729216" y="1584960"/>
            <a:ext cx="1975104" cy="341376"/>
          </a:xfrm>
          <a:prstGeom prst="rect">
            <a:avLst/>
          </a:prstGeom>
          <a:noFill/>
          <a:ln/>
        </p:spPr>
        <p:txBody>
          <a:bodyPr wrap="square" lIns="0" tIns="0" rIns="0" bIns="0" rtlCol="0" anchor="ctr"/>
          <a:lstStyle/>
          <a:p>
            <a:pPr algn="ctr"/>
            <a:r>
              <a:rPr lang="en-US" sz="933" b="1" dirty="0">
                <a:solidFill>
                  <a:srgbClr val="FFFFFF"/>
                </a:solidFill>
              </a:rPr>
              <a:t>Audit &amp; Compliance Logging</a:t>
            </a:r>
            <a:endParaRPr lang="en-US" sz="933" dirty="0"/>
          </a:p>
        </p:txBody>
      </p:sp>
      <p:sp>
        <p:nvSpPr>
          <p:cNvPr id="33" name="Shape 31"/>
          <p:cNvSpPr/>
          <p:nvPr/>
        </p:nvSpPr>
        <p:spPr>
          <a:xfrm>
            <a:off x="609600" y="3352800"/>
            <a:ext cx="2011680" cy="853440"/>
          </a:xfrm>
          <a:prstGeom prst="rect">
            <a:avLst/>
          </a:prstGeom>
          <a:solidFill>
            <a:srgbClr val="5B2C8D"/>
          </a:solidFill>
          <a:ln w="12700">
            <a:solidFill>
              <a:srgbClr val="5B2C8D"/>
            </a:solidFill>
            <a:prstDash val="solid"/>
          </a:ln>
        </p:spPr>
        <p:txBody>
          <a:bodyPr/>
          <a:lstStyle/>
          <a:p>
            <a:endParaRPr lang="en-IE" dirty="0">
              <a:solidFill>
                <a:schemeClr val="tx2">
                  <a:lumMod val="60000"/>
                  <a:lumOff val="40000"/>
                </a:schemeClr>
              </a:solidFill>
            </a:endParaRPr>
          </a:p>
        </p:txBody>
      </p:sp>
      <p:sp>
        <p:nvSpPr>
          <p:cNvPr id="34" name="Text 32"/>
          <p:cNvSpPr/>
          <p:nvPr/>
        </p:nvSpPr>
        <p:spPr>
          <a:xfrm>
            <a:off x="658368" y="3377184"/>
            <a:ext cx="1914144" cy="804672"/>
          </a:xfrm>
          <a:prstGeom prst="rect">
            <a:avLst/>
          </a:prstGeom>
          <a:noFill/>
          <a:ln/>
        </p:spPr>
        <p:txBody>
          <a:bodyPr wrap="square" lIns="0" tIns="0" rIns="0" bIns="0" rtlCol="0" anchor="ctr"/>
          <a:lstStyle/>
          <a:p>
            <a:pPr algn="ctr"/>
            <a:r>
              <a:rPr lang="en-US" sz="933" b="1" dirty="0">
                <a:solidFill>
                  <a:srgbClr val="FFFFFF"/>
                </a:solidFill>
              </a:rPr>
              <a:t>AGENT</a:t>
            </a:r>
            <a:endParaRPr lang="en-US" sz="933" dirty="0"/>
          </a:p>
          <a:p>
            <a:pPr algn="ctr"/>
            <a:r>
              <a:rPr lang="en-US" sz="933" b="1" dirty="0">
                <a:solidFill>
                  <a:srgbClr val="FFFFFF"/>
                </a:solidFill>
              </a:rPr>
              <a:t>Volatility Monitor Agent</a:t>
            </a:r>
            <a:endParaRPr lang="en-US" sz="933" dirty="0"/>
          </a:p>
        </p:txBody>
      </p:sp>
      <p:sp>
        <p:nvSpPr>
          <p:cNvPr id="35" name="Shape 33"/>
          <p:cNvSpPr/>
          <p:nvPr/>
        </p:nvSpPr>
        <p:spPr>
          <a:xfrm>
            <a:off x="609600" y="4267200"/>
            <a:ext cx="463296" cy="268224"/>
          </a:xfrm>
          <a:prstGeom prst="rect">
            <a:avLst/>
          </a:prstGeom>
          <a:solidFill>
            <a:srgbClr val="1A7AC8"/>
          </a:solidFill>
          <a:ln w="12700">
            <a:solidFill>
              <a:srgbClr val="1A7AC8"/>
            </a:solidFill>
            <a:prstDash val="solid"/>
          </a:ln>
        </p:spPr>
        <p:txBody>
          <a:bodyPr/>
          <a:lstStyle/>
          <a:p>
            <a:endParaRPr lang="en-IE"/>
          </a:p>
        </p:txBody>
      </p:sp>
      <p:sp>
        <p:nvSpPr>
          <p:cNvPr id="36" name="Shape 34"/>
          <p:cNvSpPr/>
          <p:nvPr/>
        </p:nvSpPr>
        <p:spPr>
          <a:xfrm>
            <a:off x="1109472" y="4267200"/>
            <a:ext cx="463296" cy="268224"/>
          </a:xfrm>
          <a:prstGeom prst="rect">
            <a:avLst/>
          </a:prstGeom>
          <a:solidFill>
            <a:srgbClr val="E84040"/>
          </a:solidFill>
          <a:ln w="12700">
            <a:solidFill>
              <a:srgbClr val="E84040"/>
            </a:solidFill>
            <a:prstDash val="solid"/>
          </a:ln>
        </p:spPr>
        <p:txBody>
          <a:bodyPr/>
          <a:lstStyle/>
          <a:p>
            <a:endParaRPr lang="en-IE"/>
          </a:p>
        </p:txBody>
      </p:sp>
      <p:sp>
        <p:nvSpPr>
          <p:cNvPr id="37" name="Shape 35"/>
          <p:cNvSpPr/>
          <p:nvPr/>
        </p:nvSpPr>
        <p:spPr>
          <a:xfrm>
            <a:off x="1609344" y="4267200"/>
            <a:ext cx="463296" cy="268224"/>
          </a:xfrm>
          <a:prstGeom prst="rect">
            <a:avLst/>
          </a:prstGeom>
          <a:solidFill>
            <a:srgbClr val="27AE60"/>
          </a:solidFill>
          <a:ln w="12700">
            <a:solidFill>
              <a:srgbClr val="27AE60"/>
            </a:solidFill>
            <a:prstDash val="solid"/>
          </a:ln>
        </p:spPr>
        <p:txBody>
          <a:bodyPr/>
          <a:lstStyle/>
          <a:p>
            <a:endParaRPr lang="en-IE"/>
          </a:p>
        </p:txBody>
      </p:sp>
      <p:sp>
        <p:nvSpPr>
          <p:cNvPr id="38" name="Shape 36"/>
          <p:cNvSpPr/>
          <p:nvPr/>
        </p:nvSpPr>
        <p:spPr>
          <a:xfrm>
            <a:off x="2109216" y="4267200"/>
            <a:ext cx="463296" cy="268224"/>
          </a:xfrm>
          <a:prstGeom prst="rect">
            <a:avLst/>
          </a:prstGeom>
          <a:solidFill>
            <a:srgbClr val="F5A623"/>
          </a:solidFill>
          <a:ln w="12700">
            <a:solidFill>
              <a:srgbClr val="F5A623"/>
            </a:solidFill>
            <a:prstDash val="solid"/>
          </a:ln>
        </p:spPr>
        <p:txBody>
          <a:bodyPr/>
          <a:lstStyle/>
          <a:p>
            <a:endParaRPr lang="en-IE"/>
          </a:p>
        </p:txBody>
      </p:sp>
      <p:sp>
        <p:nvSpPr>
          <p:cNvPr id="39" name="Shape 37"/>
          <p:cNvSpPr/>
          <p:nvPr/>
        </p:nvSpPr>
        <p:spPr>
          <a:xfrm>
            <a:off x="2901696" y="3352800"/>
            <a:ext cx="2011680" cy="853440"/>
          </a:xfrm>
          <a:prstGeom prst="rect">
            <a:avLst/>
          </a:prstGeom>
          <a:solidFill>
            <a:srgbClr val="5B2C8D"/>
          </a:solidFill>
          <a:ln w="12700">
            <a:solidFill>
              <a:srgbClr val="5B2C8D"/>
            </a:solidFill>
            <a:prstDash val="solid"/>
          </a:ln>
        </p:spPr>
        <p:txBody>
          <a:bodyPr/>
          <a:lstStyle/>
          <a:p>
            <a:endParaRPr lang="en-IE"/>
          </a:p>
        </p:txBody>
      </p:sp>
      <p:sp>
        <p:nvSpPr>
          <p:cNvPr id="40" name="Text 38"/>
          <p:cNvSpPr/>
          <p:nvPr/>
        </p:nvSpPr>
        <p:spPr>
          <a:xfrm>
            <a:off x="2950464" y="3377184"/>
            <a:ext cx="1914144" cy="804672"/>
          </a:xfrm>
          <a:prstGeom prst="rect">
            <a:avLst/>
          </a:prstGeom>
          <a:noFill/>
          <a:ln/>
        </p:spPr>
        <p:txBody>
          <a:bodyPr wrap="square" lIns="0" tIns="0" rIns="0" bIns="0" rtlCol="0" anchor="ctr"/>
          <a:lstStyle/>
          <a:p>
            <a:pPr algn="ctr"/>
            <a:r>
              <a:rPr lang="en-US" sz="933" b="1" dirty="0">
                <a:solidFill>
                  <a:srgbClr val="FFFFFF"/>
                </a:solidFill>
              </a:rPr>
              <a:t>AGENT</a:t>
            </a:r>
            <a:endParaRPr lang="en-US" sz="933" dirty="0"/>
          </a:p>
          <a:p>
            <a:pPr algn="ctr"/>
            <a:r>
              <a:rPr lang="en-US" sz="933" b="1" dirty="0">
                <a:solidFill>
                  <a:srgbClr val="FFFFFF"/>
                </a:solidFill>
              </a:rPr>
              <a:t>Risk Threshold Agent</a:t>
            </a:r>
            <a:endParaRPr lang="en-US" sz="933" dirty="0"/>
          </a:p>
        </p:txBody>
      </p:sp>
      <p:sp>
        <p:nvSpPr>
          <p:cNvPr id="41" name="Shape 39"/>
          <p:cNvSpPr/>
          <p:nvPr/>
        </p:nvSpPr>
        <p:spPr>
          <a:xfrm>
            <a:off x="2901696" y="4267200"/>
            <a:ext cx="463296" cy="268224"/>
          </a:xfrm>
          <a:prstGeom prst="rect">
            <a:avLst/>
          </a:prstGeom>
          <a:solidFill>
            <a:srgbClr val="1A7AC8"/>
          </a:solidFill>
          <a:ln w="12700">
            <a:solidFill>
              <a:srgbClr val="1A7AC8"/>
            </a:solidFill>
            <a:prstDash val="solid"/>
          </a:ln>
        </p:spPr>
        <p:txBody>
          <a:bodyPr/>
          <a:lstStyle/>
          <a:p>
            <a:endParaRPr lang="en-IE"/>
          </a:p>
        </p:txBody>
      </p:sp>
      <p:sp>
        <p:nvSpPr>
          <p:cNvPr id="42" name="Shape 40"/>
          <p:cNvSpPr/>
          <p:nvPr/>
        </p:nvSpPr>
        <p:spPr>
          <a:xfrm>
            <a:off x="3401568" y="4267200"/>
            <a:ext cx="463296" cy="268224"/>
          </a:xfrm>
          <a:prstGeom prst="rect">
            <a:avLst/>
          </a:prstGeom>
          <a:solidFill>
            <a:srgbClr val="E84040"/>
          </a:solidFill>
          <a:ln w="12700">
            <a:solidFill>
              <a:srgbClr val="E84040"/>
            </a:solidFill>
            <a:prstDash val="solid"/>
          </a:ln>
        </p:spPr>
        <p:txBody>
          <a:bodyPr/>
          <a:lstStyle/>
          <a:p>
            <a:endParaRPr lang="en-IE"/>
          </a:p>
        </p:txBody>
      </p:sp>
      <p:sp>
        <p:nvSpPr>
          <p:cNvPr id="43" name="Shape 41"/>
          <p:cNvSpPr/>
          <p:nvPr/>
        </p:nvSpPr>
        <p:spPr>
          <a:xfrm>
            <a:off x="3901440" y="4267200"/>
            <a:ext cx="463296" cy="268224"/>
          </a:xfrm>
          <a:prstGeom prst="rect">
            <a:avLst/>
          </a:prstGeom>
          <a:solidFill>
            <a:srgbClr val="27AE60"/>
          </a:solidFill>
          <a:ln w="12700">
            <a:solidFill>
              <a:srgbClr val="27AE60"/>
            </a:solidFill>
            <a:prstDash val="solid"/>
          </a:ln>
        </p:spPr>
        <p:txBody>
          <a:bodyPr/>
          <a:lstStyle/>
          <a:p>
            <a:endParaRPr lang="en-IE"/>
          </a:p>
        </p:txBody>
      </p:sp>
      <p:sp>
        <p:nvSpPr>
          <p:cNvPr id="44" name="Shape 42"/>
          <p:cNvSpPr/>
          <p:nvPr/>
        </p:nvSpPr>
        <p:spPr>
          <a:xfrm>
            <a:off x="4401312" y="4267200"/>
            <a:ext cx="463296" cy="268224"/>
          </a:xfrm>
          <a:prstGeom prst="rect">
            <a:avLst/>
          </a:prstGeom>
          <a:solidFill>
            <a:srgbClr val="F5A623"/>
          </a:solidFill>
          <a:ln w="12700">
            <a:solidFill>
              <a:srgbClr val="F5A623"/>
            </a:solidFill>
            <a:prstDash val="solid"/>
          </a:ln>
        </p:spPr>
        <p:txBody>
          <a:bodyPr/>
          <a:lstStyle/>
          <a:p>
            <a:endParaRPr lang="en-IE"/>
          </a:p>
        </p:txBody>
      </p:sp>
      <p:sp>
        <p:nvSpPr>
          <p:cNvPr id="45" name="Shape 43"/>
          <p:cNvSpPr/>
          <p:nvPr/>
        </p:nvSpPr>
        <p:spPr>
          <a:xfrm>
            <a:off x="5193792" y="3352800"/>
            <a:ext cx="2011680" cy="853440"/>
          </a:xfrm>
          <a:prstGeom prst="rect">
            <a:avLst/>
          </a:prstGeom>
          <a:solidFill>
            <a:srgbClr val="5B2C8D"/>
          </a:solidFill>
          <a:ln w="12700">
            <a:solidFill>
              <a:srgbClr val="5B2C8D"/>
            </a:solidFill>
            <a:prstDash val="solid"/>
          </a:ln>
        </p:spPr>
        <p:txBody>
          <a:bodyPr/>
          <a:lstStyle/>
          <a:p>
            <a:endParaRPr lang="en-IE"/>
          </a:p>
        </p:txBody>
      </p:sp>
      <p:sp>
        <p:nvSpPr>
          <p:cNvPr id="46" name="Text 44"/>
          <p:cNvSpPr/>
          <p:nvPr/>
        </p:nvSpPr>
        <p:spPr>
          <a:xfrm>
            <a:off x="5242560" y="3377184"/>
            <a:ext cx="1914144" cy="804672"/>
          </a:xfrm>
          <a:prstGeom prst="rect">
            <a:avLst/>
          </a:prstGeom>
          <a:noFill/>
          <a:ln/>
        </p:spPr>
        <p:txBody>
          <a:bodyPr wrap="square" lIns="0" tIns="0" rIns="0" bIns="0" rtlCol="0" anchor="ctr"/>
          <a:lstStyle/>
          <a:p>
            <a:pPr algn="ctr"/>
            <a:r>
              <a:rPr lang="en-US" sz="933" b="1" dirty="0">
                <a:solidFill>
                  <a:srgbClr val="FFFFFF"/>
                </a:solidFill>
              </a:rPr>
              <a:t>AGENT</a:t>
            </a:r>
            <a:endParaRPr lang="en-US" sz="933" dirty="0"/>
          </a:p>
          <a:p>
            <a:pPr algn="ctr"/>
            <a:r>
              <a:rPr lang="en-US" sz="933" b="1" dirty="0">
                <a:solidFill>
                  <a:srgbClr val="FFFFFF"/>
                </a:solidFill>
              </a:rPr>
              <a:t>Agreement Drafting Agent</a:t>
            </a:r>
            <a:endParaRPr lang="en-US" sz="933" dirty="0"/>
          </a:p>
          <a:p>
            <a:pPr algn="ctr"/>
            <a:r>
              <a:rPr lang="en-US" sz="933" b="1" dirty="0">
                <a:solidFill>
                  <a:srgbClr val="FFFFFF"/>
                </a:solidFill>
              </a:rPr>
              <a:t>(GEN AI)</a:t>
            </a:r>
            <a:endParaRPr lang="en-US" sz="933" dirty="0"/>
          </a:p>
        </p:txBody>
      </p:sp>
      <p:sp>
        <p:nvSpPr>
          <p:cNvPr id="47" name="Shape 45"/>
          <p:cNvSpPr/>
          <p:nvPr/>
        </p:nvSpPr>
        <p:spPr>
          <a:xfrm>
            <a:off x="5193792" y="4267200"/>
            <a:ext cx="463296" cy="268224"/>
          </a:xfrm>
          <a:prstGeom prst="rect">
            <a:avLst/>
          </a:prstGeom>
          <a:solidFill>
            <a:srgbClr val="1A7AC8"/>
          </a:solidFill>
          <a:ln w="12700">
            <a:solidFill>
              <a:srgbClr val="1A7AC8"/>
            </a:solidFill>
            <a:prstDash val="solid"/>
          </a:ln>
        </p:spPr>
        <p:txBody>
          <a:bodyPr/>
          <a:lstStyle/>
          <a:p>
            <a:endParaRPr lang="en-IE"/>
          </a:p>
        </p:txBody>
      </p:sp>
      <p:sp>
        <p:nvSpPr>
          <p:cNvPr id="48" name="Shape 46"/>
          <p:cNvSpPr/>
          <p:nvPr/>
        </p:nvSpPr>
        <p:spPr>
          <a:xfrm>
            <a:off x="5693664" y="4267200"/>
            <a:ext cx="463296" cy="268224"/>
          </a:xfrm>
          <a:prstGeom prst="rect">
            <a:avLst/>
          </a:prstGeom>
          <a:solidFill>
            <a:srgbClr val="E84040"/>
          </a:solidFill>
          <a:ln w="12700">
            <a:solidFill>
              <a:srgbClr val="E84040"/>
            </a:solidFill>
            <a:prstDash val="solid"/>
          </a:ln>
        </p:spPr>
        <p:txBody>
          <a:bodyPr/>
          <a:lstStyle/>
          <a:p>
            <a:endParaRPr lang="en-IE"/>
          </a:p>
        </p:txBody>
      </p:sp>
      <p:sp>
        <p:nvSpPr>
          <p:cNvPr id="49" name="Shape 47"/>
          <p:cNvSpPr/>
          <p:nvPr/>
        </p:nvSpPr>
        <p:spPr>
          <a:xfrm>
            <a:off x="6193536" y="4267200"/>
            <a:ext cx="463296" cy="268224"/>
          </a:xfrm>
          <a:prstGeom prst="rect">
            <a:avLst/>
          </a:prstGeom>
          <a:solidFill>
            <a:srgbClr val="27AE60"/>
          </a:solidFill>
          <a:ln w="12700">
            <a:solidFill>
              <a:srgbClr val="27AE60"/>
            </a:solidFill>
            <a:prstDash val="solid"/>
          </a:ln>
        </p:spPr>
        <p:txBody>
          <a:bodyPr/>
          <a:lstStyle/>
          <a:p>
            <a:endParaRPr lang="en-IE"/>
          </a:p>
        </p:txBody>
      </p:sp>
      <p:sp>
        <p:nvSpPr>
          <p:cNvPr id="50" name="Shape 48"/>
          <p:cNvSpPr/>
          <p:nvPr/>
        </p:nvSpPr>
        <p:spPr>
          <a:xfrm>
            <a:off x="6693408" y="4267200"/>
            <a:ext cx="463296" cy="268224"/>
          </a:xfrm>
          <a:prstGeom prst="rect">
            <a:avLst/>
          </a:prstGeom>
          <a:solidFill>
            <a:srgbClr val="F5A623"/>
          </a:solidFill>
          <a:ln w="12700">
            <a:solidFill>
              <a:srgbClr val="F5A623"/>
            </a:solidFill>
            <a:prstDash val="solid"/>
          </a:ln>
        </p:spPr>
        <p:txBody>
          <a:bodyPr/>
          <a:lstStyle/>
          <a:p>
            <a:endParaRPr lang="en-IE"/>
          </a:p>
        </p:txBody>
      </p:sp>
      <p:sp>
        <p:nvSpPr>
          <p:cNvPr id="51" name="Shape 49"/>
          <p:cNvSpPr/>
          <p:nvPr/>
        </p:nvSpPr>
        <p:spPr>
          <a:xfrm>
            <a:off x="7485888" y="3352800"/>
            <a:ext cx="2011680" cy="853440"/>
          </a:xfrm>
          <a:prstGeom prst="rect">
            <a:avLst/>
          </a:prstGeom>
          <a:solidFill>
            <a:srgbClr val="5B2C8D"/>
          </a:solidFill>
          <a:ln w="12700">
            <a:solidFill>
              <a:srgbClr val="5B2C8D"/>
            </a:solidFill>
            <a:prstDash val="solid"/>
          </a:ln>
        </p:spPr>
        <p:txBody>
          <a:bodyPr/>
          <a:lstStyle/>
          <a:p>
            <a:endParaRPr lang="en-IE"/>
          </a:p>
        </p:txBody>
      </p:sp>
      <p:sp>
        <p:nvSpPr>
          <p:cNvPr id="52" name="Text 50"/>
          <p:cNvSpPr/>
          <p:nvPr/>
        </p:nvSpPr>
        <p:spPr>
          <a:xfrm>
            <a:off x="7534656" y="3377184"/>
            <a:ext cx="1914144" cy="804672"/>
          </a:xfrm>
          <a:prstGeom prst="rect">
            <a:avLst/>
          </a:prstGeom>
          <a:noFill/>
          <a:ln/>
        </p:spPr>
        <p:txBody>
          <a:bodyPr wrap="square" lIns="0" tIns="0" rIns="0" bIns="0" rtlCol="0" anchor="ctr"/>
          <a:lstStyle/>
          <a:p>
            <a:pPr algn="ctr"/>
            <a:r>
              <a:rPr lang="en-US" sz="933" b="1" dirty="0">
                <a:solidFill>
                  <a:srgbClr val="FFFFFF"/>
                </a:solidFill>
              </a:rPr>
              <a:t>AGENT</a:t>
            </a:r>
            <a:endParaRPr lang="en-US" sz="933" dirty="0"/>
          </a:p>
          <a:p>
            <a:pPr algn="ctr"/>
            <a:r>
              <a:rPr lang="en-US" sz="933" b="1" dirty="0">
                <a:solidFill>
                  <a:srgbClr val="FFFFFF"/>
                </a:solidFill>
              </a:rPr>
              <a:t>Compliance Checker Agent</a:t>
            </a:r>
            <a:endParaRPr lang="en-US" sz="933" dirty="0"/>
          </a:p>
        </p:txBody>
      </p:sp>
      <p:sp>
        <p:nvSpPr>
          <p:cNvPr id="53" name="Shape 51"/>
          <p:cNvSpPr/>
          <p:nvPr/>
        </p:nvSpPr>
        <p:spPr>
          <a:xfrm>
            <a:off x="7485888" y="4267200"/>
            <a:ext cx="463296" cy="268224"/>
          </a:xfrm>
          <a:prstGeom prst="rect">
            <a:avLst/>
          </a:prstGeom>
          <a:solidFill>
            <a:srgbClr val="1A7AC8"/>
          </a:solidFill>
          <a:ln w="12700">
            <a:solidFill>
              <a:srgbClr val="1A7AC8"/>
            </a:solidFill>
            <a:prstDash val="solid"/>
          </a:ln>
        </p:spPr>
        <p:txBody>
          <a:bodyPr/>
          <a:lstStyle/>
          <a:p>
            <a:endParaRPr lang="en-IE"/>
          </a:p>
        </p:txBody>
      </p:sp>
      <p:sp>
        <p:nvSpPr>
          <p:cNvPr id="54" name="Shape 52"/>
          <p:cNvSpPr/>
          <p:nvPr/>
        </p:nvSpPr>
        <p:spPr>
          <a:xfrm>
            <a:off x="7985760" y="4267200"/>
            <a:ext cx="463296" cy="268224"/>
          </a:xfrm>
          <a:prstGeom prst="rect">
            <a:avLst/>
          </a:prstGeom>
          <a:solidFill>
            <a:srgbClr val="E84040"/>
          </a:solidFill>
          <a:ln w="12700">
            <a:solidFill>
              <a:srgbClr val="E84040"/>
            </a:solidFill>
            <a:prstDash val="solid"/>
          </a:ln>
        </p:spPr>
        <p:txBody>
          <a:bodyPr/>
          <a:lstStyle/>
          <a:p>
            <a:endParaRPr lang="en-IE"/>
          </a:p>
        </p:txBody>
      </p:sp>
      <p:sp>
        <p:nvSpPr>
          <p:cNvPr id="55" name="Shape 53"/>
          <p:cNvSpPr/>
          <p:nvPr/>
        </p:nvSpPr>
        <p:spPr>
          <a:xfrm>
            <a:off x="8485632" y="4267200"/>
            <a:ext cx="463296" cy="268224"/>
          </a:xfrm>
          <a:prstGeom prst="rect">
            <a:avLst/>
          </a:prstGeom>
          <a:solidFill>
            <a:srgbClr val="27AE60"/>
          </a:solidFill>
          <a:ln w="12700">
            <a:solidFill>
              <a:srgbClr val="27AE60"/>
            </a:solidFill>
            <a:prstDash val="solid"/>
          </a:ln>
        </p:spPr>
        <p:txBody>
          <a:bodyPr/>
          <a:lstStyle/>
          <a:p>
            <a:endParaRPr lang="en-IE"/>
          </a:p>
        </p:txBody>
      </p:sp>
      <p:sp>
        <p:nvSpPr>
          <p:cNvPr id="56" name="Shape 54"/>
          <p:cNvSpPr/>
          <p:nvPr/>
        </p:nvSpPr>
        <p:spPr>
          <a:xfrm>
            <a:off x="8985504" y="4267200"/>
            <a:ext cx="463296" cy="268224"/>
          </a:xfrm>
          <a:prstGeom prst="rect">
            <a:avLst/>
          </a:prstGeom>
          <a:solidFill>
            <a:srgbClr val="F5A623"/>
          </a:solidFill>
          <a:ln w="12700">
            <a:solidFill>
              <a:srgbClr val="F5A623"/>
            </a:solidFill>
            <a:prstDash val="solid"/>
          </a:ln>
        </p:spPr>
        <p:txBody>
          <a:bodyPr/>
          <a:lstStyle/>
          <a:p>
            <a:endParaRPr lang="en-IE"/>
          </a:p>
        </p:txBody>
      </p:sp>
      <p:sp>
        <p:nvSpPr>
          <p:cNvPr id="57" name="Shape 55"/>
          <p:cNvSpPr/>
          <p:nvPr/>
        </p:nvSpPr>
        <p:spPr>
          <a:xfrm>
            <a:off x="9777984" y="3352800"/>
            <a:ext cx="2011680" cy="853440"/>
          </a:xfrm>
          <a:prstGeom prst="rect">
            <a:avLst/>
          </a:prstGeom>
          <a:solidFill>
            <a:srgbClr val="5B2C8D"/>
          </a:solidFill>
          <a:ln w="12700">
            <a:solidFill>
              <a:srgbClr val="5B2C8D"/>
            </a:solidFill>
            <a:prstDash val="solid"/>
          </a:ln>
        </p:spPr>
        <p:txBody>
          <a:bodyPr/>
          <a:lstStyle/>
          <a:p>
            <a:endParaRPr lang="en-IE"/>
          </a:p>
        </p:txBody>
      </p:sp>
      <p:sp>
        <p:nvSpPr>
          <p:cNvPr id="58" name="Text 56"/>
          <p:cNvSpPr/>
          <p:nvPr/>
        </p:nvSpPr>
        <p:spPr>
          <a:xfrm>
            <a:off x="9826752" y="3377184"/>
            <a:ext cx="1914144" cy="804672"/>
          </a:xfrm>
          <a:prstGeom prst="rect">
            <a:avLst/>
          </a:prstGeom>
          <a:noFill/>
          <a:ln/>
        </p:spPr>
        <p:txBody>
          <a:bodyPr wrap="square" lIns="0" tIns="0" rIns="0" bIns="0" rtlCol="0" anchor="ctr"/>
          <a:lstStyle/>
          <a:p>
            <a:pPr algn="ctr"/>
            <a:r>
              <a:rPr lang="en-US" sz="933" b="1" dirty="0">
                <a:solidFill>
                  <a:srgbClr val="FFFFFF"/>
                </a:solidFill>
              </a:rPr>
              <a:t>AGENT</a:t>
            </a:r>
            <a:endParaRPr lang="en-US" sz="933" dirty="0"/>
          </a:p>
          <a:p>
            <a:pPr algn="ctr"/>
            <a:r>
              <a:rPr lang="en-US" sz="933" b="1" dirty="0">
                <a:solidFill>
                  <a:srgbClr val="FFFFFF"/>
                </a:solidFill>
              </a:rPr>
              <a:t>Audit Trail Agent</a:t>
            </a:r>
            <a:endParaRPr lang="en-US" sz="933" dirty="0"/>
          </a:p>
        </p:txBody>
      </p:sp>
      <p:sp>
        <p:nvSpPr>
          <p:cNvPr id="59" name="Shape 57"/>
          <p:cNvSpPr/>
          <p:nvPr/>
        </p:nvSpPr>
        <p:spPr>
          <a:xfrm>
            <a:off x="9777984" y="4267200"/>
            <a:ext cx="463296" cy="268224"/>
          </a:xfrm>
          <a:prstGeom prst="rect">
            <a:avLst/>
          </a:prstGeom>
          <a:solidFill>
            <a:srgbClr val="1A7AC8"/>
          </a:solidFill>
          <a:ln w="12700">
            <a:solidFill>
              <a:srgbClr val="1A7AC8"/>
            </a:solidFill>
            <a:prstDash val="solid"/>
          </a:ln>
        </p:spPr>
        <p:txBody>
          <a:bodyPr/>
          <a:lstStyle/>
          <a:p>
            <a:endParaRPr lang="en-IE"/>
          </a:p>
        </p:txBody>
      </p:sp>
      <p:sp>
        <p:nvSpPr>
          <p:cNvPr id="60" name="Shape 58"/>
          <p:cNvSpPr/>
          <p:nvPr/>
        </p:nvSpPr>
        <p:spPr>
          <a:xfrm>
            <a:off x="10277856" y="4267200"/>
            <a:ext cx="463296" cy="268224"/>
          </a:xfrm>
          <a:prstGeom prst="rect">
            <a:avLst/>
          </a:prstGeom>
          <a:solidFill>
            <a:srgbClr val="E84040"/>
          </a:solidFill>
          <a:ln w="12700">
            <a:solidFill>
              <a:srgbClr val="E84040"/>
            </a:solidFill>
            <a:prstDash val="solid"/>
          </a:ln>
        </p:spPr>
        <p:txBody>
          <a:bodyPr/>
          <a:lstStyle/>
          <a:p>
            <a:endParaRPr lang="en-IE"/>
          </a:p>
        </p:txBody>
      </p:sp>
      <p:sp>
        <p:nvSpPr>
          <p:cNvPr id="61" name="Shape 59"/>
          <p:cNvSpPr/>
          <p:nvPr/>
        </p:nvSpPr>
        <p:spPr>
          <a:xfrm>
            <a:off x="10777728" y="4267200"/>
            <a:ext cx="463296" cy="268224"/>
          </a:xfrm>
          <a:prstGeom prst="rect">
            <a:avLst/>
          </a:prstGeom>
          <a:solidFill>
            <a:srgbClr val="27AE60"/>
          </a:solidFill>
          <a:ln w="12700">
            <a:solidFill>
              <a:srgbClr val="27AE60"/>
            </a:solidFill>
            <a:prstDash val="solid"/>
          </a:ln>
        </p:spPr>
        <p:txBody>
          <a:bodyPr/>
          <a:lstStyle/>
          <a:p>
            <a:endParaRPr lang="en-IE"/>
          </a:p>
        </p:txBody>
      </p:sp>
      <p:sp>
        <p:nvSpPr>
          <p:cNvPr id="62" name="Shape 60"/>
          <p:cNvSpPr/>
          <p:nvPr/>
        </p:nvSpPr>
        <p:spPr>
          <a:xfrm>
            <a:off x="11277600" y="4267200"/>
            <a:ext cx="463296" cy="268224"/>
          </a:xfrm>
          <a:prstGeom prst="rect">
            <a:avLst/>
          </a:prstGeom>
          <a:solidFill>
            <a:srgbClr val="F5A623"/>
          </a:solidFill>
          <a:ln w="12700">
            <a:solidFill>
              <a:srgbClr val="F5A623"/>
            </a:solidFill>
            <a:prstDash val="solid"/>
          </a:ln>
        </p:spPr>
        <p:txBody>
          <a:bodyPr/>
          <a:lstStyle/>
          <a:p>
            <a:endParaRPr lang="en-IE"/>
          </a:p>
        </p:txBody>
      </p:sp>
      <p:sp>
        <p:nvSpPr>
          <p:cNvPr id="63" name="Shape 61"/>
          <p:cNvSpPr/>
          <p:nvPr/>
        </p:nvSpPr>
        <p:spPr>
          <a:xfrm>
            <a:off x="512064" y="4608576"/>
            <a:ext cx="11582400" cy="292608"/>
          </a:xfrm>
          <a:prstGeom prst="rect">
            <a:avLst/>
          </a:prstGeom>
          <a:solidFill>
            <a:srgbClr val="D0DCF5"/>
          </a:solidFill>
          <a:ln w="12700">
            <a:solidFill>
              <a:srgbClr val="B0C0E8"/>
            </a:solidFill>
            <a:prstDash val="solid"/>
          </a:ln>
        </p:spPr>
        <p:txBody>
          <a:bodyPr/>
          <a:lstStyle/>
          <a:p>
            <a:endParaRPr lang="en-IE"/>
          </a:p>
        </p:txBody>
      </p:sp>
      <p:sp>
        <p:nvSpPr>
          <p:cNvPr id="64" name="Text 62"/>
          <p:cNvSpPr/>
          <p:nvPr/>
        </p:nvSpPr>
        <p:spPr>
          <a:xfrm>
            <a:off x="609600" y="4632960"/>
            <a:ext cx="11338560" cy="243840"/>
          </a:xfrm>
          <a:prstGeom prst="rect">
            <a:avLst/>
          </a:prstGeom>
          <a:noFill/>
          <a:ln/>
        </p:spPr>
        <p:txBody>
          <a:bodyPr wrap="square" lIns="0" tIns="0" rIns="0" bIns="0" rtlCol="0" anchor="ctr"/>
          <a:lstStyle/>
          <a:p>
            <a:pPr algn="ctr"/>
            <a:r>
              <a:rPr lang="en-US" sz="1000" dirty="0">
                <a:solidFill>
                  <a:srgbClr val="1A2A6C"/>
                </a:solidFill>
              </a:rPr>
              <a:t>Data platform, data governance, data management (Microsoft Fabric + Azure Data Lake)</a:t>
            </a:r>
            <a:endParaRPr lang="en-US" sz="1000" dirty="0"/>
          </a:p>
        </p:txBody>
      </p:sp>
      <p:sp>
        <p:nvSpPr>
          <p:cNvPr id="65" name="Shape 63"/>
          <p:cNvSpPr/>
          <p:nvPr/>
        </p:nvSpPr>
        <p:spPr>
          <a:xfrm>
            <a:off x="512064" y="5007864"/>
            <a:ext cx="1524000" cy="341376"/>
          </a:xfrm>
          <a:prstGeom prst="rect">
            <a:avLst/>
          </a:prstGeom>
          <a:solidFill>
            <a:srgbClr val="5B2C8D"/>
          </a:solidFill>
          <a:ln w="12700">
            <a:solidFill>
              <a:srgbClr val="5B2C8D"/>
            </a:solidFill>
            <a:prstDash val="solid"/>
          </a:ln>
        </p:spPr>
        <p:txBody>
          <a:bodyPr/>
          <a:lstStyle/>
          <a:p>
            <a:endParaRPr lang="en-IE"/>
          </a:p>
        </p:txBody>
      </p:sp>
      <p:sp>
        <p:nvSpPr>
          <p:cNvPr id="66" name="Text 64"/>
          <p:cNvSpPr/>
          <p:nvPr/>
        </p:nvSpPr>
        <p:spPr>
          <a:xfrm>
            <a:off x="548640" y="5023104"/>
            <a:ext cx="1450848" cy="292608"/>
          </a:xfrm>
          <a:prstGeom prst="rect">
            <a:avLst/>
          </a:prstGeom>
          <a:noFill/>
          <a:ln/>
        </p:spPr>
        <p:txBody>
          <a:bodyPr wrap="square" lIns="0" tIns="0" rIns="0" bIns="0" rtlCol="0" anchor="ctr"/>
          <a:lstStyle/>
          <a:p>
            <a:pPr algn="ctr"/>
            <a:r>
              <a:rPr lang="en-US" sz="867" b="1" dirty="0">
                <a:solidFill>
                  <a:srgbClr val="FFFFFF"/>
                </a:solidFill>
              </a:rPr>
              <a:t>Bloomberg / Reuters</a:t>
            </a:r>
            <a:endParaRPr lang="en-US" sz="867" dirty="0"/>
          </a:p>
        </p:txBody>
      </p:sp>
      <p:sp>
        <p:nvSpPr>
          <p:cNvPr id="67" name="Shape 65"/>
          <p:cNvSpPr/>
          <p:nvPr/>
        </p:nvSpPr>
        <p:spPr>
          <a:xfrm>
            <a:off x="2133600" y="4998720"/>
            <a:ext cx="1524000" cy="341376"/>
          </a:xfrm>
          <a:prstGeom prst="rect">
            <a:avLst/>
          </a:prstGeom>
          <a:solidFill>
            <a:srgbClr val="5B2C8D"/>
          </a:solidFill>
          <a:ln w="12700">
            <a:solidFill>
              <a:srgbClr val="5B2C8D"/>
            </a:solidFill>
            <a:prstDash val="solid"/>
          </a:ln>
        </p:spPr>
        <p:txBody>
          <a:bodyPr/>
          <a:lstStyle/>
          <a:p>
            <a:endParaRPr lang="en-IE"/>
          </a:p>
        </p:txBody>
      </p:sp>
      <p:sp>
        <p:nvSpPr>
          <p:cNvPr id="68" name="Text 66"/>
          <p:cNvSpPr/>
          <p:nvPr/>
        </p:nvSpPr>
        <p:spPr>
          <a:xfrm>
            <a:off x="2170176" y="5023104"/>
            <a:ext cx="1450848" cy="292608"/>
          </a:xfrm>
          <a:prstGeom prst="rect">
            <a:avLst/>
          </a:prstGeom>
          <a:noFill/>
          <a:ln/>
        </p:spPr>
        <p:txBody>
          <a:bodyPr wrap="square" lIns="0" tIns="0" rIns="0" bIns="0" rtlCol="0" anchor="ctr"/>
          <a:lstStyle/>
          <a:p>
            <a:pPr algn="ctr"/>
            <a:r>
              <a:rPr lang="en-US" sz="867" b="1" dirty="0">
                <a:solidFill>
                  <a:srgbClr val="FFFFFF"/>
                </a:solidFill>
              </a:rPr>
              <a:t>Risk Master DB</a:t>
            </a:r>
            <a:endParaRPr lang="en-US" sz="867" dirty="0"/>
          </a:p>
        </p:txBody>
      </p:sp>
      <p:sp>
        <p:nvSpPr>
          <p:cNvPr id="69" name="Shape 67"/>
          <p:cNvSpPr/>
          <p:nvPr/>
        </p:nvSpPr>
        <p:spPr>
          <a:xfrm>
            <a:off x="3755136" y="4998720"/>
            <a:ext cx="1524000" cy="341376"/>
          </a:xfrm>
          <a:prstGeom prst="rect">
            <a:avLst/>
          </a:prstGeom>
          <a:solidFill>
            <a:srgbClr val="5B2C8D"/>
          </a:solidFill>
          <a:ln w="12700">
            <a:solidFill>
              <a:srgbClr val="5B2C8D"/>
            </a:solidFill>
            <a:prstDash val="solid"/>
          </a:ln>
        </p:spPr>
        <p:txBody>
          <a:bodyPr/>
          <a:lstStyle/>
          <a:p>
            <a:endParaRPr lang="en-IE"/>
          </a:p>
        </p:txBody>
      </p:sp>
      <p:sp>
        <p:nvSpPr>
          <p:cNvPr id="70" name="Text 68"/>
          <p:cNvSpPr/>
          <p:nvPr/>
        </p:nvSpPr>
        <p:spPr>
          <a:xfrm>
            <a:off x="3791712" y="5023104"/>
            <a:ext cx="1450848" cy="292608"/>
          </a:xfrm>
          <a:prstGeom prst="rect">
            <a:avLst/>
          </a:prstGeom>
          <a:noFill/>
          <a:ln/>
        </p:spPr>
        <p:txBody>
          <a:bodyPr wrap="square" lIns="0" tIns="0" rIns="0" bIns="0" rtlCol="0" anchor="ctr"/>
          <a:lstStyle/>
          <a:p>
            <a:pPr algn="ctr"/>
            <a:r>
              <a:rPr lang="en-US" sz="867" b="1" dirty="0">
                <a:solidFill>
                  <a:srgbClr val="FFFFFF"/>
                </a:solidFill>
              </a:rPr>
              <a:t>CRM System</a:t>
            </a:r>
            <a:endParaRPr lang="en-US" sz="867" dirty="0"/>
          </a:p>
        </p:txBody>
      </p:sp>
      <p:sp>
        <p:nvSpPr>
          <p:cNvPr id="71" name="Shape 69"/>
          <p:cNvSpPr/>
          <p:nvPr/>
        </p:nvSpPr>
        <p:spPr>
          <a:xfrm>
            <a:off x="5376672" y="4998720"/>
            <a:ext cx="1524000" cy="341376"/>
          </a:xfrm>
          <a:prstGeom prst="rect">
            <a:avLst/>
          </a:prstGeom>
          <a:solidFill>
            <a:srgbClr val="5B2C8D"/>
          </a:solidFill>
          <a:ln w="12700">
            <a:solidFill>
              <a:srgbClr val="5B2C8D"/>
            </a:solidFill>
            <a:prstDash val="solid"/>
          </a:ln>
        </p:spPr>
        <p:txBody>
          <a:bodyPr/>
          <a:lstStyle/>
          <a:p>
            <a:endParaRPr lang="en-IE"/>
          </a:p>
        </p:txBody>
      </p:sp>
      <p:sp>
        <p:nvSpPr>
          <p:cNvPr id="72" name="Text 70"/>
          <p:cNvSpPr/>
          <p:nvPr/>
        </p:nvSpPr>
        <p:spPr>
          <a:xfrm>
            <a:off x="5413248" y="5023104"/>
            <a:ext cx="1450848" cy="292608"/>
          </a:xfrm>
          <a:prstGeom prst="rect">
            <a:avLst/>
          </a:prstGeom>
          <a:noFill/>
          <a:ln/>
        </p:spPr>
        <p:txBody>
          <a:bodyPr wrap="square" lIns="0" tIns="0" rIns="0" bIns="0" rtlCol="0" anchor="ctr"/>
          <a:lstStyle/>
          <a:p>
            <a:pPr algn="ctr"/>
            <a:r>
              <a:rPr lang="en-US" sz="867" b="1" dirty="0">
                <a:solidFill>
                  <a:srgbClr val="FFFFFF"/>
                </a:solidFill>
              </a:rPr>
              <a:t>DRPA Agreement Master</a:t>
            </a:r>
            <a:endParaRPr lang="en-US" sz="867" dirty="0"/>
          </a:p>
        </p:txBody>
      </p:sp>
      <p:sp>
        <p:nvSpPr>
          <p:cNvPr id="73" name="Shape 71"/>
          <p:cNvSpPr/>
          <p:nvPr/>
        </p:nvSpPr>
        <p:spPr>
          <a:xfrm>
            <a:off x="6998208" y="4998720"/>
            <a:ext cx="1524000" cy="341376"/>
          </a:xfrm>
          <a:prstGeom prst="rect">
            <a:avLst/>
          </a:prstGeom>
          <a:solidFill>
            <a:srgbClr val="5B2C8D"/>
          </a:solidFill>
          <a:ln w="12700">
            <a:solidFill>
              <a:srgbClr val="5B2C8D"/>
            </a:solidFill>
            <a:prstDash val="solid"/>
          </a:ln>
        </p:spPr>
        <p:txBody>
          <a:bodyPr/>
          <a:lstStyle/>
          <a:p>
            <a:endParaRPr lang="en-IE"/>
          </a:p>
        </p:txBody>
      </p:sp>
      <p:sp>
        <p:nvSpPr>
          <p:cNvPr id="74" name="Text 72"/>
          <p:cNvSpPr/>
          <p:nvPr/>
        </p:nvSpPr>
        <p:spPr>
          <a:xfrm>
            <a:off x="7034784" y="5023104"/>
            <a:ext cx="1450848" cy="292608"/>
          </a:xfrm>
          <a:prstGeom prst="rect">
            <a:avLst/>
          </a:prstGeom>
          <a:noFill/>
          <a:ln/>
        </p:spPr>
        <p:txBody>
          <a:bodyPr wrap="square" lIns="0" tIns="0" rIns="0" bIns="0" rtlCol="0" anchor="ctr"/>
          <a:lstStyle/>
          <a:p>
            <a:pPr algn="ctr"/>
            <a:r>
              <a:rPr lang="en-US" sz="867" b="1" dirty="0">
                <a:solidFill>
                  <a:srgbClr val="FFFFFF"/>
                </a:solidFill>
              </a:rPr>
              <a:t>Compliance Portal</a:t>
            </a:r>
            <a:endParaRPr lang="en-US" sz="867" dirty="0"/>
          </a:p>
        </p:txBody>
      </p:sp>
      <p:sp>
        <p:nvSpPr>
          <p:cNvPr id="75" name="Shape 73"/>
          <p:cNvSpPr/>
          <p:nvPr/>
        </p:nvSpPr>
        <p:spPr>
          <a:xfrm>
            <a:off x="8619744" y="4998720"/>
            <a:ext cx="1524000" cy="341376"/>
          </a:xfrm>
          <a:prstGeom prst="rect">
            <a:avLst/>
          </a:prstGeom>
          <a:solidFill>
            <a:srgbClr val="5B2C8D"/>
          </a:solidFill>
          <a:ln w="12700">
            <a:solidFill>
              <a:srgbClr val="5B2C8D"/>
            </a:solidFill>
            <a:prstDash val="solid"/>
          </a:ln>
        </p:spPr>
        <p:txBody>
          <a:bodyPr/>
          <a:lstStyle/>
          <a:p>
            <a:endParaRPr lang="en-IE"/>
          </a:p>
        </p:txBody>
      </p:sp>
      <p:sp>
        <p:nvSpPr>
          <p:cNvPr id="76" name="Text 74"/>
          <p:cNvSpPr/>
          <p:nvPr/>
        </p:nvSpPr>
        <p:spPr>
          <a:xfrm>
            <a:off x="8656320" y="5023104"/>
            <a:ext cx="1450848" cy="292608"/>
          </a:xfrm>
          <a:prstGeom prst="rect">
            <a:avLst/>
          </a:prstGeom>
          <a:noFill/>
          <a:ln/>
        </p:spPr>
        <p:txBody>
          <a:bodyPr wrap="square" lIns="0" tIns="0" rIns="0" bIns="0" rtlCol="0" anchor="ctr"/>
          <a:lstStyle/>
          <a:p>
            <a:pPr algn="ctr"/>
            <a:r>
              <a:rPr lang="en-US" sz="867" b="1" dirty="0">
                <a:solidFill>
                  <a:srgbClr val="FFFFFF"/>
                </a:solidFill>
              </a:rPr>
              <a:t>Power BI Dashboards</a:t>
            </a:r>
            <a:endParaRPr lang="en-US" sz="867" dirty="0"/>
          </a:p>
        </p:txBody>
      </p:sp>
      <p:sp>
        <p:nvSpPr>
          <p:cNvPr id="77" name="Shape 75"/>
          <p:cNvSpPr/>
          <p:nvPr/>
        </p:nvSpPr>
        <p:spPr>
          <a:xfrm>
            <a:off x="10241280" y="4998720"/>
            <a:ext cx="1524000" cy="341376"/>
          </a:xfrm>
          <a:prstGeom prst="rect">
            <a:avLst/>
          </a:prstGeom>
          <a:solidFill>
            <a:srgbClr val="5B2C8D"/>
          </a:solidFill>
          <a:ln w="12700">
            <a:solidFill>
              <a:srgbClr val="5B2C8D"/>
            </a:solidFill>
            <a:prstDash val="solid"/>
          </a:ln>
        </p:spPr>
        <p:txBody>
          <a:bodyPr/>
          <a:lstStyle/>
          <a:p>
            <a:endParaRPr lang="en-IE"/>
          </a:p>
        </p:txBody>
      </p:sp>
      <p:sp>
        <p:nvSpPr>
          <p:cNvPr id="78" name="Text 76"/>
          <p:cNvSpPr/>
          <p:nvPr/>
        </p:nvSpPr>
        <p:spPr>
          <a:xfrm>
            <a:off x="10277856" y="5023104"/>
            <a:ext cx="1450848" cy="292608"/>
          </a:xfrm>
          <a:prstGeom prst="rect">
            <a:avLst/>
          </a:prstGeom>
          <a:noFill/>
          <a:ln/>
        </p:spPr>
        <p:txBody>
          <a:bodyPr wrap="square" lIns="0" tIns="0" rIns="0" bIns="0" rtlCol="0" anchor="ctr"/>
          <a:lstStyle/>
          <a:p>
            <a:pPr algn="ctr"/>
            <a:r>
              <a:rPr lang="en-US" sz="867" b="1" dirty="0">
                <a:solidFill>
                  <a:srgbClr val="FFFFFF"/>
                </a:solidFill>
              </a:rPr>
              <a:t>ServiceNow</a:t>
            </a:r>
            <a:endParaRPr lang="en-US" sz="867" dirty="0"/>
          </a:p>
        </p:txBody>
      </p:sp>
      <p:sp>
        <p:nvSpPr>
          <p:cNvPr id="79" name="Shape 77"/>
          <p:cNvSpPr/>
          <p:nvPr/>
        </p:nvSpPr>
        <p:spPr>
          <a:xfrm>
            <a:off x="6096000" y="5401056"/>
            <a:ext cx="219456" cy="158496"/>
          </a:xfrm>
          <a:prstGeom prst="rect">
            <a:avLst/>
          </a:prstGeom>
          <a:solidFill>
            <a:srgbClr val="1A7AC8"/>
          </a:solidFill>
          <a:ln w="12700">
            <a:solidFill>
              <a:srgbClr val="1A7AC8"/>
            </a:solidFill>
            <a:prstDash val="solid"/>
          </a:ln>
        </p:spPr>
        <p:txBody>
          <a:bodyPr/>
          <a:lstStyle/>
          <a:p>
            <a:endParaRPr lang="en-IE"/>
          </a:p>
        </p:txBody>
      </p:sp>
      <p:sp>
        <p:nvSpPr>
          <p:cNvPr id="80" name="Text 78"/>
          <p:cNvSpPr/>
          <p:nvPr/>
        </p:nvSpPr>
        <p:spPr>
          <a:xfrm>
            <a:off x="6364224" y="5401056"/>
            <a:ext cx="914400" cy="158496"/>
          </a:xfrm>
          <a:prstGeom prst="rect">
            <a:avLst/>
          </a:prstGeom>
          <a:noFill/>
          <a:ln/>
        </p:spPr>
        <p:txBody>
          <a:bodyPr wrap="square" lIns="0" tIns="0" rIns="0" bIns="0" rtlCol="0" anchor="ctr"/>
          <a:lstStyle/>
          <a:p>
            <a:r>
              <a:rPr lang="en-US" sz="867" dirty="0">
                <a:solidFill>
                  <a:srgbClr val="1A1F36"/>
                </a:solidFill>
              </a:rPr>
              <a:t>Human</a:t>
            </a:r>
            <a:endParaRPr lang="en-US" sz="867" dirty="0"/>
          </a:p>
        </p:txBody>
      </p:sp>
      <p:sp>
        <p:nvSpPr>
          <p:cNvPr id="81" name="Shape 79"/>
          <p:cNvSpPr/>
          <p:nvPr/>
        </p:nvSpPr>
        <p:spPr>
          <a:xfrm>
            <a:off x="7315200" y="5401056"/>
            <a:ext cx="219456" cy="158496"/>
          </a:xfrm>
          <a:prstGeom prst="rect">
            <a:avLst/>
          </a:prstGeom>
          <a:solidFill>
            <a:srgbClr val="E84040"/>
          </a:solidFill>
          <a:ln w="12700">
            <a:solidFill>
              <a:srgbClr val="E84040"/>
            </a:solidFill>
            <a:prstDash val="solid"/>
          </a:ln>
        </p:spPr>
        <p:txBody>
          <a:bodyPr/>
          <a:lstStyle/>
          <a:p>
            <a:endParaRPr lang="en-IE"/>
          </a:p>
        </p:txBody>
      </p:sp>
      <p:sp>
        <p:nvSpPr>
          <p:cNvPr id="82" name="Text 80"/>
          <p:cNvSpPr/>
          <p:nvPr/>
        </p:nvSpPr>
        <p:spPr>
          <a:xfrm>
            <a:off x="7583424" y="5401056"/>
            <a:ext cx="914400" cy="158496"/>
          </a:xfrm>
          <a:prstGeom prst="rect">
            <a:avLst/>
          </a:prstGeom>
          <a:noFill/>
          <a:ln/>
        </p:spPr>
        <p:txBody>
          <a:bodyPr wrap="square" lIns="0" tIns="0" rIns="0" bIns="0" rtlCol="0" anchor="ctr"/>
          <a:lstStyle/>
          <a:p>
            <a:r>
              <a:rPr lang="en-US" sz="867" dirty="0">
                <a:solidFill>
                  <a:srgbClr val="1A1F36"/>
                </a:solidFill>
              </a:rPr>
              <a:t>RPA/Script</a:t>
            </a:r>
            <a:endParaRPr lang="en-US" sz="867" dirty="0"/>
          </a:p>
        </p:txBody>
      </p:sp>
      <p:sp>
        <p:nvSpPr>
          <p:cNvPr id="83" name="Shape 81"/>
          <p:cNvSpPr/>
          <p:nvPr/>
        </p:nvSpPr>
        <p:spPr>
          <a:xfrm>
            <a:off x="8534400" y="5401056"/>
            <a:ext cx="219456" cy="158496"/>
          </a:xfrm>
          <a:prstGeom prst="rect">
            <a:avLst/>
          </a:prstGeom>
          <a:solidFill>
            <a:srgbClr val="27AE60"/>
          </a:solidFill>
          <a:ln w="12700">
            <a:solidFill>
              <a:srgbClr val="27AE60"/>
            </a:solidFill>
            <a:prstDash val="solid"/>
          </a:ln>
        </p:spPr>
        <p:txBody>
          <a:bodyPr/>
          <a:lstStyle/>
          <a:p>
            <a:endParaRPr lang="en-IE"/>
          </a:p>
        </p:txBody>
      </p:sp>
      <p:sp>
        <p:nvSpPr>
          <p:cNvPr id="84" name="Text 82"/>
          <p:cNvSpPr/>
          <p:nvPr/>
        </p:nvSpPr>
        <p:spPr>
          <a:xfrm>
            <a:off x="8802624" y="5401056"/>
            <a:ext cx="914400" cy="158496"/>
          </a:xfrm>
          <a:prstGeom prst="rect">
            <a:avLst/>
          </a:prstGeom>
          <a:noFill/>
          <a:ln/>
        </p:spPr>
        <p:txBody>
          <a:bodyPr wrap="square" lIns="0" tIns="0" rIns="0" bIns="0" rtlCol="0" anchor="ctr"/>
          <a:lstStyle/>
          <a:p>
            <a:r>
              <a:rPr lang="en-US" sz="867" dirty="0">
                <a:solidFill>
                  <a:srgbClr val="1A1F36"/>
                </a:solidFill>
              </a:rPr>
              <a:t>AI/ML</a:t>
            </a:r>
            <a:endParaRPr lang="en-US" sz="867" dirty="0"/>
          </a:p>
        </p:txBody>
      </p:sp>
      <p:sp>
        <p:nvSpPr>
          <p:cNvPr id="85" name="Shape 83"/>
          <p:cNvSpPr/>
          <p:nvPr/>
        </p:nvSpPr>
        <p:spPr>
          <a:xfrm>
            <a:off x="9753600" y="5401056"/>
            <a:ext cx="219456" cy="158496"/>
          </a:xfrm>
          <a:prstGeom prst="rect">
            <a:avLst/>
          </a:prstGeom>
          <a:solidFill>
            <a:srgbClr val="F5A623"/>
          </a:solidFill>
          <a:ln w="12700">
            <a:solidFill>
              <a:srgbClr val="F5A623"/>
            </a:solidFill>
            <a:prstDash val="solid"/>
          </a:ln>
        </p:spPr>
        <p:txBody>
          <a:bodyPr/>
          <a:lstStyle/>
          <a:p>
            <a:endParaRPr lang="en-IE"/>
          </a:p>
        </p:txBody>
      </p:sp>
      <p:sp>
        <p:nvSpPr>
          <p:cNvPr id="86" name="Text 84"/>
          <p:cNvSpPr/>
          <p:nvPr/>
        </p:nvSpPr>
        <p:spPr>
          <a:xfrm>
            <a:off x="10021824" y="5401056"/>
            <a:ext cx="914400" cy="158496"/>
          </a:xfrm>
          <a:prstGeom prst="rect">
            <a:avLst/>
          </a:prstGeom>
          <a:noFill/>
          <a:ln/>
        </p:spPr>
        <p:txBody>
          <a:bodyPr wrap="square" lIns="0" tIns="0" rIns="0" bIns="0" rtlCol="0" anchor="ctr"/>
          <a:lstStyle/>
          <a:p>
            <a:r>
              <a:rPr lang="en-US" sz="867" dirty="0">
                <a:solidFill>
                  <a:srgbClr val="1A1F36"/>
                </a:solidFill>
              </a:rPr>
              <a:t>Gen AI</a:t>
            </a:r>
            <a:endParaRPr lang="en-US" sz="867" dirty="0"/>
          </a:p>
        </p:txBody>
      </p:sp>
      <p:sp>
        <p:nvSpPr>
          <p:cNvPr id="87" name="Shape 85"/>
          <p:cNvSpPr/>
          <p:nvPr/>
        </p:nvSpPr>
        <p:spPr>
          <a:xfrm>
            <a:off x="10972800" y="5401056"/>
            <a:ext cx="219456" cy="158496"/>
          </a:xfrm>
          <a:prstGeom prst="rect">
            <a:avLst/>
          </a:prstGeom>
          <a:solidFill>
            <a:srgbClr val="5B2C8D"/>
          </a:solidFill>
          <a:ln w="12700">
            <a:solidFill>
              <a:srgbClr val="5B2C8D"/>
            </a:solidFill>
            <a:prstDash val="solid"/>
          </a:ln>
        </p:spPr>
        <p:txBody>
          <a:bodyPr/>
          <a:lstStyle/>
          <a:p>
            <a:endParaRPr lang="en-IE"/>
          </a:p>
        </p:txBody>
      </p:sp>
      <p:sp>
        <p:nvSpPr>
          <p:cNvPr id="88" name="Text 86"/>
          <p:cNvSpPr/>
          <p:nvPr/>
        </p:nvSpPr>
        <p:spPr>
          <a:xfrm>
            <a:off x="11241024" y="5401056"/>
            <a:ext cx="914400" cy="158496"/>
          </a:xfrm>
          <a:prstGeom prst="rect">
            <a:avLst/>
          </a:prstGeom>
          <a:noFill/>
          <a:ln/>
        </p:spPr>
        <p:txBody>
          <a:bodyPr wrap="square" lIns="0" tIns="0" rIns="0" bIns="0" rtlCol="0" anchor="ctr"/>
          <a:lstStyle/>
          <a:p>
            <a:r>
              <a:rPr lang="en-US" sz="867" dirty="0">
                <a:solidFill>
                  <a:srgbClr val="1A1F36"/>
                </a:solidFill>
              </a:rPr>
              <a:t>Agentic AI</a:t>
            </a:r>
            <a:endParaRPr lang="en-US" sz="867" dirty="0"/>
          </a:p>
        </p:txBody>
      </p:sp>
      <p:sp>
        <p:nvSpPr>
          <p:cNvPr id="89" name="Shape 87"/>
          <p:cNvSpPr/>
          <p:nvPr/>
        </p:nvSpPr>
        <p:spPr>
          <a:xfrm>
            <a:off x="0" y="5669280"/>
            <a:ext cx="12192000" cy="999744"/>
          </a:xfrm>
          <a:prstGeom prst="rect">
            <a:avLst/>
          </a:prstGeom>
          <a:solidFill>
            <a:srgbClr val="1A2A6C"/>
          </a:solidFill>
          <a:ln w="12700">
            <a:solidFill>
              <a:srgbClr val="1A2A6C"/>
            </a:solidFill>
            <a:prstDash val="solid"/>
          </a:ln>
        </p:spPr>
        <p:txBody>
          <a:bodyPr/>
          <a:lstStyle/>
          <a:p>
            <a:endParaRPr lang="en-IE"/>
          </a:p>
        </p:txBody>
      </p:sp>
      <p:sp>
        <p:nvSpPr>
          <p:cNvPr id="90" name="Text 88"/>
          <p:cNvSpPr/>
          <p:nvPr/>
        </p:nvSpPr>
        <p:spPr>
          <a:xfrm>
            <a:off x="182880" y="5754624"/>
            <a:ext cx="1463040" cy="426720"/>
          </a:xfrm>
          <a:prstGeom prst="rect">
            <a:avLst/>
          </a:prstGeom>
          <a:noFill/>
          <a:ln/>
        </p:spPr>
        <p:txBody>
          <a:bodyPr wrap="square" lIns="0" tIns="0" rIns="0" bIns="0" rtlCol="0" anchor="ctr"/>
          <a:lstStyle/>
          <a:p>
            <a:r>
              <a:rPr lang="en-US" sz="1733" b="1" i="1" dirty="0">
                <a:solidFill>
                  <a:srgbClr val="FFFFFF"/>
                </a:solidFill>
              </a:rPr>
              <a:t>Outcomes</a:t>
            </a:r>
            <a:endParaRPr lang="en-US" sz="1733" dirty="0"/>
          </a:p>
        </p:txBody>
      </p:sp>
      <p:sp>
        <p:nvSpPr>
          <p:cNvPr id="91" name="Text 89"/>
          <p:cNvSpPr/>
          <p:nvPr/>
        </p:nvSpPr>
        <p:spPr>
          <a:xfrm>
            <a:off x="1950720" y="5681472"/>
            <a:ext cx="2316480" cy="512064"/>
          </a:xfrm>
          <a:prstGeom prst="rect">
            <a:avLst/>
          </a:prstGeom>
          <a:noFill/>
          <a:ln/>
        </p:spPr>
        <p:txBody>
          <a:bodyPr wrap="square" lIns="0" tIns="0" rIns="0" bIns="0" rtlCol="0" anchor="ctr"/>
          <a:lstStyle/>
          <a:p>
            <a:r>
              <a:rPr lang="en-US" sz="2400" b="1" dirty="0">
                <a:solidFill>
                  <a:srgbClr val="F5A623"/>
                </a:solidFill>
              </a:rPr>
              <a:t>+ 40-80%</a:t>
            </a:r>
            <a:endParaRPr lang="en-US" sz="2400" dirty="0"/>
          </a:p>
        </p:txBody>
      </p:sp>
      <p:sp>
        <p:nvSpPr>
          <p:cNvPr id="92" name="Text 90"/>
          <p:cNvSpPr/>
          <p:nvPr/>
        </p:nvSpPr>
        <p:spPr>
          <a:xfrm>
            <a:off x="1950720" y="6156960"/>
            <a:ext cx="2316480" cy="426720"/>
          </a:xfrm>
          <a:prstGeom prst="rect">
            <a:avLst/>
          </a:prstGeom>
          <a:noFill/>
          <a:ln/>
        </p:spPr>
        <p:txBody>
          <a:bodyPr wrap="square" lIns="0" tIns="0" rIns="0" bIns="0" rtlCol="0" anchor="ctr"/>
          <a:lstStyle/>
          <a:p>
            <a:r>
              <a:rPr lang="en-US" sz="1067" dirty="0">
                <a:solidFill>
                  <a:srgbClr val="FFFFFF"/>
                </a:solidFill>
              </a:rPr>
              <a:t>Faster Agreement Cycle Time</a:t>
            </a:r>
            <a:endParaRPr lang="en-US" sz="1067" dirty="0"/>
          </a:p>
        </p:txBody>
      </p:sp>
      <p:sp>
        <p:nvSpPr>
          <p:cNvPr id="93" name="Text 91"/>
          <p:cNvSpPr/>
          <p:nvPr/>
        </p:nvSpPr>
        <p:spPr>
          <a:xfrm>
            <a:off x="4511040" y="5681472"/>
            <a:ext cx="2316480" cy="512064"/>
          </a:xfrm>
          <a:prstGeom prst="rect">
            <a:avLst/>
          </a:prstGeom>
          <a:noFill/>
          <a:ln/>
        </p:spPr>
        <p:txBody>
          <a:bodyPr wrap="square" lIns="0" tIns="0" rIns="0" bIns="0" rtlCol="0" anchor="ctr"/>
          <a:lstStyle/>
          <a:p>
            <a:r>
              <a:rPr lang="en-US" sz="2400" b="1" dirty="0">
                <a:solidFill>
                  <a:srgbClr val="F5A623"/>
                </a:solidFill>
              </a:rPr>
              <a:t>+ 20-35%</a:t>
            </a:r>
            <a:endParaRPr lang="en-US" sz="2400" dirty="0"/>
          </a:p>
        </p:txBody>
      </p:sp>
      <p:sp>
        <p:nvSpPr>
          <p:cNvPr id="94" name="Text 92"/>
          <p:cNvSpPr/>
          <p:nvPr/>
        </p:nvSpPr>
        <p:spPr>
          <a:xfrm>
            <a:off x="4511040" y="6156960"/>
            <a:ext cx="2316480" cy="426720"/>
          </a:xfrm>
          <a:prstGeom prst="rect">
            <a:avLst/>
          </a:prstGeom>
          <a:noFill/>
          <a:ln/>
        </p:spPr>
        <p:txBody>
          <a:bodyPr wrap="square" lIns="0" tIns="0" rIns="0" bIns="0" rtlCol="0" anchor="ctr"/>
          <a:lstStyle/>
          <a:p>
            <a:r>
              <a:rPr lang="en-US" sz="1067" dirty="0">
                <a:solidFill>
                  <a:srgbClr val="FFFFFF"/>
                </a:solidFill>
              </a:rPr>
              <a:t>More time on Risk Strategy</a:t>
            </a:r>
            <a:endParaRPr lang="en-US" sz="1067" dirty="0"/>
          </a:p>
        </p:txBody>
      </p:sp>
      <p:sp>
        <p:nvSpPr>
          <p:cNvPr id="95" name="Text 93"/>
          <p:cNvSpPr/>
          <p:nvPr/>
        </p:nvSpPr>
        <p:spPr>
          <a:xfrm>
            <a:off x="7071360" y="5681472"/>
            <a:ext cx="2316480" cy="512064"/>
          </a:xfrm>
          <a:prstGeom prst="rect">
            <a:avLst/>
          </a:prstGeom>
          <a:noFill/>
          <a:ln/>
        </p:spPr>
        <p:txBody>
          <a:bodyPr wrap="square" lIns="0" tIns="0" rIns="0" bIns="0" rtlCol="0" anchor="ctr"/>
          <a:lstStyle/>
          <a:p>
            <a:r>
              <a:rPr lang="en-US" sz="2400" b="1" dirty="0">
                <a:solidFill>
                  <a:srgbClr val="F5A623"/>
                </a:solidFill>
              </a:rPr>
              <a:t>&gt; 90+%</a:t>
            </a:r>
            <a:endParaRPr lang="en-US" sz="2400" dirty="0"/>
          </a:p>
        </p:txBody>
      </p:sp>
      <p:sp>
        <p:nvSpPr>
          <p:cNvPr id="96" name="Text 94"/>
          <p:cNvSpPr/>
          <p:nvPr/>
        </p:nvSpPr>
        <p:spPr>
          <a:xfrm>
            <a:off x="7071360" y="6156960"/>
            <a:ext cx="2316480" cy="426720"/>
          </a:xfrm>
          <a:prstGeom prst="rect">
            <a:avLst/>
          </a:prstGeom>
          <a:noFill/>
          <a:ln/>
        </p:spPr>
        <p:txBody>
          <a:bodyPr wrap="square" lIns="0" tIns="0" rIns="0" bIns="0" rtlCol="0" anchor="ctr"/>
          <a:lstStyle/>
          <a:p>
            <a:r>
              <a:rPr lang="en-US" sz="1067" dirty="0">
                <a:solidFill>
                  <a:srgbClr val="FFFFFF"/>
                </a:solidFill>
              </a:rPr>
              <a:t>Automated QA &amp; Compliance Checks</a:t>
            </a:r>
            <a:endParaRPr lang="en-US" sz="1067" dirty="0"/>
          </a:p>
        </p:txBody>
      </p:sp>
      <p:sp>
        <p:nvSpPr>
          <p:cNvPr id="97" name="Text 95"/>
          <p:cNvSpPr/>
          <p:nvPr/>
        </p:nvSpPr>
        <p:spPr>
          <a:xfrm>
            <a:off x="9631680" y="5681472"/>
            <a:ext cx="2316480" cy="512064"/>
          </a:xfrm>
          <a:prstGeom prst="rect">
            <a:avLst/>
          </a:prstGeom>
          <a:noFill/>
          <a:ln/>
        </p:spPr>
        <p:txBody>
          <a:bodyPr wrap="square" lIns="0" tIns="0" rIns="0" bIns="0" rtlCol="0" anchor="ctr"/>
          <a:lstStyle/>
          <a:p>
            <a:r>
              <a:rPr lang="en-US" sz="2400" b="1" dirty="0">
                <a:solidFill>
                  <a:srgbClr val="F5A623"/>
                </a:solidFill>
              </a:rPr>
              <a:t>+ 50-70%</a:t>
            </a:r>
            <a:endParaRPr lang="en-US" sz="2400" dirty="0"/>
          </a:p>
        </p:txBody>
      </p:sp>
      <p:sp>
        <p:nvSpPr>
          <p:cNvPr id="98" name="Text 96"/>
          <p:cNvSpPr/>
          <p:nvPr/>
        </p:nvSpPr>
        <p:spPr>
          <a:xfrm>
            <a:off x="9631680" y="6156960"/>
            <a:ext cx="2316480" cy="426720"/>
          </a:xfrm>
          <a:prstGeom prst="rect">
            <a:avLst/>
          </a:prstGeom>
          <a:noFill/>
          <a:ln/>
        </p:spPr>
        <p:txBody>
          <a:bodyPr wrap="square" lIns="0" tIns="0" rIns="0" bIns="0" rtlCol="0" anchor="ctr"/>
          <a:lstStyle/>
          <a:p>
            <a:r>
              <a:rPr lang="en-US" sz="1067" dirty="0">
                <a:solidFill>
                  <a:srgbClr val="FFFFFF"/>
                </a:solidFill>
              </a:rPr>
              <a:t>Productivity (FTE Hours Saved)</a:t>
            </a:r>
            <a:endParaRPr lang="en-US" sz="106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70560"/>
          </a:xfrm>
          <a:prstGeom prst="rect">
            <a:avLst/>
          </a:prstGeom>
          <a:solidFill>
            <a:srgbClr val="1A2A6C"/>
          </a:solidFill>
          <a:ln w="12700">
            <a:solidFill>
              <a:srgbClr val="1A2A6C"/>
            </a:solidFill>
            <a:prstDash val="solid"/>
          </a:ln>
        </p:spPr>
        <p:txBody>
          <a:bodyPr/>
          <a:lstStyle/>
          <a:p>
            <a:endParaRPr lang="en-IE" sz="2400"/>
          </a:p>
        </p:txBody>
      </p:sp>
      <p:sp>
        <p:nvSpPr>
          <p:cNvPr id="3" name="Text 1"/>
          <p:cNvSpPr/>
          <p:nvPr/>
        </p:nvSpPr>
        <p:spPr>
          <a:xfrm>
            <a:off x="182880" y="60960"/>
            <a:ext cx="4267200" cy="548640"/>
          </a:xfrm>
          <a:prstGeom prst="rect">
            <a:avLst/>
          </a:prstGeom>
          <a:noFill/>
          <a:ln/>
        </p:spPr>
        <p:txBody>
          <a:bodyPr wrap="square" lIns="0" tIns="0" rIns="0" bIns="0" rtlCol="0" anchor="ctr"/>
          <a:lstStyle/>
          <a:p>
            <a:r>
              <a:rPr lang="en-US" sz="1200" dirty="0">
                <a:solidFill>
                  <a:srgbClr val="AABFEE"/>
                </a:solidFill>
              </a:rPr>
              <a:t>CASE OVERVIEW  |  Process Name</a:t>
            </a:r>
            <a:endParaRPr lang="en-US" sz="1200" dirty="0"/>
          </a:p>
        </p:txBody>
      </p:sp>
      <p:sp>
        <p:nvSpPr>
          <p:cNvPr id="4" name="Text 2"/>
          <p:cNvSpPr/>
          <p:nvPr/>
        </p:nvSpPr>
        <p:spPr>
          <a:xfrm>
            <a:off x="4267200" y="60960"/>
            <a:ext cx="7802880" cy="548640"/>
          </a:xfrm>
          <a:prstGeom prst="rect">
            <a:avLst/>
          </a:prstGeom>
          <a:noFill/>
          <a:ln/>
        </p:spPr>
        <p:txBody>
          <a:bodyPr wrap="square" lIns="0" tIns="0" rIns="0" bIns="0" rtlCol="0" anchor="ctr"/>
          <a:lstStyle/>
          <a:p>
            <a:r>
              <a:rPr lang="en-US" sz="2933" b="1" dirty="0">
                <a:solidFill>
                  <a:srgbClr val="FFFFFF"/>
                </a:solidFill>
              </a:rPr>
              <a:t>Technical Solution</a:t>
            </a:r>
            <a:endParaRPr lang="en-US" sz="2933" dirty="0"/>
          </a:p>
        </p:txBody>
      </p:sp>
      <p:sp>
        <p:nvSpPr>
          <p:cNvPr id="5" name="Shape 3"/>
          <p:cNvSpPr/>
          <p:nvPr/>
        </p:nvSpPr>
        <p:spPr>
          <a:xfrm>
            <a:off x="121920" y="792480"/>
            <a:ext cx="11948160" cy="365760"/>
          </a:xfrm>
          <a:prstGeom prst="rect">
            <a:avLst/>
          </a:prstGeom>
          <a:solidFill>
            <a:srgbClr val="2348A0"/>
          </a:solidFill>
          <a:ln w="12700">
            <a:solidFill>
              <a:srgbClr val="2348A0"/>
            </a:solidFill>
            <a:prstDash val="solid"/>
          </a:ln>
        </p:spPr>
        <p:txBody>
          <a:bodyPr/>
          <a:lstStyle/>
          <a:p>
            <a:endParaRPr lang="en-IE" sz="2400"/>
          </a:p>
        </p:txBody>
      </p:sp>
      <p:sp>
        <p:nvSpPr>
          <p:cNvPr id="6" name="Text 4"/>
          <p:cNvSpPr/>
          <p:nvPr/>
        </p:nvSpPr>
        <p:spPr>
          <a:xfrm>
            <a:off x="243840" y="829056"/>
            <a:ext cx="8534400" cy="304800"/>
          </a:xfrm>
          <a:prstGeom prst="rect">
            <a:avLst/>
          </a:prstGeom>
          <a:noFill/>
          <a:ln/>
        </p:spPr>
        <p:txBody>
          <a:bodyPr wrap="square" lIns="0" tIns="0" rIns="0" bIns="0" rtlCol="0" anchor="ctr"/>
          <a:lstStyle/>
          <a:p>
            <a:r>
              <a:rPr lang="en-US" sz="1467" b="1" dirty="0">
                <a:solidFill>
                  <a:srgbClr val="FFFFFF"/>
                </a:solidFill>
              </a:rPr>
              <a:t>DRPA – AI-Powered Technical Architecture</a:t>
            </a:r>
            <a:endParaRPr lang="en-US" sz="1467" dirty="0"/>
          </a:p>
        </p:txBody>
      </p:sp>
      <p:sp>
        <p:nvSpPr>
          <p:cNvPr id="7" name="Text 5"/>
          <p:cNvSpPr/>
          <p:nvPr/>
        </p:nvSpPr>
        <p:spPr>
          <a:xfrm>
            <a:off x="8778240" y="829056"/>
            <a:ext cx="3230880" cy="304800"/>
          </a:xfrm>
          <a:prstGeom prst="rect">
            <a:avLst/>
          </a:prstGeom>
          <a:noFill/>
          <a:ln/>
        </p:spPr>
        <p:txBody>
          <a:bodyPr wrap="square" lIns="0" tIns="0" rIns="0" bIns="0" rtlCol="0" anchor="ctr"/>
          <a:lstStyle/>
          <a:p>
            <a:pPr algn="r"/>
            <a:r>
              <a:rPr lang="en-US" sz="1133" b="1" dirty="0">
                <a:solidFill>
                  <a:srgbClr val="F5A623"/>
                </a:solidFill>
              </a:rPr>
              <a:t>technologies will be used →</a:t>
            </a:r>
            <a:endParaRPr lang="en-US" sz="1133" dirty="0"/>
          </a:p>
        </p:txBody>
      </p:sp>
      <p:sp>
        <p:nvSpPr>
          <p:cNvPr id="11" name="Shape 9"/>
          <p:cNvSpPr/>
          <p:nvPr/>
        </p:nvSpPr>
        <p:spPr>
          <a:xfrm>
            <a:off x="146304" y="1219200"/>
            <a:ext cx="2804160" cy="341376"/>
          </a:xfrm>
          <a:prstGeom prst="rect">
            <a:avLst/>
          </a:prstGeom>
          <a:solidFill>
            <a:srgbClr val="2C86C8"/>
          </a:solidFill>
          <a:ln w="12700">
            <a:solidFill>
              <a:srgbClr val="2C86C8"/>
            </a:solidFill>
            <a:prstDash val="solid"/>
          </a:ln>
        </p:spPr>
        <p:txBody>
          <a:bodyPr/>
          <a:lstStyle/>
          <a:p>
            <a:endParaRPr lang="en-IE" sz="2400"/>
          </a:p>
        </p:txBody>
      </p:sp>
      <p:sp>
        <p:nvSpPr>
          <p:cNvPr id="12" name="Text 10"/>
          <p:cNvSpPr/>
          <p:nvPr/>
        </p:nvSpPr>
        <p:spPr>
          <a:xfrm>
            <a:off x="207264" y="1255776"/>
            <a:ext cx="2682240" cy="268224"/>
          </a:xfrm>
          <a:prstGeom prst="rect">
            <a:avLst/>
          </a:prstGeom>
          <a:noFill/>
          <a:ln/>
        </p:spPr>
        <p:txBody>
          <a:bodyPr wrap="square" lIns="0" tIns="0" rIns="0" bIns="0" rtlCol="0" anchor="ctr"/>
          <a:lstStyle/>
          <a:p>
            <a:r>
              <a:rPr lang="en-US" sz="1067" b="1" dirty="0">
                <a:solidFill>
                  <a:srgbClr val="FFFFFF"/>
                </a:solidFill>
              </a:rPr>
              <a:t>1. Service Desk &amp; Intake (L1)</a:t>
            </a:r>
            <a:endParaRPr lang="en-US" sz="1067" dirty="0"/>
          </a:p>
        </p:txBody>
      </p:sp>
      <p:sp>
        <p:nvSpPr>
          <p:cNvPr id="13" name="Shape 11"/>
          <p:cNvSpPr/>
          <p:nvPr/>
        </p:nvSpPr>
        <p:spPr>
          <a:xfrm>
            <a:off x="146304" y="1560576"/>
            <a:ext cx="2804160" cy="938784"/>
          </a:xfrm>
          <a:prstGeom prst="rect">
            <a:avLst/>
          </a:prstGeom>
          <a:solidFill>
            <a:srgbClr val="FFFFFF"/>
          </a:solidFill>
          <a:ln w="12700">
            <a:solidFill>
              <a:srgbClr val="C0CCE8"/>
            </a:solidFill>
            <a:prstDash val="solid"/>
          </a:ln>
        </p:spPr>
        <p:txBody>
          <a:bodyPr/>
          <a:lstStyle/>
          <a:p>
            <a:endParaRPr lang="en-IE" sz="2400"/>
          </a:p>
        </p:txBody>
      </p:sp>
      <p:sp>
        <p:nvSpPr>
          <p:cNvPr id="14" name="Text 12"/>
          <p:cNvSpPr/>
          <p:nvPr/>
        </p:nvSpPr>
        <p:spPr>
          <a:xfrm>
            <a:off x="231648" y="1609344"/>
            <a:ext cx="2657856" cy="841248"/>
          </a:xfrm>
          <a:prstGeom prst="rect">
            <a:avLst/>
          </a:prstGeom>
          <a:noFill/>
          <a:ln/>
        </p:spPr>
        <p:txBody>
          <a:bodyPr wrap="square" rtlCol="0" anchor="ctr"/>
          <a:lstStyle/>
          <a:p>
            <a:pPr marL="457189" indent="-457189">
              <a:buSzPct val="100000"/>
              <a:buChar char="•"/>
            </a:pPr>
            <a:r>
              <a:rPr lang="en-US" sz="1000" dirty="0">
                <a:solidFill>
                  <a:srgbClr val="1A1F36"/>
                </a:solidFill>
              </a:rPr>
              <a:t>Log &amp; Acknowledge DRPA Request</a:t>
            </a:r>
            <a:endParaRPr lang="en-US" sz="1000" dirty="0"/>
          </a:p>
          <a:p>
            <a:pPr marL="457189" indent="-457189">
              <a:buSzPct val="100000"/>
              <a:buChar char="•"/>
            </a:pPr>
            <a:r>
              <a:rPr lang="en-US" sz="1000" dirty="0">
                <a:solidFill>
                  <a:srgbClr val="1A1F36"/>
                </a:solidFill>
              </a:rPr>
              <a:t>Initial Diagnosis &amp; Triage</a:t>
            </a:r>
            <a:endParaRPr lang="en-US" sz="1000" dirty="0"/>
          </a:p>
          <a:p>
            <a:pPr marL="457189" indent="-457189">
              <a:buSzPct val="100000"/>
              <a:buChar char="•"/>
            </a:pPr>
            <a:r>
              <a:rPr lang="en-US" sz="1000" dirty="0">
                <a:solidFill>
                  <a:srgbClr val="1A1F36"/>
                </a:solidFill>
              </a:rPr>
              <a:t>Quick Resolution if possible</a:t>
            </a:r>
            <a:endParaRPr lang="en-US" sz="1000" dirty="0"/>
          </a:p>
          <a:p>
            <a:pPr marL="457189" indent="-457189">
              <a:buSzPct val="100000"/>
              <a:buChar char="•"/>
            </a:pPr>
            <a:r>
              <a:rPr lang="en-US" sz="1000" dirty="0">
                <a:solidFill>
                  <a:srgbClr val="1A1F36"/>
                </a:solidFill>
              </a:rPr>
              <a:t>Route to Risk Engine if needed</a:t>
            </a:r>
            <a:endParaRPr lang="en-US" sz="1000" dirty="0"/>
          </a:p>
        </p:txBody>
      </p:sp>
      <p:sp>
        <p:nvSpPr>
          <p:cNvPr id="15" name="Shape 13"/>
          <p:cNvSpPr/>
          <p:nvPr/>
        </p:nvSpPr>
        <p:spPr>
          <a:xfrm>
            <a:off x="140208" y="2968752"/>
            <a:ext cx="2804160" cy="341376"/>
          </a:xfrm>
          <a:prstGeom prst="rect">
            <a:avLst/>
          </a:prstGeom>
          <a:solidFill>
            <a:srgbClr val="0F3D7A"/>
          </a:solidFill>
          <a:ln w="12700">
            <a:solidFill>
              <a:srgbClr val="0F3D7A"/>
            </a:solidFill>
            <a:prstDash val="solid"/>
          </a:ln>
        </p:spPr>
        <p:txBody>
          <a:bodyPr/>
          <a:lstStyle/>
          <a:p>
            <a:endParaRPr lang="en-IE" sz="2400"/>
          </a:p>
        </p:txBody>
      </p:sp>
      <p:sp>
        <p:nvSpPr>
          <p:cNvPr id="16" name="Text 14"/>
          <p:cNvSpPr/>
          <p:nvPr/>
        </p:nvSpPr>
        <p:spPr>
          <a:xfrm>
            <a:off x="207264" y="3011424"/>
            <a:ext cx="2682240" cy="268224"/>
          </a:xfrm>
          <a:prstGeom prst="rect">
            <a:avLst/>
          </a:prstGeom>
          <a:noFill/>
          <a:ln/>
        </p:spPr>
        <p:txBody>
          <a:bodyPr wrap="square" lIns="0" tIns="0" rIns="0" bIns="0" rtlCol="0" anchor="ctr"/>
          <a:lstStyle/>
          <a:p>
            <a:r>
              <a:rPr lang="en-US" sz="1067" b="1" dirty="0">
                <a:solidFill>
                  <a:srgbClr val="FFFFFF"/>
                </a:solidFill>
              </a:rPr>
              <a:t>2. Risk Calculation Engine (L2/L3)</a:t>
            </a:r>
            <a:endParaRPr lang="en-US" sz="1067" dirty="0"/>
          </a:p>
        </p:txBody>
      </p:sp>
      <p:sp>
        <p:nvSpPr>
          <p:cNvPr id="17" name="Shape 15"/>
          <p:cNvSpPr/>
          <p:nvPr/>
        </p:nvSpPr>
        <p:spPr>
          <a:xfrm>
            <a:off x="140208" y="3328416"/>
            <a:ext cx="2804160" cy="938784"/>
          </a:xfrm>
          <a:prstGeom prst="rect">
            <a:avLst/>
          </a:prstGeom>
          <a:solidFill>
            <a:srgbClr val="FFFFFF"/>
          </a:solidFill>
          <a:ln w="12700">
            <a:solidFill>
              <a:srgbClr val="C0CCE8"/>
            </a:solidFill>
            <a:prstDash val="solid"/>
          </a:ln>
        </p:spPr>
        <p:txBody>
          <a:bodyPr/>
          <a:lstStyle/>
          <a:p>
            <a:endParaRPr lang="en-IE" sz="2400"/>
          </a:p>
        </p:txBody>
      </p:sp>
      <p:sp>
        <p:nvSpPr>
          <p:cNvPr id="18" name="Text 16"/>
          <p:cNvSpPr/>
          <p:nvPr/>
        </p:nvSpPr>
        <p:spPr>
          <a:xfrm>
            <a:off x="121920" y="3346704"/>
            <a:ext cx="2657856" cy="841248"/>
          </a:xfrm>
          <a:prstGeom prst="rect">
            <a:avLst/>
          </a:prstGeom>
          <a:noFill/>
          <a:ln/>
        </p:spPr>
        <p:txBody>
          <a:bodyPr wrap="square" rtlCol="0" anchor="ctr"/>
          <a:lstStyle/>
          <a:p>
            <a:pPr marL="457189" indent="-457189">
              <a:buSzPct val="100000"/>
              <a:buChar char="•"/>
            </a:pPr>
            <a:r>
              <a:rPr lang="en-US" sz="1000" dirty="0">
                <a:solidFill>
                  <a:srgbClr val="1A1F36"/>
                </a:solidFill>
              </a:rPr>
              <a:t>Deep Risk Analysis</a:t>
            </a:r>
            <a:endParaRPr lang="en-US" sz="1000" dirty="0"/>
          </a:p>
          <a:p>
            <a:pPr marL="457189" indent="-457189">
              <a:buSzPct val="100000"/>
              <a:buChar char="•"/>
            </a:pPr>
            <a:r>
              <a:rPr lang="en-US" sz="1000" dirty="0">
                <a:solidFill>
                  <a:srgbClr val="1A1F36"/>
                </a:solidFill>
              </a:rPr>
              <a:t>Root Cause Analysis</a:t>
            </a:r>
            <a:endParaRPr lang="en-US" sz="1000" dirty="0"/>
          </a:p>
          <a:p>
            <a:pPr marL="457189" indent="-457189">
              <a:buSzPct val="100000"/>
              <a:buChar char="•"/>
            </a:pPr>
            <a:r>
              <a:rPr lang="en-US" sz="1000" dirty="0">
                <a:solidFill>
                  <a:srgbClr val="1A1F36"/>
                </a:solidFill>
              </a:rPr>
              <a:t>Volatility &amp; Drawdown Forecasting</a:t>
            </a:r>
            <a:endParaRPr lang="en-US" sz="1000" dirty="0"/>
          </a:p>
          <a:p>
            <a:pPr marL="457189" indent="-457189">
              <a:buSzPct val="100000"/>
              <a:buChar char="•"/>
            </a:pPr>
            <a:r>
              <a:rPr lang="en-US" sz="1000" dirty="0">
                <a:solidFill>
                  <a:srgbClr val="1A1F36"/>
                </a:solidFill>
              </a:rPr>
              <a:t>Correlation Regime Switching</a:t>
            </a:r>
            <a:endParaRPr lang="en-US" sz="1000" dirty="0"/>
          </a:p>
        </p:txBody>
      </p:sp>
      <p:sp>
        <p:nvSpPr>
          <p:cNvPr id="19" name="Shape 17"/>
          <p:cNvSpPr/>
          <p:nvPr/>
        </p:nvSpPr>
        <p:spPr>
          <a:xfrm>
            <a:off x="4462272" y="1246632"/>
            <a:ext cx="2804160" cy="341376"/>
          </a:xfrm>
          <a:prstGeom prst="rect">
            <a:avLst/>
          </a:prstGeom>
          <a:solidFill>
            <a:srgbClr val="0F3D7A"/>
          </a:solidFill>
          <a:ln w="12700">
            <a:solidFill>
              <a:srgbClr val="0F3D7A"/>
            </a:solidFill>
            <a:prstDash val="solid"/>
          </a:ln>
        </p:spPr>
        <p:txBody>
          <a:bodyPr/>
          <a:lstStyle/>
          <a:p>
            <a:endParaRPr lang="en-IE" sz="2400"/>
          </a:p>
        </p:txBody>
      </p:sp>
      <p:sp>
        <p:nvSpPr>
          <p:cNvPr id="20" name="Text 18"/>
          <p:cNvSpPr/>
          <p:nvPr/>
        </p:nvSpPr>
        <p:spPr>
          <a:xfrm>
            <a:off x="4602480" y="1264920"/>
            <a:ext cx="2682240" cy="268224"/>
          </a:xfrm>
          <a:prstGeom prst="rect">
            <a:avLst/>
          </a:prstGeom>
          <a:noFill/>
          <a:ln/>
        </p:spPr>
        <p:txBody>
          <a:bodyPr wrap="square" lIns="0" tIns="0" rIns="0" bIns="0" rtlCol="0" anchor="ctr"/>
          <a:lstStyle/>
          <a:p>
            <a:r>
              <a:rPr lang="en-US" sz="1067" b="1" dirty="0">
                <a:solidFill>
                  <a:srgbClr val="FFFFFF"/>
                </a:solidFill>
              </a:rPr>
              <a:t>3. Agreement Management</a:t>
            </a:r>
            <a:endParaRPr lang="en-US" sz="1067" dirty="0"/>
          </a:p>
        </p:txBody>
      </p:sp>
      <p:sp>
        <p:nvSpPr>
          <p:cNvPr id="21" name="Shape 19"/>
          <p:cNvSpPr/>
          <p:nvPr/>
        </p:nvSpPr>
        <p:spPr>
          <a:xfrm>
            <a:off x="4462272" y="1588008"/>
            <a:ext cx="2804160" cy="938784"/>
          </a:xfrm>
          <a:prstGeom prst="rect">
            <a:avLst/>
          </a:prstGeom>
          <a:solidFill>
            <a:srgbClr val="FFFFFF"/>
          </a:solidFill>
          <a:ln w="12700">
            <a:solidFill>
              <a:srgbClr val="C0CCE8"/>
            </a:solidFill>
            <a:prstDash val="solid"/>
          </a:ln>
        </p:spPr>
        <p:txBody>
          <a:bodyPr/>
          <a:lstStyle/>
          <a:p>
            <a:endParaRPr lang="en-IE" sz="2400"/>
          </a:p>
        </p:txBody>
      </p:sp>
      <p:sp>
        <p:nvSpPr>
          <p:cNvPr id="22" name="Text 20"/>
          <p:cNvSpPr/>
          <p:nvPr/>
        </p:nvSpPr>
        <p:spPr>
          <a:xfrm>
            <a:off x="4511040" y="1627632"/>
            <a:ext cx="2657856" cy="841248"/>
          </a:xfrm>
          <a:prstGeom prst="rect">
            <a:avLst/>
          </a:prstGeom>
          <a:noFill/>
          <a:ln/>
        </p:spPr>
        <p:txBody>
          <a:bodyPr wrap="square" rtlCol="0" anchor="ctr"/>
          <a:lstStyle/>
          <a:p>
            <a:pPr marL="457189" indent="-457189">
              <a:buSzPct val="100000"/>
              <a:buChar char="•"/>
            </a:pPr>
            <a:r>
              <a:rPr lang="en-US" sz="1000" dirty="0">
                <a:solidFill>
                  <a:srgbClr val="1A1F36"/>
                </a:solidFill>
              </a:rPr>
              <a:t>Raise Agreement Change Request</a:t>
            </a:r>
            <a:endParaRPr lang="en-US" sz="1000" dirty="0"/>
          </a:p>
          <a:p>
            <a:pPr marL="457189" indent="-457189">
              <a:buSzPct val="100000"/>
              <a:buChar char="•"/>
            </a:pPr>
            <a:r>
              <a:rPr lang="en-US" sz="1000" dirty="0">
                <a:solidFill>
                  <a:srgbClr val="1A1F36"/>
                </a:solidFill>
              </a:rPr>
              <a:t>Impact &amp; Risk Assessment</a:t>
            </a:r>
            <a:endParaRPr lang="en-US" sz="1000" dirty="0"/>
          </a:p>
          <a:p>
            <a:pPr marL="457189" indent="-457189">
              <a:buSzPct val="100000"/>
              <a:buChar char="•"/>
            </a:pPr>
            <a:r>
              <a:rPr lang="en-US" sz="1000" dirty="0">
                <a:solidFill>
                  <a:srgbClr val="1A1F36"/>
                </a:solidFill>
              </a:rPr>
              <a:t>CAB Approval workflow</a:t>
            </a:r>
            <a:endParaRPr lang="en-US" sz="1000" dirty="0"/>
          </a:p>
          <a:p>
            <a:pPr marL="457189" indent="-457189">
              <a:buSzPct val="100000"/>
              <a:buChar char="•"/>
            </a:pPr>
            <a:r>
              <a:rPr lang="en-US" sz="1000" dirty="0">
                <a:solidFill>
                  <a:srgbClr val="1A1F36"/>
                </a:solidFill>
              </a:rPr>
              <a:t>Plan → Draft → Deploy</a:t>
            </a:r>
            <a:endParaRPr lang="en-US" sz="1000" dirty="0"/>
          </a:p>
        </p:txBody>
      </p:sp>
      <p:sp>
        <p:nvSpPr>
          <p:cNvPr id="23" name="Shape 21"/>
          <p:cNvSpPr/>
          <p:nvPr/>
        </p:nvSpPr>
        <p:spPr>
          <a:xfrm>
            <a:off x="4480560" y="2871216"/>
            <a:ext cx="2804160" cy="341376"/>
          </a:xfrm>
          <a:prstGeom prst="rect">
            <a:avLst/>
          </a:prstGeom>
          <a:solidFill>
            <a:srgbClr val="2C86C8"/>
          </a:solidFill>
          <a:ln w="12700">
            <a:solidFill>
              <a:srgbClr val="2C86C8"/>
            </a:solidFill>
            <a:prstDash val="solid"/>
          </a:ln>
        </p:spPr>
        <p:txBody>
          <a:bodyPr/>
          <a:lstStyle/>
          <a:p>
            <a:endParaRPr lang="en-IE" sz="2400"/>
          </a:p>
        </p:txBody>
      </p:sp>
      <p:sp>
        <p:nvSpPr>
          <p:cNvPr id="24" name="Text 22"/>
          <p:cNvSpPr/>
          <p:nvPr/>
        </p:nvSpPr>
        <p:spPr>
          <a:xfrm>
            <a:off x="4608576" y="2959608"/>
            <a:ext cx="2682240" cy="268224"/>
          </a:xfrm>
          <a:prstGeom prst="rect">
            <a:avLst/>
          </a:prstGeom>
          <a:noFill/>
          <a:ln/>
        </p:spPr>
        <p:txBody>
          <a:bodyPr wrap="square" lIns="0" tIns="0" rIns="0" bIns="0" rtlCol="0" anchor="ctr"/>
          <a:lstStyle/>
          <a:p>
            <a:r>
              <a:rPr lang="en-US" sz="1067" b="1" dirty="0">
                <a:solidFill>
                  <a:srgbClr val="FFFFFF"/>
                </a:solidFill>
              </a:rPr>
              <a:t>4. Resolution &amp; Recovery</a:t>
            </a:r>
            <a:endParaRPr lang="en-US" sz="1067" dirty="0"/>
          </a:p>
        </p:txBody>
      </p:sp>
      <p:sp>
        <p:nvSpPr>
          <p:cNvPr id="25" name="Shape 23"/>
          <p:cNvSpPr/>
          <p:nvPr/>
        </p:nvSpPr>
        <p:spPr>
          <a:xfrm>
            <a:off x="4492752" y="3249168"/>
            <a:ext cx="2804160" cy="938784"/>
          </a:xfrm>
          <a:prstGeom prst="rect">
            <a:avLst/>
          </a:prstGeom>
          <a:solidFill>
            <a:srgbClr val="FFFFFF"/>
          </a:solidFill>
          <a:ln w="12700">
            <a:solidFill>
              <a:srgbClr val="C0CCE8"/>
            </a:solidFill>
            <a:prstDash val="solid"/>
          </a:ln>
        </p:spPr>
        <p:txBody>
          <a:bodyPr/>
          <a:lstStyle/>
          <a:p>
            <a:endParaRPr lang="en-IE" sz="2400"/>
          </a:p>
        </p:txBody>
      </p:sp>
      <p:sp>
        <p:nvSpPr>
          <p:cNvPr id="26" name="Text 24"/>
          <p:cNvSpPr/>
          <p:nvPr/>
        </p:nvSpPr>
        <p:spPr>
          <a:xfrm>
            <a:off x="4523232" y="3322320"/>
            <a:ext cx="2657856" cy="841248"/>
          </a:xfrm>
          <a:prstGeom prst="rect">
            <a:avLst/>
          </a:prstGeom>
          <a:noFill/>
          <a:ln/>
        </p:spPr>
        <p:txBody>
          <a:bodyPr wrap="square" rtlCol="0" anchor="ctr"/>
          <a:lstStyle/>
          <a:p>
            <a:pPr marL="457189" indent="-457189">
              <a:buSzPct val="100000"/>
              <a:buChar char="•"/>
            </a:pPr>
            <a:r>
              <a:rPr lang="en-US" sz="1000" dirty="0">
                <a:solidFill>
                  <a:srgbClr val="1A1F36"/>
                </a:solidFill>
              </a:rPr>
              <a:t>Implement Agreement Fix</a:t>
            </a:r>
            <a:endParaRPr lang="en-US" sz="1000" dirty="0"/>
          </a:p>
          <a:p>
            <a:pPr marL="457189" indent="-457189">
              <a:buSzPct val="100000"/>
              <a:buChar char="•"/>
            </a:pPr>
            <a:r>
              <a:rPr lang="en-US" sz="1000" dirty="0">
                <a:solidFill>
                  <a:srgbClr val="1A1F36"/>
                </a:solidFill>
              </a:rPr>
              <a:t>Notify Counterparties</a:t>
            </a:r>
            <a:endParaRPr lang="en-US" sz="1000" dirty="0"/>
          </a:p>
          <a:p>
            <a:pPr marL="457189" indent="-457189">
              <a:buSzPct val="100000"/>
              <a:buChar char="•"/>
            </a:pPr>
            <a:r>
              <a:rPr lang="en-US" sz="1000" dirty="0">
                <a:solidFill>
                  <a:srgbClr val="1A1F36"/>
                </a:solidFill>
              </a:rPr>
              <a:t>Confirm pricing &amp; terms updated</a:t>
            </a:r>
            <a:endParaRPr lang="en-US" sz="1000" dirty="0"/>
          </a:p>
          <a:p>
            <a:pPr marL="457189" indent="-457189">
              <a:buSzPct val="100000"/>
              <a:buChar char="•"/>
            </a:pPr>
            <a:r>
              <a:rPr lang="en-US" sz="1000" dirty="0">
                <a:solidFill>
                  <a:srgbClr val="1A1F36"/>
                </a:solidFill>
              </a:rPr>
              <a:t>Restore normal operations</a:t>
            </a:r>
            <a:endParaRPr lang="en-US" sz="1000" dirty="0"/>
          </a:p>
        </p:txBody>
      </p:sp>
      <p:sp>
        <p:nvSpPr>
          <p:cNvPr id="27" name="Shape 25"/>
          <p:cNvSpPr/>
          <p:nvPr/>
        </p:nvSpPr>
        <p:spPr>
          <a:xfrm>
            <a:off x="8936736" y="1237488"/>
            <a:ext cx="3048000" cy="341376"/>
          </a:xfrm>
          <a:prstGeom prst="rect">
            <a:avLst/>
          </a:prstGeom>
          <a:solidFill>
            <a:srgbClr val="2C86C8"/>
          </a:solidFill>
          <a:ln w="12700">
            <a:solidFill>
              <a:srgbClr val="2C86C8"/>
            </a:solidFill>
            <a:prstDash val="solid"/>
          </a:ln>
        </p:spPr>
        <p:txBody>
          <a:bodyPr/>
          <a:lstStyle/>
          <a:p>
            <a:endParaRPr lang="en-IE" sz="2400"/>
          </a:p>
        </p:txBody>
      </p:sp>
      <p:sp>
        <p:nvSpPr>
          <p:cNvPr id="28" name="Text 26"/>
          <p:cNvSpPr/>
          <p:nvPr/>
        </p:nvSpPr>
        <p:spPr>
          <a:xfrm>
            <a:off x="9058656" y="1301496"/>
            <a:ext cx="2926080" cy="268224"/>
          </a:xfrm>
          <a:prstGeom prst="rect">
            <a:avLst/>
          </a:prstGeom>
          <a:noFill/>
          <a:ln/>
        </p:spPr>
        <p:txBody>
          <a:bodyPr wrap="square" lIns="0" tIns="0" rIns="0" bIns="0" rtlCol="0" anchor="ctr"/>
          <a:lstStyle/>
          <a:p>
            <a:r>
              <a:rPr lang="en-US" sz="1067" b="1" dirty="0">
                <a:solidFill>
                  <a:srgbClr val="FFFFFF"/>
                </a:solidFill>
              </a:rPr>
              <a:t>5. Closure &amp; Sign-off</a:t>
            </a:r>
            <a:endParaRPr lang="en-US" sz="1067" dirty="0"/>
          </a:p>
        </p:txBody>
      </p:sp>
      <p:sp>
        <p:nvSpPr>
          <p:cNvPr id="29" name="Shape 27"/>
          <p:cNvSpPr/>
          <p:nvPr/>
        </p:nvSpPr>
        <p:spPr>
          <a:xfrm>
            <a:off x="8900160" y="1645920"/>
            <a:ext cx="3048000" cy="938784"/>
          </a:xfrm>
          <a:prstGeom prst="rect">
            <a:avLst/>
          </a:prstGeom>
          <a:solidFill>
            <a:srgbClr val="FFFFFF"/>
          </a:solidFill>
          <a:ln w="12700">
            <a:solidFill>
              <a:srgbClr val="C0CCE8"/>
            </a:solidFill>
            <a:prstDash val="solid"/>
          </a:ln>
        </p:spPr>
        <p:txBody>
          <a:bodyPr/>
          <a:lstStyle/>
          <a:p>
            <a:endParaRPr lang="en-IE" sz="2400"/>
          </a:p>
        </p:txBody>
      </p:sp>
      <p:sp>
        <p:nvSpPr>
          <p:cNvPr id="30" name="Text 28"/>
          <p:cNvSpPr/>
          <p:nvPr/>
        </p:nvSpPr>
        <p:spPr>
          <a:xfrm>
            <a:off x="8900160" y="1670304"/>
            <a:ext cx="2901696" cy="841248"/>
          </a:xfrm>
          <a:prstGeom prst="rect">
            <a:avLst/>
          </a:prstGeom>
          <a:noFill/>
          <a:ln/>
        </p:spPr>
        <p:txBody>
          <a:bodyPr wrap="square" rtlCol="0" anchor="ctr"/>
          <a:lstStyle/>
          <a:p>
            <a:pPr marL="457189" indent="-457189">
              <a:buSzPct val="100000"/>
              <a:buChar char="•"/>
            </a:pPr>
            <a:r>
              <a:rPr lang="en-US" sz="1000" dirty="0">
                <a:solidFill>
                  <a:srgbClr val="1A1F36"/>
                </a:solidFill>
              </a:rPr>
              <a:t>Counterparty Confirmation</a:t>
            </a:r>
            <a:endParaRPr lang="en-US" sz="1000" dirty="0"/>
          </a:p>
          <a:p>
            <a:pPr marL="457189" indent="-457189">
              <a:buSzPct val="100000"/>
              <a:buChar char="•"/>
            </a:pPr>
            <a:r>
              <a:rPr lang="en-US" sz="1000" dirty="0">
                <a:solidFill>
                  <a:srgbClr val="1A1F36"/>
                </a:solidFill>
              </a:rPr>
              <a:t>Legal Documentation</a:t>
            </a:r>
            <a:endParaRPr lang="en-US" sz="1000" dirty="0"/>
          </a:p>
          <a:p>
            <a:pPr marL="457189" indent="-457189">
              <a:buSzPct val="100000"/>
              <a:buChar char="•"/>
            </a:pPr>
            <a:r>
              <a:rPr lang="en-US" sz="1000" dirty="0">
                <a:solidFill>
                  <a:srgbClr val="1A1F36"/>
                </a:solidFill>
              </a:rPr>
              <a:t>Digital Signature via Copilot</a:t>
            </a:r>
            <a:endParaRPr lang="en-US" sz="1000" dirty="0"/>
          </a:p>
          <a:p>
            <a:pPr marL="457189" indent="-457189">
              <a:buSzPct val="100000"/>
              <a:buChar char="•"/>
            </a:pPr>
            <a:r>
              <a:rPr lang="en-US" sz="1000" dirty="0">
                <a:solidFill>
                  <a:srgbClr val="1A1F36"/>
                </a:solidFill>
              </a:rPr>
              <a:t>Ticket Closure + Audit log</a:t>
            </a:r>
            <a:endParaRPr lang="en-US" sz="1000" dirty="0"/>
          </a:p>
        </p:txBody>
      </p:sp>
      <p:sp>
        <p:nvSpPr>
          <p:cNvPr id="31" name="Shape 29"/>
          <p:cNvSpPr/>
          <p:nvPr/>
        </p:nvSpPr>
        <p:spPr>
          <a:xfrm>
            <a:off x="8924544" y="2849880"/>
            <a:ext cx="3048000" cy="341376"/>
          </a:xfrm>
          <a:prstGeom prst="rect">
            <a:avLst/>
          </a:prstGeom>
          <a:solidFill>
            <a:srgbClr val="0F3D7A"/>
          </a:solidFill>
          <a:ln w="12700">
            <a:solidFill>
              <a:srgbClr val="0F3D7A"/>
            </a:solidFill>
            <a:prstDash val="solid"/>
          </a:ln>
        </p:spPr>
        <p:txBody>
          <a:bodyPr/>
          <a:lstStyle/>
          <a:p>
            <a:endParaRPr lang="en-IE" sz="2400"/>
          </a:p>
        </p:txBody>
      </p:sp>
      <p:sp>
        <p:nvSpPr>
          <p:cNvPr id="32" name="Text 30"/>
          <p:cNvSpPr/>
          <p:nvPr/>
        </p:nvSpPr>
        <p:spPr>
          <a:xfrm>
            <a:off x="9144000" y="2886456"/>
            <a:ext cx="2926080" cy="268224"/>
          </a:xfrm>
          <a:prstGeom prst="rect">
            <a:avLst/>
          </a:prstGeom>
          <a:noFill/>
          <a:ln/>
        </p:spPr>
        <p:txBody>
          <a:bodyPr wrap="square" lIns="0" tIns="0" rIns="0" bIns="0" rtlCol="0" anchor="ctr"/>
          <a:lstStyle/>
          <a:p>
            <a:r>
              <a:rPr lang="en-US" sz="1067" b="1" dirty="0">
                <a:solidFill>
                  <a:srgbClr val="FFFFFF"/>
                </a:solidFill>
              </a:rPr>
              <a:t>6. Problem Management</a:t>
            </a:r>
            <a:endParaRPr lang="en-US" sz="1067" dirty="0"/>
          </a:p>
        </p:txBody>
      </p:sp>
      <p:sp>
        <p:nvSpPr>
          <p:cNvPr id="33" name="Shape 31"/>
          <p:cNvSpPr/>
          <p:nvPr/>
        </p:nvSpPr>
        <p:spPr>
          <a:xfrm>
            <a:off x="8961120" y="3182112"/>
            <a:ext cx="3048000" cy="938784"/>
          </a:xfrm>
          <a:prstGeom prst="rect">
            <a:avLst/>
          </a:prstGeom>
          <a:solidFill>
            <a:srgbClr val="FFFFFF"/>
          </a:solidFill>
          <a:ln w="12700">
            <a:solidFill>
              <a:srgbClr val="C0CCE8"/>
            </a:solidFill>
            <a:prstDash val="solid"/>
          </a:ln>
        </p:spPr>
        <p:txBody>
          <a:bodyPr/>
          <a:lstStyle/>
          <a:p>
            <a:endParaRPr lang="en-IE" sz="2400"/>
          </a:p>
        </p:txBody>
      </p:sp>
      <p:sp>
        <p:nvSpPr>
          <p:cNvPr id="34" name="Text 32"/>
          <p:cNvSpPr/>
          <p:nvPr/>
        </p:nvSpPr>
        <p:spPr>
          <a:xfrm>
            <a:off x="9040368" y="3200400"/>
            <a:ext cx="2901696" cy="841248"/>
          </a:xfrm>
          <a:prstGeom prst="rect">
            <a:avLst/>
          </a:prstGeom>
          <a:noFill/>
          <a:ln/>
        </p:spPr>
        <p:txBody>
          <a:bodyPr wrap="square" rtlCol="0" anchor="ctr"/>
          <a:lstStyle/>
          <a:p>
            <a:pPr marL="457189" indent="-457189">
              <a:buSzPct val="100000"/>
              <a:buChar char="•"/>
            </a:pPr>
            <a:r>
              <a:rPr lang="en-US" sz="1000" dirty="0">
                <a:solidFill>
                  <a:srgbClr val="1A1F36"/>
                </a:solidFill>
              </a:rPr>
              <a:t>Identify Root Cause of mis-pricings</a:t>
            </a:r>
            <a:endParaRPr lang="en-US" sz="1000" dirty="0"/>
          </a:p>
          <a:p>
            <a:pPr marL="457189" indent="-457189">
              <a:buSzPct val="100000"/>
              <a:buChar char="•"/>
            </a:pPr>
            <a:r>
              <a:rPr lang="en-US" sz="1000" dirty="0">
                <a:solidFill>
                  <a:srgbClr val="1A1F36"/>
                </a:solidFill>
              </a:rPr>
              <a:t>Known Error Database update</a:t>
            </a:r>
            <a:endParaRPr lang="en-US" sz="1000" dirty="0"/>
          </a:p>
          <a:p>
            <a:pPr marL="457189" indent="-457189">
              <a:buSzPct val="100000"/>
              <a:buChar char="•"/>
            </a:pPr>
            <a:r>
              <a:rPr lang="en-US" sz="1000" dirty="0">
                <a:solidFill>
                  <a:srgbClr val="1A1F36"/>
                </a:solidFill>
              </a:rPr>
              <a:t>Workaround / Permanent Fix</a:t>
            </a:r>
            <a:endParaRPr lang="en-US" sz="1000" dirty="0"/>
          </a:p>
          <a:p>
            <a:pPr marL="457189" indent="-457189">
              <a:buSzPct val="100000"/>
              <a:buChar char="•"/>
            </a:pPr>
            <a:r>
              <a:rPr lang="en-US" sz="1000" dirty="0">
                <a:solidFill>
                  <a:srgbClr val="1A1F36"/>
                </a:solidFill>
              </a:rPr>
              <a:t>Prevent Future Incidents</a:t>
            </a:r>
            <a:endParaRPr lang="en-US" sz="1000" dirty="0"/>
          </a:p>
        </p:txBody>
      </p:sp>
      <p:sp>
        <p:nvSpPr>
          <p:cNvPr id="35" name="Shape 33"/>
          <p:cNvSpPr/>
          <p:nvPr/>
        </p:nvSpPr>
        <p:spPr>
          <a:xfrm>
            <a:off x="82296" y="5385816"/>
            <a:ext cx="3270504" cy="341376"/>
          </a:xfrm>
          <a:prstGeom prst="rect">
            <a:avLst/>
          </a:prstGeom>
          <a:solidFill>
            <a:srgbClr val="2C86C8"/>
          </a:solidFill>
          <a:ln w="12700">
            <a:solidFill>
              <a:srgbClr val="2C86C8"/>
            </a:solidFill>
            <a:prstDash val="solid"/>
          </a:ln>
        </p:spPr>
        <p:txBody>
          <a:bodyPr/>
          <a:lstStyle/>
          <a:p>
            <a:endParaRPr lang="en-IE" sz="2400" dirty="0"/>
          </a:p>
        </p:txBody>
      </p:sp>
      <p:sp>
        <p:nvSpPr>
          <p:cNvPr id="36" name="Text 34"/>
          <p:cNvSpPr/>
          <p:nvPr/>
        </p:nvSpPr>
        <p:spPr>
          <a:xfrm>
            <a:off x="146304" y="5394960"/>
            <a:ext cx="4145280" cy="268224"/>
          </a:xfrm>
          <a:prstGeom prst="rect">
            <a:avLst/>
          </a:prstGeom>
          <a:noFill/>
          <a:ln/>
        </p:spPr>
        <p:txBody>
          <a:bodyPr wrap="square" lIns="0" tIns="0" rIns="0" bIns="0" rtlCol="0" anchor="ctr"/>
          <a:lstStyle/>
          <a:p>
            <a:r>
              <a:rPr lang="en-US" sz="1067" b="1" dirty="0">
                <a:solidFill>
                  <a:srgbClr val="FFFFFF"/>
                </a:solidFill>
              </a:rPr>
              <a:t>7. Continual Service Improvement (CSI)</a:t>
            </a:r>
            <a:endParaRPr lang="en-US" sz="1067" dirty="0"/>
          </a:p>
        </p:txBody>
      </p:sp>
      <p:sp>
        <p:nvSpPr>
          <p:cNvPr id="37" name="Shape 35"/>
          <p:cNvSpPr/>
          <p:nvPr/>
        </p:nvSpPr>
        <p:spPr>
          <a:xfrm>
            <a:off x="85344" y="5772912"/>
            <a:ext cx="3270504" cy="938784"/>
          </a:xfrm>
          <a:prstGeom prst="rect">
            <a:avLst/>
          </a:prstGeom>
          <a:solidFill>
            <a:srgbClr val="FFFFFF"/>
          </a:solidFill>
          <a:ln w="12700">
            <a:solidFill>
              <a:srgbClr val="C0CCE8"/>
            </a:solidFill>
            <a:prstDash val="solid"/>
          </a:ln>
        </p:spPr>
        <p:txBody>
          <a:bodyPr/>
          <a:lstStyle/>
          <a:p>
            <a:endParaRPr lang="en-IE" sz="2400"/>
          </a:p>
        </p:txBody>
      </p:sp>
      <p:sp>
        <p:nvSpPr>
          <p:cNvPr id="38" name="Text 36"/>
          <p:cNvSpPr/>
          <p:nvPr/>
        </p:nvSpPr>
        <p:spPr>
          <a:xfrm>
            <a:off x="85344" y="5827776"/>
            <a:ext cx="4120896" cy="841248"/>
          </a:xfrm>
          <a:prstGeom prst="rect">
            <a:avLst/>
          </a:prstGeom>
          <a:noFill/>
          <a:ln/>
        </p:spPr>
        <p:txBody>
          <a:bodyPr wrap="square" rtlCol="0" anchor="ctr"/>
          <a:lstStyle/>
          <a:p>
            <a:pPr marL="457189" indent="-457189">
              <a:buSzPct val="100000"/>
              <a:buChar char="•"/>
            </a:pPr>
            <a:r>
              <a:rPr lang="en-US" sz="1000" dirty="0">
                <a:solidFill>
                  <a:srgbClr val="1A1F36"/>
                </a:solidFill>
              </a:rPr>
              <a:t>Incident Trend Analysis on DRPA mis-pricings</a:t>
            </a:r>
            <a:endParaRPr lang="en-US" sz="1000" dirty="0"/>
          </a:p>
          <a:p>
            <a:pPr marL="457189" indent="-457189">
              <a:buSzPct val="100000"/>
              <a:buChar char="•"/>
            </a:pPr>
            <a:r>
              <a:rPr lang="en-US" sz="1000" dirty="0">
                <a:solidFill>
                  <a:srgbClr val="1A1F36"/>
                </a:solidFill>
              </a:rPr>
              <a:t>Service Performance review</a:t>
            </a:r>
            <a:endParaRPr lang="en-US" sz="1000" dirty="0"/>
          </a:p>
          <a:p>
            <a:pPr marL="457189" indent="-457189">
              <a:buSzPct val="100000"/>
              <a:buChar char="•"/>
            </a:pPr>
            <a:r>
              <a:rPr lang="en-US" sz="1000" dirty="0">
                <a:solidFill>
                  <a:srgbClr val="1A1F36"/>
                </a:solidFill>
              </a:rPr>
              <a:t>Process Improvement via AI feedback loops</a:t>
            </a:r>
            <a:endParaRPr lang="en-US" sz="1000" dirty="0"/>
          </a:p>
          <a:p>
            <a:pPr marL="457189" indent="-457189">
              <a:buSzPct val="100000"/>
              <a:buChar char="•"/>
            </a:pPr>
            <a:r>
              <a:rPr lang="en-US" sz="1000" dirty="0">
                <a:solidFill>
                  <a:srgbClr val="1A1F36"/>
                </a:solidFill>
              </a:rPr>
              <a:t>Knowledge Base auto-update via Copilot</a:t>
            </a:r>
            <a:endParaRPr lang="en-US" sz="1000" dirty="0"/>
          </a:p>
        </p:txBody>
      </p:sp>
      <p:sp>
        <p:nvSpPr>
          <p:cNvPr id="39" name="Shape 37"/>
          <p:cNvSpPr/>
          <p:nvPr/>
        </p:nvSpPr>
        <p:spPr>
          <a:xfrm>
            <a:off x="4302252" y="5510784"/>
            <a:ext cx="3048000" cy="341376"/>
          </a:xfrm>
          <a:prstGeom prst="rect">
            <a:avLst/>
          </a:prstGeom>
          <a:solidFill>
            <a:srgbClr val="0F3D7A"/>
          </a:solidFill>
          <a:ln w="12700">
            <a:solidFill>
              <a:srgbClr val="0F3D7A"/>
            </a:solidFill>
            <a:prstDash val="solid"/>
          </a:ln>
        </p:spPr>
        <p:txBody>
          <a:bodyPr/>
          <a:lstStyle/>
          <a:p>
            <a:endParaRPr lang="en-IE" sz="2400"/>
          </a:p>
        </p:txBody>
      </p:sp>
      <p:sp>
        <p:nvSpPr>
          <p:cNvPr id="40" name="Text 38"/>
          <p:cNvSpPr/>
          <p:nvPr/>
        </p:nvSpPr>
        <p:spPr>
          <a:xfrm>
            <a:off x="4523232" y="5559552"/>
            <a:ext cx="2901696" cy="268224"/>
          </a:xfrm>
          <a:prstGeom prst="rect">
            <a:avLst/>
          </a:prstGeom>
          <a:noFill/>
          <a:ln/>
        </p:spPr>
        <p:txBody>
          <a:bodyPr wrap="square" lIns="0" tIns="0" rIns="0" bIns="0" rtlCol="0" anchor="ctr"/>
          <a:lstStyle/>
          <a:p>
            <a:r>
              <a:rPr lang="en-US" sz="1067" b="1" dirty="0">
                <a:solidFill>
                  <a:srgbClr val="FFFFFF"/>
                </a:solidFill>
              </a:rPr>
              <a:t>8. Communication &amp; Reporting</a:t>
            </a:r>
            <a:endParaRPr lang="en-US" sz="1067" dirty="0"/>
          </a:p>
        </p:txBody>
      </p:sp>
      <p:sp>
        <p:nvSpPr>
          <p:cNvPr id="41" name="Shape 39"/>
          <p:cNvSpPr/>
          <p:nvPr/>
        </p:nvSpPr>
        <p:spPr>
          <a:xfrm>
            <a:off x="4294632" y="5864352"/>
            <a:ext cx="3048000" cy="938784"/>
          </a:xfrm>
          <a:prstGeom prst="rect">
            <a:avLst/>
          </a:prstGeom>
          <a:solidFill>
            <a:srgbClr val="FFFFFF"/>
          </a:solidFill>
          <a:ln w="12700">
            <a:solidFill>
              <a:srgbClr val="C0CCE8"/>
            </a:solidFill>
            <a:prstDash val="solid"/>
          </a:ln>
        </p:spPr>
        <p:txBody>
          <a:bodyPr/>
          <a:lstStyle/>
          <a:p>
            <a:endParaRPr lang="en-IE" sz="2400"/>
          </a:p>
        </p:txBody>
      </p:sp>
      <p:sp>
        <p:nvSpPr>
          <p:cNvPr id="42" name="Text 40"/>
          <p:cNvSpPr/>
          <p:nvPr/>
        </p:nvSpPr>
        <p:spPr>
          <a:xfrm>
            <a:off x="4352544" y="5931408"/>
            <a:ext cx="2901696" cy="841248"/>
          </a:xfrm>
          <a:prstGeom prst="rect">
            <a:avLst/>
          </a:prstGeom>
          <a:noFill/>
          <a:ln/>
        </p:spPr>
        <p:txBody>
          <a:bodyPr wrap="square" rtlCol="0" anchor="ctr"/>
          <a:lstStyle/>
          <a:p>
            <a:pPr marL="457189" indent="-457189">
              <a:buSzPct val="100000"/>
              <a:buChar char="•"/>
            </a:pPr>
            <a:r>
              <a:rPr lang="en-US" sz="1000" dirty="0">
                <a:solidFill>
                  <a:srgbClr val="1A1F36"/>
                </a:solidFill>
              </a:rPr>
              <a:t>Email / Portal / Chat (M365 Copilot)</a:t>
            </a:r>
            <a:endParaRPr lang="en-US" sz="1000" dirty="0"/>
          </a:p>
          <a:p>
            <a:pPr marL="457189" indent="-457189">
              <a:buSzPct val="100000"/>
              <a:buChar char="•"/>
            </a:pPr>
            <a:r>
              <a:rPr lang="en-US" sz="1000" dirty="0">
                <a:solidFill>
                  <a:srgbClr val="1A1F36"/>
                </a:solidFill>
              </a:rPr>
              <a:t>Mobile / Self-Service portal</a:t>
            </a:r>
            <a:endParaRPr lang="en-US" sz="1000" dirty="0"/>
          </a:p>
          <a:p>
            <a:pPr marL="457189" indent="-457189">
              <a:buSzPct val="100000"/>
              <a:buChar char="•"/>
            </a:pPr>
            <a:r>
              <a:rPr lang="en-US" sz="1000" dirty="0">
                <a:solidFill>
                  <a:srgbClr val="1A1F36"/>
                </a:solidFill>
              </a:rPr>
              <a:t>SLA Monitoring dashboard</a:t>
            </a:r>
            <a:endParaRPr lang="en-US" sz="1000" dirty="0"/>
          </a:p>
          <a:p>
            <a:pPr marL="457189" indent="-457189">
              <a:buSzPct val="100000"/>
              <a:buChar char="•"/>
            </a:pPr>
            <a:r>
              <a:rPr lang="en-US" sz="1000" dirty="0">
                <a:solidFill>
                  <a:srgbClr val="1A1F36"/>
                </a:solidFill>
              </a:rPr>
              <a:t>KPI / Metrics (Power BI)</a:t>
            </a:r>
            <a:endParaRPr lang="en-US" sz="1000" dirty="0"/>
          </a:p>
        </p:txBody>
      </p:sp>
      <p:sp>
        <p:nvSpPr>
          <p:cNvPr id="43" name="Shape 41"/>
          <p:cNvSpPr/>
          <p:nvPr/>
        </p:nvSpPr>
        <p:spPr>
          <a:xfrm>
            <a:off x="9153144" y="5221224"/>
            <a:ext cx="1463040" cy="341376"/>
          </a:xfrm>
          <a:prstGeom prst="rect">
            <a:avLst/>
          </a:prstGeom>
          <a:solidFill>
            <a:srgbClr val="2C86C8"/>
          </a:solidFill>
          <a:ln w="12700">
            <a:solidFill>
              <a:srgbClr val="2C86C8"/>
            </a:solidFill>
            <a:prstDash val="solid"/>
          </a:ln>
        </p:spPr>
        <p:txBody>
          <a:bodyPr/>
          <a:lstStyle/>
          <a:p>
            <a:endParaRPr lang="en-IE" sz="2400"/>
          </a:p>
        </p:txBody>
      </p:sp>
      <p:sp>
        <p:nvSpPr>
          <p:cNvPr id="44" name="Text 42"/>
          <p:cNvSpPr/>
          <p:nvPr/>
        </p:nvSpPr>
        <p:spPr>
          <a:xfrm>
            <a:off x="9284208" y="5269992"/>
            <a:ext cx="1341120" cy="268224"/>
          </a:xfrm>
          <a:prstGeom prst="rect">
            <a:avLst/>
          </a:prstGeom>
          <a:noFill/>
          <a:ln/>
        </p:spPr>
        <p:txBody>
          <a:bodyPr wrap="square" lIns="0" tIns="0" rIns="0" bIns="0" rtlCol="0" anchor="ctr"/>
          <a:lstStyle/>
          <a:p>
            <a:r>
              <a:rPr lang="en-US" sz="1067" b="1" dirty="0">
                <a:solidFill>
                  <a:srgbClr val="FFFFFF"/>
                </a:solidFill>
              </a:rPr>
              <a:t>9 .Reporting &amp; Dashboard</a:t>
            </a:r>
            <a:endParaRPr lang="en-US" sz="1067" dirty="0"/>
          </a:p>
        </p:txBody>
      </p:sp>
      <p:sp>
        <p:nvSpPr>
          <p:cNvPr id="45" name="Shape 43"/>
          <p:cNvSpPr/>
          <p:nvPr/>
        </p:nvSpPr>
        <p:spPr>
          <a:xfrm>
            <a:off x="9153144" y="5559552"/>
            <a:ext cx="1463040" cy="938784"/>
          </a:xfrm>
          <a:prstGeom prst="rect">
            <a:avLst/>
          </a:prstGeom>
          <a:solidFill>
            <a:srgbClr val="FFFFFF"/>
          </a:solidFill>
          <a:ln w="12700">
            <a:solidFill>
              <a:srgbClr val="C0CCE8"/>
            </a:solidFill>
            <a:prstDash val="solid"/>
          </a:ln>
        </p:spPr>
        <p:txBody>
          <a:bodyPr/>
          <a:lstStyle/>
          <a:p>
            <a:endParaRPr lang="en-IE" sz="2400"/>
          </a:p>
        </p:txBody>
      </p:sp>
      <p:sp>
        <p:nvSpPr>
          <p:cNvPr id="46" name="Text 44"/>
          <p:cNvSpPr/>
          <p:nvPr/>
        </p:nvSpPr>
        <p:spPr>
          <a:xfrm>
            <a:off x="9204960" y="5657088"/>
            <a:ext cx="1316736" cy="841248"/>
          </a:xfrm>
          <a:prstGeom prst="rect">
            <a:avLst/>
          </a:prstGeom>
          <a:noFill/>
          <a:ln/>
        </p:spPr>
        <p:txBody>
          <a:bodyPr wrap="square" rtlCol="0" anchor="ctr"/>
          <a:lstStyle/>
          <a:p>
            <a:pPr marL="457189" indent="-457189">
              <a:buSzPct val="100000"/>
              <a:buChar char="•"/>
            </a:pPr>
            <a:r>
              <a:rPr lang="en-US" sz="1000" dirty="0">
                <a:solidFill>
                  <a:srgbClr val="1A1F36"/>
                </a:solidFill>
              </a:rPr>
              <a:t>SLA Monitor</a:t>
            </a:r>
            <a:endParaRPr lang="en-US" sz="1000" dirty="0"/>
          </a:p>
          <a:p>
            <a:pPr marL="457189" indent="-457189">
              <a:buSzPct val="100000"/>
              <a:buChar char="•"/>
            </a:pPr>
            <a:r>
              <a:rPr lang="en-US" sz="1000" dirty="0">
                <a:solidFill>
                  <a:srgbClr val="1A1F36"/>
                </a:solidFill>
              </a:rPr>
              <a:t>KPI Metrics</a:t>
            </a:r>
            <a:endParaRPr lang="en-US" sz="1000" dirty="0"/>
          </a:p>
          <a:p>
            <a:pPr marL="457189" indent="-457189">
              <a:buSzPct val="100000"/>
              <a:buChar char="•"/>
            </a:pPr>
            <a:r>
              <a:rPr lang="en-US" sz="1000" dirty="0">
                <a:solidFill>
                  <a:srgbClr val="1A1F36"/>
                </a:solidFill>
              </a:rPr>
              <a:t>Compliance</a:t>
            </a:r>
            <a:endParaRPr lang="en-US" sz="1000" dirty="0"/>
          </a:p>
        </p:txBody>
      </p:sp>
      <p:sp>
        <p:nvSpPr>
          <p:cNvPr id="48" name="Text 46"/>
          <p:cNvSpPr/>
          <p:nvPr/>
        </p:nvSpPr>
        <p:spPr>
          <a:xfrm>
            <a:off x="243840" y="5376672"/>
            <a:ext cx="11704320" cy="304800"/>
          </a:xfrm>
          <a:prstGeom prst="rect">
            <a:avLst/>
          </a:prstGeom>
          <a:noFill/>
          <a:ln/>
        </p:spPr>
        <p:txBody>
          <a:bodyPr wrap="square" lIns="0" tIns="0" rIns="0" bIns="0" rtlCol="0" anchor="ctr"/>
          <a:lstStyle/>
          <a:p>
            <a:pPr algn="ctr"/>
            <a:endParaRPr lang="en-US" sz="1200" dirty="0"/>
          </a:p>
        </p:txBody>
      </p:sp>
      <p:sp>
        <p:nvSpPr>
          <p:cNvPr id="61" name="Text 59"/>
          <p:cNvSpPr/>
          <p:nvPr/>
        </p:nvSpPr>
        <p:spPr>
          <a:xfrm>
            <a:off x="0" y="6644640"/>
            <a:ext cx="12192000" cy="219456"/>
          </a:xfrm>
          <a:prstGeom prst="rect">
            <a:avLst/>
          </a:prstGeom>
          <a:noFill/>
          <a:ln/>
        </p:spPr>
        <p:txBody>
          <a:bodyPr wrap="square" lIns="0" tIns="0" rIns="0" bIns="0" rtlCol="0" anchor="ctr"/>
          <a:lstStyle/>
          <a:p>
            <a:pPr algn="r"/>
            <a:r>
              <a:rPr lang="en-US" sz="933" dirty="0">
                <a:solidFill>
                  <a:srgbClr val="6B7A99"/>
                </a:solidFill>
              </a:rPr>
              <a:t>Company Confidential © Capgemini 2026. All rights reserved.</a:t>
            </a:r>
            <a:endParaRPr lang="en-US" sz="933" dirty="0"/>
          </a:p>
        </p:txBody>
      </p:sp>
      <p:cxnSp>
        <p:nvCxnSpPr>
          <p:cNvPr id="62" name="Straight Arrow Connector 61">
            <a:extLst>
              <a:ext uri="{FF2B5EF4-FFF2-40B4-BE49-F238E27FC236}">
                <a16:creationId xmlns:a16="http://schemas.microsoft.com/office/drawing/2014/main" id="{648654ED-0250-D98F-D17B-52D59CBFBE12}"/>
              </a:ext>
            </a:extLst>
          </p:cNvPr>
          <p:cNvCxnSpPr>
            <a:stCxn id="13" idx="2"/>
            <a:endCxn id="15" idx="0"/>
          </p:cNvCxnSpPr>
          <p:nvPr/>
        </p:nvCxnSpPr>
        <p:spPr>
          <a:xfrm flipH="1">
            <a:off x="1542288" y="2499360"/>
            <a:ext cx="6096" cy="469392"/>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94901265-EE17-6762-C5DD-7AD502B36A85}"/>
              </a:ext>
            </a:extLst>
          </p:cNvPr>
          <p:cNvCxnSpPr>
            <a:stCxn id="17" idx="3"/>
          </p:cNvCxnSpPr>
          <p:nvPr/>
        </p:nvCxnSpPr>
        <p:spPr>
          <a:xfrm flipV="1">
            <a:off x="2944368" y="1883664"/>
            <a:ext cx="1527048" cy="1914144"/>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3E1047DE-B0CF-02F0-59AE-30A69D5FA185}"/>
              </a:ext>
            </a:extLst>
          </p:cNvPr>
          <p:cNvCxnSpPr>
            <a:stCxn id="21" idx="2"/>
            <a:endCxn id="23" idx="0"/>
          </p:cNvCxnSpPr>
          <p:nvPr/>
        </p:nvCxnSpPr>
        <p:spPr>
          <a:xfrm>
            <a:off x="5864352" y="2526792"/>
            <a:ext cx="18288" cy="344424"/>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B729ED6A-DD7C-F66C-8ED2-B66D118C57CA}"/>
              </a:ext>
            </a:extLst>
          </p:cNvPr>
          <p:cNvCxnSpPr>
            <a:stCxn id="25" idx="3"/>
            <a:endCxn id="30" idx="1"/>
          </p:cNvCxnSpPr>
          <p:nvPr/>
        </p:nvCxnSpPr>
        <p:spPr>
          <a:xfrm flipV="1">
            <a:off x="7296912" y="2115312"/>
            <a:ext cx="1603248" cy="1603248"/>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D877ECBC-ECCF-6FA3-44BE-486B4D222B39}"/>
              </a:ext>
            </a:extLst>
          </p:cNvPr>
          <p:cNvCxnSpPr>
            <a:stCxn id="29" idx="2"/>
            <a:endCxn id="31" idx="0"/>
          </p:cNvCxnSpPr>
          <p:nvPr/>
        </p:nvCxnSpPr>
        <p:spPr>
          <a:xfrm>
            <a:off x="10424160" y="2584704"/>
            <a:ext cx="24384" cy="265176"/>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7A7AE659-75F4-0F44-7A1C-276A75D47E20}"/>
              </a:ext>
            </a:extLst>
          </p:cNvPr>
          <p:cNvCxnSpPr>
            <a:stCxn id="33" idx="2"/>
          </p:cNvCxnSpPr>
          <p:nvPr/>
        </p:nvCxnSpPr>
        <p:spPr>
          <a:xfrm flipH="1">
            <a:off x="1717548" y="4120896"/>
            <a:ext cx="8767572" cy="1255776"/>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6D6212F-2240-296B-A9C6-1FD45111886F}"/>
              </a:ext>
            </a:extLst>
          </p:cNvPr>
          <p:cNvCxnSpPr>
            <a:stCxn id="37" idx="3"/>
            <a:endCxn id="41" idx="1"/>
          </p:cNvCxnSpPr>
          <p:nvPr/>
        </p:nvCxnSpPr>
        <p:spPr>
          <a:xfrm>
            <a:off x="3355848" y="6242304"/>
            <a:ext cx="938784" cy="9144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73D4E6AE-903E-3786-DADB-482AA403CA61}"/>
              </a:ext>
            </a:extLst>
          </p:cNvPr>
          <p:cNvCxnSpPr>
            <a:cxnSpLocks/>
            <a:endCxn id="45" idx="1"/>
          </p:cNvCxnSpPr>
          <p:nvPr/>
        </p:nvCxnSpPr>
        <p:spPr>
          <a:xfrm flipV="1">
            <a:off x="7424928" y="6028944"/>
            <a:ext cx="1728216" cy="30480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DFA47-3131-D41A-22C6-EEB2C4526BF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444B612-394F-EF2B-A1CE-A63FFD554AF0}"/>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286F9A-47A5-6B78-04AA-4A1D806EC6D7}"/>
              </a:ext>
            </a:extLst>
          </p:cNvPr>
          <p:cNvSpPr>
            <a:spLocks noGrp="1"/>
          </p:cNvSpPr>
          <p:nvPr>
            <p:ph type="sldNum" sz="quarter" idx="12"/>
          </p:nvPr>
        </p:nvSpPr>
        <p:spPr/>
        <p:txBody>
          <a:bodyPr/>
          <a:lstStyle/>
          <a:p>
            <a:pPr algn="r"/>
            <a:fld id="{5D9A5160-6218-4E5A-B9E6-B93E3DAE377C}" type="slidenum">
              <a:rPr lang="en-US" smtClean="0"/>
              <a:pPr algn="r"/>
              <a:t>4</a:t>
            </a:fld>
            <a:endParaRPr lang="en-US"/>
          </a:p>
        </p:txBody>
      </p:sp>
      <p:sp>
        <p:nvSpPr>
          <p:cNvPr id="5" name="Title 4">
            <a:extLst>
              <a:ext uri="{FF2B5EF4-FFF2-40B4-BE49-F238E27FC236}">
                <a16:creationId xmlns:a16="http://schemas.microsoft.com/office/drawing/2014/main" id="{F7C41EB7-CDC8-FDFB-88F4-67D96E0FE517}"/>
              </a:ext>
            </a:extLst>
          </p:cNvPr>
          <p:cNvSpPr>
            <a:spLocks noGrp="1"/>
          </p:cNvSpPr>
          <p:nvPr>
            <p:ph type="title"/>
          </p:nvPr>
        </p:nvSpPr>
        <p:spPr>
          <a:xfrm>
            <a:off x="3888610" y="324019"/>
            <a:ext cx="7998590" cy="666581"/>
          </a:xfrm>
        </p:spPr>
        <p:txBody>
          <a:bodyPr/>
          <a:lstStyle/>
          <a:p>
            <a:r>
              <a:rPr lang="en-US" dirty="0"/>
              <a:t>Functional Solution + AI-Human Chemistry</a:t>
            </a:r>
          </a:p>
        </p:txBody>
      </p:sp>
      <p:sp>
        <p:nvSpPr>
          <p:cNvPr id="7" name="Flowchart: Document 1076">
            <a:extLst>
              <a:ext uri="{FF2B5EF4-FFF2-40B4-BE49-F238E27FC236}">
                <a16:creationId xmlns:a16="http://schemas.microsoft.com/office/drawing/2014/main" id="{A3EEC7B5-0FCD-0ADC-1F43-07FE4ED31ADE}"/>
              </a:ext>
            </a:extLst>
          </p:cNvPr>
          <p:cNvSpPr/>
          <p:nvPr/>
        </p:nvSpPr>
        <p:spPr>
          <a:xfrm>
            <a:off x="1370046" y="2870339"/>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dirty="0">
                <a:ln>
                  <a:noFill/>
                </a:ln>
                <a:solidFill>
                  <a:prstClr val="black"/>
                </a:solidFill>
                <a:effectLst/>
                <a:uLnTx/>
                <a:uFillTx/>
                <a:latin typeface="Verdana"/>
                <a:ea typeface="+mn-ea"/>
                <a:cs typeface="+mn-cs"/>
              </a:rPr>
              <a:t>Customer raises DRPA request</a:t>
            </a:r>
          </a:p>
        </p:txBody>
      </p:sp>
      <p:sp>
        <p:nvSpPr>
          <p:cNvPr id="8" name="Flowchart: Document 1076">
            <a:extLst>
              <a:ext uri="{FF2B5EF4-FFF2-40B4-BE49-F238E27FC236}">
                <a16:creationId xmlns:a16="http://schemas.microsoft.com/office/drawing/2014/main" id="{AAA400FE-1E9C-F79B-289B-ACD657115C56}"/>
              </a:ext>
            </a:extLst>
          </p:cNvPr>
          <p:cNvSpPr/>
          <p:nvPr/>
        </p:nvSpPr>
        <p:spPr>
          <a:xfrm>
            <a:off x="2395043" y="2867892"/>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Email</a:t>
            </a:r>
          </a:p>
        </p:txBody>
      </p:sp>
      <p:cxnSp>
        <p:nvCxnSpPr>
          <p:cNvPr id="9" name="Connector: Elbow 11">
            <a:extLst>
              <a:ext uri="{FF2B5EF4-FFF2-40B4-BE49-F238E27FC236}">
                <a16:creationId xmlns:a16="http://schemas.microsoft.com/office/drawing/2014/main" id="{DD3505B9-BAEE-2C47-4D45-0C7609397EC9}"/>
              </a:ext>
            </a:extLst>
          </p:cNvPr>
          <p:cNvCxnSpPr>
            <a:cxnSpLocks/>
            <a:stCxn id="7" idx="3"/>
            <a:endCxn id="8" idx="1"/>
          </p:cNvCxnSpPr>
          <p:nvPr/>
        </p:nvCxnSpPr>
        <p:spPr>
          <a:xfrm flipV="1">
            <a:off x="2043683" y="3051348"/>
            <a:ext cx="351360" cy="244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44">
            <a:extLst>
              <a:ext uri="{FF2B5EF4-FFF2-40B4-BE49-F238E27FC236}">
                <a16:creationId xmlns:a16="http://schemas.microsoft.com/office/drawing/2014/main" id="{474C1D97-399A-F706-F75E-330E0E4EDEC2}"/>
              </a:ext>
            </a:extLst>
          </p:cNvPr>
          <p:cNvCxnSpPr>
            <a:cxnSpLocks/>
            <a:stCxn id="8" idx="3"/>
            <a:endCxn id="11" idx="1"/>
          </p:cNvCxnSpPr>
          <p:nvPr/>
        </p:nvCxnSpPr>
        <p:spPr>
          <a:xfrm>
            <a:off x="3068680" y="3051348"/>
            <a:ext cx="419155" cy="313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2">
            <a:extLst>
              <a:ext uri="{FF2B5EF4-FFF2-40B4-BE49-F238E27FC236}">
                <a16:creationId xmlns:a16="http://schemas.microsoft.com/office/drawing/2014/main" id="{201501E9-7566-5F6C-951F-1A57CED3173C}"/>
              </a:ext>
            </a:extLst>
          </p:cNvPr>
          <p:cNvSpPr/>
          <p:nvPr/>
        </p:nvSpPr>
        <p:spPr>
          <a:xfrm>
            <a:off x="3487835" y="1876004"/>
            <a:ext cx="5122765" cy="2356962"/>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12" name="Group 11">
            <a:extLst>
              <a:ext uri="{FF2B5EF4-FFF2-40B4-BE49-F238E27FC236}">
                <a16:creationId xmlns:a16="http://schemas.microsoft.com/office/drawing/2014/main" id="{08D3FB90-E2C9-390F-CECD-29175CE53AC0}"/>
              </a:ext>
            </a:extLst>
          </p:cNvPr>
          <p:cNvGrpSpPr/>
          <p:nvPr/>
        </p:nvGrpSpPr>
        <p:grpSpPr>
          <a:xfrm>
            <a:off x="3446849" y="1773521"/>
            <a:ext cx="338230" cy="343683"/>
            <a:chOff x="6591054" y="1922542"/>
            <a:chExt cx="604828" cy="614579"/>
          </a:xfrm>
        </p:grpSpPr>
        <p:sp>
          <p:nvSpPr>
            <p:cNvPr id="13" name="Oval 12">
              <a:extLst>
                <a:ext uri="{FF2B5EF4-FFF2-40B4-BE49-F238E27FC236}">
                  <a16:creationId xmlns:a16="http://schemas.microsoft.com/office/drawing/2014/main" id="{3B747354-E94B-F115-13D0-FB8FB5E1FF48}"/>
                </a:ext>
              </a:extLst>
            </p:cNvPr>
            <p:cNvSpPr/>
            <p:nvPr/>
          </p:nvSpPr>
          <p:spPr>
            <a:xfrm>
              <a:off x="6591054" y="1922542"/>
              <a:ext cx="604828" cy="614579"/>
            </a:xfrm>
            <a:prstGeom prst="ellipse">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4" name="Picture 13">
              <a:extLst>
                <a:ext uri="{FF2B5EF4-FFF2-40B4-BE49-F238E27FC236}">
                  <a16:creationId xmlns:a16="http://schemas.microsoft.com/office/drawing/2014/main" id="{3D6B6A52-C1D4-98C8-73D8-D496C1DBBB53}"/>
                </a:ext>
              </a:extLst>
            </p:cNvPr>
            <p:cNvPicPr>
              <a:picLocks noChangeAspect="1"/>
            </p:cNvPicPr>
            <p:nvPr/>
          </p:nvPicPr>
          <p:blipFill>
            <a:blip r:embed="rId2"/>
            <a:stretch>
              <a:fillRect/>
            </a:stretch>
          </p:blipFill>
          <p:spPr>
            <a:xfrm>
              <a:off x="6621303" y="1957666"/>
              <a:ext cx="544330" cy="544330"/>
            </a:xfrm>
            <a:prstGeom prst="rect">
              <a:avLst/>
            </a:prstGeom>
          </p:spPr>
        </p:pic>
      </p:grpSp>
      <p:grpSp>
        <p:nvGrpSpPr>
          <p:cNvPr id="15" name="Group 14">
            <a:extLst>
              <a:ext uri="{FF2B5EF4-FFF2-40B4-BE49-F238E27FC236}">
                <a16:creationId xmlns:a16="http://schemas.microsoft.com/office/drawing/2014/main" id="{BB36258B-3121-0EB7-3128-A7903445F126}"/>
              </a:ext>
            </a:extLst>
          </p:cNvPr>
          <p:cNvGrpSpPr/>
          <p:nvPr/>
        </p:nvGrpSpPr>
        <p:grpSpPr>
          <a:xfrm>
            <a:off x="4622560" y="2730860"/>
            <a:ext cx="316762" cy="316762"/>
            <a:chOff x="3904884" y="4179013"/>
            <a:chExt cx="720000" cy="720000"/>
          </a:xfrm>
        </p:grpSpPr>
        <p:sp>
          <p:nvSpPr>
            <p:cNvPr id="16" name="Oval 15">
              <a:extLst>
                <a:ext uri="{FF2B5EF4-FFF2-40B4-BE49-F238E27FC236}">
                  <a16:creationId xmlns:a16="http://schemas.microsoft.com/office/drawing/2014/main" id="{0A69ACB4-376E-4A4F-6338-2E0DC7B04F0D}"/>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7" name="Picture 16">
              <a:extLst>
                <a:ext uri="{FF2B5EF4-FFF2-40B4-BE49-F238E27FC236}">
                  <a16:creationId xmlns:a16="http://schemas.microsoft.com/office/drawing/2014/main" id="{3D5820B1-4466-9EE0-AE4E-1DDDB18E5A3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8" name="ZoneTexte 40">
            <a:extLst>
              <a:ext uri="{FF2B5EF4-FFF2-40B4-BE49-F238E27FC236}">
                <a16:creationId xmlns:a16="http://schemas.microsoft.com/office/drawing/2014/main" id="{CF36EACB-4C54-5D97-F23B-ADBB6D53A349}"/>
              </a:ext>
            </a:extLst>
          </p:cNvPr>
          <p:cNvSpPr txBox="1"/>
          <p:nvPr/>
        </p:nvSpPr>
        <p:spPr>
          <a:xfrm>
            <a:off x="4422516" y="2982385"/>
            <a:ext cx="713375"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dirty="0">
                <a:solidFill>
                  <a:prstClr val="black"/>
                </a:solidFill>
                <a:latin typeface="Verdana"/>
              </a:rPr>
              <a:t>Validate Information</a:t>
            </a:r>
          </a:p>
        </p:txBody>
      </p:sp>
      <p:grpSp>
        <p:nvGrpSpPr>
          <p:cNvPr id="19" name="Group 18">
            <a:extLst>
              <a:ext uri="{FF2B5EF4-FFF2-40B4-BE49-F238E27FC236}">
                <a16:creationId xmlns:a16="http://schemas.microsoft.com/office/drawing/2014/main" id="{9AAB84B9-B549-6F55-3B09-12D34E2CF3A5}"/>
              </a:ext>
            </a:extLst>
          </p:cNvPr>
          <p:cNvGrpSpPr/>
          <p:nvPr/>
        </p:nvGrpSpPr>
        <p:grpSpPr>
          <a:xfrm>
            <a:off x="5379290" y="2731933"/>
            <a:ext cx="316762" cy="316762"/>
            <a:chOff x="3904884" y="4179013"/>
            <a:chExt cx="720000" cy="720000"/>
          </a:xfrm>
        </p:grpSpPr>
        <p:sp>
          <p:nvSpPr>
            <p:cNvPr id="20" name="Oval 19">
              <a:extLst>
                <a:ext uri="{FF2B5EF4-FFF2-40B4-BE49-F238E27FC236}">
                  <a16:creationId xmlns:a16="http://schemas.microsoft.com/office/drawing/2014/main" id="{F207608D-9C69-E862-738A-83A8015861B3}"/>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1" name="Picture 20">
              <a:extLst>
                <a:ext uri="{FF2B5EF4-FFF2-40B4-BE49-F238E27FC236}">
                  <a16:creationId xmlns:a16="http://schemas.microsoft.com/office/drawing/2014/main" id="{9773B1E7-FB30-1485-E630-1B626CDB1432}"/>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22" name="ZoneTexte 40">
            <a:extLst>
              <a:ext uri="{FF2B5EF4-FFF2-40B4-BE49-F238E27FC236}">
                <a16:creationId xmlns:a16="http://schemas.microsoft.com/office/drawing/2014/main" id="{13EC5845-E663-91BC-63CA-6172E2D472B8}"/>
              </a:ext>
            </a:extLst>
          </p:cNvPr>
          <p:cNvSpPr txBox="1"/>
          <p:nvPr/>
        </p:nvSpPr>
        <p:spPr>
          <a:xfrm>
            <a:off x="5217342" y="3025125"/>
            <a:ext cx="726512"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dirty="0">
                <a:solidFill>
                  <a:prstClr val="black"/>
                </a:solidFill>
                <a:latin typeface="Verdana"/>
              </a:rPr>
              <a:t>Create</a:t>
            </a:r>
            <a:br>
              <a:rPr lang="en-GB" sz="675" noProof="0" dirty="0">
                <a:solidFill>
                  <a:prstClr val="black"/>
                </a:solidFill>
                <a:latin typeface="Verdana"/>
              </a:rPr>
            </a:br>
            <a:r>
              <a:rPr lang="en-GB" sz="675" noProof="0" dirty="0">
                <a:solidFill>
                  <a:prstClr val="black"/>
                </a:solidFill>
                <a:latin typeface="Verdana"/>
              </a:rPr>
              <a:t>Agreement Draft</a:t>
            </a:r>
            <a:endParaRPr lang="en-GB" sz="675" noProof="0" dirty="0">
              <a:solidFill>
                <a:srgbClr val="FF304D"/>
              </a:solidFill>
              <a:latin typeface="Verdana"/>
            </a:endParaRPr>
          </a:p>
        </p:txBody>
      </p:sp>
      <p:grpSp>
        <p:nvGrpSpPr>
          <p:cNvPr id="23" name="Group 22">
            <a:extLst>
              <a:ext uri="{FF2B5EF4-FFF2-40B4-BE49-F238E27FC236}">
                <a16:creationId xmlns:a16="http://schemas.microsoft.com/office/drawing/2014/main" id="{DF59E00F-ADDA-45FE-274E-A0ABDE438F37}"/>
              </a:ext>
            </a:extLst>
          </p:cNvPr>
          <p:cNvGrpSpPr/>
          <p:nvPr/>
        </p:nvGrpSpPr>
        <p:grpSpPr>
          <a:xfrm>
            <a:off x="4610406" y="2187851"/>
            <a:ext cx="316762" cy="316762"/>
            <a:chOff x="3904884" y="4179013"/>
            <a:chExt cx="720000" cy="720000"/>
          </a:xfrm>
        </p:grpSpPr>
        <p:sp>
          <p:nvSpPr>
            <p:cNvPr id="24" name="Oval 23">
              <a:extLst>
                <a:ext uri="{FF2B5EF4-FFF2-40B4-BE49-F238E27FC236}">
                  <a16:creationId xmlns:a16="http://schemas.microsoft.com/office/drawing/2014/main" id="{F8289CD7-2A2B-4137-6145-7D0FCA782095}"/>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5" name="Picture 24">
              <a:extLst>
                <a:ext uri="{FF2B5EF4-FFF2-40B4-BE49-F238E27FC236}">
                  <a16:creationId xmlns:a16="http://schemas.microsoft.com/office/drawing/2014/main" id="{B9EA7C71-6CD7-2227-8B46-0D3B0531BB31}"/>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26" name="ZoneTexte 40">
            <a:extLst>
              <a:ext uri="{FF2B5EF4-FFF2-40B4-BE49-F238E27FC236}">
                <a16:creationId xmlns:a16="http://schemas.microsoft.com/office/drawing/2014/main" id="{88245B1D-1D35-4708-41B5-85BD5C6BA568}"/>
              </a:ext>
            </a:extLst>
          </p:cNvPr>
          <p:cNvSpPr txBox="1"/>
          <p:nvPr/>
        </p:nvSpPr>
        <p:spPr>
          <a:xfrm>
            <a:off x="3904847" y="1910593"/>
            <a:ext cx="938605"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dirty="0">
                <a:solidFill>
                  <a:prstClr val="black"/>
                </a:solidFill>
                <a:latin typeface="Verdana"/>
              </a:rPr>
              <a:t>Request missing/ conflicting information</a:t>
            </a:r>
          </a:p>
        </p:txBody>
      </p:sp>
      <p:grpSp>
        <p:nvGrpSpPr>
          <p:cNvPr id="27" name="Group 26">
            <a:extLst>
              <a:ext uri="{FF2B5EF4-FFF2-40B4-BE49-F238E27FC236}">
                <a16:creationId xmlns:a16="http://schemas.microsoft.com/office/drawing/2014/main" id="{43098DF1-A2B0-E67E-8DA4-5EFBB70EFE23}"/>
              </a:ext>
            </a:extLst>
          </p:cNvPr>
          <p:cNvGrpSpPr/>
          <p:nvPr/>
        </p:nvGrpSpPr>
        <p:grpSpPr>
          <a:xfrm>
            <a:off x="3716524" y="2756783"/>
            <a:ext cx="316762" cy="316762"/>
            <a:chOff x="3904884" y="4179013"/>
            <a:chExt cx="720000" cy="720000"/>
          </a:xfrm>
        </p:grpSpPr>
        <p:sp>
          <p:nvSpPr>
            <p:cNvPr id="28" name="Oval 27">
              <a:extLst>
                <a:ext uri="{FF2B5EF4-FFF2-40B4-BE49-F238E27FC236}">
                  <a16:creationId xmlns:a16="http://schemas.microsoft.com/office/drawing/2014/main" id="{BC2A9997-A7CB-9DEE-2B73-1051D9DAE32F}"/>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9" name="Picture 28">
              <a:extLst>
                <a:ext uri="{FF2B5EF4-FFF2-40B4-BE49-F238E27FC236}">
                  <a16:creationId xmlns:a16="http://schemas.microsoft.com/office/drawing/2014/main" id="{BFF05D4A-D523-E28B-567F-8DD602FF3B76}"/>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30" name="ZoneTexte 40">
            <a:extLst>
              <a:ext uri="{FF2B5EF4-FFF2-40B4-BE49-F238E27FC236}">
                <a16:creationId xmlns:a16="http://schemas.microsoft.com/office/drawing/2014/main" id="{9ABC4B31-31C4-BD78-321E-7C951AA2A5C8}"/>
              </a:ext>
            </a:extLst>
          </p:cNvPr>
          <p:cNvSpPr txBox="1"/>
          <p:nvPr/>
        </p:nvSpPr>
        <p:spPr>
          <a:xfrm>
            <a:off x="3650383" y="2418120"/>
            <a:ext cx="449045"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dirty="0">
                <a:solidFill>
                  <a:prstClr val="black"/>
                </a:solidFill>
                <a:latin typeface="Verdana"/>
              </a:rPr>
              <a:t>Text to Insight</a:t>
            </a:r>
          </a:p>
        </p:txBody>
      </p:sp>
      <p:cxnSp>
        <p:nvCxnSpPr>
          <p:cNvPr id="31" name="Straight Connector 30">
            <a:extLst>
              <a:ext uri="{FF2B5EF4-FFF2-40B4-BE49-F238E27FC236}">
                <a16:creationId xmlns:a16="http://schemas.microsoft.com/office/drawing/2014/main" id="{A80D65C8-14DF-C18B-2B56-4898D13EDA37}"/>
              </a:ext>
            </a:extLst>
          </p:cNvPr>
          <p:cNvCxnSpPr>
            <a:cxnSpLocks/>
          </p:cNvCxnSpPr>
          <p:nvPr/>
        </p:nvCxnSpPr>
        <p:spPr>
          <a:xfrm flipV="1">
            <a:off x="4038168" y="2889241"/>
            <a:ext cx="584392" cy="21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BD1FC84-7764-5714-63CC-E85C40A85A03}"/>
              </a:ext>
            </a:extLst>
          </p:cNvPr>
          <p:cNvCxnSpPr>
            <a:cxnSpLocks/>
          </p:cNvCxnSpPr>
          <p:nvPr/>
        </p:nvCxnSpPr>
        <p:spPr>
          <a:xfrm flipH="1" flipV="1">
            <a:off x="4768787" y="2504613"/>
            <a:ext cx="12154" cy="22624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D4B0CC6-5AA1-8092-DB1E-D1749FEDA344}"/>
              </a:ext>
            </a:extLst>
          </p:cNvPr>
          <p:cNvCxnSpPr>
            <a:cxnSpLocks/>
          </p:cNvCxnSpPr>
          <p:nvPr/>
        </p:nvCxnSpPr>
        <p:spPr>
          <a:xfrm>
            <a:off x="4939322" y="2889241"/>
            <a:ext cx="454528" cy="107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5E2419A6-0FCF-9D35-F5F0-533DF9E86F22}"/>
              </a:ext>
            </a:extLst>
          </p:cNvPr>
          <p:cNvGrpSpPr/>
          <p:nvPr/>
        </p:nvGrpSpPr>
        <p:grpSpPr>
          <a:xfrm>
            <a:off x="6337858" y="2727907"/>
            <a:ext cx="316762" cy="316762"/>
            <a:chOff x="3904884" y="4179013"/>
            <a:chExt cx="720000" cy="720000"/>
          </a:xfrm>
        </p:grpSpPr>
        <p:sp>
          <p:nvSpPr>
            <p:cNvPr id="35" name="Oval 34">
              <a:extLst>
                <a:ext uri="{FF2B5EF4-FFF2-40B4-BE49-F238E27FC236}">
                  <a16:creationId xmlns:a16="http://schemas.microsoft.com/office/drawing/2014/main" id="{C1B8985B-5A66-E7E3-0824-ABA763941002}"/>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36" name="Picture 35">
              <a:extLst>
                <a:ext uri="{FF2B5EF4-FFF2-40B4-BE49-F238E27FC236}">
                  <a16:creationId xmlns:a16="http://schemas.microsoft.com/office/drawing/2014/main" id="{9DD3DC8F-404D-DB4C-FD27-4C7DBD9979EB}"/>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37" name="ZoneTexte 40">
            <a:extLst>
              <a:ext uri="{FF2B5EF4-FFF2-40B4-BE49-F238E27FC236}">
                <a16:creationId xmlns:a16="http://schemas.microsoft.com/office/drawing/2014/main" id="{51F41F83-75F7-1192-B2BD-24B11CC8D2E6}"/>
              </a:ext>
            </a:extLst>
          </p:cNvPr>
          <p:cNvSpPr txBox="1"/>
          <p:nvPr/>
        </p:nvSpPr>
        <p:spPr>
          <a:xfrm>
            <a:off x="6265146" y="3100579"/>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dirty="0">
                <a:solidFill>
                  <a:prstClr val="black"/>
                </a:solidFill>
                <a:latin typeface="Verdana"/>
              </a:rPr>
              <a:t>Update pricing &amp; Block</a:t>
            </a:r>
          </a:p>
        </p:txBody>
      </p:sp>
      <p:cxnSp>
        <p:nvCxnSpPr>
          <p:cNvPr id="38" name="Straight Connector 37">
            <a:extLst>
              <a:ext uri="{FF2B5EF4-FFF2-40B4-BE49-F238E27FC236}">
                <a16:creationId xmlns:a16="http://schemas.microsoft.com/office/drawing/2014/main" id="{19B4BC07-0DBC-8EC0-927D-96D6FF782550}"/>
              </a:ext>
            </a:extLst>
          </p:cNvPr>
          <p:cNvCxnSpPr>
            <a:cxnSpLocks/>
          </p:cNvCxnSpPr>
          <p:nvPr/>
        </p:nvCxnSpPr>
        <p:spPr>
          <a:xfrm flipV="1">
            <a:off x="5710612" y="2886288"/>
            <a:ext cx="627246" cy="4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0A214FC8-C62C-879F-CB84-839FBD389002}"/>
              </a:ext>
            </a:extLst>
          </p:cNvPr>
          <p:cNvGrpSpPr/>
          <p:nvPr/>
        </p:nvGrpSpPr>
        <p:grpSpPr>
          <a:xfrm>
            <a:off x="5458876" y="3530112"/>
            <a:ext cx="316762" cy="316762"/>
            <a:chOff x="3904884" y="4179013"/>
            <a:chExt cx="720000" cy="720000"/>
          </a:xfrm>
        </p:grpSpPr>
        <p:sp>
          <p:nvSpPr>
            <p:cNvPr id="40" name="Oval 39">
              <a:extLst>
                <a:ext uri="{FF2B5EF4-FFF2-40B4-BE49-F238E27FC236}">
                  <a16:creationId xmlns:a16="http://schemas.microsoft.com/office/drawing/2014/main" id="{D7CDA837-A742-D4F9-DDE4-C52168509928}"/>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41" name="Picture 40">
              <a:extLst>
                <a:ext uri="{FF2B5EF4-FFF2-40B4-BE49-F238E27FC236}">
                  <a16:creationId xmlns:a16="http://schemas.microsoft.com/office/drawing/2014/main" id="{90F378A3-6342-A559-B19C-4373AE3F60B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42" name="ZoneTexte 40">
            <a:extLst>
              <a:ext uri="{FF2B5EF4-FFF2-40B4-BE49-F238E27FC236}">
                <a16:creationId xmlns:a16="http://schemas.microsoft.com/office/drawing/2014/main" id="{89DAB789-2661-3F21-8D29-A9EA813B4132}"/>
              </a:ext>
            </a:extLst>
          </p:cNvPr>
          <p:cNvSpPr txBox="1"/>
          <p:nvPr/>
        </p:nvSpPr>
        <p:spPr>
          <a:xfrm>
            <a:off x="5329335" y="3818905"/>
            <a:ext cx="573746"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Update Contract</a:t>
            </a:r>
          </a:p>
        </p:txBody>
      </p:sp>
      <p:cxnSp>
        <p:nvCxnSpPr>
          <p:cNvPr id="43" name="Straight Connector 42">
            <a:extLst>
              <a:ext uri="{FF2B5EF4-FFF2-40B4-BE49-F238E27FC236}">
                <a16:creationId xmlns:a16="http://schemas.microsoft.com/office/drawing/2014/main" id="{88C9E8FC-A9E7-1BF1-9595-F266D273CA45}"/>
              </a:ext>
            </a:extLst>
          </p:cNvPr>
          <p:cNvCxnSpPr>
            <a:cxnSpLocks/>
          </p:cNvCxnSpPr>
          <p:nvPr/>
        </p:nvCxnSpPr>
        <p:spPr>
          <a:xfrm flipV="1">
            <a:off x="5775638" y="2886288"/>
            <a:ext cx="562220" cy="80220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D5CC127-BC2A-3B1B-9957-D286450A7757}"/>
              </a:ext>
            </a:extLst>
          </p:cNvPr>
          <p:cNvCxnSpPr>
            <a:cxnSpLocks/>
          </p:cNvCxnSpPr>
          <p:nvPr/>
        </p:nvCxnSpPr>
        <p:spPr>
          <a:xfrm>
            <a:off x="4939322" y="2889241"/>
            <a:ext cx="519554" cy="79925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03B319BC-046D-ED78-49C4-934580389D9D}"/>
              </a:ext>
            </a:extLst>
          </p:cNvPr>
          <p:cNvSpPr/>
          <p:nvPr/>
        </p:nvSpPr>
        <p:spPr>
          <a:xfrm>
            <a:off x="7313060" y="2722591"/>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46" name="ZoneTexte 40">
            <a:extLst>
              <a:ext uri="{FF2B5EF4-FFF2-40B4-BE49-F238E27FC236}">
                <a16:creationId xmlns:a16="http://schemas.microsoft.com/office/drawing/2014/main" id="{DB5E02F4-CD15-9102-A138-BF4E31072B3B}"/>
              </a:ext>
            </a:extLst>
          </p:cNvPr>
          <p:cNvSpPr txBox="1"/>
          <p:nvPr/>
        </p:nvSpPr>
        <p:spPr>
          <a:xfrm>
            <a:off x="7637060" y="2701706"/>
            <a:ext cx="573746" cy="55387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dirty="0">
                <a:solidFill>
                  <a:prstClr val="black"/>
                </a:solidFill>
                <a:latin typeface="Verdana"/>
              </a:rPr>
              <a:t>Create DRPA Agreement</a:t>
            </a:r>
          </a:p>
        </p:txBody>
      </p:sp>
      <p:sp>
        <p:nvSpPr>
          <p:cNvPr id="47" name="Flowchart: Document 1076">
            <a:extLst>
              <a:ext uri="{FF2B5EF4-FFF2-40B4-BE49-F238E27FC236}">
                <a16:creationId xmlns:a16="http://schemas.microsoft.com/office/drawing/2014/main" id="{293AB0DD-832B-855A-D0D7-CC217FC770D0}"/>
              </a:ext>
            </a:extLst>
          </p:cNvPr>
          <p:cNvSpPr/>
          <p:nvPr/>
        </p:nvSpPr>
        <p:spPr>
          <a:xfrm>
            <a:off x="1298038" y="5471675"/>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dirty="0">
                <a:ln>
                  <a:noFill/>
                </a:ln>
                <a:solidFill>
                  <a:prstClr val="black"/>
                </a:solidFill>
                <a:effectLst/>
                <a:uLnTx/>
                <a:uFillTx/>
                <a:latin typeface="Verdana"/>
                <a:ea typeface="+mn-ea"/>
                <a:cs typeface="+mn-cs"/>
              </a:rPr>
              <a:t>Sales request for Settlement of Agreement</a:t>
            </a:r>
          </a:p>
        </p:txBody>
      </p:sp>
      <p:sp>
        <p:nvSpPr>
          <p:cNvPr id="48" name="Flowchart: Document 1076">
            <a:extLst>
              <a:ext uri="{FF2B5EF4-FFF2-40B4-BE49-F238E27FC236}">
                <a16:creationId xmlns:a16="http://schemas.microsoft.com/office/drawing/2014/main" id="{67D500A2-7CE2-8137-E5BC-F9F7869DB7C6}"/>
              </a:ext>
            </a:extLst>
          </p:cNvPr>
          <p:cNvSpPr/>
          <p:nvPr/>
        </p:nvSpPr>
        <p:spPr>
          <a:xfrm>
            <a:off x="2352593" y="5478853"/>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ServiceNow</a:t>
            </a:r>
          </a:p>
        </p:txBody>
      </p:sp>
      <p:cxnSp>
        <p:nvCxnSpPr>
          <p:cNvPr id="49" name="Connector: Elbow 170">
            <a:extLst>
              <a:ext uri="{FF2B5EF4-FFF2-40B4-BE49-F238E27FC236}">
                <a16:creationId xmlns:a16="http://schemas.microsoft.com/office/drawing/2014/main" id="{2A1BA142-3EC7-EC44-02AD-1B76808E7B77}"/>
              </a:ext>
            </a:extLst>
          </p:cNvPr>
          <p:cNvCxnSpPr>
            <a:cxnSpLocks/>
            <a:stCxn id="47" idx="3"/>
            <a:endCxn id="48" idx="1"/>
          </p:cNvCxnSpPr>
          <p:nvPr/>
        </p:nvCxnSpPr>
        <p:spPr>
          <a:xfrm>
            <a:off x="1971675" y="5655131"/>
            <a:ext cx="380918" cy="7178"/>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172">
            <a:extLst>
              <a:ext uri="{FF2B5EF4-FFF2-40B4-BE49-F238E27FC236}">
                <a16:creationId xmlns:a16="http://schemas.microsoft.com/office/drawing/2014/main" id="{BC7F38E1-169F-954F-A9ED-6C6756523002}"/>
              </a:ext>
            </a:extLst>
          </p:cNvPr>
          <p:cNvCxnSpPr>
            <a:cxnSpLocks/>
            <a:stCxn id="48" idx="3"/>
            <a:endCxn id="51" idx="1"/>
          </p:cNvCxnSpPr>
          <p:nvPr/>
        </p:nvCxnSpPr>
        <p:spPr>
          <a:xfrm>
            <a:off x="3026230" y="5662309"/>
            <a:ext cx="461605" cy="220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Rounded Corners 173">
            <a:extLst>
              <a:ext uri="{FF2B5EF4-FFF2-40B4-BE49-F238E27FC236}">
                <a16:creationId xmlns:a16="http://schemas.microsoft.com/office/drawing/2014/main" id="{8EBED987-0E4E-C44E-2094-79D1F441E0FB}"/>
              </a:ext>
            </a:extLst>
          </p:cNvPr>
          <p:cNvSpPr/>
          <p:nvPr/>
        </p:nvSpPr>
        <p:spPr>
          <a:xfrm>
            <a:off x="3487835" y="4806627"/>
            <a:ext cx="5122765" cy="1715767"/>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52" name="Group 51">
            <a:extLst>
              <a:ext uri="{FF2B5EF4-FFF2-40B4-BE49-F238E27FC236}">
                <a16:creationId xmlns:a16="http://schemas.microsoft.com/office/drawing/2014/main" id="{DCB6CA6F-2A1A-866D-607D-2D8F405903EE}"/>
              </a:ext>
            </a:extLst>
          </p:cNvPr>
          <p:cNvGrpSpPr/>
          <p:nvPr/>
        </p:nvGrpSpPr>
        <p:grpSpPr>
          <a:xfrm>
            <a:off x="3721406" y="5351399"/>
            <a:ext cx="316762" cy="316762"/>
            <a:chOff x="3904884" y="4179013"/>
            <a:chExt cx="720000" cy="720000"/>
          </a:xfrm>
        </p:grpSpPr>
        <p:sp>
          <p:nvSpPr>
            <p:cNvPr id="53" name="Oval 52">
              <a:extLst>
                <a:ext uri="{FF2B5EF4-FFF2-40B4-BE49-F238E27FC236}">
                  <a16:creationId xmlns:a16="http://schemas.microsoft.com/office/drawing/2014/main" id="{608E467B-5868-5839-2257-EAF96A44FBD6}"/>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54" name="Picture 53">
              <a:extLst>
                <a:ext uri="{FF2B5EF4-FFF2-40B4-BE49-F238E27FC236}">
                  <a16:creationId xmlns:a16="http://schemas.microsoft.com/office/drawing/2014/main" id="{85CB28FD-7B72-EF79-BA89-FDC4D5BF6AD2}"/>
                </a:ext>
              </a:extLst>
            </p:cNvPr>
            <p:cNvPicPr>
              <a:picLocks noChangeAspect="1"/>
            </p:cNvPicPr>
            <p:nvPr/>
          </p:nvPicPr>
          <p:blipFill>
            <a:blip r:embed="rId3"/>
            <a:stretch>
              <a:fillRect/>
            </a:stretch>
          </p:blipFill>
          <p:spPr>
            <a:xfrm>
              <a:off x="3954068" y="4189228"/>
              <a:ext cx="634621" cy="634621"/>
            </a:xfrm>
            <a:prstGeom prst="rect">
              <a:avLst/>
            </a:prstGeom>
          </p:spPr>
        </p:pic>
      </p:grpSp>
      <p:cxnSp>
        <p:nvCxnSpPr>
          <p:cNvPr id="55" name="Straight Connector 54">
            <a:extLst>
              <a:ext uri="{FF2B5EF4-FFF2-40B4-BE49-F238E27FC236}">
                <a16:creationId xmlns:a16="http://schemas.microsoft.com/office/drawing/2014/main" id="{082F3E46-AE07-5AF4-B34D-99FE00F96607}"/>
              </a:ext>
            </a:extLst>
          </p:cNvPr>
          <p:cNvCxnSpPr>
            <a:cxnSpLocks/>
          </p:cNvCxnSpPr>
          <p:nvPr/>
        </p:nvCxnSpPr>
        <p:spPr>
          <a:xfrm flipV="1">
            <a:off x="4038168" y="5504735"/>
            <a:ext cx="623804" cy="504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6" name="Flowchart: Document 1076">
            <a:extLst>
              <a:ext uri="{FF2B5EF4-FFF2-40B4-BE49-F238E27FC236}">
                <a16:creationId xmlns:a16="http://schemas.microsoft.com/office/drawing/2014/main" id="{D6AC4776-3617-E60A-AC7A-BCA89FCE0662}"/>
              </a:ext>
            </a:extLst>
          </p:cNvPr>
          <p:cNvSpPr/>
          <p:nvPr/>
        </p:nvSpPr>
        <p:spPr>
          <a:xfrm>
            <a:off x="1295929" y="6101451"/>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dirty="0">
                <a:ln>
                  <a:noFill/>
                </a:ln>
                <a:solidFill>
                  <a:prstClr val="black"/>
                </a:solidFill>
                <a:effectLst/>
                <a:uLnTx/>
                <a:uFillTx/>
                <a:latin typeface="Verdana"/>
                <a:ea typeface="+mn-ea"/>
                <a:cs typeface="+mn-cs"/>
              </a:rPr>
              <a:t>Capgemini </a:t>
            </a:r>
            <a:r>
              <a:rPr lang="en-GB" sz="600" b="1" noProof="0" dirty="0">
                <a:solidFill>
                  <a:prstClr val="black"/>
                </a:solidFill>
                <a:latin typeface="Verdana"/>
              </a:rPr>
              <a:t>r</a:t>
            </a:r>
            <a:r>
              <a:rPr kumimoji="0" lang="en-GB" sz="600" b="1" i="0" u="none" strike="noStrike" kern="1200" cap="none" spc="0" normalizeH="0" baseline="0" noProof="0" dirty="0">
                <a:ln>
                  <a:noFill/>
                </a:ln>
                <a:solidFill>
                  <a:prstClr val="black"/>
                </a:solidFill>
                <a:effectLst/>
                <a:uLnTx/>
                <a:uFillTx/>
                <a:latin typeface="Verdana"/>
                <a:ea typeface="+mn-ea"/>
                <a:cs typeface="+mn-cs"/>
              </a:rPr>
              <a:t>equest to validated Payout date</a:t>
            </a:r>
          </a:p>
        </p:txBody>
      </p:sp>
      <p:cxnSp>
        <p:nvCxnSpPr>
          <p:cNvPr id="57" name="Connector: Elbow 1066">
            <a:extLst>
              <a:ext uri="{FF2B5EF4-FFF2-40B4-BE49-F238E27FC236}">
                <a16:creationId xmlns:a16="http://schemas.microsoft.com/office/drawing/2014/main" id="{BADBA380-0F0D-8425-D057-2F051A584EE1}"/>
              </a:ext>
            </a:extLst>
          </p:cNvPr>
          <p:cNvCxnSpPr>
            <a:cxnSpLocks/>
            <a:stCxn id="56" idx="0"/>
            <a:endCxn id="47" idx="2"/>
          </p:cNvCxnSpPr>
          <p:nvPr/>
        </p:nvCxnSpPr>
        <p:spPr>
          <a:xfrm rot="5400000" flipH="1" flipV="1">
            <a:off x="1502370" y="5968965"/>
            <a:ext cx="262865" cy="2109"/>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Flowchart: Document 1076">
            <a:extLst>
              <a:ext uri="{FF2B5EF4-FFF2-40B4-BE49-F238E27FC236}">
                <a16:creationId xmlns:a16="http://schemas.microsoft.com/office/drawing/2014/main" id="{9EC400FD-1E8B-D501-F3BF-A4CFA4D55928}"/>
              </a:ext>
            </a:extLst>
          </p:cNvPr>
          <p:cNvSpPr/>
          <p:nvPr/>
        </p:nvSpPr>
        <p:spPr>
          <a:xfrm>
            <a:off x="1370046" y="3361838"/>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dirty="0">
                <a:ln>
                  <a:noFill/>
                </a:ln>
                <a:solidFill>
                  <a:prstClr val="black"/>
                </a:solidFill>
                <a:effectLst/>
                <a:uLnTx/>
                <a:uFillTx/>
                <a:latin typeface="Verdana"/>
                <a:ea typeface="+mn-ea"/>
                <a:cs typeface="+mn-cs"/>
              </a:rPr>
              <a:t>Request to email</a:t>
            </a:r>
          </a:p>
        </p:txBody>
      </p:sp>
      <p:sp>
        <p:nvSpPr>
          <p:cNvPr id="59" name="Flowchart: Document 1076">
            <a:extLst>
              <a:ext uri="{FF2B5EF4-FFF2-40B4-BE49-F238E27FC236}">
                <a16:creationId xmlns:a16="http://schemas.microsoft.com/office/drawing/2014/main" id="{6E6FB37B-05AD-5095-2F38-6C3F10B63F4B}"/>
              </a:ext>
            </a:extLst>
          </p:cNvPr>
          <p:cNvSpPr/>
          <p:nvPr/>
        </p:nvSpPr>
        <p:spPr>
          <a:xfrm>
            <a:off x="2395043" y="3358076"/>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ServiceNow</a:t>
            </a:r>
          </a:p>
        </p:txBody>
      </p:sp>
      <p:cxnSp>
        <p:nvCxnSpPr>
          <p:cNvPr id="60" name="Connector: Elbow 1080">
            <a:extLst>
              <a:ext uri="{FF2B5EF4-FFF2-40B4-BE49-F238E27FC236}">
                <a16:creationId xmlns:a16="http://schemas.microsoft.com/office/drawing/2014/main" id="{9C530E70-26B2-A8A2-322E-3D80A0C17086}"/>
              </a:ext>
            </a:extLst>
          </p:cNvPr>
          <p:cNvCxnSpPr>
            <a:cxnSpLocks/>
            <a:stCxn id="58" idx="3"/>
            <a:endCxn id="59" idx="1"/>
          </p:cNvCxnSpPr>
          <p:nvPr/>
        </p:nvCxnSpPr>
        <p:spPr>
          <a:xfrm flipV="1">
            <a:off x="2043683" y="3541532"/>
            <a:ext cx="351360" cy="376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1081">
            <a:extLst>
              <a:ext uri="{FF2B5EF4-FFF2-40B4-BE49-F238E27FC236}">
                <a16:creationId xmlns:a16="http://schemas.microsoft.com/office/drawing/2014/main" id="{FB45416D-1841-A622-B33F-CC593594EBAC}"/>
              </a:ext>
            </a:extLst>
          </p:cNvPr>
          <p:cNvCxnSpPr>
            <a:cxnSpLocks/>
            <a:stCxn id="59" idx="3"/>
            <a:endCxn id="11" idx="1"/>
          </p:cNvCxnSpPr>
          <p:nvPr/>
        </p:nvCxnSpPr>
        <p:spPr>
          <a:xfrm flipV="1">
            <a:off x="3068680" y="3054485"/>
            <a:ext cx="419155" cy="48704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ZoneTexte 40">
            <a:extLst>
              <a:ext uri="{FF2B5EF4-FFF2-40B4-BE49-F238E27FC236}">
                <a16:creationId xmlns:a16="http://schemas.microsoft.com/office/drawing/2014/main" id="{F1823CA4-96D6-1782-BAD4-22B525E63BD7}"/>
              </a:ext>
            </a:extLst>
          </p:cNvPr>
          <p:cNvSpPr txBox="1"/>
          <p:nvPr/>
        </p:nvSpPr>
        <p:spPr>
          <a:xfrm>
            <a:off x="4298339" y="5663116"/>
            <a:ext cx="1095512"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dirty="0">
                <a:latin typeface="Verdana"/>
              </a:rPr>
              <a:t>Gather CN approval</a:t>
            </a:r>
          </a:p>
          <a:p>
            <a:pPr algn="ctr" defTabSz="685115">
              <a:defRPr/>
            </a:pPr>
            <a:r>
              <a:rPr lang="en-GB" sz="675" noProof="0" dirty="0">
                <a:latin typeface="Verdana"/>
              </a:rPr>
              <a:t>(get approval in case out of def. threshold)</a:t>
            </a:r>
          </a:p>
        </p:txBody>
      </p:sp>
      <p:grpSp>
        <p:nvGrpSpPr>
          <p:cNvPr id="63" name="Group 62">
            <a:extLst>
              <a:ext uri="{FF2B5EF4-FFF2-40B4-BE49-F238E27FC236}">
                <a16:creationId xmlns:a16="http://schemas.microsoft.com/office/drawing/2014/main" id="{8B7DE295-D2F3-27EE-5259-B432B31B059B}"/>
              </a:ext>
            </a:extLst>
          </p:cNvPr>
          <p:cNvGrpSpPr/>
          <p:nvPr/>
        </p:nvGrpSpPr>
        <p:grpSpPr>
          <a:xfrm>
            <a:off x="4661972" y="5346354"/>
            <a:ext cx="316762" cy="316762"/>
            <a:chOff x="3904884" y="4179013"/>
            <a:chExt cx="720000" cy="720000"/>
          </a:xfrm>
        </p:grpSpPr>
        <p:sp>
          <p:nvSpPr>
            <p:cNvPr id="64" name="Oval 63">
              <a:extLst>
                <a:ext uri="{FF2B5EF4-FFF2-40B4-BE49-F238E27FC236}">
                  <a16:creationId xmlns:a16="http://schemas.microsoft.com/office/drawing/2014/main" id="{507D1C24-B488-BD7E-A424-F562594DAA2E}"/>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65" name="Picture 64">
              <a:extLst>
                <a:ext uri="{FF2B5EF4-FFF2-40B4-BE49-F238E27FC236}">
                  <a16:creationId xmlns:a16="http://schemas.microsoft.com/office/drawing/2014/main" id="{D9A5B5A6-8155-3FC9-8BCF-6B56E743553D}"/>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66" name="ZoneTexte 40">
            <a:extLst>
              <a:ext uri="{FF2B5EF4-FFF2-40B4-BE49-F238E27FC236}">
                <a16:creationId xmlns:a16="http://schemas.microsoft.com/office/drawing/2014/main" id="{56D8EB83-2479-807C-9887-26C5A32C0DDD}"/>
              </a:ext>
            </a:extLst>
          </p:cNvPr>
          <p:cNvSpPr txBox="1"/>
          <p:nvPr/>
        </p:nvSpPr>
        <p:spPr>
          <a:xfrm>
            <a:off x="3485857" y="5023099"/>
            <a:ext cx="844507"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dirty="0">
                <a:solidFill>
                  <a:prstClr val="black"/>
                </a:solidFill>
                <a:latin typeface="Verdana"/>
              </a:rPr>
              <a:t>Create/upload</a:t>
            </a:r>
            <a:br>
              <a:rPr lang="en-GB" sz="675" noProof="0" dirty="0">
                <a:solidFill>
                  <a:prstClr val="black"/>
                </a:solidFill>
                <a:latin typeface="Verdana"/>
              </a:rPr>
            </a:br>
            <a:r>
              <a:rPr lang="en-GB" sz="675" noProof="0" dirty="0">
                <a:solidFill>
                  <a:prstClr val="black"/>
                </a:solidFill>
                <a:latin typeface="Verdana"/>
              </a:rPr>
              <a:t>Settlement</a:t>
            </a:r>
          </a:p>
        </p:txBody>
      </p:sp>
      <p:grpSp>
        <p:nvGrpSpPr>
          <p:cNvPr id="67" name="Group 66">
            <a:extLst>
              <a:ext uri="{FF2B5EF4-FFF2-40B4-BE49-F238E27FC236}">
                <a16:creationId xmlns:a16="http://schemas.microsoft.com/office/drawing/2014/main" id="{55E2A598-B147-CF83-7B28-EECFD238BF6F}"/>
              </a:ext>
            </a:extLst>
          </p:cNvPr>
          <p:cNvGrpSpPr/>
          <p:nvPr/>
        </p:nvGrpSpPr>
        <p:grpSpPr>
          <a:xfrm>
            <a:off x="5616208" y="5340328"/>
            <a:ext cx="316762" cy="316762"/>
            <a:chOff x="3904884" y="4179013"/>
            <a:chExt cx="720000" cy="720000"/>
          </a:xfrm>
        </p:grpSpPr>
        <p:sp>
          <p:nvSpPr>
            <p:cNvPr id="68" name="Oval 67">
              <a:extLst>
                <a:ext uri="{FF2B5EF4-FFF2-40B4-BE49-F238E27FC236}">
                  <a16:creationId xmlns:a16="http://schemas.microsoft.com/office/drawing/2014/main" id="{CC77882E-2184-E7F3-C417-936363CBF9A1}"/>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69" name="Picture 68">
              <a:extLst>
                <a:ext uri="{FF2B5EF4-FFF2-40B4-BE49-F238E27FC236}">
                  <a16:creationId xmlns:a16="http://schemas.microsoft.com/office/drawing/2014/main" id="{5B169900-D683-D4EB-8CB4-DF9FA65C912F}"/>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70" name="ZoneTexte 40">
            <a:extLst>
              <a:ext uri="{FF2B5EF4-FFF2-40B4-BE49-F238E27FC236}">
                <a16:creationId xmlns:a16="http://schemas.microsoft.com/office/drawing/2014/main" id="{F199BAC8-97C0-3860-4C15-7E4EBB92D840}"/>
              </a:ext>
            </a:extLst>
          </p:cNvPr>
          <p:cNvSpPr txBox="1"/>
          <p:nvPr/>
        </p:nvSpPr>
        <p:spPr>
          <a:xfrm>
            <a:off x="5458876" y="5660833"/>
            <a:ext cx="712561"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dirty="0">
                <a:solidFill>
                  <a:prstClr val="black"/>
                </a:solidFill>
                <a:latin typeface="Verdana"/>
              </a:rPr>
              <a:t>Create Credit Note</a:t>
            </a:r>
          </a:p>
        </p:txBody>
      </p:sp>
      <p:cxnSp>
        <p:nvCxnSpPr>
          <p:cNvPr id="71" name="Straight Connector 70">
            <a:extLst>
              <a:ext uri="{FF2B5EF4-FFF2-40B4-BE49-F238E27FC236}">
                <a16:creationId xmlns:a16="http://schemas.microsoft.com/office/drawing/2014/main" id="{3ECFDC1D-45B5-B790-2520-82205FF1AA57}"/>
              </a:ext>
            </a:extLst>
          </p:cNvPr>
          <p:cNvCxnSpPr>
            <a:cxnSpLocks/>
          </p:cNvCxnSpPr>
          <p:nvPr/>
        </p:nvCxnSpPr>
        <p:spPr>
          <a:xfrm flipV="1">
            <a:off x="4978734" y="5498709"/>
            <a:ext cx="637474" cy="6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37A92F97-1414-AE41-C539-321F7D839768}"/>
              </a:ext>
            </a:extLst>
          </p:cNvPr>
          <p:cNvGrpSpPr/>
          <p:nvPr/>
        </p:nvGrpSpPr>
        <p:grpSpPr>
          <a:xfrm>
            <a:off x="6994596" y="5841674"/>
            <a:ext cx="316762" cy="316762"/>
            <a:chOff x="3904884" y="4179013"/>
            <a:chExt cx="720000" cy="720000"/>
          </a:xfrm>
        </p:grpSpPr>
        <p:sp>
          <p:nvSpPr>
            <p:cNvPr id="73" name="Oval 72">
              <a:extLst>
                <a:ext uri="{FF2B5EF4-FFF2-40B4-BE49-F238E27FC236}">
                  <a16:creationId xmlns:a16="http://schemas.microsoft.com/office/drawing/2014/main" id="{0C03C604-BF03-BA3D-26F2-882E42293C5B}"/>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74" name="Picture 73">
              <a:extLst>
                <a:ext uri="{FF2B5EF4-FFF2-40B4-BE49-F238E27FC236}">
                  <a16:creationId xmlns:a16="http://schemas.microsoft.com/office/drawing/2014/main" id="{5D8411B5-2227-C821-A601-FEBA82F111DC}"/>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75" name="ZoneTexte 40">
            <a:extLst>
              <a:ext uri="{FF2B5EF4-FFF2-40B4-BE49-F238E27FC236}">
                <a16:creationId xmlns:a16="http://schemas.microsoft.com/office/drawing/2014/main" id="{DFEBACFE-B7C3-C9A9-301A-3376EA02BA5B}"/>
              </a:ext>
            </a:extLst>
          </p:cNvPr>
          <p:cNvSpPr txBox="1"/>
          <p:nvPr/>
        </p:nvSpPr>
        <p:spPr>
          <a:xfrm>
            <a:off x="6337858" y="6135280"/>
            <a:ext cx="1537678"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dirty="0">
                <a:solidFill>
                  <a:prstClr val="black"/>
                </a:solidFill>
                <a:latin typeface="Verdana"/>
              </a:rPr>
              <a:t>Communicate to customer/Sales and AR team </a:t>
            </a:r>
            <a:br>
              <a:rPr lang="en-GB" sz="675" noProof="0" dirty="0">
                <a:solidFill>
                  <a:prstClr val="black"/>
                </a:solidFill>
                <a:latin typeface="Verdana"/>
              </a:rPr>
            </a:br>
            <a:endParaRPr lang="en-GB" sz="675" noProof="0" dirty="0">
              <a:solidFill>
                <a:srgbClr val="FF304D"/>
              </a:solidFill>
              <a:latin typeface="Verdana"/>
            </a:endParaRPr>
          </a:p>
        </p:txBody>
      </p:sp>
      <p:cxnSp>
        <p:nvCxnSpPr>
          <p:cNvPr id="76" name="Straight Connector 75">
            <a:extLst>
              <a:ext uri="{FF2B5EF4-FFF2-40B4-BE49-F238E27FC236}">
                <a16:creationId xmlns:a16="http://schemas.microsoft.com/office/drawing/2014/main" id="{442DDDD6-F14A-FD73-0E51-04E70FA7990D}"/>
              </a:ext>
            </a:extLst>
          </p:cNvPr>
          <p:cNvCxnSpPr>
            <a:cxnSpLocks/>
            <a:stCxn id="68" idx="6"/>
            <a:endCxn id="77" idx="2"/>
          </p:cNvCxnSpPr>
          <p:nvPr/>
        </p:nvCxnSpPr>
        <p:spPr>
          <a:xfrm flipV="1">
            <a:off x="5932970" y="5494560"/>
            <a:ext cx="1056090" cy="4149"/>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7" name="Oval 76">
            <a:extLst>
              <a:ext uri="{FF2B5EF4-FFF2-40B4-BE49-F238E27FC236}">
                <a16:creationId xmlns:a16="http://schemas.microsoft.com/office/drawing/2014/main" id="{8D39DCE0-0D5A-D409-7023-342C5EC32988}"/>
              </a:ext>
            </a:extLst>
          </p:cNvPr>
          <p:cNvSpPr/>
          <p:nvPr/>
        </p:nvSpPr>
        <p:spPr>
          <a:xfrm>
            <a:off x="6989060" y="5332560"/>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78" name="ZoneTexte 40">
            <a:extLst>
              <a:ext uri="{FF2B5EF4-FFF2-40B4-BE49-F238E27FC236}">
                <a16:creationId xmlns:a16="http://schemas.microsoft.com/office/drawing/2014/main" id="{222443CA-1877-2B2D-F2D6-0C3EB97DDB3D}"/>
              </a:ext>
            </a:extLst>
          </p:cNvPr>
          <p:cNvSpPr txBox="1"/>
          <p:nvPr/>
        </p:nvSpPr>
        <p:spPr>
          <a:xfrm>
            <a:off x="7313060" y="5329963"/>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Credit Note created</a:t>
            </a:r>
          </a:p>
        </p:txBody>
      </p:sp>
      <p:cxnSp>
        <p:nvCxnSpPr>
          <p:cNvPr id="79" name="Straight Connector 78">
            <a:extLst>
              <a:ext uri="{FF2B5EF4-FFF2-40B4-BE49-F238E27FC236}">
                <a16:creationId xmlns:a16="http://schemas.microsoft.com/office/drawing/2014/main" id="{71DDA509-C35A-2431-3DEE-AA87A79CDF4E}"/>
              </a:ext>
            </a:extLst>
          </p:cNvPr>
          <p:cNvCxnSpPr>
            <a:cxnSpLocks/>
            <a:stCxn id="77" idx="4"/>
          </p:cNvCxnSpPr>
          <p:nvPr/>
        </p:nvCxnSpPr>
        <p:spPr>
          <a:xfrm>
            <a:off x="7151060" y="5656560"/>
            <a:ext cx="4774" cy="340161"/>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A74C9616-F86A-D315-F323-B604D44024C7}"/>
              </a:ext>
            </a:extLst>
          </p:cNvPr>
          <p:cNvGrpSpPr/>
          <p:nvPr/>
        </p:nvGrpSpPr>
        <p:grpSpPr>
          <a:xfrm>
            <a:off x="7321462" y="3335554"/>
            <a:ext cx="316762" cy="316762"/>
            <a:chOff x="3904884" y="4179013"/>
            <a:chExt cx="720000" cy="720000"/>
          </a:xfrm>
        </p:grpSpPr>
        <p:sp>
          <p:nvSpPr>
            <p:cNvPr id="81" name="Oval 80">
              <a:extLst>
                <a:ext uri="{FF2B5EF4-FFF2-40B4-BE49-F238E27FC236}">
                  <a16:creationId xmlns:a16="http://schemas.microsoft.com/office/drawing/2014/main" id="{2A82483F-19C7-7E81-1FCC-A842EFC6D441}"/>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82" name="Picture 81">
              <a:extLst>
                <a:ext uri="{FF2B5EF4-FFF2-40B4-BE49-F238E27FC236}">
                  <a16:creationId xmlns:a16="http://schemas.microsoft.com/office/drawing/2014/main" id="{040B5218-DC5B-1147-FE49-8A4EE88ED9C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83" name="ZoneTexte 40">
            <a:extLst>
              <a:ext uri="{FF2B5EF4-FFF2-40B4-BE49-F238E27FC236}">
                <a16:creationId xmlns:a16="http://schemas.microsoft.com/office/drawing/2014/main" id="{567F352D-23EE-B9B0-8EDA-C5770422E1FB}"/>
              </a:ext>
            </a:extLst>
          </p:cNvPr>
          <p:cNvSpPr txBox="1"/>
          <p:nvPr/>
        </p:nvSpPr>
        <p:spPr>
          <a:xfrm>
            <a:off x="6812928" y="3638785"/>
            <a:ext cx="140053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dirty="0">
                <a:solidFill>
                  <a:prstClr val="black"/>
                </a:solidFill>
                <a:latin typeface="Verdana"/>
              </a:rPr>
              <a:t>Communication to relevant teams</a:t>
            </a:r>
            <a:endParaRPr lang="en-GB" sz="675" noProof="0" dirty="0">
              <a:solidFill>
                <a:srgbClr val="FF304D"/>
              </a:solidFill>
              <a:latin typeface="Verdana"/>
            </a:endParaRPr>
          </a:p>
        </p:txBody>
      </p:sp>
      <p:cxnSp>
        <p:nvCxnSpPr>
          <p:cNvPr id="84" name="Straight Connector 83">
            <a:extLst>
              <a:ext uri="{FF2B5EF4-FFF2-40B4-BE49-F238E27FC236}">
                <a16:creationId xmlns:a16="http://schemas.microsoft.com/office/drawing/2014/main" id="{8BDF23C8-15EC-CF78-AC57-4373BBB96EE8}"/>
              </a:ext>
            </a:extLst>
          </p:cNvPr>
          <p:cNvCxnSpPr>
            <a:cxnSpLocks/>
            <a:stCxn id="45" idx="4"/>
          </p:cNvCxnSpPr>
          <p:nvPr/>
        </p:nvCxnSpPr>
        <p:spPr>
          <a:xfrm>
            <a:off x="7475060" y="3046591"/>
            <a:ext cx="4783" cy="28896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99F0C937-8E08-51B5-ADBC-8A760176D8A9}"/>
              </a:ext>
            </a:extLst>
          </p:cNvPr>
          <p:cNvSpPr/>
          <p:nvPr/>
        </p:nvSpPr>
        <p:spPr>
          <a:xfrm>
            <a:off x="5219321" y="1811711"/>
            <a:ext cx="1260000" cy="1786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noProof="0">
                <a:solidFill>
                  <a:schemeClr val="tx1"/>
                </a:solidFill>
              </a:rPr>
              <a:t>Service Agreement</a:t>
            </a:r>
          </a:p>
        </p:txBody>
      </p:sp>
      <p:sp>
        <p:nvSpPr>
          <p:cNvPr id="86" name="Rectangle 85">
            <a:extLst>
              <a:ext uri="{FF2B5EF4-FFF2-40B4-BE49-F238E27FC236}">
                <a16:creationId xmlns:a16="http://schemas.microsoft.com/office/drawing/2014/main" id="{601D0E53-2E73-68BF-C3C8-75B39235E7EA}"/>
              </a:ext>
            </a:extLst>
          </p:cNvPr>
          <p:cNvSpPr/>
          <p:nvPr/>
        </p:nvSpPr>
        <p:spPr>
          <a:xfrm>
            <a:off x="5143320" y="4711788"/>
            <a:ext cx="1080000" cy="1786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noProof="0">
                <a:solidFill>
                  <a:schemeClr val="tx1"/>
                </a:solidFill>
              </a:rPr>
              <a:t>Rebates Payout</a:t>
            </a:r>
          </a:p>
        </p:txBody>
      </p:sp>
      <p:sp>
        <p:nvSpPr>
          <p:cNvPr id="87" name="Rectangle 86">
            <a:extLst>
              <a:ext uri="{FF2B5EF4-FFF2-40B4-BE49-F238E27FC236}">
                <a16:creationId xmlns:a16="http://schemas.microsoft.com/office/drawing/2014/main" id="{43F10EE4-923E-9475-71EA-FC9B20F3546F}"/>
              </a:ext>
            </a:extLst>
          </p:cNvPr>
          <p:cNvSpPr/>
          <p:nvPr/>
        </p:nvSpPr>
        <p:spPr>
          <a:xfrm>
            <a:off x="2349408" y="2644181"/>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sp>
        <p:nvSpPr>
          <p:cNvPr id="88" name="Rectangle 87">
            <a:extLst>
              <a:ext uri="{FF2B5EF4-FFF2-40B4-BE49-F238E27FC236}">
                <a16:creationId xmlns:a16="http://schemas.microsoft.com/office/drawing/2014/main" id="{D46313C0-A85D-DC6E-F319-56C48A4140D8}"/>
              </a:ext>
            </a:extLst>
          </p:cNvPr>
          <p:cNvSpPr/>
          <p:nvPr/>
        </p:nvSpPr>
        <p:spPr>
          <a:xfrm>
            <a:off x="2349408" y="5254031"/>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grpSp>
        <p:nvGrpSpPr>
          <p:cNvPr id="89" name="Group 88">
            <a:extLst>
              <a:ext uri="{FF2B5EF4-FFF2-40B4-BE49-F238E27FC236}">
                <a16:creationId xmlns:a16="http://schemas.microsoft.com/office/drawing/2014/main" id="{3A92B29D-F2CC-8327-A275-C0AEDC7B5A59}"/>
              </a:ext>
            </a:extLst>
          </p:cNvPr>
          <p:cNvGrpSpPr/>
          <p:nvPr/>
        </p:nvGrpSpPr>
        <p:grpSpPr>
          <a:xfrm>
            <a:off x="3716524" y="3617042"/>
            <a:ext cx="316762" cy="316762"/>
            <a:chOff x="3904884" y="4179013"/>
            <a:chExt cx="720000" cy="720000"/>
          </a:xfrm>
        </p:grpSpPr>
        <p:sp>
          <p:nvSpPr>
            <p:cNvPr id="90" name="Oval 89">
              <a:extLst>
                <a:ext uri="{FF2B5EF4-FFF2-40B4-BE49-F238E27FC236}">
                  <a16:creationId xmlns:a16="http://schemas.microsoft.com/office/drawing/2014/main" id="{4C5D4F18-A045-3C51-9914-8EDB6A53C54E}"/>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91" name="Picture 90">
              <a:extLst>
                <a:ext uri="{FF2B5EF4-FFF2-40B4-BE49-F238E27FC236}">
                  <a16:creationId xmlns:a16="http://schemas.microsoft.com/office/drawing/2014/main" id="{32BBBF0D-851D-2C78-2185-065AE2F23695}"/>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92" name="ZoneTexte 40">
            <a:extLst>
              <a:ext uri="{FF2B5EF4-FFF2-40B4-BE49-F238E27FC236}">
                <a16:creationId xmlns:a16="http://schemas.microsoft.com/office/drawing/2014/main" id="{A753F950-5229-8F81-51AA-9DC0659A680C}"/>
              </a:ext>
            </a:extLst>
          </p:cNvPr>
          <p:cNvSpPr txBox="1"/>
          <p:nvPr/>
        </p:nvSpPr>
        <p:spPr>
          <a:xfrm>
            <a:off x="3558858" y="3304137"/>
            <a:ext cx="632094"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dirty="0">
                <a:latin typeface="Verdana"/>
              </a:rPr>
              <a:t>Language Translation</a:t>
            </a:r>
          </a:p>
        </p:txBody>
      </p:sp>
      <p:cxnSp>
        <p:nvCxnSpPr>
          <p:cNvPr id="93" name="Straight Connector 92">
            <a:extLst>
              <a:ext uri="{FF2B5EF4-FFF2-40B4-BE49-F238E27FC236}">
                <a16:creationId xmlns:a16="http://schemas.microsoft.com/office/drawing/2014/main" id="{044E5005-0FCE-AE65-931F-D33B41F16304}"/>
              </a:ext>
            </a:extLst>
          </p:cNvPr>
          <p:cNvCxnSpPr>
            <a:cxnSpLocks/>
          </p:cNvCxnSpPr>
          <p:nvPr/>
        </p:nvCxnSpPr>
        <p:spPr>
          <a:xfrm>
            <a:off x="3872464" y="3073545"/>
            <a:ext cx="0" cy="23059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77EE914-04F0-3512-7947-036B87D41D99}"/>
              </a:ext>
            </a:extLst>
          </p:cNvPr>
          <p:cNvCxnSpPr>
            <a:cxnSpLocks/>
            <a:endCxn id="45" idx="2"/>
          </p:cNvCxnSpPr>
          <p:nvPr/>
        </p:nvCxnSpPr>
        <p:spPr>
          <a:xfrm flipV="1">
            <a:off x="6654620" y="2884591"/>
            <a:ext cx="658440" cy="169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95" name="Group 94">
            <a:extLst>
              <a:ext uri="{FF2B5EF4-FFF2-40B4-BE49-F238E27FC236}">
                <a16:creationId xmlns:a16="http://schemas.microsoft.com/office/drawing/2014/main" id="{87992CAB-2BA4-465C-71CB-8DF24EE397A1}"/>
              </a:ext>
            </a:extLst>
          </p:cNvPr>
          <p:cNvGrpSpPr/>
          <p:nvPr/>
        </p:nvGrpSpPr>
        <p:grpSpPr>
          <a:xfrm>
            <a:off x="5379290" y="2187851"/>
            <a:ext cx="316762" cy="316762"/>
            <a:chOff x="3904884" y="4179013"/>
            <a:chExt cx="720000" cy="720000"/>
          </a:xfrm>
        </p:grpSpPr>
        <p:sp>
          <p:nvSpPr>
            <p:cNvPr id="96" name="Oval 95">
              <a:extLst>
                <a:ext uri="{FF2B5EF4-FFF2-40B4-BE49-F238E27FC236}">
                  <a16:creationId xmlns:a16="http://schemas.microsoft.com/office/drawing/2014/main" id="{47AF41EA-6510-AD18-01E0-CEC61DE27CEA}"/>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97" name="Picture 96">
              <a:extLst>
                <a:ext uri="{FF2B5EF4-FFF2-40B4-BE49-F238E27FC236}">
                  <a16:creationId xmlns:a16="http://schemas.microsoft.com/office/drawing/2014/main" id="{005754FD-BC90-BD5F-DCC3-DC6B954F089F}"/>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98" name="ZoneTexte 40">
            <a:extLst>
              <a:ext uri="{FF2B5EF4-FFF2-40B4-BE49-F238E27FC236}">
                <a16:creationId xmlns:a16="http://schemas.microsoft.com/office/drawing/2014/main" id="{3D5DD285-8634-7F7B-004E-1364ABA3E71B}"/>
              </a:ext>
            </a:extLst>
          </p:cNvPr>
          <p:cNvSpPr txBox="1"/>
          <p:nvPr/>
        </p:nvSpPr>
        <p:spPr>
          <a:xfrm>
            <a:off x="5645382" y="2072565"/>
            <a:ext cx="83723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Gather approval if needed</a:t>
            </a:r>
          </a:p>
        </p:txBody>
      </p:sp>
      <p:cxnSp>
        <p:nvCxnSpPr>
          <p:cNvPr id="99" name="Straight Connector 98">
            <a:extLst>
              <a:ext uri="{FF2B5EF4-FFF2-40B4-BE49-F238E27FC236}">
                <a16:creationId xmlns:a16="http://schemas.microsoft.com/office/drawing/2014/main" id="{E1FBD5E6-9699-170C-05F5-60323F11BBD6}"/>
              </a:ext>
            </a:extLst>
          </p:cNvPr>
          <p:cNvCxnSpPr>
            <a:cxnSpLocks/>
          </p:cNvCxnSpPr>
          <p:nvPr/>
        </p:nvCxnSpPr>
        <p:spPr>
          <a:xfrm flipH="1" flipV="1">
            <a:off x="5537671" y="2504613"/>
            <a:ext cx="2857" cy="231814"/>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225C35B1-1CF2-FBD7-CC49-014C5577526F}"/>
              </a:ext>
            </a:extLst>
          </p:cNvPr>
          <p:cNvCxnSpPr>
            <a:cxnSpLocks/>
          </p:cNvCxnSpPr>
          <p:nvPr/>
        </p:nvCxnSpPr>
        <p:spPr>
          <a:xfrm flipH="1">
            <a:off x="4927168" y="2346232"/>
            <a:ext cx="452122" cy="0"/>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01" name="Picture 100" descr="A person with short dark hair&#10;&#10;AI-generated content may be incorrect.">
            <a:extLst>
              <a:ext uri="{FF2B5EF4-FFF2-40B4-BE49-F238E27FC236}">
                <a16:creationId xmlns:a16="http://schemas.microsoft.com/office/drawing/2014/main" id="{0021D1A7-7E49-F90D-DB17-2DBDC5DF554F}"/>
              </a:ext>
            </a:extLst>
          </p:cNvPr>
          <p:cNvPicPr>
            <a:picLocks noChangeAspect="1"/>
          </p:cNvPicPr>
          <p:nvPr/>
        </p:nvPicPr>
        <p:blipFill>
          <a:blip r:embed="rId4"/>
          <a:stretch/>
        </p:blipFill>
        <p:spPr>
          <a:xfrm>
            <a:off x="3165496" y="1752600"/>
            <a:ext cx="621792" cy="621792"/>
          </a:xfrm>
          <a:prstGeom prst="roundRect">
            <a:avLst/>
          </a:prstGeom>
        </p:spPr>
      </p:pic>
      <p:sp>
        <p:nvSpPr>
          <p:cNvPr id="102" name="TextBox 101">
            <a:extLst>
              <a:ext uri="{FF2B5EF4-FFF2-40B4-BE49-F238E27FC236}">
                <a16:creationId xmlns:a16="http://schemas.microsoft.com/office/drawing/2014/main" id="{04C833AA-286C-8F8D-530E-86D5E9F45B3A}"/>
              </a:ext>
            </a:extLst>
          </p:cNvPr>
          <p:cNvSpPr txBox="1"/>
          <p:nvPr/>
        </p:nvSpPr>
        <p:spPr>
          <a:xfrm>
            <a:off x="2929202" y="5005736"/>
            <a:ext cx="604981" cy="230832"/>
          </a:xfrm>
          <a:prstGeom prst="rect">
            <a:avLst/>
          </a:prstGeom>
          <a:noFill/>
        </p:spPr>
        <p:txBody>
          <a:bodyPr wrap="square">
            <a:spAutoFit/>
          </a:bodyPr>
          <a:lstStyle/>
          <a:p>
            <a:r>
              <a:rPr lang="en-GB" sz="900" b="1" noProof="0">
                <a:solidFill>
                  <a:prstClr val="black"/>
                </a:solidFill>
                <a:ea typeface="Times New Roman" panose="02020603050405020304" pitchFamily="18" charset="0"/>
                <a:cs typeface="Aptos" panose="020B0004020202020204" pitchFamily="34" charset="0"/>
              </a:rPr>
              <a:t>Agent2</a:t>
            </a:r>
            <a:endParaRPr lang="en-GB" sz="900" i="1" noProof="0"/>
          </a:p>
        </p:txBody>
      </p:sp>
      <p:pic>
        <p:nvPicPr>
          <p:cNvPr id="103" name="Picture 102">
            <a:extLst>
              <a:ext uri="{FF2B5EF4-FFF2-40B4-BE49-F238E27FC236}">
                <a16:creationId xmlns:a16="http://schemas.microsoft.com/office/drawing/2014/main" id="{0210CDC0-FCAD-FFE1-360A-6E107D5B729B}"/>
              </a:ext>
            </a:extLst>
          </p:cNvPr>
          <p:cNvPicPr>
            <a:picLocks noChangeAspect="1"/>
          </p:cNvPicPr>
          <p:nvPr/>
        </p:nvPicPr>
        <p:blipFill>
          <a:blip r:embed="rId5"/>
          <a:stretch/>
        </p:blipFill>
        <p:spPr>
          <a:xfrm>
            <a:off x="3165496" y="4397628"/>
            <a:ext cx="621792" cy="621792"/>
          </a:xfrm>
          <a:prstGeom prst="roundRect">
            <a:avLst/>
          </a:prstGeom>
        </p:spPr>
      </p:pic>
      <p:sp>
        <p:nvSpPr>
          <p:cNvPr id="104" name="TextBox 103">
            <a:extLst>
              <a:ext uri="{FF2B5EF4-FFF2-40B4-BE49-F238E27FC236}">
                <a16:creationId xmlns:a16="http://schemas.microsoft.com/office/drawing/2014/main" id="{ABD92D18-EE38-C703-7778-99C9A5EBACF4}"/>
              </a:ext>
            </a:extLst>
          </p:cNvPr>
          <p:cNvSpPr txBox="1"/>
          <p:nvPr/>
        </p:nvSpPr>
        <p:spPr>
          <a:xfrm>
            <a:off x="2942637" y="2355964"/>
            <a:ext cx="604981" cy="230832"/>
          </a:xfrm>
          <a:prstGeom prst="rect">
            <a:avLst/>
          </a:prstGeom>
          <a:noFill/>
        </p:spPr>
        <p:txBody>
          <a:bodyPr wrap="square">
            <a:spAutoFit/>
          </a:bodyPr>
          <a:lstStyle/>
          <a:p>
            <a:r>
              <a:rPr lang="en-GB" sz="900" b="1" noProof="0">
                <a:solidFill>
                  <a:prstClr val="black"/>
                </a:solidFill>
                <a:ea typeface="Times New Roman" panose="02020603050405020304" pitchFamily="18" charset="0"/>
                <a:cs typeface="Aptos" panose="020B0004020202020204" pitchFamily="34" charset="0"/>
              </a:rPr>
              <a:t>Agent1</a:t>
            </a:r>
            <a:endParaRPr lang="en-GB" sz="900" i="1" noProof="0"/>
          </a:p>
        </p:txBody>
      </p:sp>
    </p:spTree>
    <p:extLst>
      <p:ext uri="{BB962C8B-B14F-4D97-AF65-F5344CB8AC3E}">
        <p14:creationId xmlns:p14="http://schemas.microsoft.com/office/powerpoint/2010/main" val="2946189433"/>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2.xml><?xml version="1.0" encoding="utf-8"?>
<ds:datastoreItem xmlns:ds="http://schemas.openxmlformats.org/officeDocument/2006/customXml" ds:itemID="{B0A0046D-0765-4685-8521-7D1E34B9A377}">
  <ds:schemaRefs>
    <ds:schemaRef ds:uri="http://schemas.microsoft.com/office/2006/documentManagement/types"/>
    <ds:schemaRef ds:uri="http://purl.org/dc/terms/"/>
    <ds:schemaRef ds:uri="http://purl.org/dc/elements/1.1/"/>
    <ds:schemaRef ds:uri="71ec4482-8a5f-419e-a3fb-f1ff39837bb1"/>
    <ds:schemaRef ds:uri="http://purl.org/dc/dcmitype/"/>
    <ds:schemaRef ds:uri="http://schemas.microsoft.com/office/infopath/2007/PartnerControls"/>
    <ds:schemaRef ds:uri="http://schemas.microsoft.com/office/2006/metadata/properties"/>
    <ds:schemaRef ds:uri="http://schemas.openxmlformats.org/package/2006/metadata/core-properties"/>
    <ds:schemaRef ds:uri="289d593b-f9da-44ad-aeed-35e8c5022e75"/>
    <ds:schemaRef ds:uri="http://www.w3.org/XML/1998/namespace"/>
  </ds:schemaRefs>
</ds:datastoreItem>
</file>

<file path=customXml/itemProps3.xml><?xml version="1.0" encoding="utf-8"?>
<ds:datastoreItem xmlns:ds="http://schemas.openxmlformats.org/officeDocument/2006/customXml" ds:itemID="{ED1F2C7C-39F3-40CE-904E-E84BCC0B03BD}">
  <ds:schemaRefs>
    <ds:schemaRef ds:uri="289d593b-f9da-44ad-aeed-35e8c5022e75"/>
    <ds:schemaRef ds:uri="71ec4482-8a5f-419e-a3fb-f1ff39837bb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emplate>Capgemini_Bright_2025</Template>
  <TotalTime>227</TotalTime>
  <Words>905</Words>
  <Application>Microsoft Office PowerPoint</Application>
  <PresentationFormat>Widescreen</PresentationFormat>
  <Paragraphs>182</Paragraphs>
  <Slides>4</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vt:i4>
      </vt:variant>
    </vt:vector>
  </HeadingPairs>
  <TitlesOfParts>
    <vt:vector size="13" baseType="lpstr">
      <vt:lpstr>Aptos</vt:lpstr>
      <vt:lpstr>Arial</vt:lpstr>
      <vt:lpstr>System Font Regular</vt:lpstr>
      <vt:lpstr>Times New Roman</vt:lpstr>
      <vt:lpstr>Ubuntu</vt:lpstr>
      <vt:lpstr>Ubuntu Light</vt:lpstr>
      <vt:lpstr>Ubuntu Medium</vt:lpstr>
      <vt:lpstr>Verdana</vt:lpstr>
      <vt:lpstr>Capgemini_Bright_2025</vt:lpstr>
      <vt:lpstr>PowerPoint Presentation</vt:lpstr>
      <vt:lpstr>PowerPoint Presentation</vt:lpstr>
      <vt:lpstr>PowerPoint Presentation</vt:lpstr>
      <vt:lpstr>Functional Solution + AI-Human Chemistry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lastModifiedBy>Madi, Ismael</cp:lastModifiedBy>
  <cp:revision>17</cp:revision>
  <dcterms:created xsi:type="dcterms:W3CDTF">2026-02-09T11:16:54Z</dcterms:created>
  <dcterms:modified xsi:type="dcterms:W3CDTF">2026-04-07T13:47:23Z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