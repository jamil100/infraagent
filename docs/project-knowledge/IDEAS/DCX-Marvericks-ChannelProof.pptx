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7"/>
  </p:notesMasterIdLst>
  <p:sldIdLst>
    <p:sldId id="263" r:id="rId5"/>
    <p:sldId id="2145706672" r:id="rId6"/>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04/08/2026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312710" y="4502398"/>
            <a:ext cx="2076537" cy="1822049"/>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sz="900"/>
            </a:pPr>
            <a:r>
              <a:rPr lang="en-IN" sz="1050" dirty="0">
                <a:solidFill>
                  <a:schemeClr val="tx1"/>
                </a:solidFill>
              </a:rPr>
              <a:t>"Sales, Marketing, and Finance teams aligned on trade promotions, campaigns, and distributor activities to enable informed brand vs campaign decision‑making, revenue attribution, ROI measurement, and investment planning."</a:t>
            </a:r>
          </a:p>
        </p:txBody>
      </p:sp>
      <p:sp>
        <p:nvSpPr>
          <p:cNvPr id="18" name="Rectangle 17">
            <a:extLst>
              <a:ext uri="{FF2B5EF4-FFF2-40B4-BE49-F238E27FC236}">
                <a16:creationId xmlns:a16="http://schemas.microsoft.com/office/drawing/2014/main" id="{BD0C65E4-4EA2-695A-0974-696F98D3C9D6}"/>
              </a:ext>
            </a:extLst>
          </p:cNvPr>
          <p:cNvSpPr/>
          <p:nvPr/>
        </p:nvSpPr>
        <p:spPr>
          <a:xfrm>
            <a:off x="7484545" y="3928208"/>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509285" y="3892001"/>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474084" y="2894793"/>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780405" y="2894793"/>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912793" y="682228"/>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72200" y="935691"/>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423807" y="4209959"/>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699755" y="4195326"/>
            <a:ext cx="1020129" cy="263791"/>
          </a:xfrm>
          <a:prstGeom prst="rect">
            <a:avLst/>
          </a:prstGeom>
          <a:noFill/>
        </p:spPr>
        <p:txBody>
          <a:bodyPr vert="horz" wrap="none" lIns="90000" tIns="46800" rIns="90000" bIns="46800" rtlCol="0" anchor="ctr">
            <a:spAutoFit/>
          </a:bodyPr>
          <a:lstStyle/>
          <a:p>
            <a:pPr algn="l">
              <a:spcBef>
                <a:spcPct val="0"/>
              </a:spcBef>
            </a:pPr>
            <a:r>
              <a:rPr lang="en-US" sz="1100" dirty="0"/>
              <a:t>Stakeholders</a:t>
            </a:r>
          </a:p>
        </p:txBody>
      </p:sp>
      <p:sp>
        <p:nvSpPr>
          <p:cNvPr id="4" name="Rounded Rectangle 6">
            <a:extLst>
              <a:ext uri="{FF2B5EF4-FFF2-40B4-BE49-F238E27FC236}">
                <a16:creationId xmlns:a16="http://schemas.microsoft.com/office/drawing/2014/main" id="{96A19DD3-D05D-12C2-D469-E032C4CC3365}"/>
              </a:ext>
            </a:extLst>
          </p:cNvPr>
          <p:cNvSpPr/>
          <p:nvPr/>
        </p:nvSpPr>
        <p:spPr>
          <a:xfrm>
            <a:off x="6180418" y="964950"/>
            <a:ext cx="3208830" cy="2270115"/>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sz="900"/>
            </a:pPr>
            <a:r>
              <a:rPr lang="en-IN" sz="1050" dirty="0">
                <a:solidFill>
                  <a:schemeClr val="tx1"/>
                </a:solidFill>
              </a:rPr>
              <a:t>Channel Proof enables FMCG organizations to measure how multiple sales and promotion touchpoints influence revenue across the customer journey. It captures distributor activities, trade promotions, and digital campaigns as structured touchpoints and applies multi‑touch revenue attribution when orders are closed. The solution supports brand‑level long‑term contribution analysis and campaign‑level incremental lift and ROI measurement, enabling data‑driven decisions for trade spend, channel investment, and promotion optimization</a:t>
            </a:r>
            <a:r>
              <a:rPr lang="en-IN" sz="1200" dirty="0">
                <a:solidFill>
                  <a:schemeClr val="tx1"/>
                </a:solidFill>
              </a:rPr>
              <a:t>.</a:t>
            </a:r>
          </a:p>
        </p:txBody>
      </p:sp>
      <p:sp>
        <p:nvSpPr>
          <p:cNvPr id="10" name="Rounded Rectangle 16">
            <a:extLst>
              <a:ext uri="{FF2B5EF4-FFF2-40B4-BE49-F238E27FC236}">
                <a16:creationId xmlns:a16="http://schemas.microsoft.com/office/drawing/2014/main" id="{0CAEC67B-1BCB-ED5E-B80C-B42AA1DCD281}"/>
              </a:ext>
            </a:extLst>
          </p:cNvPr>
          <p:cNvSpPr/>
          <p:nvPr/>
        </p:nvSpPr>
        <p:spPr>
          <a:xfrm>
            <a:off x="371635" y="4863533"/>
            <a:ext cx="3083675" cy="14718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IN" sz="1050" dirty="0">
                <a:solidFill>
                  <a:schemeClr val="tx1"/>
                </a:solidFill>
              </a:rPr>
              <a:t>Channel Proof captures all sales‑influencing touchpoints and distributes revenue proportionally across channels and campaigns using multi‑touch attribution. It enables brand‑level strategy decisions and campaign‑level ROI and elasticity insights for trade and promotion optimization</a:t>
            </a:r>
            <a:endParaRPr lang="en-US" sz="1050" dirty="0">
              <a:solidFill>
                <a:schemeClr val="tx1"/>
              </a:solidFill>
            </a:endParaRPr>
          </a:p>
        </p:txBody>
      </p:sp>
      <p:sp>
        <p:nvSpPr>
          <p:cNvPr id="13" name="Rounded Rectangle 16">
            <a:extLst>
              <a:ext uri="{FF2B5EF4-FFF2-40B4-BE49-F238E27FC236}">
                <a16:creationId xmlns:a16="http://schemas.microsoft.com/office/drawing/2014/main" id="{EC8F6680-90B4-0E5F-1FF2-A9C9EEEEC846}"/>
              </a:ext>
            </a:extLst>
          </p:cNvPr>
          <p:cNvSpPr/>
          <p:nvPr/>
        </p:nvSpPr>
        <p:spPr>
          <a:xfrm>
            <a:off x="3689596" y="4824920"/>
            <a:ext cx="3304929" cy="153036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IN" sz="1050" dirty="0">
                <a:solidFill>
                  <a:schemeClr val="tx1"/>
                </a:solidFill>
              </a:rPr>
              <a:t>Built</a:t>
            </a:r>
            <a:r>
              <a:rPr lang="en-IN" sz="1050" dirty="0"/>
              <a:t> </a:t>
            </a:r>
            <a:r>
              <a:rPr lang="en-IN" sz="1050" dirty="0">
                <a:solidFill>
                  <a:schemeClr val="tx1"/>
                </a:solidFill>
              </a:rPr>
              <a:t>on Dynamics 365 and Dataverse, Channel Proof uses a multi‑touch attribution engine with Copilot‑powered insights. Power BI dashboards provide explainable, scalable analysis of channel and campaign contribution and ROI.</a:t>
            </a:r>
            <a:endParaRPr lang="en-US" sz="1050" dirty="0">
              <a:solidFill>
                <a:schemeClr val="tx1"/>
              </a:solidFill>
            </a:endParaRPr>
          </a:p>
        </p:txBody>
      </p:sp>
      <p:graphicFrame>
        <p:nvGraphicFramePr>
          <p:cNvPr id="3" name="Table 2">
            <a:extLst>
              <a:ext uri="{FF2B5EF4-FFF2-40B4-BE49-F238E27FC236}">
                <a16:creationId xmlns:a16="http://schemas.microsoft.com/office/drawing/2014/main" id="{DF676825-D86D-1B9B-99E6-42B58F4142EB}"/>
              </a:ext>
            </a:extLst>
          </p:cNvPr>
          <p:cNvGraphicFramePr>
            <a:graphicFrameLocks noGrp="1"/>
          </p:cNvGraphicFramePr>
          <p:nvPr>
            <p:extLst>
              <p:ext uri="{D42A27DB-BD31-4B8C-83A1-F6EECF244321}">
                <p14:modId xmlns:p14="http://schemas.microsoft.com/office/powerpoint/2010/main" val="1149863384"/>
              </p:ext>
            </p:extLst>
          </p:nvPr>
        </p:nvGraphicFramePr>
        <p:xfrm>
          <a:off x="228349" y="618882"/>
          <a:ext cx="3248861" cy="647700"/>
        </p:xfrm>
        <a:graphic>
          <a:graphicData uri="http://schemas.openxmlformats.org/drawingml/2006/table">
            <a:tbl>
              <a:tblPr/>
              <a:tblGrid>
                <a:gridCol w="3248861">
                  <a:extLst>
                    <a:ext uri="{9D8B030D-6E8A-4147-A177-3AD203B41FA5}">
                      <a16:colId xmlns:a16="http://schemas.microsoft.com/office/drawing/2014/main" val="3525024523"/>
                    </a:ext>
                  </a:extLst>
                </a:gridCol>
              </a:tblGrid>
              <a:tr h="0">
                <a:tc>
                  <a:txBody>
                    <a:bodyPr/>
                    <a:lstStyle/>
                    <a:p>
                      <a:pPr fontAlgn="t">
                        <a:lnSpc>
                          <a:spcPts val="1500"/>
                        </a:lnSpc>
                        <a:buNone/>
                      </a:pPr>
                      <a:r>
                        <a:rPr lang="en-IN" sz="1200" b="1" dirty="0">
                          <a:solidFill>
                            <a:schemeClr val="tx1"/>
                          </a:solidFill>
                        </a:rPr>
                        <a:t>Channel Proof </a:t>
                      </a:r>
                      <a:endParaRPr lang="en-US" sz="1200" b="1" i="0" dirty="0">
                        <a:effectLst/>
                        <a:latin typeface="Segoe UI" panose="020B0502040204020203" pitchFamily="34" charset="0"/>
                      </a:endParaRP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960630530"/>
                  </a:ext>
                </a:extLst>
              </a:tr>
              <a:tr h="148964">
                <a:tc>
                  <a:txBody>
                    <a:bodyPr/>
                    <a:lstStyle/>
                    <a:p>
                      <a:endParaRPr lang="en-IN"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1404134773"/>
                  </a:ext>
                </a:extLst>
              </a:tr>
            </a:tbl>
          </a:graphicData>
        </a:graphic>
      </p:graphicFrame>
      <p:sp>
        <p:nvSpPr>
          <p:cNvPr id="7" name="Rounded Rectangle 6">
            <a:extLst>
              <a:ext uri="{FF2B5EF4-FFF2-40B4-BE49-F238E27FC236}">
                <a16:creationId xmlns:a16="http://schemas.microsoft.com/office/drawing/2014/main" id="{3EF55D29-D549-A161-BAC6-AF540E6AF3A6}"/>
              </a:ext>
            </a:extLst>
          </p:cNvPr>
          <p:cNvSpPr/>
          <p:nvPr/>
        </p:nvSpPr>
        <p:spPr>
          <a:xfrm>
            <a:off x="240573" y="1060911"/>
            <a:ext cx="5779228" cy="2174153"/>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t">
              <a:lnSpc>
                <a:spcPts val="1500"/>
              </a:lnSpc>
            </a:pPr>
            <a:r>
              <a:rPr lang="en-IN" sz="1050" dirty="0">
                <a:solidFill>
                  <a:schemeClr val="tx1"/>
                </a:solidFill>
              </a:rPr>
              <a:t>FMCG organizations invest significantly across distributor activities, trade promotions, in‑store activations, modern trade, and e‑commerce channels, yet face challenges in understanding which touchpoints truly influence sales outcomes. Traditional last‑touch or channel‑biased attribution models limit visibility into actual revenue drivers and lead to inefficient trade and promotion spend. </a:t>
            </a:r>
            <a:r>
              <a:rPr lang="en-IN" sz="1050" b="1" dirty="0">
                <a:solidFill>
                  <a:schemeClr val="tx1"/>
                </a:solidFill>
              </a:rPr>
              <a:t>Channel Proof </a:t>
            </a:r>
            <a:r>
              <a:rPr lang="en-IN" sz="1050" dirty="0">
                <a:solidFill>
                  <a:schemeClr val="tx1"/>
                </a:solidFill>
              </a:rPr>
              <a:t>is a Microsoft Dynamics 365 Model‑Driven App that captures all sales‑influencing activities as structured touchpoints and applies multi‑touch revenue attribution when orders are closed. It enables accurate measurement of both brand‑level long‑term contribution and campaign‑level short‑term incremental impact, supported by Copilot‑powered insights. This helps FMCG leaders optimize channel investments, improve promotion ROI, and recover 3–5% of annual revenue lost due to misattribution.</a:t>
            </a:r>
            <a:endParaRPr lang="en-US" sz="1050" dirty="0">
              <a:solidFill>
                <a:schemeClr val="tx1"/>
              </a:solidFill>
            </a:endParaRPr>
          </a:p>
        </p:txBody>
      </p:sp>
      <p:sp>
        <p:nvSpPr>
          <p:cNvPr id="2" name="Rounded Rectangle 6">
            <a:extLst>
              <a:ext uri="{FF2B5EF4-FFF2-40B4-BE49-F238E27FC236}">
                <a16:creationId xmlns:a16="http://schemas.microsoft.com/office/drawing/2014/main" id="{4E00251E-D587-7517-F350-255E74DBF340}"/>
              </a:ext>
            </a:extLst>
          </p:cNvPr>
          <p:cNvSpPr/>
          <p:nvPr/>
        </p:nvSpPr>
        <p:spPr>
          <a:xfrm>
            <a:off x="9507041" y="1009491"/>
            <a:ext cx="2517476" cy="1230789"/>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l" rtl="0" eaLnBrk="1" fontAlgn="t" latinLnBrk="0" hangingPunct="1">
              <a:buNone/>
            </a:pPr>
            <a:r>
              <a:rPr lang="en-IN" sz="1050" b="0" i="0" u="none" strike="noStrike" kern="1200" dirty="0">
                <a:solidFill>
                  <a:srgbClr val="000000"/>
                </a:solidFill>
                <a:effectLst/>
                <a:latin typeface="Ubuntu" panose="020B0504030602030204" pitchFamily="34" charset="0"/>
              </a:rPr>
              <a:t>Misattribution of revenue across distributor and campaign channels</a:t>
            </a:r>
            <a:endParaRPr lang="en-IN" sz="1800" b="0" i="0" u="none" strike="noStrike" dirty="0">
              <a:effectLst/>
              <a:latin typeface="Arial" panose="020B0604020202020204" pitchFamily="34" charset="0"/>
            </a:endParaRPr>
          </a:p>
          <a:p>
            <a:pPr marL="0" algn="l" rtl="0" eaLnBrk="1" fontAlgn="t" latinLnBrk="0" hangingPunct="1">
              <a:buNone/>
            </a:pPr>
            <a:r>
              <a:rPr lang="en-IN" sz="1050" b="0" i="0" u="none" strike="noStrike" kern="1200" dirty="0">
                <a:solidFill>
                  <a:srgbClr val="000000"/>
                </a:solidFill>
                <a:effectLst/>
                <a:latin typeface="Ubuntu" panose="020B0504030602030204" pitchFamily="34" charset="0"/>
              </a:rPr>
              <a:t>Low transparency into true promotion ROI</a:t>
            </a:r>
            <a:endParaRPr lang="en-IN" sz="1800" b="0" i="0" u="none" strike="noStrike" dirty="0">
              <a:effectLst/>
              <a:latin typeface="Arial" panose="020B0604020202020204" pitchFamily="34" charset="0"/>
            </a:endParaRPr>
          </a:p>
          <a:p>
            <a:pPr marL="0" algn="l" rtl="0" eaLnBrk="1" fontAlgn="t" latinLnBrk="0" hangingPunct="1">
              <a:buNone/>
            </a:pPr>
            <a:r>
              <a:rPr lang="en-IN" sz="1050" b="0" i="0" u="none" strike="noStrike" kern="1200" dirty="0">
                <a:solidFill>
                  <a:srgbClr val="000000"/>
                </a:solidFill>
                <a:effectLst/>
                <a:latin typeface="Ubuntu" panose="020B0504030602030204" pitchFamily="34" charset="0"/>
              </a:rPr>
              <a:t>Inefficient trade, pricing and marketing investments</a:t>
            </a:r>
            <a:endParaRPr lang="en-IN" sz="1800" b="0" i="0" u="none" strike="noStrike" dirty="0">
              <a:effectLst/>
              <a:latin typeface="Arial" panose="020B0604020202020204" pitchFamily="34" charset="0"/>
            </a:endParaRPr>
          </a:p>
        </p:txBody>
      </p:sp>
      <p:sp>
        <p:nvSpPr>
          <p:cNvPr id="6" name="Rounded Rectangle 6">
            <a:extLst>
              <a:ext uri="{FF2B5EF4-FFF2-40B4-BE49-F238E27FC236}">
                <a16:creationId xmlns:a16="http://schemas.microsoft.com/office/drawing/2014/main" id="{73F54CF4-2F8B-BEB4-A017-99DBC981F720}"/>
              </a:ext>
            </a:extLst>
          </p:cNvPr>
          <p:cNvSpPr/>
          <p:nvPr/>
        </p:nvSpPr>
        <p:spPr>
          <a:xfrm>
            <a:off x="9553280" y="3209359"/>
            <a:ext cx="2517476" cy="2618059"/>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l" rtl="0" eaLnBrk="1" fontAlgn="t" latinLnBrk="0" hangingPunct="1">
              <a:lnSpc>
                <a:spcPts val="1500"/>
              </a:lnSpc>
              <a:buNone/>
            </a:pPr>
            <a:r>
              <a:rPr lang="en-IN" sz="1050" b="0" i="0" u="none" strike="noStrike" kern="1200" dirty="0">
                <a:solidFill>
                  <a:srgbClr val="000000"/>
                </a:solidFill>
                <a:effectLst/>
                <a:latin typeface="Ubuntu" panose="020B0504030602030204" pitchFamily="34" charset="0"/>
              </a:rPr>
              <a:t>Improves visibility into true revenue drivers by moving from last‑touch to multi‑touch attribution Optimizes trade promotion and campaign investments, improving ROI and reducing ineffective spend Enables recovery of 3–5% of annual revenue lost due to misattribution Supports faster, data‑driven decisions across Sales, Marketing, and Finance through a unified attribution view Strengthens alignment between brand strategy and campaign execution</a:t>
            </a:r>
            <a:endParaRPr lang="en-IN" sz="1800" b="0" i="0" u="none" strike="noStrike" dirty="0">
              <a:effectLst/>
              <a:latin typeface="Arial" panose="020B0604020202020204" pitchFamily="34" charset="0"/>
            </a:endParaRPr>
          </a:p>
        </p:txBody>
      </p:sp>
      <p:sp>
        <p:nvSpPr>
          <p:cNvPr id="11" name="Rounded Rectangle 6">
            <a:extLst>
              <a:ext uri="{FF2B5EF4-FFF2-40B4-BE49-F238E27FC236}">
                <a16:creationId xmlns:a16="http://schemas.microsoft.com/office/drawing/2014/main" id="{CB568A42-841B-2D01-714C-83C38A78F8CB}"/>
              </a:ext>
            </a:extLst>
          </p:cNvPr>
          <p:cNvSpPr/>
          <p:nvPr/>
        </p:nvSpPr>
        <p:spPr>
          <a:xfrm>
            <a:off x="3662972" y="69390"/>
            <a:ext cx="3208830" cy="297196"/>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ctr" rtl="0" eaLnBrk="1" fontAlgn="t" latinLnBrk="0" hangingPunct="1">
              <a:lnSpc>
                <a:spcPts val="1500"/>
              </a:lnSpc>
              <a:buNone/>
            </a:pPr>
            <a:r>
              <a:rPr lang="en-IN" sz="1050" b="1" i="0" u="none" strike="noStrike" kern="1200" dirty="0">
                <a:solidFill>
                  <a:srgbClr val="000000"/>
                </a:solidFill>
                <a:effectLst/>
                <a:latin typeface="Segoe UI" panose="020B0502040204020203" pitchFamily="34" charset="0"/>
              </a:rPr>
              <a:t>Retail / Consumer Goods</a:t>
            </a:r>
            <a:endParaRPr lang="en-IN" sz="1400" b="0" i="0" u="none" strike="noStrike" dirty="0">
              <a:effectLst/>
              <a:latin typeface="Arial" panose="020B0604020202020204" pitchFamily="34" charset="0"/>
            </a:endParaRP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28"/>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29"/>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30"/>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2</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1537251" y="0"/>
            <a:ext cx="581290" cy="6858000"/>
          </a:xfrm>
        </p:spPr>
        <p:txBody>
          <a:bodyPr vert="vert270" lIns="0" tIns="0" rIns="0" bIns="126000" rtlCol="0" anchor="b" anchorCtr="0">
            <a:normAutofit/>
          </a:bodyPr>
          <a:lstStyle/>
          <a:p>
            <a:pPr algn="ctr"/>
            <a:r>
              <a:rPr kumimoji="0" lang="en-US" b="0" i="0" u="sng" strike="noStrike" kern="1200" cap="none" spc="0" normalizeH="0" baseline="0" noProof="0" dirty="0">
                <a:ln>
                  <a:noFill/>
                </a:ln>
                <a:effectLst/>
                <a:uLnTx/>
                <a:uFillTx/>
                <a:latin typeface="+mj-lt"/>
                <a:ea typeface="+mj-ea"/>
                <a:cs typeface="+mj-cs"/>
              </a:rPr>
              <a:t>High Level </a:t>
            </a:r>
            <a:r>
              <a:rPr lang="en-US" u="sng" dirty="0"/>
              <a:t>Architecture</a:t>
            </a:r>
            <a:r>
              <a:rPr kumimoji="0" lang="en-US" b="0" i="0" u="sng" strike="noStrike" kern="1200" cap="none" spc="0" normalizeH="0" baseline="0" noProof="0" dirty="0">
                <a:ln>
                  <a:noFill/>
                </a:ln>
                <a:effectLst/>
                <a:uLnTx/>
                <a:uFillTx/>
                <a:latin typeface="+mj-lt"/>
                <a:ea typeface="+mj-ea"/>
                <a:cs typeface="+mj-cs"/>
              </a:rPr>
              <a:t> Diagram</a:t>
            </a:r>
          </a:p>
        </p:txBody>
      </p:sp>
      <p:pic>
        <p:nvPicPr>
          <p:cNvPr id="9" name="Picture 8">
            <a:extLst>
              <a:ext uri="{FF2B5EF4-FFF2-40B4-BE49-F238E27FC236}">
                <a16:creationId xmlns:a16="http://schemas.microsoft.com/office/drawing/2014/main" id="{76962630-6DFB-57CB-C57D-F7F4C350F3B3}"/>
              </a:ext>
            </a:extLst>
          </p:cNvPr>
          <p:cNvPicPr>
            <a:picLocks noChangeAspect="1"/>
          </p:cNvPicPr>
          <p:nvPr/>
        </p:nvPicPr>
        <p:blipFill>
          <a:blip r:embed="rId2"/>
          <a:stretch>
            <a:fillRect/>
          </a:stretch>
        </p:blipFill>
        <p:spPr>
          <a:xfrm>
            <a:off x="2255745" y="0"/>
            <a:ext cx="6998505" cy="6858000"/>
          </a:xfrm>
          <a:prstGeom prst="rect">
            <a:avLst/>
          </a:prstGeom>
        </p:spPr>
      </p:pic>
    </p:spTree>
    <p:extLst>
      <p:ext uri="{BB962C8B-B14F-4D97-AF65-F5344CB8AC3E}">
        <p14:creationId xmlns:p14="http://schemas.microsoft.com/office/powerpoint/2010/main" val="2946189433"/>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9CD6E222-C050-4BDA-AC0E-7C0C79F1740B}">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0A0046D-0765-4685-8521-7D1E34B9A377}">
  <ds:schemaRefs>
    <ds:schemaRef ds:uri="71ec4482-8a5f-419e-a3fb-f1ff39837bb1"/>
    <ds:schemaRef ds:uri="289d593b-f9da-44ad-aeed-35e8c5022e75"/>
    <ds:schemaRef ds:uri="http://schemas.microsoft.com/office/infopath/2007/PartnerControls"/>
    <ds:schemaRef ds:uri="http://purl.org/dc/elements/1.1/"/>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293</TotalTime>
  <Words>502</Words>
  <Application>Microsoft Office PowerPoint</Application>
  <PresentationFormat>Widescreen</PresentationFormat>
  <Paragraphs>29</Paragraphs>
  <Slides>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Arial</vt:lpstr>
      <vt:lpstr>Segoe UI</vt:lpstr>
      <vt:lpstr>System Font Regular</vt:lpstr>
      <vt:lpstr>Ubuntu</vt:lpstr>
      <vt:lpstr>Ubuntu Light</vt:lpstr>
      <vt:lpstr>Ubuntu Medium</vt:lpstr>
      <vt:lpstr>Capgemini_Bright_2025</vt:lpstr>
      <vt:lpstr>PowerPoint Presentation</vt:lpstr>
      <vt:lpstr>High Level Architecture Diagram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Bhatnagar, Mayank</cp:lastModifiedBy>
  <cp:revision>14</cp:revision>
  <dcterms:created xsi:type="dcterms:W3CDTF">2026-02-09T11:16:54Z</dcterms:created>
  <dcterms:modified xsi:type="dcterms:W3CDTF">2026-04-08T11:22:42Z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