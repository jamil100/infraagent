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elvetica World" panose="020B0604020202020204" charset="-128"/>
      <p:regular r:id="rId10"/>
    </p:embeddedFont>
    <p:embeddedFont>
      <p:font typeface="Helvetica World Bold" panose="020B0604020202020204" charset="-128"/>
      <p:regular r:id="rId11"/>
    </p:embeddedFont>
    <p:embeddedFont>
      <p:font typeface="Lato" panose="020F0502020204030203" pitchFamily="34" charset="0"/>
      <p:regular r:id="rId12"/>
    </p:embeddedFont>
    <p:embeddedFont>
      <p:font typeface="Lato Bold" panose="020B0604020202020204" charset="0"/>
      <p:regular r:id="rId13"/>
    </p:embeddedFont>
    <p:embeddedFont>
      <p:font typeface="Open Sauce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pgemini.microsoftpartnerhackathons.com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96677" y="96128"/>
            <a:ext cx="7545395" cy="10190872"/>
            <a:chOff x="0" y="0"/>
            <a:chExt cx="876734" cy="11841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76734" cy="1184125"/>
            </a:xfrm>
            <a:custGeom>
              <a:avLst/>
              <a:gdLst/>
              <a:ahLst/>
              <a:cxnLst/>
              <a:rect l="l" t="t" r="r" b="b"/>
              <a:pathLst>
                <a:path w="876734" h="1184125">
                  <a:moveTo>
                    <a:pt x="203200" y="0"/>
                  </a:moveTo>
                  <a:lnTo>
                    <a:pt x="876734" y="0"/>
                  </a:lnTo>
                  <a:lnTo>
                    <a:pt x="673534" y="1184125"/>
                  </a:lnTo>
                  <a:lnTo>
                    <a:pt x="0" y="1184125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394" r="-39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28700" y="3087832"/>
            <a:ext cx="6669950" cy="16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68"/>
              </a:lnSpc>
            </a:pPr>
            <a:r>
              <a:rPr lang="en-US" sz="904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INFINITE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225786"/>
            <a:ext cx="6669950" cy="16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668"/>
              </a:lnSpc>
            </a:pPr>
            <a:r>
              <a:rPr lang="en-US" sz="9049" b="1">
                <a:solidFill>
                  <a:srgbClr val="00DA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LOOPERS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139316"/>
            <a:ext cx="3761165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 CASE: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8835959"/>
            <a:ext cx="5246769" cy="41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7"/>
              </a:lnSpc>
              <a:spcBef>
                <a:spcPct val="0"/>
              </a:spcBef>
            </a:pPr>
            <a:r>
              <a:rPr lang="en-US" sz="2427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END-TO-END HIRING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88743" y="0"/>
            <a:ext cx="11442167" cy="10287000"/>
            <a:chOff x="0" y="0"/>
            <a:chExt cx="301357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13575" cy="2709333"/>
            </a:xfrm>
            <a:custGeom>
              <a:avLst/>
              <a:gdLst/>
              <a:ahLst/>
              <a:cxnLst/>
              <a:rect l="l" t="t" r="r" b="b"/>
              <a:pathLst>
                <a:path w="3013575" h="2709333">
                  <a:moveTo>
                    <a:pt x="0" y="0"/>
                  </a:moveTo>
                  <a:lnTo>
                    <a:pt x="3013575" y="0"/>
                  </a:lnTo>
                  <a:lnTo>
                    <a:pt x="301357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013575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93091" y="6481694"/>
            <a:ext cx="8966209" cy="2776606"/>
            <a:chOff x="0" y="0"/>
            <a:chExt cx="2361471" cy="73128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61471" cy="731287"/>
            </a:xfrm>
            <a:custGeom>
              <a:avLst/>
              <a:gdLst/>
              <a:ahLst/>
              <a:cxnLst/>
              <a:rect l="l" t="t" r="r" b="b"/>
              <a:pathLst>
                <a:path w="2361471" h="731287">
                  <a:moveTo>
                    <a:pt x="0" y="0"/>
                  </a:moveTo>
                  <a:lnTo>
                    <a:pt x="2361471" y="0"/>
                  </a:lnTo>
                  <a:lnTo>
                    <a:pt x="2361471" y="731287"/>
                  </a:lnTo>
                  <a:lnTo>
                    <a:pt x="0" y="731287"/>
                  </a:lnTo>
                  <a:close/>
                </a:path>
              </a:pathLst>
            </a:custGeom>
            <a:solidFill>
              <a:srgbClr val="2A6B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361471" cy="778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4846823"/>
            <a:ext cx="7591022" cy="3950796"/>
            <a:chOff x="0" y="0"/>
            <a:chExt cx="1176048" cy="6120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76048" cy="612082"/>
            </a:xfrm>
            <a:custGeom>
              <a:avLst/>
              <a:gdLst/>
              <a:ahLst/>
              <a:cxnLst/>
              <a:rect l="l" t="t" r="r" b="b"/>
              <a:pathLst>
                <a:path w="1176048" h="612082">
                  <a:moveTo>
                    <a:pt x="0" y="0"/>
                  </a:moveTo>
                  <a:lnTo>
                    <a:pt x="1176048" y="0"/>
                  </a:lnTo>
                  <a:lnTo>
                    <a:pt x="1176048" y="612082"/>
                  </a:lnTo>
                  <a:lnTo>
                    <a:pt x="0" y="612082"/>
                  </a:lnTo>
                  <a:close/>
                </a:path>
              </a:pathLst>
            </a:custGeom>
            <a:blipFill>
              <a:blip r:embed="rId2"/>
              <a:stretch>
                <a:fillRect t="-4759" b="-475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836624"/>
            <a:ext cx="7591022" cy="11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1"/>
              </a:lnSpc>
            </a:pPr>
            <a:r>
              <a:rPr lang="en-US" sz="919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3235571"/>
            <a:ext cx="7591022" cy="11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1"/>
              </a:lnSpc>
            </a:pPr>
            <a:r>
              <a:rPr lang="en-US" sz="9193">
                <a:solidFill>
                  <a:srgbClr val="00DA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OVERVIEW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141870" y="2389760"/>
            <a:ext cx="6888909" cy="2388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Industry: Human Resources | Process: End-to-End Hiring Approach. Recruiters lose significant time on manual tasks—resume screening, scheduling interviews, coordinating panels, and answering repetitive queries. Our solution: An Agentic AI-powered hiring system using Copilot + Dynamics 365 HR, creating a closed-loop automated workflow from candidate to offer.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41870" y="7206323"/>
            <a:ext cx="6888909" cy="101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58"/>
              </a:lnSpc>
            </a:pPr>
            <a:r>
              <a:rPr lang="en-US" sz="197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Faster hiring with 30-50% time reduction</a:t>
            </a:r>
          </a:p>
          <a:p>
            <a:pPr marL="0" lvl="0" indent="0" algn="l">
              <a:lnSpc>
                <a:spcPts val="2758"/>
              </a:lnSpc>
            </a:pPr>
            <a:r>
              <a:rPr lang="en-US" sz="197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Reduced manual load for recruiters &amp; HR ops</a:t>
            </a:r>
          </a:p>
          <a:p>
            <a:pPr marL="0" lvl="0" indent="0" algn="l">
              <a:lnSpc>
                <a:spcPts val="2758"/>
              </a:lnSpc>
            </a:pPr>
            <a:r>
              <a:rPr lang="en-US" sz="197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Improved candidate experience &amp; consistency</a:t>
            </a:r>
          </a:p>
        </p:txBody>
      </p:sp>
      <p:sp>
        <p:nvSpPr>
          <p:cNvPr id="14" name="Freeform 14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944627"/>
            <a:ext cx="2645879" cy="1173802"/>
            <a:chOff x="0" y="0"/>
            <a:chExt cx="696857" cy="309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6857" cy="309150"/>
            </a:xfrm>
            <a:custGeom>
              <a:avLst/>
              <a:gdLst/>
              <a:ahLst/>
              <a:cxnLst/>
              <a:rect l="l" t="t" r="r" b="b"/>
              <a:pathLst>
                <a:path w="696857" h="309150">
                  <a:moveTo>
                    <a:pt x="0" y="0"/>
                  </a:moveTo>
                  <a:lnTo>
                    <a:pt x="493657" y="0"/>
                  </a:lnTo>
                  <a:lnTo>
                    <a:pt x="696857" y="154575"/>
                  </a:lnTo>
                  <a:lnTo>
                    <a:pt x="493657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-47625"/>
              <a:ext cx="442857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3477241"/>
            <a:ext cx="2645879" cy="1173802"/>
            <a:chOff x="0" y="0"/>
            <a:chExt cx="696857" cy="30915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6857" cy="309150"/>
            </a:xfrm>
            <a:custGeom>
              <a:avLst/>
              <a:gdLst/>
              <a:ahLst/>
              <a:cxnLst/>
              <a:rect l="l" t="t" r="r" b="b"/>
              <a:pathLst>
                <a:path w="696857" h="309150">
                  <a:moveTo>
                    <a:pt x="0" y="0"/>
                  </a:moveTo>
                  <a:lnTo>
                    <a:pt x="493657" y="0"/>
                  </a:lnTo>
                  <a:lnTo>
                    <a:pt x="696857" y="154575"/>
                  </a:lnTo>
                  <a:lnTo>
                    <a:pt x="493657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47625"/>
              <a:ext cx="442857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5012993"/>
            <a:ext cx="2645879" cy="1173802"/>
            <a:chOff x="0" y="0"/>
            <a:chExt cx="696857" cy="309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857" cy="309150"/>
            </a:xfrm>
            <a:custGeom>
              <a:avLst/>
              <a:gdLst/>
              <a:ahLst/>
              <a:cxnLst/>
              <a:rect l="l" t="t" r="r" b="b"/>
              <a:pathLst>
                <a:path w="696857" h="309150">
                  <a:moveTo>
                    <a:pt x="0" y="0"/>
                  </a:moveTo>
                  <a:lnTo>
                    <a:pt x="493657" y="0"/>
                  </a:lnTo>
                  <a:lnTo>
                    <a:pt x="696857" y="154575"/>
                  </a:lnTo>
                  <a:lnTo>
                    <a:pt x="493657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47625"/>
              <a:ext cx="442857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144000" y="6548746"/>
            <a:ext cx="2645879" cy="1173802"/>
            <a:chOff x="0" y="0"/>
            <a:chExt cx="696857" cy="309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6857" cy="309150"/>
            </a:xfrm>
            <a:custGeom>
              <a:avLst/>
              <a:gdLst/>
              <a:ahLst/>
              <a:cxnLst/>
              <a:rect l="l" t="t" r="r" b="b"/>
              <a:pathLst>
                <a:path w="696857" h="309150">
                  <a:moveTo>
                    <a:pt x="0" y="0"/>
                  </a:moveTo>
                  <a:lnTo>
                    <a:pt x="493657" y="0"/>
                  </a:lnTo>
                  <a:lnTo>
                    <a:pt x="696857" y="154575"/>
                  </a:lnTo>
                  <a:lnTo>
                    <a:pt x="493657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47625"/>
              <a:ext cx="442857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144000" y="8084498"/>
            <a:ext cx="2645879" cy="1173802"/>
            <a:chOff x="0" y="0"/>
            <a:chExt cx="696857" cy="3091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6857" cy="309150"/>
            </a:xfrm>
            <a:custGeom>
              <a:avLst/>
              <a:gdLst/>
              <a:ahLst/>
              <a:cxnLst/>
              <a:rect l="l" t="t" r="r" b="b"/>
              <a:pathLst>
                <a:path w="696857" h="309150">
                  <a:moveTo>
                    <a:pt x="0" y="0"/>
                  </a:moveTo>
                  <a:lnTo>
                    <a:pt x="493657" y="0"/>
                  </a:lnTo>
                  <a:lnTo>
                    <a:pt x="696857" y="154575"/>
                  </a:lnTo>
                  <a:lnTo>
                    <a:pt x="493657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7800" y="-47625"/>
              <a:ext cx="442857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62120" y="1944627"/>
            <a:ext cx="5997180" cy="1173802"/>
            <a:chOff x="0" y="0"/>
            <a:chExt cx="1579504" cy="309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579504" cy="309150"/>
            </a:xfrm>
            <a:custGeom>
              <a:avLst/>
              <a:gdLst/>
              <a:ahLst/>
              <a:cxnLst/>
              <a:rect l="l" t="t" r="r" b="b"/>
              <a:pathLst>
                <a:path w="1579504" h="309150">
                  <a:moveTo>
                    <a:pt x="0" y="0"/>
                  </a:moveTo>
                  <a:lnTo>
                    <a:pt x="1376304" y="0"/>
                  </a:lnTo>
                  <a:lnTo>
                    <a:pt x="1579504" y="154575"/>
                  </a:lnTo>
                  <a:lnTo>
                    <a:pt x="1376304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7800" y="-47625"/>
              <a:ext cx="1325504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262120" y="3477241"/>
            <a:ext cx="5997180" cy="1173802"/>
            <a:chOff x="0" y="0"/>
            <a:chExt cx="1579504" cy="3091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79504" cy="309150"/>
            </a:xfrm>
            <a:custGeom>
              <a:avLst/>
              <a:gdLst/>
              <a:ahLst/>
              <a:cxnLst/>
              <a:rect l="l" t="t" r="r" b="b"/>
              <a:pathLst>
                <a:path w="1579504" h="309150">
                  <a:moveTo>
                    <a:pt x="0" y="0"/>
                  </a:moveTo>
                  <a:lnTo>
                    <a:pt x="1376304" y="0"/>
                  </a:lnTo>
                  <a:lnTo>
                    <a:pt x="1579504" y="154575"/>
                  </a:lnTo>
                  <a:lnTo>
                    <a:pt x="1376304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7800" y="-47625"/>
              <a:ext cx="1325504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62120" y="5012993"/>
            <a:ext cx="5997180" cy="1173802"/>
            <a:chOff x="0" y="0"/>
            <a:chExt cx="1579504" cy="309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79504" cy="309150"/>
            </a:xfrm>
            <a:custGeom>
              <a:avLst/>
              <a:gdLst/>
              <a:ahLst/>
              <a:cxnLst/>
              <a:rect l="l" t="t" r="r" b="b"/>
              <a:pathLst>
                <a:path w="1579504" h="309150">
                  <a:moveTo>
                    <a:pt x="0" y="0"/>
                  </a:moveTo>
                  <a:lnTo>
                    <a:pt x="1376304" y="0"/>
                  </a:lnTo>
                  <a:lnTo>
                    <a:pt x="1579504" y="154575"/>
                  </a:lnTo>
                  <a:lnTo>
                    <a:pt x="1376304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7800" y="-47625"/>
              <a:ext cx="1325504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62120" y="6548746"/>
            <a:ext cx="5997180" cy="1173802"/>
            <a:chOff x="0" y="0"/>
            <a:chExt cx="1579504" cy="3091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579504" cy="309150"/>
            </a:xfrm>
            <a:custGeom>
              <a:avLst/>
              <a:gdLst/>
              <a:ahLst/>
              <a:cxnLst/>
              <a:rect l="l" t="t" r="r" b="b"/>
              <a:pathLst>
                <a:path w="1579504" h="309150">
                  <a:moveTo>
                    <a:pt x="0" y="0"/>
                  </a:moveTo>
                  <a:lnTo>
                    <a:pt x="1376304" y="0"/>
                  </a:lnTo>
                  <a:lnTo>
                    <a:pt x="1579504" y="154575"/>
                  </a:lnTo>
                  <a:lnTo>
                    <a:pt x="1376304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7800" y="-47625"/>
              <a:ext cx="1325504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262120" y="8084498"/>
            <a:ext cx="5997180" cy="1173802"/>
            <a:chOff x="0" y="0"/>
            <a:chExt cx="1579504" cy="30915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79504" cy="309150"/>
            </a:xfrm>
            <a:custGeom>
              <a:avLst/>
              <a:gdLst/>
              <a:ahLst/>
              <a:cxnLst/>
              <a:rect l="l" t="t" r="r" b="b"/>
              <a:pathLst>
                <a:path w="1579504" h="309150">
                  <a:moveTo>
                    <a:pt x="0" y="0"/>
                  </a:moveTo>
                  <a:lnTo>
                    <a:pt x="1376304" y="0"/>
                  </a:lnTo>
                  <a:lnTo>
                    <a:pt x="1579504" y="154575"/>
                  </a:lnTo>
                  <a:lnTo>
                    <a:pt x="1376304" y="309150"/>
                  </a:lnTo>
                  <a:lnTo>
                    <a:pt x="0" y="309150"/>
                  </a:lnTo>
                  <a:lnTo>
                    <a:pt x="203200" y="1545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7800" y="-47625"/>
              <a:ext cx="1325504" cy="356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-469718" y="5777742"/>
            <a:ext cx="8842193" cy="4889641"/>
            <a:chOff x="0" y="0"/>
            <a:chExt cx="1369887" cy="7575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69887" cy="757533"/>
            </a:xfrm>
            <a:custGeom>
              <a:avLst/>
              <a:gdLst/>
              <a:ahLst/>
              <a:cxnLst/>
              <a:rect l="l" t="t" r="r" b="b"/>
              <a:pathLst>
                <a:path w="1369887" h="757533">
                  <a:moveTo>
                    <a:pt x="0" y="0"/>
                  </a:moveTo>
                  <a:lnTo>
                    <a:pt x="1369887" y="0"/>
                  </a:lnTo>
                  <a:lnTo>
                    <a:pt x="1369887" y="757533"/>
                  </a:lnTo>
                  <a:lnTo>
                    <a:pt x="0" y="757533"/>
                  </a:lnTo>
                  <a:close/>
                </a:path>
              </a:pathLst>
            </a:custGeom>
            <a:blipFill>
              <a:blip r:embed="rId2"/>
              <a:stretch>
                <a:fillRect t="-1538" b="-153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0" y="3811495"/>
            <a:ext cx="7405938" cy="2776606"/>
            <a:chOff x="0" y="0"/>
            <a:chExt cx="1950535" cy="73128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50535" cy="731287"/>
            </a:xfrm>
            <a:custGeom>
              <a:avLst/>
              <a:gdLst/>
              <a:ahLst/>
              <a:cxnLst/>
              <a:rect l="l" t="t" r="r" b="b"/>
              <a:pathLst>
                <a:path w="1950535" h="731287">
                  <a:moveTo>
                    <a:pt x="0" y="0"/>
                  </a:moveTo>
                  <a:lnTo>
                    <a:pt x="1950535" y="0"/>
                  </a:lnTo>
                  <a:lnTo>
                    <a:pt x="1950535" y="731287"/>
                  </a:lnTo>
                  <a:lnTo>
                    <a:pt x="0" y="731287"/>
                  </a:lnTo>
                  <a:close/>
                </a:path>
              </a:pathLst>
            </a:custGeom>
            <a:solidFill>
              <a:srgbClr val="2A6B8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950535" cy="778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28700" y="1247775"/>
            <a:ext cx="5888404" cy="11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1"/>
              </a:lnSpc>
            </a:pPr>
            <a:r>
              <a:rPr lang="en-US" sz="919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CASE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8700" y="2337378"/>
            <a:ext cx="5559899" cy="11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1"/>
              </a:lnSpc>
            </a:pPr>
            <a:r>
              <a:rPr lang="en-US" sz="9193">
                <a:solidFill>
                  <a:srgbClr val="00DA7B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SCOPE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02620" y="2328983"/>
            <a:ext cx="983438" cy="5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7"/>
              </a:lnSpc>
            </a:pPr>
            <a:r>
              <a:rPr lang="en-US" sz="39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02620" y="3861597"/>
            <a:ext cx="983438" cy="5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7"/>
              </a:lnSpc>
            </a:pPr>
            <a:r>
              <a:rPr lang="en-US" sz="39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102620" y="5397350"/>
            <a:ext cx="983438" cy="5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7"/>
              </a:lnSpc>
            </a:pPr>
            <a:r>
              <a:rPr lang="en-US" sz="39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102620" y="6933102"/>
            <a:ext cx="983438" cy="5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7"/>
              </a:lnSpc>
            </a:pPr>
            <a:r>
              <a:rPr lang="en-US" sz="39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102620" y="8468854"/>
            <a:ext cx="983438" cy="51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57"/>
              </a:lnSpc>
            </a:pPr>
            <a:r>
              <a:rPr lang="en-US" sz="399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557281" y="2306070"/>
            <a:ext cx="2859621" cy="33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Job Posting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557281" y="3625946"/>
            <a:ext cx="3994891" cy="33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Candidate Screening &amp; Shortlisting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57281" y="5161698"/>
            <a:ext cx="3994891" cy="691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Interview Scheduling &amp; Coordination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557281" y="6910189"/>
            <a:ext cx="3994891" cy="33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Evaluation &amp; Feedback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557281" y="8236898"/>
            <a:ext cx="3994891" cy="339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Offer &amp; Final Hire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28700" y="4336577"/>
            <a:ext cx="5888404" cy="139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38"/>
              </a:lnSpc>
            </a:pPr>
            <a:r>
              <a:rPr lang="en-US" sz="202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L1 Hiring Lifecycle: The complete end-to-end hiring journey from Job Posting → Screening → Interviews → Evaluation → Offer → Hire, fully automated via Agentic AI powered by Copilot + Dynamics 365 HR.</a:t>
            </a:r>
          </a:p>
        </p:txBody>
      </p:sp>
      <p:sp>
        <p:nvSpPr>
          <p:cNvPr id="50" name="Freeform 50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990320"/>
            <a:ext cx="5091608" cy="1680711"/>
            <a:chOff x="0" y="0"/>
            <a:chExt cx="1341000" cy="44265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143500"/>
            <a:ext cx="5091608" cy="1680711"/>
            <a:chOff x="0" y="0"/>
            <a:chExt cx="1341000" cy="4426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98196" y="2990320"/>
            <a:ext cx="5091608" cy="1680711"/>
            <a:chOff x="0" y="0"/>
            <a:chExt cx="1341000" cy="4426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98196" y="5143500"/>
            <a:ext cx="5091608" cy="1680711"/>
            <a:chOff x="0" y="0"/>
            <a:chExt cx="1341000" cy="4426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167692" y="2990320"/>
            <a:ext cx="5091608" cy="1680711"/>
            <a:chOff x="0" y="0"/>
            <a:chExt cx="1341000" cy="442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67692" y="5143500"/>
            <a:ext cx="5091608" cy="1680711"/>
            <a:chOff x="0" y="0"/>
            <a:chExt cx="1341000" cy="4426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41000" cy="442656"/>
            </a:xfrm>
            <a:custGeom>
              <a:avLst/>
              <a:gdLst/>
              <a:ahLst/>
              <a:cxnLst/>
              <a:rect l="l" t="t" r="r" b="b"/>
              <a:pathLst>
                <a:path w="1341000" h="442656">
                  <a:moveTo>
                    <a:pt x="0" y="0"/>
                  </a:moveTo>
                  <a:lnTo>
                    <a:pt x="1341000" y="0"/>
                  </a:lnTo>
                  <a:lnTo>
                    <a:pt x="1341000" y="442656"/>
                  </a:lnTo>
                  <a:lnTo>
                    <a:pt x="0" y="4426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341000" cy="4902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-69028" y="7624311"/>
            <a:ext cx="18357028" cy="2662689"/>
            <a:chOff x="0" y="0"/>
            <a:chExt cx="2843984" cy="412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843984" cy="412520"/>
            </a:xfrm>
            <a:custGeom>
              <a:avLst/>
              <a:gdLst/>
              <a:ahLst/>
              <a:cxnLst/>
              <a:rect l="l" t="t" r="r" b="b"/>
              <a:pathLst>
                <a:path w="2843984" h="412520">
                  <a:moveTo>
                    <a:pt x="0" y="0"/>
                  </a:moveTo>
                  <a:lnTo>
                    <a:pt x="2843984" y="0"/>
                  </a:lnTo>
                  <a:lnTo>
                    <a:pt x="2843984" y="412520"/>
                  </a:lnTo>
                  <a:lnTo>
                    <a:pt x="0" y="412520"/>
                  </a:lnTo>
                  <a:close/>
                </a:path>
              </a:pathLst>
            </a:custGeom>
            <a:blipFill>
              <a:blip r:embed="rId2"/>
              <a:stretch>
                <a:fillRect t="-146483" b="-1464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120308" y="1000125"/>
            <a:ext cx="6409258" cy="157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254"/>
              </a:lnSpc>
            </a:pPr>
            <a:r>
              <a:rPr lang="en-US" sz="500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 AGENTS &amp; HUMAN TOUCHPOINTS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5874" y="3944713"/>
            <a:ext cx="4617261" cy="5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Parses resumes, extracts skills, ranks candidates automatically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5874" y="6146516"/>
            <a:ext cx="4617261" cy="52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Routes approvals, ensures compliance, sends notifications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35370" y="6146516"/>
            <a:ext cx="4617261" cy="25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Recruiters validate shortlist, managers approve offers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404866" y="6146516"/>
            <a:ext cx="4617261" cy="25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Copilot in Dynamics HR, Teams, Outlook Calendar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35370" y="3944713"/>
            <a:ext cx="4617261" cy="25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Suggests panel, finds calendar slots, sends invites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404179" y="3944713"/>
            <a:ext cx="4617261" cy="25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65"/>
              </a:lnSpc>
            </a:pPr>
            <a:r>
              <a:rPr lang="en-US" sz="154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Distributes scorecards, follows up, aggregates scores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347357" y="3178001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SCREENING AGENT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47357" y="5379804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OFFER AGENT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16853" y="5379804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HUMAN REVIEW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86349" y="5379804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CHANNELS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16853" y="3178001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SCHEDULING AGENT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85662" y="3178001"/>
            <a:ext cx="2454293" cy="33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24"/>
              </a:lnSpc>
            </a:pPr>
            <a:r>
              <a:rPr lang="en-US" sz="1945" b="1">
                <a:solidFill>
                  <a:srgbClr val="001C2C"/>
                </a:solidFill>
                <a:latin typeface="Lato Bold"/>
                <a:ea typeface="Lato Bold"/>
                <a:cs typeface="Lato Bold"/>
                <a:sym typeface="Lato Bold"/>
              </a:rPr>
              <a:t>FEEDBACK AGENT</a:t>
            </a:r>
          </a:p>
        </p:txBody>
      </p:sp>
      <p:sp>
        <p:nvSpPr>
          <p:cNvPr id="35" name="Freeform 35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7358" y="5430579"/>
            <a:ext cx="19709463" cy="5244189"/>
            <a:chOff x="0" y="0"/>
            <a:chExt cx="5190970" cy="13811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90970" cy="1381186"/>
            </a:xfrm>
            <a:custGeom>
              <a:avLst/>
              <a:gdLst/>
              <a:ahLst/>
              <a:cxnLst/>
              <a:rect l="l" t="t" r="r" b="b"/>
              <a:pathLst>
                <a:path w="5190970" h="1381186">
                  <a:moveTo>
                    <a:pt x="0" y="0"/>
                  </a:moveTo>
                  <a:lnTo>
                    <a:pt x="5190970" y="0"/>
                  </a:lnTo>
                  <a:lnTo>
                    <a:pt x="5190970" y="1381186"/>
                  </a:lnTo>
                  <a:lnTo>
                    <a:pt x="0" y="13811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90970" cy="142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97358" y="3168102"/>
            <a:ext cx="9741358" cy="6090198"/>
            <a:chOff x="0" y="0"/>
            <a:chExt cx="1509191" cy="9435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9191" cy="943531"/>
            </a:xfrm>
            <a:custGeom>
              <a:avLst/>
              <a:gdLst/>
              <a:ahLst/>
              <a:cxnLst/>
              <a:rect l="l" t="t" r="r" b="b"/>
              <a:pathLst>
                <a:path w="1509191" h="943531">
                  <a:moveTo>
                    <a:pt x="0" y="0"/>
                  </a:moveTo>
                  <a:lnTo>
                    <a:pt x="1509191" y="0"/>
                  </a:lnTo>
                  <a:lnTo>
                    <a:pt x="1509191" y="943531"/>
                  </a:lnTo>
                  <a:lnTo>
                    <a:pt x="0" y="943531"/>
                  </a:lnTo>
                  <a:close/>
                </a:path>
              </a:pathLst>
            </a:custGeom>
            <a:blipFill>
              <a:blip r:embed="rId2"/>
              <a:stretch>
                <a:fillRect t="-3883" b="-388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181100" y="1400175"/>
            <a:ext cx="9713131" cy="117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1"/>
              </a:lnSpc>
            </a:pPr>
            <a:r>
              <a:rPr lang="en-US" sz="919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COPILOT STUDIO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70896" y="2523110"/>
            <a:ext cx="5888404" cy="199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Copilot Studio serves as the foundation for building agentic workflows that power our automated hiring system. It enables creation of intelligent AI agents that operate autonomously within the recruitment pipeline.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70896" y="6461238"/>
            <a:ext cx="5888404" cy="1999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Screening Agent: Parse &amp; rank</a:t>
            </a:r>
          </a:p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Scheduling Agent: Panel &amp; slots</a:t>
            </a:r>
          </a:p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Feedback Agent: Scorecards</a:t>
            </a:r>
          </a:p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Offer Agent: Approvals &amp; compliance</a:t>
            </a:r>
          </a:p>
          <a:p>
            <a:pPr marL="0" lvl="0" indent="0" algn="l">
              <a:lnSpc>
                <a:spcPts val="3204"/>
              </a:lnSpc>
            </a:pPr>
            <a:r>
              <a:rPr lang="en-US" sz="2288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Integration: Dynamics 365 HR sync</a:t>
            </a:r>
          </a:p>
        </p:txBody>
      </p:sp>
      <p:sp>
        <p:nvSpPr>
          <p:cNvPr id="10" name="Freeform 10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2938" y="1325350"/>
            <a:ext cx="8877358" cy="981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05"/>
              </a:lnSpc>
            </a:pPr>
            <a:r>
              <a:rPr lang="en-US" sz="3003" u="none" strike="noStrike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INFRASTRUCTURE ARCHITECTURE FOR AGENTIC AI HIRING SYSTEM</a:t>
            </a:r>
          </a:p>
        </p:txBody>
      </p:sp>
      <p:sp>
        <p:nvSpPr>
          <p:cNvPr id="3" name="Freeform 3"/>
          <p:cNvSpPr/>
          <p:nvPr/>
        </p:nvSpPr>
        <p:spPr>
          <a:xfrm>
            <a:off x="2371663" y="3633695"/>
            <a:ext cx="2432618" cy="2432618"/>
          </a:xfrm>
          <a:custGeom>
            <a:avLst/>
            <a:gdLst/>
            <a:ahLst/>
            <a:cxnLst/>
            <a:rect l="l" t="t" r="r" b="b"/>
            <a:pathLst>
              <a:path w="2432618" h="2432618">
                <a:moveTo>
                  <a:pt x="0" y="0"/>
                </a:moveTo>
                <a:lnTo>
                  <a:pt x="2432617" y="0"/>
                </a:lnTo>
                <a:lnTo>
                  <a:pt x="2432617" y="2432617"/>
                </a:lnTo>
                <a:lnTo>
                  <a:pt x="0" y="2432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9050" cap="sq">
            <a:gradFill>
              <a:gsLst>
                <a:gs pos="0">
                  <a:srgbClr val="1B3E8E">
                    <a:alpha val="100000"/>
                  </a:srgbClr>
                </a:gs>
                <a:gs pos="50000">
                  <a:srgbClr val="FFF2F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371663" y="6524261"/>
            <a:ext cx="2962410" cy="73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u="none" strike="noStrike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Copilot Studio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098" u="none" strike="noStrike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Core Agentic Layer</a:t>
            </a:r>
          </a:p>
        </p:txBody>
      </p:sp>
      <p:sp>
        <p:nvSpPr>
          <p:cNvPr id="5" name="Freeform 5"/>
          <p:cNvSpPr/>
          <p:nvPr/>
        </p:nvSpPr>
        <p:spPr>
          <a:xfrm>
            <a:off x="6064162" y="3633695"/>
            <a:ext cx="2432618" cy="2432618"/>
          </a:xfrm>
          <a:custGeom>
            <a:avLst/>
            <a:gdLst/>
            <a:ahLst/>
            <a:cxnLst/>
            <a:rect l="l" t="t" r="r" b="b"/>
            <a:pathLst>
              <a:path w="2432618" h="2432618">
                <a:moveTo>
                  <a:pt x="0" y="0"/>
                </a:moveTo>
                <a:lnTo>
                  <a:pt x="2432618" y="0"/>
                </a:lnTo>
                <a:lnTo>
                  <a:pt x="2432618" y="2432617"/>
                </a:lnTo>
                <a:lnTo>
                  <a:pt x="0" y="2432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19050" cap="sq">
            <a:gradFill>
              <a:gsLst>
                <a:gs pos="0">
                  <a:srgbClr val="1B3E8E">
                    <a:alpha val="100000"/>
                  </a:srgbClr>
                </a:gs>
                <a:gs pos="50000">
                  <a:srgbClr val="FFF2F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6064162" y="6524261"/>
            <a:ext cx="2962410" cy="73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Dynamics 365 HR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098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System of Record</a:t>
            </a:r>
          </a:p>
        </p:txBody>
      </p:sp>
      <p:sp>
        <p:nvSpPr>
          <p:cNvPr id="7" name="Freeform 7"/>
          <p:cNvSpPr/>
          <p:nvPr/>
        </p:nvSpPr>
        <p:spPr>
          <a:xfrm>
            <a:off x="9756662" y="3633695"/>
            <a:ext cx="2432618" cy="2432618"/>
          </a:xfrm>
          <a:custGeom>
            <a:avLst/>
            <a:gdLst/>
            <a:ahLst/>
            <a:cxnLst/>
            <a:rect l="l" t="t" r="r" b="b"/>
            <a:pathLst>
              <a:path w="2432618" h="2432618">
                <a:moveTo>
                  <a:pt x="0" y="0"/>
                </a:moveTo>
                <a:lnTo>
                  <a:pt x="2432618" y="0"/>
                </a:lnTo>
                <a:lnTo>
                  <a:pt x="2432618" y="2432617"/>
                </a:lnTo>
                <a:lnTo>
                  <a:pt x="0" y="2432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gradFill>
              <a:gsLst>
                <a:gs pos="0">
                  <a:srgbClr val="1B3E8E">
                    <a:alpha val="100000"/>
                  </a:srgbClr>
                </a:gs>
                <a:gs pos="50000">
                  <a:srgbClr val="FFF2F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9756662" y="6524261"/>
            <a:ext cx="2962410" cy="73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Power Automate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098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Workflow Engine</a:t>
            </a:r>
          </a:p>
        </p:txBody>
      </p:sp>
      <p:sp>
        <p:nvSpPr>
          <p:cNvPr id="9" name="Freeform 9"/>
          <p:cNvSpPr/>
          <p:nvPr/>
        </p:nvSpPr>
        <p:spPr>
          <a:xfrm>
            <a:off x="13449161" y="3633695"/>
            <a:ext cx="2432618" cy="2432618"/>
          </a:xfrm>
          <a:custGeom>
            <a:avLst/>
            <a:gdLst/>
            <a:ahLst/>
            <a:cxnLst/>
            <a:rect l="l" t="t" r="r" b="b"/>
            <a:pathLst>
              <a:path w="2432618" h="2432618">
                <a:moveTo>
                  <a:pt x="0" y="0"/>
                </a:moveTo>
                <a:lnTo>
                  <a:pt x="2432618" y="0"/>
                </a:lnTo>
                <a:lnTo>
                  <a:pt x="2432618" y="2432617"/>
                </a:lnTo>
                <a:lnTo>
                  <a:pt x="0" y="24326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w="19050" cap="sq">
            <a:gradFill>
              <a:gsLst>
                <a:gs pos="0">
                  <a:srgbClr val="1B3E8E">
                    <a:alpha val="100000"/>
                  </a:srgbClr>
                </a:gs>
                <a:gs pos="50000">
                  <a:srgbClr val="FFF2FC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2700000"/>
            </a:gra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3449161" y="6524261"/>
            <a:ext cx="2962410" cy="73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7"/>
              </a:lnSpc>
            </a:pPr>
            <a:r>
              <a:rPr lang="en-US" sz="2098" u="none" strike="noStrike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SharePoint</a:t>
            </a:r>
          </a:p>
          <a:p>
            <a:pPr marL="0" lvl="0" indent="0" algn="l">
              <a:lnSpc>
                <a:spcPts val="2937"/>
              </a:lnSpc>
            </a:pPr>
            <a:r>
              <a:rPr lang="en-US" sz="2098" u="none" strike="noStrike" spc="4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Document Layer</a:t>
            </a:r>
          </a:p>
        </p:txBody>
      </p:sp>
      <p:sp>
        <p:nvSpPr>
          <p:cNvPr id="11" name="Freeform 11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9041" y="4971976"/>
            <a:ext cx="10230846" cy="4286324"/>
            <a:chOff x="0" y="0"/>
            <a:chExt cx="1585026" cy="664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85026" cy="664064"/>
            </a:xfrm>
            <a:custGeom>
              <a:avLst/>
              <a:gdLst/>
              <a:ahLst/>
              <a:cxnLst/>
              <a:rect l="l" t="t" r="r" b="b"/>
              <a:pathLst>
                <a:path w="1585026" h="664064">
                  <a:moveTo>
                    <a:pt x="0" y="0"/>
                  </a:moveTo>
                  <a:lnTo>
                    <a:pt x="1585026" y="0"/>
                  </a:lnTo>
                  <a:lnTo>
                    <a:pt x="1585026" y="664064"/>
                  </a:lnTo>
                  <a:lnTo>
                    <a:pt x="0" y="664064"/>
                  </a:lnTo>
                  <a:close/>
                </a:path>
              </a:pathLst>
            </a:custGeom>
            <a:blipFill>
              <a:blip r:embed="rId2"/>
              <a:stretch>
                <a:fillRect t="-18025" b="-1802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710053" y="1912921"/>
            <a:ext cx="1186044" cy="1186044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710053" y="3407624"/>
            <a:ext cx="1186044" cy="1186044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10053" y="4930960"/>
            <a:ext cx="1186044" cy="118604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710053" y="6421804"/>
            <a:ext cx="1186044" cy="1186044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710053" y="7912648"/>
            <a:ext cx="1186044" cy="1186044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A7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1162050"/>
            <a:ext cx="7591022" cy="125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9"/>
              </a:lnSpc>
            </a:pPr>
            <a:r>
              <a:rPr lang="en-US" sz="514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EXPECTED IMPACT &amp; BUSINESS CASE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11356" y="2249403"/>
            <a:ext cx="983438" cy="29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"/>
              </a:lnSpc>
            </a:pPr>
            <a:r>
              <a:rPr lang="en-US" sz="22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11356" y="3744105"/>
            <a:ext cx="983438" cy="29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"/>
              </a:lnSpc>
            </a:pPr>
            <a:r>
              <a:rPr lang="en-US" sz="22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11356" y="5267442"/>
            <a:ext cx="983438" cy="29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"/>
              </a:lnSpc>
            </a:pPr>
            <a:r>
              <a:rPr lang="en-US" sz="22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11356" y="6758286"/>
            <a:ext cx="983438" cy="29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"/>
              </a:lnSpc>
            </a:pPr>
            <a:r>
              <a:rPr lang="en-US" sz="22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11356" y="8249130"/>
            <a:ext cx="983438" cy="292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04"/>
              </a:lnSpc>
            </a:pPr>
            <a:r>
              <a:rPr lang="en-US" sz="223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700" y="2898755"/>
            <a:ext cx="8427721" cy="54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8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Agentic AI hiring system delivers measurable improvements across key performance indicators, transforming HR operations efficiency.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134397" y="2163678"/>
            <a:ext cx="4350612" cy="323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Time-to-Hire: 30-50% faster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134397" y="3467179"/>
            <a:ext cx="4350612" cy="65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Recruiter Productivity: 40-60% manual work reduction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34397" y="4990516"/>
            <a:ext cx="4350612" cy="65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Candidate Experience: More transparency + quicker responses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134397" y="6481360"/>
            <a:ext cx="4350612" cy="65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Process Consistency: Standardized scoring &amp; approvals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134397" y="8280212"/>
            <a:ext cx="4350612" cy="657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0"/>
              </a:lnSpc>
            </a:pPr>
            <a:r>
              <a:rPr lang="en-US" sz="187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Analytics &amp; Insights: Drop-off tracking, bottleneck analysis</a:t>
            </a:r>
          </a:p>
        </p:txBody>
      </p:sp>
      <p:sp>
        <p:nvSpPr>
          <p:cNvPr id="31" name="Freeform 31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84746" y="0"/>
            <a:ext cx="7374554" cy="10287000"/>
            <a:chOff x="0" y="0"/>
            <a:chExt cx="856884" cy="11952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6884" cy="1195294"/>
            </a:xfrm>
            <a:custGeom>
              <a:avLst/>
              <a:gdLst/>
              <a:ahLst/>
              <a:cxnLst/>
              <a:rect l="l" t="t" r="r" b="b"/>
              <a:pathLst>
                <a:path w="856884" h="1195294">
                  <a:moveTo>
                    <a:pt x="653684" y="0"/>
                  </a:moveTo>
                  <a:lnTo>
                    <a:pt x="0" y="0"/>
                  </a:lnTo>
                  <a:lnTo>
                    <a:pt x="203200" y="1195294"/>
                  </a:lnTo>
                  <a:lnTo>
                    <a:pt x="856884" y="1195294"/>
                  </a:lnTo>
                  <a:lnTo>
                    <a:pt x="653684" y="0"/>
                  </a:lnTo>
                  <a:close/>
                </a:path>
              </a:pathLst>
            </a:custGeom>
            <a:blipFill>
              <a:blip r:embed="rId2"/>
              <a:stretch>
                <a:fillRect l="-2048" r="-204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476866" y="2561788"/>
            <a:ext cx="4516857" cy="16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68"/>
              </a:lnSpc>
            </a:pPr>
            <a:r>
              <a:rPr lang="en-US" sz="904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70640" y="3586414"/>
            <a:ext cx="3129308" cy="16656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668"/>
              </a:lnSpc>
            </a:pPr>
            <a:r>
              <a:rPr lang="en-US" sz="9049" b="1">
                <a:solidFill>
                  <a:srgbClr val="00DA7B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89563" y="1958494"/>
            <a:ext cx="5899315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TEAM: INFINITE LOOPERS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165" y="7832517"/>
            <a:ext cx="3129308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SOLUTION: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98567" y="6492534"/>
            <a:ext cx="3190311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INDUSTRY: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98567" y="7832517"/>
            <a:ext cx="3190311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TECHNOLOGY: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165" y="6241753"/>
            <a:ext cx="2795400" cy="1298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Capgemini </a:t>
            </a:r>
            <a:r>
              <a:rPr lang="en-US" sz="2498" u="sng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  <a:hlinkClick r:id="rId3" tooltip="https://capgemini.microsoftpartnerhackathons.com"/>
              </a:rPr>
              <a:t>Microsoft Global Partner Hackathon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165" y="8207211"/>
            <a:ext cx="5020279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Agentic AI Hiring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98567" y="6867250"/>
            <a:ext cx="4888532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Human Resources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98567" y="8207211"/>
            <a:ext cx="3544089" cy="42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Copilot + Dynamics 365</a:t>
            </a:r>
          </a:p>
        </p:txBody>
      </p:sp>
      <p:sp>
        <p:nvSpPr>
          <p:cNvPr id="14" name="Freeform 14"/>
          <p:cNvSpPr/>
          <p:nvPr/>
        </p:nvSpPr>
        <p:spPr>
          <a:xfrm>
            <a:off x="353980" y="291297"/>
            <a:ext cx="2945019" cy="658948"/>
          </a:xfrm>
          <a:custGeom>
            <a:avLst/>
            <a:gdLst/>
            <a:ahLst/>
            <a:cxnLst/>
            <a:rect l="l" t="t" r="r" b="b"/>
            <a:pathLst>
              <a:path w="2945019" h="658948">
                <a:moveTo>
                  <a:pt x="0" y="0"/>
                </a:moveTo>
                <a:lnTo>
                  <a:pt x="2945019" y="0"/>
                </a:lnTo>
                <a:lnTo>
                  <a:pt x="2945019" y="658948"/>
                </a:lnTo>
                <a:lnTo>
                  <a:pt x="0" y="6589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2C44C9799C9545A5261C0AF70B4333" ma:contentTypeVersion="12" ma:contentTypeDescription="Create a new document." ma:contentTypeScope="" ma:versionID="5e4cadbf8931f3a42467c8a0955d4fc4">
  <xsd:schema xmlns:xsd="http://www.w3.org/2001/XMLSchema" xmlns:xs="http://www.w3.org/2001/XMLSchema" xmlns:p="http://schemas.microsoft.com/office/2006/metadata/properties" xmlns:ns2="71ec4482-8a5f-419e-a3fb-f1ff39837bb1" xmlns:ns3="289d593b-f9da-44ad-aeed-35e8c5022e75" targetNamespace="http://schemas.microsoft.com/office/2006/metadata/properties" ma:root="true" ma:fieldsID="914513dae8da38dff2ffd10bf6795a4a" ns2:_="" ns3:_="">
    <xsd:import namespace="71ec4482-8a5f-419e-a3fb-f1ff39837bb1"/>
    <xsd:import namespace="289d593b-f9da-44ad-aeed-35e8c5022e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ec4482-8a5f-419e-a3fb-f1ff39837b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d593b-f9da-44ad-aeed-35e8c5022e7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1e7f45-79c5-438a-9c31-31bb88d8ed8a}" ma:internalName="TaxCatchAll" ma:showField="CatchAllData" ma:web="289d593b-f9da-44ad-aeed-35e8c5022e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ec4482-8a5f-419e-a3fb-f1ff39837bb1">
      <Terms xmlns="http://schemas.microsoft.com/office/infopath/2007/PartnerControls"/>
    </lcf76f155ced4ddcb4097134ff3c332f>
    <TaxCatchAll xmlns="289d593b-f9da-44ad-aeed-35e8c5022e75" xsi:nil="true"/>
  </documentManagement>
</p:properties>
</file>

<file path=customXml/itemProps1.xml><?xml version="1.0" encoding="utf-8"?>
<ds:datastoreItem xmlns:ds="http://schemas.openxmlformats.org/officeDocument/2006/customXml" ds:itemID="{90B388A7-B31E-4DE3-A5F0-CC44C8267575}"/>
</file>

<file path=customXml/itemProps2.xml><?xml version="1.0" encoding="utf-8"?>
<ds:datastoreItem xmlns:ds="http://schemas.openxmlformats.org/officeDocument/2006/customXml" ds:itemID="{5F13E467-16FC-44CE-9A84-507AB2153B2C}"/>
</file>

<file path=customXml/itemProps3.xml><?xml version="1.0" encoding="utf-8"?>
<ds:datastoreItem xmlns:ds="http://schemas.openxmlformats.org/officeDocument/2006/customXml" ds:itemID="{75FE2255-C691-4DFD-89B3-EFCB57B00DED}"/>
</file>

<file path=docMetadata/LabelInfo.xml><?xml version="1.0" encoding="utf-8"?>
<clbl:labelList xmlns:clbl="http://schemas.microsoft.com/office/2020/mipLabelMetadata">
  <clbl:label id="{bb5d96ea-ab39-44a0-a6d6-b6f0aac5958b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394</Words>
  <Application>Microsoft Office PowerPoint</Application>
  <PresentationFormat>Custom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Lato Bold</vt:lpstr>
      <vt:lpstr>Helvetica World</vt:lpstr>
      <vt:lpstr>Arial</vt:lpstr>
      <vt:lpstr>Calibri</vt:lpstr>
      <vt:lpstr>Open Sauce</vt:lpstr>
      <vt:lpstr>Helvetica World 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Hiring: End-to-End Automation</dc:title>
  <cp:lastModifiedBy>Bhamare, Om</cp:lastModifiedBy>
  <cp:revision>2</cp:revision>
  <dcterms:created xsi:type="dcterms:W3CDTF">2006-08-16T00:00:00Z</dcterms:created>
  <dcterms:modified xsi:type="dcterms:W3CDTF">2026-03-31T13:05:42Z</dcterms:modified>
  <dc:identifier>DAHFgvjP0ec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0x010100D72C44C9799C9545A5261C0AF70B4333</vt:lpwstr>
  </property>
</Properties>
</file>