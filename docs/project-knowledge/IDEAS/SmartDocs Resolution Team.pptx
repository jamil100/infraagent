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9"/>
  </p:notesMasterIdLst>
  <p:sldIdLst>
    <p:sldId id="263" r:id="rId5"/>
    <p:sldId id="2145706675" r:id="rId6"/>
    <p:sldId id="2145706676" r:id="rId7"/>
    <p:sldId id="2145706674" r:id="rId8"/>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5"/>
            <p14:sldId id="2145706676"/>
            <p14:sldId id="2145706674"/>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69F44-F35A-4460-B895-F2CC3BDA28D8}" v="3" dt="2026-04-08T15:02:57.211"/>
    <p1510:client id="{8152C1F4-1948-4B37-ADD2-3900C2332E01}" v="22" dt="2026-04-08T16:39:06.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Shabnam" userId="S::shabnam.shaik@capgemini.com::2b35d89b-9aaf-40d5-b4ca-aab73ac4b8e7" providerId="AD" clId="Web-{8152C1F4-1948-4B37-ADD2-3900C2332E01}"/>
    <pc:docChg chg="addSld delSld modSld sldOrd modSection">
      <pc:chgData name="Shaik, Shabnam" userId="S::shabnam.shaik@capgemini.com::2b35d89b-9aaf-40d5-b4ca-aab73ac4b8e7" providerId="AD" clId="Web-{8152C1F4-1948-4B37-ADD2-3900C2332E01}" dt="2026-04-08T16:39:06.877" v="21" actId="14100"/>
      <pc:docMkLst>
        <pc:docMk/>
      </pc:docMkLst>
      <pc:sldChg chg="del mod modShow">
        <pc:chgData name="Shaik, Shabnam" userId="S::shabnam.shaik@capgemini.com::2b35d89b-9aaf-40d5-b4ca-aab73ac4b8e7" providerId="AD" clId="Web-{8152C1F4-1948-4B37-ADD2-3900C2332E01}" dt="2026-04-08T16:37:50.856" v="8"/>
        <pc:sldMkLst>
          <pc:docMk/>
          <pc:sldMk cId="2417810418" sldId="2145706670"/>
        </pc:sldMkLst>
      </pc:sldChg>
      <pc:sldChg chg="del">
        <pc:chgData name="Shaik, Shabnam" userId="S::shabnam.shaik@capgemini.com::2b35d89b-9aaf-40d5-b4ca-aab73ac4b8e7" providerId="AD" clId="Web-{8152C1F4-1948-4B37-ADD2-3900C2332E01}" dt="2026-04-08T16:38:01.872" v="11"/>
        <pc:sldMkLst>
          <pc:docMk/>
          <pc:sldMk cId="175612282" sldId="2145706671"/>
        </pc:sldMkLst>
      </pc:sldChg>
      <pc:sldChg chg="del mod modShow">
        <pc:chgData name="Shaik, Shabnam" userId="S::shabnam.shaik@capgemini.com::2b35d89b-9aaf-40d5-b4ca-aab73ac4b8e7" providerId="AD" clId="Web-{8152C1F4-1948-4B37-ADD2-3900C2332E01}" dt="2026-04-08T16:37:53.965" v="9"/>
        <pc:sldMkLst>
          <pc:docMk/>
          <pc:sldMk cId="2946189433" sldId="2145706672"/>
        </pc:sldMkLst>
      </pc:sldChg>
      <pc:sldChg chg="del">
        <pc:chgData name="Shaik, Shabnam" userId="S::shabnam.shaik@capgemini.com::2b35d89b-9aaf-40d5-b4ca-aab73ac4b8e7" providerId="AD" clId="Web-{8152C1F4-1948-4B37-ADD2-3900C2332E01}" dt="2026-04-08T16:37:59.419" v="10"/>
        <pc:sldMkLst>
          <pc:docMk/>
          <pc:sldMk cId="3657648834" sldId="2145706673"/>
        </pc:sldMkLst>
      </pc:sldChg>
      <pc:sldChg chg="modSp add">
        <pc:chgData name="Shaik, Shabnam" userId="S::shabnam.shaik@capgemini.com::2b35d89b-9aaf-40d5-b4ca-aab73ac4b8e7" providerId="AD" clId="Web-{8152C1F4-1948-4B37-ADD2-3900C2332E01}" dt="2026-04-08T16:38:24.202" v="15" actId="14100"/>
        <pc:sldMkLst>
          <pc:docMk/>
          <pc:sldMk cId="468358779" sldId="2145706674"/>
        </pc:sldMkLst>
        <pc:picChg chg="mod">
          <ac:chgData name="Shaik, Shabnam" userId="S::shabnam.shaik@capgemini.com::2b35d89b-9aaf-40d5-b4ca-aab73ac4b8e7" providerId="AD" clId="Web-{8152C1F4-1948-4B37-ADD2-3900C2332E01}" dt="2026-04-08T16:38:24.202" v="15" actId="14100"/>
          <ac:picMkLst>
            <pc:docMk/>
            <pc:sldMk cId="468358779" sldId="2145706674"/>
            <ac:picMk id="7" creationId="{1D2AB6AF-3E19-426A-6560-26C04CFBA738}"/>
          </ac:picMkLst>
        </pc:picChg>
      </pc:sldChg>
      <pc:sldChg chg="new del">
        <pc:chgData name="Shaik, Shabnam" userId="S::shabnam.shaik@capgemini.com::2b35d89b-9aaf-40d5-b4ca-aab73ac4b8e7" providerId="AD" clId="Web-{8152C1F4-1948-4B37-ADD2-3900C2332E01}" dt="2026-04-08T16:37:33.638" v="5"/>
        <pc:sldMkLst>
          <pc:docMk/>
          <pc:sldMk cId="2829775933" sldId="2145706674"/>
        </pc:sldMkLst>
      </pc:sldChg>
      <pc:sldChg chg="modSp add ord">
        <pc:chgData name="Shaik, Shabnam" userId="S::shabnam.shaik@capgemini.com::2b35d89b-9aaf-40d5-b4ca-aab73ac4b8e7" providerId="AD" clId="Web-{8152C1F4-1948-4B37-ADD2-3900C2332E01}" dt="2026-04-08T16:39:06.877" v="21" actId="14100"/>
        <pc:sldMkLst>
          <pc:docMk/>
          <pc:sldMk cId="3849726375" sldId="2145706675"/>
        </pc:sldMkLst>
        <pc:spChg chg="mod">
          <ac:chgData name="Shaik, Shabnam" userId="S::shabnam.shaik@capgemini.com::2b35d89b-9aaf-40d5-b4ca-aab73ac4b8e7" providerId="AD" clId="Web-{8152C1F4-1948-4B37-ADD2-3900C2332E01}" dt="2026-04-08T16:39:06.877" v="21" actId="14100"/>
          <ac:spMkLst>
            <pc:docMk/>
            <pc:sldMk cId="3849726375" sldId="2145706675"/>
            <ac:spMk id="5" creationId="{F7C41EB7-CDC8-FDFB-88F4-67D96E0FE517}"/>
          </ac:spMkLst>
        </pc:spChg>
      </pc:sldChg>
      <pc:sldChg chg="modSp add ord">
        <pc:chgData name="Shaik, Shabnam" userId="S::shabnam.shaik@capgemini.com::2b35d89b-9aaf-40d5-b4ca-aab73ac4b8e7" providerId="AD" clId="Web-{8152C1F4-1948-4B37-ADD2-3900C2332E01}" dt="2026-04-08T16:39:00.129" v="18"/>
        <pc:sldMkLst>
          <pc:docMk/>
          <pc:sldMk cId="1502427738" sldId="2145706676"/>
        </pc:sldMkLst>
        <pc:spChg chg="mod">
          <ac:chgData name="Shaik, Shabnam" userId="S::shabnam.shaik@capgemini.com::2b35d89b-9aaf-40d5-b4ca-aab73ac4b8e7" providerId="AD" clId="Web-{8152C1F4-1948-4B37-ADD2-3900C2332E01}" dt="2026-04-08T16:38:32.046" v="17" actId="14100"/>
          <ac:spMkLst>
            <pc:docMk/>
            <pc:sldMk cId="1502427738" sldId="2145706676"/>
            <ac:spMk id="21" creationId="{5A916AD3-09F3-7D33-29F2-28FB8C3EFBF5}"/>
          </ac:spMkLst>
        </pc:spChg>
      </pc:sldChg>
    </pc:docChg>
  </pc:docChgLst>
  <pc:docChgLst>
    <pc:chgData name="Shaik, Shabnam" userId="S::shabnam.shaik@capgemini.com::2b35d89b-9aaf-40d5-b4ca-aab73ac4b8e7" providerId="AD" clId="Web-{00D69F44-F35A-4460-B895-F2CC3BDA28D8}"/>
    <pc:docChg chg="addSld delSld modSld modSection">
      <pc:chgData name="Shaik, Shabnam" userId="S::shabnam.shaik@capgemini.com::2b35d89b-9aaf-40d5-b4ca-aab73ac4b8e7" providerId="AD" clId="Web-{00D69F44-F35A-4460-B895-F2CC3BDA28D8}" dt="2026-04-08T15:02:57.211" v="2" actId="14100"/>
      <pc:docMkLst>
        <pc:docMk/>
      </pc:docMkLst>
      <pc:sldChg chg="modSp">
        <pc:chgData name="Shaik, Shabnam" userId="S::shabnam.shaik@capgemini.com::2b35d89b-9aaf-40d5-b4ca-aab73ac4b8e7" providerId="AD" clId="Web-{00D69F44-F35A-4460-B895-F2CC3BDA28D8}" dt="2026-04-08T15:02:57.211" v="2" actId="14100"/>
        <pc:sldMkLst>
          <pc:docMk/>
          <pc:sldMk cId="4141162053" sldId="263"/>
        </pc:sldMkLst>
        <pc:spChg chg="mod">
          <ac:chgData name="Shaik, Shabnam" userId="S::shabnam.shaik@capgemini.com::2b35d89b-9aaf-40d5-b4ca-aab73ac4b8e7" providerId="AD" clId="Web-{00D69F44-F35A-4460-B895-F2CC3BDA28D8}" dt="2026-04-08T15:02:57.211" v="2" actId="14100"/>
          <ac:spMkLst>
            <pc:docMk/>
            <pc:sldMk cId="4141162053" sldId="263"/>
            <ac:spMk id="38" creationId="{D2B81A26-9964-1A11-0A3A-5279DC076D6C}"/>
          </ac:spMkLst>
        </pc:spChg>
      </pc:sldChg>
      <pc:sldChg chg="add del replId">
        <pc:chgData name="Shaik, Shabnam" userId="S::shabnam.shaik@capgemini.com::2b35d89b-9aaf-40d5-b4ca-aab73ac4b8e7" providerId="AD" clId="Web-{00D69F44-F35A-4460-B895-F2CC3BDA28D8}" dt="2026-04-08T14:49:39.053" v="1"/>
        <pc:sldMkLst>
          <pc:docMk/>
          <pc:sldMk cId="3760031412" sldId="21457066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04/08/2026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r>
              <a:rPr lang="en-US" sz="1400">
                <a:solidFill>
                  <a:schemeClr val="tx1"/>
                </a:solidFill>
              </a:rPr>
              <a:t>•</a:t>
            </a: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 </a:t>
            </a: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27352" y="4025333"/>
            <a:ext cx="7075417"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Ingest all customer‑submitted documents from email, portal, or CRM.</a:t>
            </a:r>
          </a:p>
          <a:p>
            <a:pPr marL="171450" indent="-171450">
              <a:buFont typeface="Arial" panose="020B0604020202020204" pitchFamily="34" charset="0"/>
              <a:buChar char="•"/>
            </a:pPr>
            <a:r>
              <a:rPr lang="en-US" sz="1000" dirty="0">
                <a:solidFill>
                  <a:schemeClr val="tx1"/>
                </a:solidFill>
              </a:rPr>
              <a:t>AI classifies documents and identifies required vs submitted documents.</a:t>
            </a:r>
          </a:p>
          <a:p>
            <a:pPr marL="171450" indent="-171450">
              <a:buFont typeface="Arial" panose="020B0604020202020204" pitchFamily="34" charset="0"/>
              <a:buChar char="•"/>
            </a:pPr>
            <a:r>
              <a:rPr lang="en-US" sz="1000" dirty="0">
                <a:solidFill>
                  <a:schemeClr val="tx1"/>
                </a:solidFill>
              </a:rPr>
              <a:t>Agent verifies potential misclassified items through reasoning and chatbot dialogue.</a:t>
            </a:r>
          </a:p>
          <a:p>
            <a:pPr marL="171450" indent="-171450">
              <a:buFont typeface="Arial" panose="020B0604020202020204" pitchFamily="34" charset="0"/>
              <a:buChar char="•"/>
            </a:pPr>
            <a:r>
              <a:rPr lang="en-US" sz="1000" dirty="0">
                <a:solidFill>
                  <a:schemeClr val="tx1"/>
                </a:solidFill>
              </a:rPr>
              <a:t>If missing: AI drafts </a:t>
            </a:r>
            <a:r>
              <a:rPr lang="en-US" sz="1000" dirty="0" err="1">
                <a:solidFill>
                  <a:schemeClr val="tx1"/>
                </a:solidFill>
              </a:rPr>
              <a:t>personalised</a:t>
            </a:r>
            <a:r>
              <a:rPr lang="en-US" sz="1000" dirty="0">
                <a:solidFill>
                  <a:schemeClr val="tx1"/>
                </a:solidFill>
              </a:rPr>
              <a:t> customer email requesting specific documentation.</a:t>
            </a:r>
          </a:p>
          <a:p>
            <a:pPr marL="171450" indent="-171450">
              <a:buFont typeface="Arial" panose="020B0604020202020204" pitchFamily="34" charset="0"/>
              <a:buChar char="•"/>
            </a:pPr>
            <a:r>
              <a:rPr lang="en-US" sz="1000" dirty="0">
                <a:solidFill>
                  <a:schemeClr val="tx1"/>
                </a:solidFill>
              </a:rPr>
              <a:t>If complete: system auto‑updates claim status and pushes case forward for assessment.</a:t>
            </a:r>
          </a:p>
          <a:p>
            <a:pPr marL="171450" indent="-171450">
              <a:buFont typeface="Arial" panose="020B0604020202020204" pitchFamily="34" charset="0"/>
              <a:buChar char="•"/>
            </a:pPr>
            <a:r>
              <a:rPr lang="en-US" sz="1000" dirty="0">
                <a:solidFill>
                  <a:schemeClr val="tx1"/>
                </a:solidFill>
              </a:rPr>
              <a:t>Human intervention required only when AI identifies ambiguity or low‑confidence classifications.</a:t>
            </a: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3207518"/>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3192885"/>
            <a:ext cx="1209283" cy="263791"/>
          </a:xfrm>
          <a:prstGeom prst="rect">
            <a:avLst/>
          </a:prstGeom>
          <a:noFill/>
        </p:spPr>
        <p:txBody>
          <a:bodyPr vert="horz" wrap="none" lIns="90000" tIns="46800" rIns="90000" bIns="46800" rtlCol="0" anchor="ctr">
            <a:spAutoFit/>
          </a:bodyPr>
          <a:lstStyle/>
          <a:p>
            <a:pPr algn="l">
              <a:spcBef>
                <a:spcPct val="0"/>
              </a:spcBef>
            </a:pPr>
            <a:r>
              <a:rPr lang="en-US" sz="1100" dirty="0"/>
              <a:t>Business Impact</a:t>
            </a:r>
          </a:p>
        </p:txBody>
      </p:sp>
      <p:sp>
        <p:nvSpPr>
          <p:cNvPr id="38" name="TextBox 37">
            <a:extLst>
              <a:ext uri="{FF2B5EF4-FFF2-40B4-BE49-F238E27FC236}">
                <a16:creationId xmlns:a16="http://schemas.microsoft.com/office/drawing/2014/main" id="{D2B81A26-9964-1A11-0A3A-5279DC076D6C}"/>
              </a:ext>
            </a:extLst>
          </p:cNvPr>
          <p:cNvSpPr txBox="1"/>
          <p:nvPr/>
        </p:nvSpPr>
        <p:spPr>
          <a:xfrm>
            <a:off x="386873" y="4490811"/>
            <a:ext cx="1655315" cy="263791"/>
          </a:xfrm>
          <a:prstGeom prst="rect">
            <a:avLst/>
          </a:prstGeom>
          <a:noFill/>
        </p:spPr>
        <p:txBody>
          <a:bodyPr vert="horz" wrap="square" lIns="90000" tIns="46800" rIns="90000" bIns="46800" rtlCol="0" anchor="ctr">
            <a:spAutoFit/>
          </a:bodyPr>
          <a:lstStyle/>
          <a:p>
            <a:pPr algn="l">
              <a:spcBef>
                <a:spcPct val="0"/>
              </a:spcBef>
            </a:pPr>
            <a:r>
              <a:rPr lang="en-US" sz="1100" dirty="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50" name="TextBox 49">
            <a:extLst>
              <a:ext uri="{FF2B5EF4-FFF2-40B4-BE49-F238E27FC236}">
                <a16:creationId xmlns:a16="http://schemas.microsoft.com/office/drawing/2014/main" id="{E8659E0E-D1DB-0C16-AB8F-4E27AAE2CD22}"/>
              </a:ext>
            </a:extLst>
          </p:cNvPr>
          <p:cNvSpPr txBox="1"/>
          <p:nvPr/>
        </p:nvSpPr>
        <p:spPr>
          <a:xfrm>
            <a:off x="526856" y="5658687"/>
            <a:ext cx="1348744" cy="263791"/>
          </a:xfrm>
          <a:prstGeom prst="rect">
            <a:avLst/>
          </a:prstGeom>
          <a:noFill/>
        </p:spPr>
        <p:txBody>
          <a:bodyPr vert="horz" wrap="none" lIns="90000" tIns="46800" rIns="90000" bIns="46800" rtlCol="0" anchor="ctr">
            <a:spAutoFit/>
          </a:bodyPr>
          <a:lstStyle/>
          <a:p>
            <a:pPr algn="l">
              <a:spcBef>
                <a:spcPct val="0"/>
              </a:spcBef>
            </a:pPr>
            <a:r>
              <a:rPr lang="en-US" sz="1100" dirty="0"/>
              <a:t>Technical Solution</a:t>
            </a:r>
          </a:p>
        </p:txBody>
      </p: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930748"/>
            <a:ext cx="3203220" cy="925511"/>
          </a:xfrm>
          <a:prstGeom prst="rect">
            <a:avLst/>
          </a:prstGeom>
          <a:noFill/>
        </p:spPr>
        <p:txBody>
          <a:bodyPr vert="horz" wrap="square" lIns="90000" tIns="46800" rIns="90000" bIns="46800" rtlCol="0" anchor="ctr">
            <a:spAutoFit/>
          </a:bodyPr>
          <a:lstStyle/>
          <a:p>
            <a:pPr>
              <a:spcBef>
                <a:spcPct val="0"/>
              </a:spcBef>
            </a:pPr>
            <a:r>
              <a:rPr lang="en-GB" b="1" dirty="0" err="1">
                <a:solidFill>
                  <a:schemeClr val="bg1"/>
                </a:solidFill>
              </a:rPr>
              <a:t>SmartDocs</a:t>
            </a:r>
            <a:r>
              <a:rPr lang="en-GB" b="1" dirty="0">
                <a:solidFill>
                  <a:schemeClr val="bg1"/>
                </a:solidFill>
              </a:rPr>
              <a:t> – Automated Claims Document Review &amp; Data Gathering</a:t>
            </a:r>
            <a:endParaRPr lang="en-IE" sz="1400" dirty="0"/>
          </a:p>
        </p:txBody>
      </p:sp>
      <p:sp>
        <p:nvSpPr>
          <p:cNvPr id="6" name="TextBox 5">
            <a:extLst>
              <a:ext uri="{FF2B5EF4-FFF2-40B4-BE49-F238E27FC236}">
                <a16:creationId xmlns:a16="http://schemas.microsoft.com/office/drawing/2014/main" id="{67CB6521-14F4-C31A-4CF6-5FF8C0B24811}"/>
              </a:ext>
            </a:extLst>
          </p:cNvPr>
          <p:cNvSpPr txBox="1"/>
          <p:nvPr/>
        </p:nvSpPr>
        <p:spPr>
          <a:xfrm>
            <a:off x="3521631" y="909855"/>
            <a:ext cx="2438397" cy="2864503"/>
          </a:xfrm>
          <a:prstGeom prst="rect">
            <a:avLst/>
          </a:prstGeom>
          <a:noFill/>
        </p:spPr>
        <p:txBody>
          <a:bodyPr vert="horz" wrap="square" lIns="90000" tIns="46800" rIns="90000" bIns="46800" rtlCol="0" anchor="ctr">
            <a:spAutoFit/>
          </a:bodyPr>
          <a:lstStyle/>
          <a:p>
            <a:pPr marL="285750" indent="-285750">
              <a:spcBef>
                <a:spcPct val="0"/>
              </a:spcBef>
              <a:buFont typeface="Wingdings" panose="05000000000000000000" pitchFamily="2" charset="2"/>
              <a:buChar char="Ø"/>
            </a:pPr>
            <a:r>
              <a:rPr lang="en-GB" sz="1000" dirty="0">
                <a:latin typeface="Ubuntu"/>
                <a:cs typeface="Segoe UI"/>
              </a:rPr>
              <a:t>Claims teams spend significant time manually checking documents, leading to slow processing and backlogs.</a:t>
            </a:r>
          </a:p>
          <a:p>
            <a:pPr marL="285750" indent="-285750">
              <a:spcBef>
                <a:spcPct val="0"/>
              </a:spcBef>
              <a:buFont typeface="Wingdings" panose="05000000000000000000" pitchFamily="2" charset="2"/>
              <a:buChar char="Ø"/>
            </a:pPr>
            <a:r>
              <a:rPr lang="en-GB" sz="1000" dirty="0">
                <a:latin typeface="Ubuntu"/>
                <a:cs typeface="Segoe UI"/>
              </a:rPr>
              <a:t>Documents are often misclassified or submitted in the wrong format, requiring repeated customer follow‑ups.</a:t>
            </a:r>
          </a:p>
          <a:p>
            <a:pPr marL="285750" indent="-285750">
              <a:spcBef>
                <a:spcPct val="0"/>
              </a:spcBef>
              <a:buFont typeface="Wingdings" panose="05000000000000000000" pitchFamily="2" charset="2"/>
              <a:buChar char="Ø"/>
            </a:pPr>
            <a:r>
              <a:rPr lang="en-GB" sz="1000" dirty="0">
                <a:latin typeface="Ubuntu"/>
                <a:cs typeface="Segoe UI"/>
              </a:rPr>
              <a:t>Missing documents delay the claim lifecycle and create unnecessary customer touchpoints.</a:t>
            </a:r>
          </a:p>
          <a:p>
            <a:pPr marL="285750" indent="-285750">
              <a:spcBef>
                <a:spcPct val="0"/>
              </a:spcBef>
              <a:buFont typeface="Wingdings" panose="05000000000000000000" pitchFamily="2" charset="2"/>
              <a:buChar char="Ø"/>
            </a:pPr>
            <a:r>
              <a:rPr lang="en-GB" sz="1000" dirty="0">
                <a:latin typeface="Ubuntu"/>
                <a:cs typeface="Segoe UI"/>
              </a:rPr>
              <a:t>Lack of automation results in inconsistent decision-making and operational inefficiency.</a:t>
            </a:r>
          </a:p>
          <a:p>
            <a:pPr marL="285750" indent="-285750">
              <a:spcBef>
                <a:spcPct val="0"/>
              </a:spcBef>
              <a:buFont typeface="Wingdings" panose="05000000000000000000" pitchFamily="2" charset="2"/>
              <a:buChar char="Ø"/>
            </a:pPr>
            <a:r>
              <a:rPr lang="en-GB" sz="1000" dirty="0">
                <a:latin typeface="Ubuntu"/>
                <a:cs typeface="Segoe UI"/>
              </a:rPr>
              <a:t>Manual validation increases risk of human error and incomplete claim assessment.</a:t>
            </a:r>
            <a:endParaRPr lang="en-US" sz="1000" dirty="0"/>
          </a:p>
        </p:txBody>
      </p:sp>
      <p:sp>
        <p:nvSpPr>
          <p:cNvPr id="8" name="TextBox 7">
            <a:extLst>
              <a:ext uri="{FF2B5EF4-FFF2-40B4-BE49-F238E27FC236}">
                <a16:creationId xmlns:a16="http://schemas.microsoft.com/office/drawing/2014/main" id="{CB07AE31-E2C9-1EF9-EBD4-F9A34BAB7ECE}"/>
              </a:ext>
            </a:extLst>
          </p:cNvPr>
          <p:cNvSpPr txBox="1"/>
          <p:nvPr/>
        </p:nvSpPr>
        <p:spPr>
          <a:xfrm>
            <a:off x="6248937" y="927851"/>
            <a:ext cx="3125162" cy="2772170"/>
          </a:xfrm>
          <a:prstGeom prst="rect">
            <a:avLst/>
          </a:prstGeom>
          <a:noFill/>
        </p:spPr>
        <p:txBody>
          <a:bodyPr vert="horz" wrap="square" lIns="90000" tIns="46800" rIns="90000" bIns="46800" rtlCol="0" anchor="ctr">
            <a:spAutoFit/>
          </a:bodyPr>
          <a:lstStyle/>
          <a:p>
            <a:pPr>
              <a:spcBef>
                <a:spcPct val="0"/>
              </a:spcBef>
            </a:pPr>
            <a:r>
              <a:rPr lang="en-GB" sz="1000" dirty="0"/>
              <a:t>This solution uses Agentic AI to automatically handle document gathering and document reviews for insurance claims. The system identifies all documents submitted by the customer, classifies them, and evaluates whether they meet the required criteria for the type of claim (e.g., GI, SIPP). If documents are missing, the AI triggers a chatbot agent to confirm whether files were misclassified or overlooked. If still missing, the system drafts a personalised customer email requesting the required documentation. When all documents are correctly submitted, the system updates the claims platform and proceeds to the next stage of the claims lifecycle — significantly reducing manual workload and improving processing efficiency.</a:t>
            </a:r>
            <a:endParaRPr lang="en-IE" sz="1000" dirty="0"/>
          </a:p>
          <a:p>
            <a:pPr algn="l">
              <a:spcBef>
                <a:spcPct val="0"/>
              </a:spcBef>
            </a:pPr>
            <a:endParaRPr lang="en-IE" sz="1400" dirty="0"/>
          </a:p>
        </p:txBody>
      </p:sp>
      <p:sp>
        <p:nvSpPr>
          <p:cNvPr id="9" name="TextBox 8">
            <a:extLst>
              <a:ext uri="{FF2B5EF4-FFF2-40B4-BE49-F238E27FC236}">
                <a16:creationId xmlns:a16="http://schemas.microsoft.com/office/drawing/2014/main" id="{89D2ACC8-A69A-6F01-6846-73D151D02CB1}"/>
              </a:ext>
            </a:extLst>
          </p:cNvPr>
          <p:cNvSpPr txBox="1"/>
          <p:nvPr/>
        </p:nvSpPr>
        <p:spPr>
          <a:xfrm>
            <a:off x="9592837" y="911372"/>
            <a:ext cx="2350127" cy="1633397"/>
          </a:xfrm>
          <a:prstGeom prst="rect">
            <a:avLst/>
          </a:prstGeom>
          <a:noFill/>
        </p:spPr>
        <p:txBody>
          <a:bodyPr vert="horz" wrap="square" lIns="90000" tIns="46800" rIns="90000" bIns="46800" rtlCol="0" anchor="ctr">
            <a:spAutoFit/>
          </a:bodyPr>
          <a:lstStyle/>
          <a:p>
            <a:pPr marL="171450" indent="-171450" algn="l">
              <a:spcBef>
                <a:spcPct val="0"/>
              </a:spcBef>
              <a:buFont typeface="Wingdings" panose="05000000000000000000" pitchFamily="2" charset="2"/>
              <a:buChar char="Ø"/>
            </a:pPr>
            <a:r>
              <a:rPr lang="en-GB" sz="1000" dirty="0"/>
              <a:t>Document review time reduction</a:t>
            </a:r>
          </a:p>
          <a:p>
            <a:pPr marL="171450" indent="-171450" algn="l">
              <a:spcBef>
                <a:spcPct val="0"/>
              </a:spcBef>
              <a:buFont typeface="Wingdings" panose="05000000000000000000" pitchFamily="2" charset="2"/>
              <a:buChar char="Ø"/>
            </a:pPr>
            <a:r>
              <a:rPr lang="en-GB" sz="1000" dirty="0"/>
              <a:t>Claim processing cycle time</a:t>
            </a:r>
          </a:p>
          <a:p>
            <a:pPr marL="171450" indent="-171450" algn="l">
              <a:spcBef>
                <a:spcPct val="0"/>
              </a:spcBef>
              <a:buFont typeface="Wingdings" panose="05000000000000000000" pitchFamily="2" charset="2"/>
              <a:buChar char="Ø"/>
            </a:pPr>
            <a:r>
              <a:rPr lang="en-GB" sz="1000" dirty="0"/>
              <a:t>Percentage of claims requiring rework</a:t>
            </a:r>
          </a:p>
          <a:p>
            <a:pPr marL="171450" indent="-171450" algn="l">
              <a:spcBef>
                <a:spcPct val="0"/>
              </a:spcBef>
              <a:buFont typeface="Wingdings" panose="05000000000000000000" pitchFamily="2" charset="2"/>
              <a:buChar char="Ø"/>
            </a:pPr>
            <a:r>
              <a:rPr lang="en-GB" sz="1000" dirty="0"/>
              <a:t>Customer communication turnaround time</a:t>
            </a:r>
          </a:p>
          <a:p>
            <a:pPr marL="171450" indent="-171450" algn="l">
              <a:spcBef>
                <a:spcPct val="0"/>
              </a:spcBef>
              <a:buFont typeface="Wingdings" panose="05000000000000000000" pitchFamily="2" charset="2"/>
              <a:buChar char="Ø"/>
            </a:pPr>
            <a:r>
              <a:rPr lang="en-GB" sz="1000" dirty="0"/>
              <a:t>Accuracy of document classification</a:t>
            </a:r>
          </a:p>
          <a:p>
            <a:pPr marL="171450" indent="-171450" algn="l">
              <a:spcBef>
                <a:spcPct val="0"/>
              </a:spcBef>
              <a:buFont typeface="Wingdings" panose="05000000000000000000" pitchFamily="2" charset="2"/>
              <a:buChar char="Ø"/>
            </a:pPr>
            <a:r>
              <a:rPr lang="en-GB" sz="1000" dirty="0"/>
              <a:t>Automation rate across claim intake steps</a:t>
            </a:r>
          </a:p>
        </p:txBody>
      </p:sp>
      <p:sp>
        <p:nvSpPr>
          <p:cNvPr id="11" name="TextBox 10">
            <a:extLst>
              <a:ext uri="{FF2B5EF4-FFF2-40B4-BE49-F238E27FC236}">
                <a16:creationId xmlns:a16="http://schemas.microsoft.com/office/drawing/2014/main" id="{E06835DD-2302-BB2A-4CA3-6CBF3CA8D16C}"/>
              </a:ext>
            </a:extLst>
          </p:cNvPr>
          <p:cNvSpPr txBox="1"/>
          <p:nvPr/>
        </p:nvSpPr>
        <p:spPr>
          <a:xfrm>
            <a:off x="9649787" y="3427917"/>
            <a:ext cx="2253291" cy="2402838"/>
          </a:xfrm>
          <a:prstGeom prst="rect">
            <a:avLst/>
          </a:prstGeom>
          <a:noFill/>
        </p:spPr>
        <p:txBody>
          <a:bodyPr vert="horz" wrap="square" lIns="90000" tIns="46800" rIns="90000" bIns="46800" rtlCol="0" anchor="ctr">
            <a:spAutoFit/>
          </a:bodyPr>
          <a:lstStyle/>
          <a:p>
            <a:pPr marL="171450" indent="-171450" algn="l">
              <a:spcBef>
                <a:spcPct val="0"/>
              </a:spcBef>
              <a:buFont typeface="Wingdings" panose="05000000000000000000" pitchFamily="2" charset="2"/>
              <a:buChar char="Ø"/>
            </a:pPr>
            <a:r>
              <a:rPr lang="en-GB" sz="1000" dirty="0"/>
              <a:t>Accelerates claims processing through end‑to‑end automation.</a:t>
            </a:r>
          </a:p>
          <a:p>
            <a:pPr marL="171450" indent="-171450" algn="l">
              <a:spcBef>
                <a:spcPct val="0"/>
              </a:spcBef>
              <a:buFont typeface="Wingdings" panose="05000000000000000000" pitchFamily="2" charset="2"/>
              <a:buChar char="Ø"/>
            </a:pPr>
            <a:r>
              <a:rPr lang="en-GB" sz="1000" dirty="0"/>
              <a:t>Reduces operational cost by removing repetitive manual document checks.</a:t>
            </a:r>
          </a:p>
          <a:p>
            <a:pPr marL="171450" indent="-171450" algn="l">
              <a:spcBef>
                <a:spcPct val="0"/>
              </a:spcBef>
              <a:buFont typeface="Wingdings" panose="05000000000000000000" pitchFamily="2" charset="2"/>
              <a:buChar char="Ø"/>
            </a:pPr>
            <a:r>
              <a:rPr lang="en-GB" sz="1000" dirty="0"/>
              <a:t>Improves customer satisfaction with proactive, personalised communication.</a:t>
            </a:r>
          </a:p>
          <a:p>
            <a:pPr marL="171450" indent="-171450" algn="l">
              <a:spcBef>
                <a:spcPct val="0"/>
              </a:spcBef>
              <a:buFont typeface="Wingdings" panose="05000000000000000000" pitchFamily="2" charset="2"/>
              <a:buChar char="Ø"/>
            </a:pPr>
            <a:r>
              <a:rPr lang="en-GB" sz="1000" dirty="0"/>
              <a:t>Minimises errors in classification and document verification.</a:t>
            </a:r>
          </a:p>
          <a:p>
            <a:pPr marL="171450" indent="-171450" algn="l">
              <a:spcBef>
                <a:spcPct val="0"/>
              </a:spcBef>
              <a:buFont typeface="Wingdings" panose="05000000000000000000" pitchFamily="2" charset="2"/>
              <a:buChar char="Ø"/>
            </a:pPr>
            <a:r>
              <a:rPr lang="en-GB" sz="1000" dirty="0"/>
              <a:t>Enables claims handlers to focus on complex, high‑value cases.</a:t>
            </a:r>
          </a:p>
          <a:p>
            <a:pPr marL="171450" indent="-171450" algn="l">
              <a:spcBef>
                <a:spcPct val="0"/>
              </a:spcBef>
              <a:buFont typeface="Wingdings" panose="05000000000000000000" pitchFamily="2" charset="2"/>
              <a:buChar char="Ø"/>
            </a:pPr>
            <a:r>
              <a:rPr lang="en-GB" sz="1000" dirty="0"/>
              <a:t>Produces consistent, auditable workflows compliant with regulatory standards.</a:t>
            </a:r>
          </a:p>
        </p:txBody>
      </p:sp>
      <p:sp>
        <p:nvSpPr>
          <p:cNvPr id="34" name="TextBox 33">
            <a:extLst>
              <a:ext uri="{FF2B5EF4-FFF2-40B4-BE49-F238E27FC236}">
                <a16:creationId xmlns:a16="http://schemas.microsoft.com/office/drawing/2014/main" id="{F709F98C-8410-AB88-0576-9E752E77F6E3}"/>
              </a:ext>
            </a:extLst>
          </p:cNvPr>
          <p:cNvSpPr txBox="1"/>
          <p:nvPr/>
        </p:nvSpPr>
        <p:spPr>
          <a:xfrm>
            <a:off x="7569086" y="4841356"/>
            <a:ext cx="1711397" cy="1017844"/>
          </a:xfrm>
          <a:prstGeom prst="rect">
            <a:avLst/>
          </a:prstGeom>
          <a:noFill/>
        </p:spPr>
        <p:txBody>
          <a:bodyPr vert="horz" wrap="square" lIns="90000" tIns="46800" rIns="90000" bIns="46800" rtlCol="0" anchor="ctr">
            <a:spAutoFit/>
          </a:bodyPr>
          <a:lstStyle/>
          <a:p>
            <a:pPr algn="l">
              <a:spcBef>
                <a:spcPct val="0"/>
              </a:spcBef>
            </a:pPr>
            <a:r>
              <a:rPr lang="en-GB" sz="1000" dirty="0"/>
              <a:t>Claims Handlers</a:t>
            </a:r>
          </a:p>
          <a:p>
            <a:pPr algn="l">
              <a:spcBef>
                <a:spcPct val="0"/>
              </a:spcBef>
            </a:pPr>
            <a:r>
              <a:rPr lang="en-GB" sz="1000" dirty="0"/>
              <a:t>Operations Managers</a:t>
            </a:r>
          </a:p>
          <a:p>
            <a:pPr algn="l">
              <a:spcBef>
                <a:spcPct val="0"/>
              </a:spcBef>
            </a:pPr>
            <a:r>
              <a:rPr lang="en-GB" sz="1000" dirty="0"/>
              <a:t>Customer Service Teams</a:t>
            </a:r>
          </a:p>
          <a:p>
            <a:pPr algn="l">
              <a:spcBef>
                <a:spcPct val="0"/>
              </a:spcBef>
            </a:pPr>
            <a:r>
              <a:rPr lang="en-GB" sz="1000" dirty="0"/>
              <a:t>Compliance &amp; Risk Team</a:t>
            </a:r>
          </a:p>
          <a:p>
            <a:pPr algn="l">
              <a:spcBef>
                <a:spcPct val="0"/>
              </a:spcBef>
            </a:pPr>
            <a:r>
              <a:rPr lang="en-GB" sz="1000" dirty="0"/>
              <a:t>IT &amp; Automation Team</a:t>
            </a:r>
          </a:p>
          <a:p>
            <a:pPr algn="l">
              <a:spcBef>
                <a:spcPct val="0"/>
              </a:spcBef>
            </a:pPr>
            <a:r>
              <a:rPr lang="en-GB" sz="1000" dirty="0"/>
              <a:t>End Customers</a:t>
            </a:r>
          </a:p>
        </p:txBody>
      </p:sp>
      <p:sp>
        <p:nvSpPr>
          <p:cNvPr id="35" name="TextBox 34">
            <a:extLst>
              <a:ext uri="{FF2B5EF4-FFF2-40B4-BE49-F238E27FC236}">
                <a16:creationId xmlns:a16="http://schemas.microsoft.com/office/drawing/2014/main" id="{FCF9575F-B044-4F3C-D9AD-77DEF207B179}"/>
              </a:ext>
            </a:extLst>
          </p:cNvPr>
          <p:cNvSpPr txBox="1"/>
          <p:nvPr/>
        </p:nvSpPr>
        <p:spPr>
          <a:xfrm rot="10800000" flipV="1">
            <a:off x="273990" y="5753811"/>
            <a:ext cx="6903558" cy="556179"/>
          </a:xfrm>
          <a:prstGeom prst="rect">
            <a:avLst/>
          </a:prstGeom>
          <a:noFill/>
        </p:spPr>
        <p:txBody>
          <a:bodyPr vert="horz" wrap="square" lIns="90000" tIns="46800" rIns="90000" bIns="46800" rtlCol="0" anchor="ctr">
            <a:spAutoFit/>
          </a:bodyPr>
          <a:lstStyle/>
          <a:p>
            <a:pPr marL="171450" indent="-171450" algn="l">
              <a:spcBef>
                <a:spcPct val="0"/>
              </a:spcBef>
              <a:buFont typeface="Arial" panose="020B0604020202020204" pitchFamily="34" charset="0"/>
              <a:buChar char="•"/>
            </a:pPr>
            <a:r>
              <a:rPr lang="en-GB" sz="1000" dirty="0"/>
              <a:t>Azure AI Foundry (Agentic Orchestration): Coordinates document reasoning, agent workflows, and decision steps.</a:t>
            </a:r>
          </a:p>
          <a:p>
            <a:pPr marL="171450" indent="-171450" algn="l">
              <a:spcBef>
                <a:spcPct val="0"/>
              </a:spcBef>
              <a:buFont typeface="Arial" panose="020B0604020202020204" pitchFamily="34" charset="0"/>
              <a:buChar char="•"/>
            </a:pPr>
            <a:r>
              <a:rPr lang="en-GB" sz="1000" dirty="0"/>
              <a:t>Azure Document Intelligence: Extracts content, classifies documents, and identifies missing items.</a:t>
            </a:r>
          </a:p>
          <a:p>
            <a:pPr marL="171450" indent="-171450" algn="l">
              <a:spcBef>
                <a:spcPct val="0"/>
              </a:spcBef>
              <a:buFont typeface="Arial" panose="020B0604020202020204" pitchFamily="34" charset="0"/>
              <a:buChar char="•"/>
            </a:pPr>
            <a:r>
              <a:rPr lang="en-GB" sz="1000" dirty="0"/>
              <a:t>Azure AI Search: Matches required documents with submitted ones using semantic search.</a:t>
            </a:r>
          </a:p>
        </p:txBody>
      </p:sp>
      <p:sp>
        <p:nvSpPr>
          <p:cNvPr id="42" name="TextBox 41">
            <a:extLst>
              <a:ext uri="{FF2B5EF4-FFF2-40B4-BE49-F238E27FC236}">
                <a16:creationId xmlns:a16="http://schemas.microsoft.com/office/drawing/2014/main" id="{C812568A-6DB3-5DC6-334C-7FAA46AB476C}"/>
              </a:ext>
            </a:extLst>
          </p:cNvPr>
          <p:cNvSpPr txBox="1"/>
          <p:nvPr/>
        </p:nvSpPr>
        <p:spPr>
          <a:xfrm>
            <a:off x="2223822" y="493837"/>
            <a:ext cx="1092254" cy="309958"/>
          </a:xfrm>
          <a:prstGeom prst="rect">
            <a:avLst/>
          </a:prstGeom>
          <a:noFill/>
        </p:spPr>
        <p:txBody>
          <a:bodyPr vert="horz" wrap="square" lIns="90000" tIns="46800" rIns="90000" bIns="46800" rtlCol="0" anchor="ctr">
            <a:spAutoFit/>
          </a:bodyPr>
          <a:lstStyle/>
          <a:p>
            <a:pPr algn="l">
              <a:spcBef>
                <a:spcPct val="0"/>
              </a:spcBef>
            </a:pPr>
            <a:r>
              <a:rPr lang="en-GB" sz="1400" dirty="0">
                <a:solidFill>
                  <a:schemeClr val="bg2"/>
                </a:solidFill>
              </a:rPr>
              <a:t>Insurance</a:t>
            </a: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98102"/>
            <a:ext cx="7998590" cy="592498"/>
          </a:xfrm>
        </p:spPr>
        <p:txBody>
          <a:bodyPr/>
          <a:lstStyle/>
          <a:p>
            <a:r>
              <a:rPr lang="en-US"/>
              <a:t>Functional Solution + AI-Human Chemistry</a:t>
            </a:r>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050" noProof="0" dirty="0">
              <a:solidFill>
                <a:schemeClr val="tx1"/>
              </a:solidFill>
            </a:endParaRPr>
          </a:p>
        </p:txBody>
      </p:sp>
      <p:pic>
        <p:nvPicPr>
          <p:cNvPr id="114" name="Picture 113">
            <a:extLst>
              <a:ext uri="{FF2B5EF4-FFF2-40B4-BE49-F238E27FC236}">
                <a16:creationId xmlns:a16="http://schemas.microsoft.com/office/drawing/2014/main" id="{BFDDB243-0E2E-887C-6815-6F56072E5A86}"/>
              </a:ext>
            </a:extLst>
          </p:cNvPr>
          <p:cNvPicPr>
            <a:picLocks noChangeAspect="1"/>
          </p:cNvPicPr>
          <p:nvPr/>
        </p:nvPicPr>
        <p:blipFill>
          <a:blip r:embed="rId2"/>
          <a:stretch>
            <a:fillRect/>
          </a:stretch>
        </p:blipFill>
        <p:spPr>
          <a:xfrm>
            <a:off x="583756" y="1601808"/>
            <a:ext cx="9493267" cy="443764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49726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9542968" y="2057344"/>
            <a:ext cx="1930575" cy="257997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dirty="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533466" y="2504143"/>
            <a:ext cx="2108855" cy="2466028"/>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dirty="0"/>
              <a:t>GitHub Copilot</a:t>
            </a:r>
          </a:p>
          <a:p>
            <a:pPr marL="285750" indent="-285750" algn="l">
              <a:spcBef>
                <a:spcPct val="0"/>
              </a:spcBef>
              <a:buFont typeface="Arial" panose="020B0604020202020204" pitchFamily="34" charset="0"/>
              <a:buChar char="•"/>
            </a:pPr>
            <a:r>
              <a:rPr lang="en-US" sz="1400" dirty="0"/>
              <a:t>Microsoft Foundry</a:t>
            </a:r>
          </a:p>
          <a:p>
            <a:pPr marL="285750" indent="-285750" algn="l">
              <a:spcBef>
                <a:spcPct val="0"/>
              </a:spcBef>
              <a:buFont typeface="Arial" panose="020B0604020202020204" pitchFamily="34" charset="0"/>
              <a:buChar char="•"/>
            </a:pPr>
            <a:r>
              <a:rPr lang="en-US" sz="1400" dirty="0"/>
              <a:t>Microsoft Fabric</a:t>
            </a:r>
          </a:p>
          <a:p>
            <a:pPr marL="285750" indent="-285750" algn="l">
              <a:spcBef>
                <a:spcPct val="0"/>
              </a:spcBef>
              <a:buFont typeface="Arial" panose="020B0604020202020204" pitchFamily="34" charset="0"/>
              <a:buChar char="•"/>
            </a:pPr>
            <a:r>
              <a:rPr lang="en-US" sz="1400" dirty="0"/>
              <a:t>Azure Cosmos DB</a:t>
            </a:r>
          </a:p>
          <a:p>
            <a:pPr marL="285750" indent="-285750" algn="l">
              <a:spcBef>
                <a:spcPct val="0"/>
              </a:spcBef>
              <a:buFont typeface="Arial" panose="020B0604020202020204" pitchFamily="34" charset="0"/>
              <a:buChar char="•"/>
            </a:pPr>
            <a:r>
              <a:rPr lang="en-US" sz="1400" dirty="0"/>
              <a:t>Azure Blob Storage</a:t>
            </a:r>
          </a:p>
          <a:p>
            <a:pPr marL="285750" indent="-285750" algn="l">
              <a:spcBef>
                <a:spcPct val="0"/>
              </a:spcBef>
              <a:buFont typeface="Arial" panose="020B0604020202020204" pitchFamily="34" charset="0"/>
              <a:buChar char="•"/>
            </a:pPr>
            <a:r>
              <a:rPr lang="en-US" sz="1400" dirty="0"/>
              <a:t>Microsoft Power BI</a:t>
            </a:r>
          </a:p>
          <a:p>
            <a:pPr marL="285750" indent="-285750" algn="l">
              <a:spcBef>
                <a:spcPct val="0"/>
              </a:spcBef>
              <a:buFont typeface="Arial" panose="020B0604020202020204" pitchFamily="34" charset="0"/>
              <a:buChar char="•"/>
            </a:pPr>
            <a:r>
              <a:rPr lang="en-US" sz="1400" dirty="0"/>
              <a:t>Azure Document Intelligence</a:t>
            </a:r>
          </a:p>
          <a:p>
            <a:pPr marL="285750" indent="-285750" algn="l">
              <a:spcBef>
                <a:spcPct val="0"/>
              </a:spcBef>
              <a:buFont typeface="Arial" panose="020B0604020202020204" pitchFamily="34" charset="0"/>
              <a:buChar char="•"/>
            </a:pPr>
            <a:r>
              <a:rPr lang="en-US" sz="1400" dirty="0"/>
              <a:t>Azure Open AI</a:t>
            </a:r>
          </a:p>
          <a:p>
            <a:pPr marL="285750" indent="-285750" algn="l">
              <a:spcBef>
                <a:spcPct val="0"/>
              </a:spcBef>
              <a:buFont typeface="Arial" panose="020B0604020202020204" pitchFamily="34" charset="0"/>
              <a:buChar char="•"/>
            </a:pPr>
            <a:r>
              <a:rPr lang="en-US" sz="1400" dirty="0"/>
              <a:t>Copilot Studio</a:t>
            </a:r>
          </a:p>
          <a:p>
            <a:pPr marL="285750" indent="-285750" algn="l">
              <a:spcBef>
                <a:spcPct val="0"/>
              </a:spcBef>
              <a:buFont typeface="Arial" panose="020B0604020202020204" pitchFamily="34" charset="0"/>
              <a:buChar char="•"/>
            </a:pPr>
            <a:r>
              <a:rPr lang="en-US" sz="1400" dirty="0"/>
              <a:t>Azure AI</a:t>
            </a:r>
          </a:p>
        </p:txBody>
      </p:sp>
      <p:sp>
        <p:nvSpPr>
          <p:cNvPr id="3" name="Rectangle 1">
            <a:extLst>
              <a:ext uri="{FF2B5EF4-FFF2-40B4-BE49-F238E27FC236}">
                <a16:creationId xmlns:a16="http://schemas.microsoft.com/office/drawing/2014/main" id="{3B9F1D11-C712-E58B-FE1E-9BABDEE6DD5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Picture 7">
            <a:extLst>
              <a:ext uri="{FF2B5EF4-FFF2-40B4-BE49-F238E27FC236}">
                <a16:creationId xmlns:a16="http://schemas.microsoft.com/office/drawing/2014/main" id="{E71AFA48-4AF0-7855-8405-0AB0B1159C72}"/>
              </a:ext>
            </a:extLst>
          </p:cNvPr>
          <p:cNvPicPr>
            <a:picLocks noChangeAspect="1"/>
          </p:cNvPicPr>
          <p:nvPr/>
        </p:nvPicPr>
        <p:blipFill>
          <a:blip r:embed="rId2"/>
          <a:stretch>
            <a:fillRect/>
          </a:stretch>
        </p:blipFill>
        <p:spPr>
          <a:xfrm>
            <a:off x="533400" y="1748387"/>
            <a:ext cx="8686800" cy="485917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50242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0FF1-F8A6-07E4-A84A-027B8DE019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11E154-7C2B-F1FB-BF7E-668CB63CC787}"/>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2A4699B6-57E7-9785-4DA4-76538E87FD18}"/>
              </a:ext>
            </a:extLst>
          </p:cNvPr>
          <p:cNvSpPr>
            <a:spLocks noGrp="1"/>
          </p:cNvSpPr>
          <p:nvPr>
            <p:ph type="title"/>
          </p:nvPr>
        </p:nvSpPr>
        <p:spPr/>
        <p:txBody>
          <a:bodyPr/>
          <a:lstStyle/>
          <a:p>
            <a:r>
              <a:rPr lang="en-US"/>
              <a:t>Technical Solution</a:t>
            </a:r>
          </a:p>
        </p:txBody>
      </p:sp>
      <p:sp>
        <p:nvSpPr>
          <p:cNvPr id="18" name="TextBox 17">
            <a:extLst>
              <a:ext uri="{FF2B5EF4-FFF2-40B4-BE49-F238E27FC236}">
                <a16:creationId xmlns:a16="http://schemas.microsoft.com/office/drawing/2014/main" id="{EE5DF920-302D-57A3-C9C7-D92CA158E322}"/>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dirty="0">
                <a:solidFill>
                  <a:schemeClr val="bg1"/>
                </a:solidFill>
              </a:rPr>
              <a:t>technologies</a:t>
            </a:r>
          </a:p>
        </p:txBody>
      </p:sp>
      <p:sp>
        <p:nvSpPr>
          <p:cNvPr id="3" name="Rectangle 1">
            <a:extLst>
              <a:ext uri="{FF2B5EF4-FFF2-40B4-BE49-F238E27FC236}">
                <a16:creationId xmlns:a16="http://schemas.microsoft.com/office/drawing/2014/main" id="{6DA17DD8-240D-B2A3-E7AA-EF1910AAED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7" name="Picture 6">
            <a:extLst>
              <a:ext uri="{FF2B5EF4-FFF2-40B4-BE49-F238E27FC236}">
                <a16:creationId xmlns:a16="http://schemas.microsoft.com/office/drawing/2014/main" id="{1D2AB6AF-3E19-426A-6560-26C04CFBA738}"/>
              </a:ext>
            </a:extLst>
          </p:cNvPr>
          <p:cNvPicPr>
            <a:picLocks noChangeAspect="1"/>
          </p:cNvPicPr>
          <p:nvPr/>
        </p:nvPicPr>
        <p:blipFill>
          <a:blip r:embed="rId2"/>
          <a:stretch>
            <a:fillRect/>
          </a:stretch>
        </p:blipFill>
        <p:spPr>
          <a:xfrm>
            <a:off x="988483" y="1709943"/>
            <a:ext cx="7770888" cy="4326724"/>
          </a:xfrm>
          <a:prstGeom prst="rect">
            <a:avLst/>
          </a:prstGeom>
          <a:solidFill>
            <a:schemeClr val="bg1"/>
          </a:solidFill>
          <a:ln>
            <a:solidFill>
              <a:schemeClr val="accent1"/>
            </a:solidFill>
          </a:ln>
          <a:effectLst>
            <a:softEdge rad="12700"/>
          </a:effectLst>
        </p:spPr>
      </p:pic>
    </p:spTree>
    <p:extLst>
      <p:ext uri="{BB962C8B-B14F-4D97-AF65-F5344CB8AC3E}">
        <p14:creationId xmlns:p14="http://schemas.microsoft.com/office/powerpoint/2010/main" val="468358779"/>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1201</Words>
  <Application>Microsoft Office PowerPoint</Application>
  <PresentationFormat>Widescreen</PresentationFormat>
  <Paragraphs>197</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Capgemini_Bright_2025</vt:lpstr>
      <vt:lpstr>PowerPoint Presentation</vt:lpstr>
      <vt:lpstr>Functional Solution + AI-Human Chemistry</vt:lpstr>
      <vt:lpstr>Technical Solution</vt:lpstr>
      <vt:lpstr>Technical Solution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Yadav, Ranjit</cp:lastModifiedBy>
  <cp:revision>23</cp:revision>
  <dcterms:created xsi:type="dcterms:W3CDTF">2026-02-09T11:16:54Z</dcterms:created>
  <dcterms:modified xsi:type="dcterms:W3CDTF">2026-04-08T16:39:10Z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