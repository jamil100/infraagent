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0" r:id="rId4"/>
  </p:sldMasterIdLst>
  <p:notesMasterIdLst>
    <p:notesMasterId r:id="rId8"/>
  </p:notesMasterIdLst>
  <p:sldIdLst>
    <p:sldId id="263" r:id="rId5"/>
    <p:sldId id="2145706672" r:id="rId6"/>
    <p:sldId id="2145706673" r:id="rId7"/>
  </p:sldIdLst>
  <p:sldSz cx="12192000" cy="6858000"/>
  <p:notesSz cx="6858000" cy="9144000"/>
  <p:defaultTextStyle>
    <a:defPPr>
      <a:defRPr lang="en-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ance" id="{99712D63-9960-EA4B-940C-022E3C89852C}">
          <p14:sldIdLst>
            <p14:sldId id="263"/>
            <p14:sldId id="2145706672"/>
            <p14:sldId id="2145706673"/>
          </p14:sldIdLst>
        </p14:section>
        <p14:section name="Untitled Section" id="{BF9A5F03-27B0-478D-9363-154BCB2578BD}">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9369B82-F61C-1DAB-D2B9-DBEF2F861C75}" name="Wójcik, Jakub" initials="WJ" userId="S::jakub.wojcik@capgemini.com::67d39b31-f876-42af-a5d3-3244421dda40" providerId="AD"/>
  <p188:author id="{ABFE7C8A-44D6-C62D-74C1-98F46929C423}" name="Derché, Aurélie" initials="AD" userId="S::aurelie.derche@capgemini.com::5f68c882-6845-4196-8575-a10c2237bca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232323"/>
    <a:srgbClr val="010101"/>
    <a:srgbClr val="747474"/>
    <a:srgbClr val="555555"/>
    <a:srgbClr val="1ABA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30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FCD6C-6423-8F47-8CE2-0C68727CE676}" type="datetimeFigureOut">
              <a:rPr lang="en-PL" smtClean="0"/>
              <a:t>04/06/2026</a:t>
            </a:fld>
            <a:endParaRPr lang="en-P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B1FBD7-F02D-4C4F-915F-35E35DACACBF}" type="slidenum">
              <a:rPr lang="en-PL" smtClean="0"/>
              <a:t>‹#›</a:t>
            </a:fld>
            <a:endParaRPr lang="en-PL"/>
          </a:p>
        </p:txBody>
      </p:sp>
    </p:spTree>
    <p:extLst>
      <p:ext uri="{BB962C8B-B14F-4D97-AF65-F5344CB8AC3E}">
        <p14:creationId xmlns:p14="http://schemas.microsoft.com/office/powerpoint/2010/main" val="7134012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7DB1FBD7-F02D-4C4F-915F-35E35DACACBF}" type="slidenum">
              <a:rPr lang="en-PL" smtClean="0"/>
              <a:t>1</a:t>
            </a:fld>
            <a:endParaRPr lang="en-PL"/>
          </a:p>
        </p:txBody>
      </p:sp>
    </p:spTree>
    <p:extLst>
      <p:ext uri="{BB962C8B-B14F-4D97-AF65-F5344CB8AC3E}">
        <p14:creationId xmlns:p14="http://schemas.microsoft.com/office/powerpoint/2010/main" val="9735688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5.png"/><Relationship Id="rId7" Type="http://schemas.openxmlformats.org/officeDocument/2006/relationships/image" Target="../media/image7.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1.xml"/><Relationship Id="rId6" Type="http://schemas.openxmlformats.org/officeDocument/2006/relationships/hyperlink" Target="http://www.facebook.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8.png"/></Relationships>
</file>

<file path=ppt/slideLayouts/_rels/slideLayout33.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0.png"/><Relationship Id="rId7" Type="http://schemas.microsoft.com/office/2007/relationships/hdphoto" Target="../media/hdphoto2.wdp"/><Relationship Id="rId12" Type="http://schemas.openxmlformats.org/officeDocument/2006/relationships/image" Target="../media/image13.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1.xml"/><Relationship Id="rId6" Type="http://schemas.openxmlformats.org/officeDocument/2006/relationships/image" Target="../media/image11.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4.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2.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a:t>Click to edit Master subtitle style</a:t>
            </a:r>
            <a:endParaRPr lang="en-US"/>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99976296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FB5E1A75-4EBA-DF96-78B5-DDD08BCCF2AF}"/>
              </a:ext>
            </a:extLst>
          </p:cNvPr>
          <p:cNvSpPr/>
          <p:nvPr userDrawn="1"/>
        </p:nvSpPr>
        <p:spPr>
          <a:xfrm>
            <a:off x="228600" y="152400"/>
            <a:ext cx="3276600" cy="38100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TextBox 4">
            <a:extLst>
              <a:ext uri="{FF2B5EF4-FFF2-40B4-BE49-F238E27FC236}">
                <a16:creationId xmlns:a16="http://schemas.microsoft.com/office/drawing/2014/main" id="{057B955F-1B62-B2CB-9B0D-4438B88344F6}"/>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7" name="TextBox 6">
            <a:extLst>
              <a:ext uri="{FF2B5EF4-FFF2-40B4-BE49-F238E27FC236}">
                <a16:creationId xmlns:a16="http://schemas.microsoft.com/office/drawing/2014/main" id="{3A0C21DE-586C-397B-8753-F537C4EBAA4A}"/>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8" name="TextBox 7">
            <a:extLst>
              <a:ext uri="{FF2B5EF4-FFF2-40B4-BE49-F238E27FC236}">
                <a16:creationId xmlns:a16="http://schemas.microsoft.com/office/drawing/2014/main" id="{AFCE576E-A8B5-0322-4A16-038C0A6525C3}"/>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Tree>
    <p:extLst>
      <p:ext uri="{BB962C8B-B14F-4D97-AF65-F5344CB8AC3E}">
        <p14:creationId xmlns:p14="http://schemas.microsoft.com/office/powerpoint/2010/main" val="716037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2" name="Rounded Rectangle 1">
            <a:extLst>
              <a:ext uri="{FF2B5EF4-FFF2-40B4-BE49-F238E27FC236}">
                <a16:creationId xmlns:a16="http://schemas.microsoft.com/office/drawing/2014/main" id="{5ED96F17-8E1D-2DFB-9678-C900A36D701E}"/>
              </a:ext>
            </a:extLst>
          </p:cNvPr>
          <p:cNvSpPr/>
          <p:nvPr userDrawn="1"/>
        </p:nvSpPr>
        <p:spPr>
          <a:xfrm>
            <a:off x="228599" y="152400"/>
            <a:ext cx="3882053" cy="1066800"/>
          </a:xfrm>
          <a:prstGeom prst="roundRect">
            <a:avLst>
              <a:gd name="adj" fmla="val 5069"/>
            </a:avLst>
          </a:prstGeom>
          <a:gradFill flip="none" rotWithShape="1">
            <a:gsLst>
              <a:gs pos="37000">
                <a:schemeClr val="accent1">
                  <a:lumMod val="67000"/>
                </a:schemeClr>
              </a:gs>
              <a:gs pos="82000">
                <a:schemeClr val="accent1">
                  <a:lumMod val="97000"/>
                  <a:lumOff val="3000"/>
                </a:schemeClr>
              </a:gs>
              <a:gs pos="100000">
                <a:schemeClr val="accent1">
                  <a:lumMod val="60000"/>
                  <a:lumOff val="40000"/>
                </a:schemeClr>
              </a:gs>
            </a:gsLst>
            <a:lin ang="17400000" scaled="0"/>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5" name="Rounded Rectangle 4">
            <a:extLst>
              <a:ext uri="{FF2B5EF4-FFF2-40B4-BE49-F238E27FC236}">
                <a16:creationId xmlns:a16="http://schemas.microsoft.com/office/drawing/2014/main" id="{A3563060-2936-91B7-E585-2D5F933D7905}"/>
              </a:ext>
            </a:extLst>
          </p:cNvPr>
          <p:cNvSpPr/>
          <p:nvPr userDrawn="1"/>
        </p:nvSpPr>
        <p:spPr>
          <a:xfrm>
            <a:off x="3888611" y="148291"/>
            <a:ext cx="7838984" cy="1070910"/>
          </a:xfrm>
          <a:prstGeom prst="roundRect">
            <a:avLst>
              <a:gd name="adj" fmla="val 5069"/>
            </a:avLst>
          </a:prstGeom>
          <a:solidFill>
            <a:schemeClr val="bg1"/>
          </a:solidFill>
          <a:ln w="9525">
            <a:solidFill>
              <a:schemeClr val="tx2"/>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bg1"/>
              </a:solidFill>
            </a:endParaRPr>
          </a:p>
        </p:txBody>
      </p:sp>
      <p:sp>
        <p:nvSpPr>
          <p:cNvPr id="7" name="TextBox 6">
            <a:extLst>
              <a:ext uri="{FF2B5EF4-FFF2-40B4-BE49-F238E27FC236}">
                <a16:creationId xmlns:a16="http://schemas.microsoft.com/office/drawing/2014/main" id="{3A7A9AF7-E939-3D90-CEDE-40D540F3D66D}"/>
              </a:ext>
            </a:extLst>
          </p:cNvPr>
          <p:cNvSpPr txBox="1"/>
          <p:nvPr userDrawn="1"/>
        </p:nvSpPr>
        <p:spPr>
          <a:xfrm>
            <a:off x="381000" y="228600"/>
            <a:ext cx="126378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CASE OVERVIEW</a:t>
            </a:r>
          </a:p>
        </p:txBody>
      </p:sp>
      <p:sp>
        <p:nvSpPr>
          <p:cNvPr id="8" name="TextBox 7">
            <a:extLst>
              <a:ext uri="{FF2B5EF4-FFF2-40B4-BE49-F238E27FC236}">
                <a16:creationId xmlns:a16="http://schemas.microsoft.com/office/drawing/2014/main" id="{088CC983-49C6-B05D-A518-613477F4D1C8}"/>
              </a:ext>
            </a:extLst>
          </p:cNvPr>
          <p:cNvSpPr txBox="1"/>
          <p:nvPr userDrawn="1"/>
        </p:nvSpPr>
        <p:spPr>
          <a:xfrm>
            <a:off x="2587361" y="189020"/>
            <a:ext cx="710749"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Industry</a:t>
            </a:r>
          </a:p>
        </p:txBody>
      </p:sp>
      <p:sp>
        <p:nvSpPr>
          <p:cNvPr id="9" name="TextBox 8">
            <a:extLst>
              <a:ext uri="{FF2B5EF4-FFF2-40B4-BE49-F238E27FC236}">
                <a16:creationId xmlns:a16="http://schemas.microsoft.com/office/drawing/2014/main" id="{7781B0B2-34DD-8721-F816-E4CB93485CEE}"/>
              </a:ext>
            </a:extLst>
          </p:cNvPr>
          <p:cNvSpPr txBox="1"/>
          <p:nvPr userDrawn="1"/>
        </p:nvSpPr>
        <p:spPr>
          <a:xfrm>
            <a:off x="381000" y="533400"/>
            <a:ext cx="1820027" cy="402291"/>
          </a:xfrm>
          <a:prstGeom prst="rect">
            <a:avLst/>
          </a:prstGeom>
          <a:noFill/>
        </p:spPr>
        <p:txBody>
          <a:bodyPr vert="horz" wrap="none" lIns="90000" tIns="46800" rIns="90000" bIns="46800" rtlCol="0" anchor="ctr">
            <a:spAutoFit/>
          </a:bodyPr>
          <a:lstStyle/>
          <a:p>
            <a:pPr algn="l">
              <a:spcBef>
                <a:spcPct val="0"/>
              </a:spcBef>
            </a:pPr>
            <a:r>
              <a:rPr lang="en-US" sz="2000">
                <a:solidFill>
                  <a:schemeClr val="bg1"/>
                </a:solidFill>
              </a:rPr>
              <a:t>Process Name</a:t>
            </a:r>
          </a:p>
        </p:txBody>
      </p:sp>
      <p:sp>
        <p:nvSpPr>
          <p:cNvPr id="12" name="Title 11">
            <a:extLst>
              <a:ext uri="{FF2B5EF4-FFF2-40B4-BE49-F238E27FC236}">
                <a16:creationId xmlns:a16="http://schemas.microsoft.com/office/drawing/2014/main" id="{D017FCA3-A06A-DB4F-F4AC-54523E730D07}"/>
              </a:ext>
            </a:extLst>
          </p:cNvPr>
          <p:cNvSpPr>
            <a:spLocks noGrp="1"/>
          </p:cNvSpPr>
          <p:nvPr>
            <p:ph type="title"/>
          </p:nvPr>
        </p:nvSpPr>
        <p:spPr>
          <a:xfrm>
            <a:off x="3888610" y="324019"/>
            <a:ext cx="7753711" cy="666581"/>
          </a:xfrm>
        </p:spPr>
        <p:txBody>
          <a:bodyPr/>
          <a:lstStyle>
            <a:lvl1pPr algn="l">
              <a:spcBef>
                <a:spcPct val="0"/>
              </a:spcBef>
              <a:defRPr>
                <a:solidFill>
                  <a:schemeClr val="tx2"/>
                </a:solidFill>
              </a:defRPr>
            </a:lvl1pPr>
          </a:lstStyle>
          <a:p>
            <a:pPr algn="l">
              <a:spcBef>
                <a:spcPct val="0"/>
              </a:spcBef>
            </a:pPr>
            <a:r>
              <a:rPr lang="en-US"/>
              <a:t>Click to edit Master title style</a:t>
            </a:r>
            <a:endParaRPr lang="en-US" sz="2800">
              <a:solidFill>
                <a:schemeClr val="tx2"/>
              </a:solidFill>
            </a:endParaRPr>
          </a:p>
        </p:txBody>
      </p:sp>
    </p:spTree>
    <p:extLst>
      <p:ext uri="{BB962C8B-B14F-4D97-AF65-F5344CB8AC3E}">
        <p14:creationId xmlns:p14="http://schemas.microsoft.com/office/powerpoint/2010/main" val="1583922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577985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8214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2021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69334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10367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90685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647113677"/>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a:t>Click to edit Master styles</a:t>
            </a:r>
          </a:p>
        </p:txBody>
      </p:sp>
    </p:spTree>
    <p:extLst>
      <p:ext uri="{BB962C8B-B14F-4D97-AF65-F5344CB8AC3E}">
        <p14:creationId xmlns:p14="http://schemas.microsoft.com/office/powerpoint/2010/main" val="4185219580"/>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9426378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556827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50520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54954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Tree>
    <p:extLst>
      <p:ext uri="{BB962C8B-B14F-4D97-AF65-F5344CB8AC3E}">
        <p14:creationId xmlns:p14="http://schemas.microsoft.com/office/powerpoint/2010/main" val="15006583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87998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72467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2925295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337636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982540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692590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394995117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r:embed="rId2">
              <a:extLst>
                <a:ext uri="{96DAC541-7B7A-43D3-8B79-37D633B846F1}">
                  <asvg:svgBlip xmlns:asvg="http://schemas.microsoft.com/office/drawing/2016/SVG/main" r:embed="rId3"/>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75233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26807174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15654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18491269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671641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a:t>Click to add a chapter here</a:t>
            </a:r>
          </a:p>
        </p:txBody>
      </p:sp>
    </p:spTree>
    <p:extLst>
      <p:ext uri="{BB962C8B-B14F-4D97-AF65-F5344CB8AC3E}">
        <p14:creationId xmlns:p14="http://schemas.microsoft.com/office/powerpoint/2010/main" val="40001105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a:t>Spade</a:t>
            </a:r>
          </a:p>
        </p:txBody>
      </p:sp>
    </p:spTree>
    <p:extLst>
      <p:ext uri="{BB962C8B-B14F-4D97-AF65-F5344CB8AC3E}">
        <p14:creationId xmlns:p14="http://schemas.microsoft.com/office/powerpoint/2010/main" val="2324283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93590379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6810975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a:solidFill>
                  <a:schemeClr val="tx1"/>
                </a:solidFill>
                <a:latin typeface="+mn-lt"/>
              </a:rPr>
              <a:t>w</a:t>
            </a:r>
            <a:r>
              <a:rPr lang="en-US" sz="105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420,000 team members in more than 50 countries. We deliver end-to-end services and solutions with our deep industry expertise and strong partner ecosystem, leveraging our capabilities across strategy, technology, design, engineering and business operations. The Group reported 2024 global revenues of €22.1 billion.</a:t>
            </a:r>
          </a:p>
        </p:txBody>
      </p:sp>
    </p:spTree>
    <p:extLst>
      <p:ext uri="{BB962C8B-B14F-4D97-AF65-F5344CB8AC3E}">
        <p14:creationId xmlns:p14="http://schemas.microsoft.com/office/powerpoint/2010/main" val="336297466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35">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Tree>
    <p:extLst>
      <p:ext uri="{BB962C8B-B14F-4D97-AF65-F5344CB8AC3E}">
        <p14:creationId xmlns:p14="http://schemas.microsoft.com/office/powerpoint/2010/main" val="164125630"/>
      </p:ext>
    </p:extLst>
  </p:cSld>
  <p:clrMap bg1="lt1" tx1="dk1" bg2="lt2" tx2="dk2" accent1="accent1" accent2="accent2" accent3="accent3" accent4="accent4" accent5="accent5" accent6="accent6" hlink="hlink" folHlink="folHlink"/>
  <p:sldLayoutIdLst>
    <p:sldLayoutId id="2147483860" r:id="rId1"/>
    <p:sldLayoutId id="2147484008" r:id="rId2"/>
    <p:sldLayoutId id="2147484007" r:id="rId3"/>
    <p:sldLayoutId id="2147483823" r:id="rId4"/>
    <p:sldLayoutId id="2147483826" r:id="rId5"/>
    <p:sldLayoutId id="2147483827" r:id="rId6"/>
    <p:sldLayoutId id="2147483869" r:id="rId7"/>
    <p:sldLayoutId id="2147483829" r:id="rId8"/>
    <p:sldLayoutId id="2147483870" r:id="rId9"/>
    <p:sldLayoutId id="2147483831" r:id="rId10"/>
    <p:sldLayoutId id="2147483871" r:id="rId11"/>
    <p:sldLayoutId id="2147483833" r:id="rId12"/>
    <p:sldLayoutId id="2147483872" r:id="rId13"/>
    <p:sldLayoutId id="2147483835" r:id="rId14"/>
    <p:sldLayoutId id="2147483873" r:id="rId15"/>
    <p:sldLayoutId id="2147483837" r:id="rId16"/>
    <p:sldLayoutId id="2147483874" r:id="rId17"/>
    <p:sldLayoutId id="2147483838" r:id="rId18"/>
    <p:sldLayoutId id="2147483875" r:id="rId19"/>
    <p:sldLayoutId id="2147483840" r:id="rId20"/>
    <p:sldLayoutId id="2147483876" r:id="rId21"/>
    <p:sldLayoutId id="2147483842" r:id="rId22"/>
    <p:sldLayoutId id="2147483877" r:id="rId23"/>
    <p:sldLayoutId id="2147483844" r:id="rId24"/>
    <p:sldLayoutId id="2147483878" r:id="rId25"/>
    <p:sldLayoutId id="2147483845" r:id="rId26"/>
    <p:sldLayoutId id="2147483879" r:id="rId27"/>
    <p:sldLayoutId id="2147483847" r:id="rId28"/>
    <p:sldLayoutId id="2147483880" r:id="rId29"/>
    <p:sldLayoutId id="2147483848" r:id="rId30"/>
    <p:sldLayoutId id="2147483849" r:id="rId31"/>
    <p:sldLayoutId id="2147483858" r:id="rId32"/>
    <p:sldLayoutId id="2147483859"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9808D-C88D-B03B-32CF-D2C42857AA53}"/>
            </a:ext>
          </a:extLst>
        </p:cNvPr>
        <p:cNvGrpSpPr/>
        <p:nvPr/>
      </p:nvGrpSpPr>
      <p:grpSpPr>
        <a:xfrm>
          <a:off x="0" y="0"/>
          <a:ext cx="0" cy="0"/>
          <a:chOff x="0" y="0"/>
          <a:chExt cx="0" cy="0"/>
        </a:xfrm>
      </p:grpSpPr>
      <p:sp>
        <p:nvSpPr>
          <p:cNvPr id="28" name="Date Placeholder 27">
            <a:extLst>
              <a:ext uri="{FF2B5EF4-FFF2-40B4-BE49-F238E27FC236}">
                <a16:creationId xmlns:a16="http://schemas.microsoft.com/office/drawing/2014/main" id="{7B068F88-BA31-177A-C2B5-1585FE35BD48}"/>
              </a:ext>
            </a:extLst>
          </p:cNvPr>
          <p:cNvSpPr>
            <a:spLocks noGrp="1"/>
          </p:cNvSpPr>
          <p:nvPr>
            <p:ph type="dt" sz="half" idx="10"/>
          </p:nvPr>
        </p:nvSpPr>
        <p:spPr/>
        <p:txBody>
          <a:bodyPr/>
          <a:lstStyle/>
          <a:p>
            <a:r>
              <a:rPr lang="en-US"/>
              <a:t>Company Confidential © Capgemini 2026. All rights reserved.</a:t>
            </a:r>
          </a:p>
        </p:txBody>
      </p:sp>
      <p:sp>
        <p:nvSpPr>
          <p:cNvPr id="29" name="Footer Placeholder 28">
            <a:extLst>
              <a:ext uri="{FF2B5EF4-FFF2-40B4-BE49-F238E27FC236}">
                <a16:creationId xmlns:a16="http://schemas.microsoft.com/office/drawing/2014/main" id="{0CAC0EBB-B542-A534-D976-2952B8491909}"/>
              </a:ext>
            </a:extLst>
          </p:cNvPr>
          <p:cNvSpPr>
            <a:spLocks noGrp="1"/>
          </p:cNvSpPr>
          <p:nvPr>
            <p:ph type="ftr" sz="quarter" idx="11"/>
          </p:nvPr>
        </p:nvSpPr>
        <p:spPr/>
        <p:txBody>
          <a:bodyPr/>
          <a:lstStyle/>
          <a:p>
            <a:r>
              <a:rPr lang="en-US"/>
              <a:t>Presentation Title | Author | Date</a:t>
            </a:r>
          </a:p>
        </p:txBody>
      </p:sp>
      <p:sp>
        <p:nvSpPr>
          <p:cNvPr id="30" name="Slide Number Placeholder 29">
            <a:extLst>
              <a:ext uri="{FF2B5EF4-FFF2-40B4-BE49-F238E27FC236}">
                <a16:creationId xmlns:a16="http://schemas.microsoft.com/office/drawing/2014/main" id="{56898325-CF5F-AF54-57A9-F3AA68779192}"/>
              </a:ext>
            </a:extLst>
          </p:cNvPr>
          <p:cNvSpPr>
            <a:spLocks noGrp="1"/>
          </p:cNvSpPr>
          <p:nvPr>
            <p:ph type="sldNum" sz="quarter" idx="12"/>
          </p:nvPr>
        </p:nvSpPr>
        <p:spPr/>
        <p:txBody>
          <a:bodyPr/>
          <a:lstStyle/>
          <a:p>
            <a:fld id="{5D9A5160-6218-4E5A-B9E6-B93E3DAE377C}" type="slidenum">
              <a:rPr lang="en-US" smtClean="0"/>
              <a:pPr/>
              <a:t>1</a:t>
            </a:fld>
            <a:endParaRPr lang="en-US"/>
          </a:p>
        </p:txBody>
      </p:sp>
      <p:sp>
        <p:nvSpPr>
          <p:cNvPr id="7" name="Rounded Rectangle 6">
            <a:extLst>
              <a:ext uri="{FF2B5EF4-FFF2-40B4-BE49-F238E27FC236}">
                <a16:creationId xmlns:a16="http://schemas.microsoft.com/office/drawing/2014/main" id="{3EF55D29-D549-A161-BAC6-AF540E6AF3A6}"/>
              </a:ext>
            </a:extLst>
          </p:cNvPr>
          <p:cNvSpPr/>
          <p:nvPr/>
        </p:nvSpPr>
        <p:spPr>
          <a:xfrm>
            <a:off x="3581400" y="793120"/>
            <a:ext cx="5887997" cy="3174436"/>
          </a:xfrm>
          <a:prstGeom prst="roundRect">
            <a:avLst>
              <a:gd name="adj" fmla="val 5793"/>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14" name="Rounded Rectangle 13">
            <a:extLst>
              <a:ext uri="{FF2B5EF4-FFF2-40B4-BE49-F238E27FC236}">
                <a16:creationId xmlns:a16="http://schemas.microsoft.com/office/drawing/2014/main" id="{D34C0E58-2B38-D9D4-F6DD-CA95D28EBBB5}"/>
              </a:ext>
            </a:extLst>
          </p:cNvPr>
          <p:cNvSpPr/>
          <p:nvPr/>
        </p:nvSpPr>
        <p:spPr>
          <a:xfrm>
            <a:off x="9391671" y="243789"/>
            <a:ext cx="2789995" cy="6217517"/>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sz="1400" dirty="0">
              <a:solidFill>
                <a:schemeClr val="bg1"/>
              </a:solidFill>
            </a:endParaRPr>
          </a:p>
        </p:txBody>
      </p:sp>
      <p:sp>
        <p:nvSpPr>
          <p:cNvPr id="15" name="Rectangle 14">
            <a:extLst>
              <a:ext uri="{FF2B5EF4-FFF2-40B4-BE49-F238E27FC236}">
                <a16:creationId xmlns:a16="http://schemas.microsoft.com/office/drawing/2014/main" id="{AE6A3EFB-E7B0-980A-9BEA-4349A481291A}"/>
              </a:ext>
            </a:extLst>
          </p:cNvPr>
          <p:cNvSpPr/>
          <p:nvPr/>
        </p:nvSpPr>
        <p:spPr>
          <a:xfrm>
            <a:off x="9474084" y="396694"/>
            <a:ext cx="2468880" cy="219990"/>
          </a:xfrm>
          <a:prstGeom prst="rect">
            <a:avLst/>
          </a:prstGeom>
          <a:gradFill flip="none" rotWithShape="1">
            <a:gsLst>
              <a:gs pos="0">
                <a:schemeClr val="bg1">
                  <a:lumMod val="95000"/>
                </a:schemeClr>
              </a:gs>
              <a:gs pos="74000">
                <a:schemeClr val="accent3">
                  <a:lumMod val="50000"/>
                  <a:lumOff val="50000"/>
                </a:schemeClr>
              </a:gs>
              <a:gs pos="83000">
                <a:schemeClr val="accent3">
                  <a:lumMod val="75000"/>
                  <a:lumOff val="25000"/>
                </a:schemeClr>
              </a:gs>
              <a:gs pos="100000">
                <a:schemeClr val="accent3">
                  <a:lumMod val="75000"/>
                  <a:lumOff val="2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6" name="TextBox 15">
            <a:extLst>
              <a:ext uri="{FF2B5EF4-FFF2-40B4-BE49-F238E27FC236}">
                <a16:creationId xmlns:a16="http://schemas.microsoft.com/office/drawing/2014/main" id="{9DCC833A-4C32-72B6-28BE-FFC9FDD37DBE}"/>
              </a:ext>
            </a:extLst>
          </p:cNvPr>
          <p:cNvSpPr txBox="1"/>
          <p:nvPr/>
        </p:nvSpPr>
        <p:spPr>
          <a:xfrm>
            <a:off x="9498824" y="360487"/>
            <a:ext cx="497550"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WHY</a:t>
            </a:r>
          </a:p>
        </p:txBody>
      </p:sp>
      <p:sp>
        <p:nvSpPr>
          <p:cNvPr id="17" name="Rounded Rectangle 16">
            <a:extLst>
              <a:ext uri="{FF2B5EF4-FFF2-40B4-BE49-F238E27FC236}">
                <a16:creationId xmlns:a16="http://schemas.microsoft.com/office/drawing/2014/main" id="{67809C81-A2BB-0053-E829-1A7A06436F06}"/>
              </a:ext>
            </a:extLst>
          </p:cNvPr>
          <p:cNvSpPr/>
          <p:nvPr/>
        </p:nvSpPr>
        <p:spPr>
          <a:xfrm>
            <a:off x="7490672" y="4025333"/>
            <a:ext cx="1922839"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400">
                <a:solidFill>
                  <a:schemeClr val="bg1"/>
                </a:solidFill>
              </a:rPr>
              <a:t> </a:t>
            </a:r>
          </a:p>
        </p:txBody>
      </p:sp>
      <p:sp>
        <p:nvSpPr>
          <p:cNvPr id="18" name="Rectangle 17">
            <a:extLst>
              <a:ext uri="{FF2B5EF4-FFF2-40B4-BE49-F238E27FC236}">
                <a16:creationId xmlns:a16="http://schemas.microsoft.com/office/drawing/2014/main" id="{BD0C65E4-4EA2-695A-0974-696F98D3C9D6}"/>
              </a:ext>
            </a:extLst>
          </p:cNvPr>
          <p:cNvSpPr/>
          <p:nvPr/>
        </p:nvSpPr>
        <p:spPr>
          <a:xfrm>
            <a:off x="7477136" y="4243595"/>
            <a:ext cx="1737360" cy="219456"/>
          </a:xfrm>
          <a:prstGeom prst="rect">
            <a:avLst/>
          </a:prstGeom>
          <a:gradFill flip="none" rotWithShape="1">
            <a:gsLst>
              <a:gs pos="0">
                <a:schemeClr val="bg1">
                  <a:lumMod val="95000"/>
                </a:schemeClr>
              </a:gs>
              <a:gs pos="74000">
                <a:schemeClr val="accent4"/>
              </a:gs>
              <a:gs pos="83000">
                <a:schemeClr val="accent4">
                  <a:lumMod val="75000"/>
                </a:schemeClr>
              </a:gs>
              <a:gs pos="100000">
                <a:schemeClr val="accent4">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 name="TextBox 18">
            <a:extLst>
              <a:ext uri="{FF2B5EF4-FFF2-40B4-BE49-F238E27FC236}">
                <a16:creationId xmlns:a16="http://schemas.microsoft.com/office/drawing/2014/main" id="{45FC420C-7A76-1641-1513-CB1BB17113EC}"/>
              </a:ext>
            </a:extLst>
          </p:cNvPr>
          <p:cNvSpPr txBox="1"/>
          <p:nvPr/>
        </p:nvSpPr>
        <p:spPr>
          <a:xfrm>
            <a:off x="749234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WHO</a:t>
            </a:r>
          </a:p>
        </p:txBody>
      </p:sp>
      <p:sp>
        <p:nvSpPr>
          <p:cNvPr id="20" name="Rounded Rectangle 19">
            <a:extLst>
              <a:ext uri="{FF2B5EF4-FFF2-40B4-BE49-F238E27FC236}">
                <a16:creationId xmlns:a16="http://schemas.microsoft.com/office/drawing/2014/main" id="{75F2B3CD-0104-AC57-AF27-E39485AE5646}"/>
              </a:ext>
            </a:extLst>
          </p:cNvPr>
          <p:cNvSpPr/>
          <p:nvPr/>
        </p:nvSpPr>
        <p:spPr>
          <a:xfrm>
            <a:off x="259147" y="4025333"/>
            <a:ext cx="7075417" cy="2344588"/>
          </a:xfrm>
          <a:prstGeom prst="roundRect">
            <a:avLst>
              <a:gd name="adj" fmla="val 5069"/>
            </a:avLst>
          </a:prstGeom>
          <a:solidFill>
            <a:schemeClr val="bg1">
              <a:lumMod val="95000"/>
            </a:schemeClr>
          </a:solidFill>
          <a:ln w="9525">
            <a:noFill/>
            <a:prstDash val="solid"/>
          </a:ln>
          <a:effectLst>
            <a:outerShdw blurRad="50800" dist="25400" dir="96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bg1"/>
              </a:solidFill>
            </a:endParaRPr>
          </a:p>
        </p:txBody>
      </p:sp>
      <p:sp>
        <p:nvSpPr>
          <p:cNvPr id="21" name="Rectangle 20">
            <a:extLst>
              <a:ext uri="{FF2B5EF4-FFF2-40B4-BE49-F238E27FC236}">
                <a16:creationId xmlns:a16="http://schemas.microsoft.com/office/drawing/2014/main" id="{A6CD3C9A-FACF-2625-5F64-D30C21608F62}"/>
              </a:ext>
            </a:extLst>
          </p:cNvPr>
          <p:cNvSpPr/>
          <p:nvPr/>
        </p:nvSpPr>
        <p:spPr>
          <a:xfrm>
            <a:off x="334446" y="4260406"/>
            <a:ext cx="7132320" cy="219990"/>
          </a:xfrm>
          <a:prstGeom prst="rect">
            <a:avLst/>
          </a:prstGeom>
          <a:gradFill flip="none" rotWithShape="1">
            <a:gsLst>
              <a:gs pos="0">
                <a:schemeClr val="bg1">
                  <a:lumMod val="95000"/>
                </a:schemeClr>
              </a:gs>
              <a:gs pos="74000">
                <a:schemeClr val="accent6"/>
              </a:gs>
              <a:gs pos="83000">
                <a:schemeClr val="accent6">
                  <a:lumMod val="75000"/>
                </a:schemeClr>
              </a:gs>
              <a:gs pos="100000">
                <a:schemeClr val="accent6">
                  <a:lumMod val="75000"/>
                </a:schemeClr>
              </a:gs>
            </a:gsLst>
            <a:lin ang="10800000" scaled="1"/>
            <a:tileRect/>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22" name="TextBox 21">
            <a:extLst>
              <a:ext uri="{FF2B5EF4-FFF2-40B4-BE49-F238E27FC236}">
                <a16:creationId xmlns:a16="http://schemas.microsoft.com/office/drawing/2014/main" id="{FF0B5E9F-09FB-7686-28CC-A8814654849A}"/>
              </a:ext>
            </a:extLst>
          </p:cNvPr>
          <p:cNvSpPr txBox="1"/>
          <p:nvPr/>
        </p:nvSpPr>
        <p:spPr>
          <a:xfrm>
            <a:off x="273990" y="4233416"/>
            <a:ext cx="521594" cy="263791"/>
          </a:xfrm>
          <a:prstGeom prst="rect">
            <a:avLst/>
          </a:prstGeom>
          <a:noFill/>
        </p:spPr>
        <p:txBody>
          <a:bodyPr vert="horz" wrap="none" lIns="90000" tIns="46800" rIns="90000" bIns="46800" rtlCol="0" anchor="ctr">
            <a:spAutoFit/>
          </a:bodyPr>
          <a:lstStyle/>
          <a:p>
            <a:pPr algn="l">
              <a:spcBef>
                <a:spcPct val="0"/>
              </a:spcBef>
            </a:pPr>
            <a:r>
              <a:rPr lang="en-US" sz="1100" dirty="0">
                <a:solidFill>
                  <a:schemeClr val="bg1"/>
                </a:solidFill>
              </a:rPr>
              <a:t>HOW</a:t>
            </a:r>
          </a:p>
        </p:txBody>
      </p:sp>
      <p:grpSp>
        <p:nvGrpSpPr>
          <p:cNvPr id="24" name="Group 37">
            <a:extLst>
              <a:ext uri="{FF2B5EF4-FFF2-40B4-BE49-F238E27FC236}">
                <a16:creationId xmlns:a16="http://schemas.microsoft.com/office/drawing/2014/main" id="{BCBD625D-5987-ABDE-7905-0A34C89EE9D9}"/>
              </a:ext>
            </a:extLst>
          </p:cNvPr>
          <p:cNvGrpSpPr/>
          <p:nvPr/>
        </p:nvGrpSpPr>
        <p:grpSpPr>
          <a:xfrm>
            <a:off x="11770322" y="176700"/>
            <a:ext cx="260230" cy="240782"/>
            <a:chOff x="5481638" y="2859088"/>
            <a:chExt cx="1231900" cy="1139825"/>
          </a:xfrm>
          <a:solidFill>
            <a:schemeClr val="tx2"/>
          </a:solidFill>
        </p:grpSpPr>
        <p:sp>
          <p:nvSpPr>
            <p:cNvPr id="25" name="Freeform 320">
              <a:extLst>
                <a:ext uri="{FF2B5EF4-FFF2-40B4-BE49-F238E27FC236}">
                  <a16:creationId xmlns:a16="http://schemas.microsoft.com/office/drawing/2014/main" id="{CB9095B4-3DFA-E01E-EBBA-A64A119A2435}"/>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6" name="Freeform 321">
              <a:extLst>
                <a:ext uri="{FF2B5EF4-FFF2-40B4-BE49-F238E27FC236}">
                  <a16:creationId xmlns:a16="http://schemas.microsoft.com/office/drawing/2014/main" id="{ED444337-04BD-B18F-943A-53A8052CAEBF}"/>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7" name="Rounded Rectangle 26">
            <a:extLst>
              <a:ext uri="{FF2B5EF4-FFF2-40B4-BE49-F238E27FC236}">
                <a16:creationId xmlns:a16="http://schemas.microsoft.com/office/drawing/2014/main" id="{863B91BB-9D71-DE85-3294-6EF2B2CF08E0}"/>
              </a:ext>
            </a:extLst>
          </p:cNvPr>
          <p:cNvSpPr/>
          <p:nvPr/>
        </p:nvSpPr>
        <p:spPr>
          <a:xfrm>
            <a:off x="9592837" y="661225"/>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1" name="TextBox 30">
            <a:extLst>
              <a:ext uri="{FF2B5EF4-FFF2-40B4-BE49-F238E27FC236}">
                <a16:creationId xmlns:a16="http://schemas.microsoft.com/office/drawing/2014/main" id="{42BCF0F3-0E2E-F837-10C4-352B97FD2DB8}"/>
              </a:ext>
            </a:extLst>
          </p:cNvPr>
          <p:cNvSpPr txBox="1"/>
          <p:nvPr/>
        </p:nvSpPr>
        <p:spPr>
          <a:xfrm>
            <a:off x="9839717" y="646592"/>
            <a:ext cx="1090661" cy="263791"/>
          </a:xfrm>
          <a:prstGeom prst="rect">
            <a:avLst/>
          </a:prstGeom>
          <a:noFill/>
        </p:spPr>
        <p:txBody>
          <a:bodyPr vert="horz" wrap="none" lIns="90000" tIns="46800" rIns="90000" bIns="46800" rtlCol="0" anchor="ctr">
            <a:spAutoFit/>
          </a:bodyPr>
          <a:lstStyle/>
          <a:p>
            <a:pPr algn="l">
              <a:spcBef>
                <a:spcPct val="0"/>
              </a:spcBef>
            </a:pPr>
            <a:r>
              <a:rPr lang="en-US" sz="1100" dirty="0"/>
              <a:t>KPIs Impacted</a:t>
            </a:r>
          </a:p>
        </p:txBody>
      </p:sp>
      <p:sp>
        <p:nvSpPr>
          <p:cNvPr id="32" name="Rounded Rectangle 31">
            <a:extLst>
              <a:ext uri="{FF2B5EF4-FFF2-40B4-BE49-F238E27FC236}">
                <a16:creationId xmlns:a16="http://schemas.microsoft.com/office/drawing/2014/main" id="{C2303EE9-3969-ACA1-BD43-C4EA3992EAB8}"/>
              </a:ext>
            </a:extLst>
          </p:cNvPr>
          <p:cNvSpPr/>
          <p:nvPr/>
        </p:nvSpPr>
        <p:spPr>
          <a:xfrm>
            <a:off x="9575887" y="2873824"/>
            <a:ext cx="237744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3" name="TextBox 32">
            <a:extLst>
              <a:ext uri="{FF2B5EF4-FFF2-40B4-BE49-F238E27FC236}">
                <a16:creationId xmlns:a16="http://schemas.microsoft.com/office/drawing/2014/main" id="{630DAF87-00F5-ECF5-8767-99FD7B4932D2}"/>
              </a:ext>
            </a:extLst>
          </p:cNvPr>
          <p:cNvSpPr txBox="1"/>
          <p:nvPr/>
        </p:nvSpPr>
        <p:spPr>
          <a:xfrm>
            <a:off x="9780405" y="2851151"/>
            <a:ext cx="1209283" cy="263791"/>
          </a:xfrm>
          <a:prstGeom prst="rect">
            <a:avLst/>
          </a:prstGeom>
          <a:noFill/>
        </p:spPr>
        <p:txBody>
          <a:bodyPr vert="horz" wrap="none" lIns="90000" tIns="46800" rIns="90000" bIns="46800" rtlCol="0" anchor="ctr">
            <a:spAutoFit/>
          </a:bodyPr>
          <a:lstStyle/>
          <a:p>
            <a:pPr algn="l">
              <a:spcBef>
                <a:spcPct val="0"/>
              </a:spcBef>
            </a:pPr>
            <a:r>
              <a:rPr lang="en-US" sz="1100" dirty="0"/>
              <a:t>Business Impact</a:t>
            </a:r>
          </a:p>
        </p:txBody>
      </p:sp>
      <p:sp>
        <p:nvSpPr>
          <p:cNvPr id="37" name="Rounded Rectangle 36">
            <a:extLst>
              <a:ext uri="{FF2B5EF4-FFF2-40B4-BE49-F238E27FC236}">
                <a16:creationId xmlns:a16="http://schemas.microsoft.com/office/drawing/2014/main" id="{AC704906-FAC6-CC28-217C-0492D17700D9}"/>
              </a:ext>
            </a:extLst>
          </p:cNvPr>
          <p:cNvSpPr/>
          <p:nvPr/>
        </p:nvSpPr>
        <p:spPr>
          <a:xfrm>
            <a:off x="437452" y="4594934"/>
            <a:ext cx="31089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38" name="TextBox 37">
            <a:extLst>
              <a:ext uri="{FF2B5EF4-FFF2-40B4-BE49-F238E27FC236}">
                <a16:creationId xmlns:a16="http://schemas.microsoft.com/office/drawing/2014/main" id="{D2B81A26-9964-1A11-0A3A-5279DC076D6C}"/>
              </a:ext>
            </a:extLst>
          </p:cNvPr>
          <p:cNvSpPr txBox="1"/>
          <p:nvPr/>
        </p:nvSpPr>
        <p:spPr>
          <a:xfrm>
            <a:off x="619706" y="4562330"/>
            <a:ext cx="1422482" cy="263791"/>
          </a:xfrm>
          <a:prstGeom prst="rect">
            <a:avLst/>
          </a:prstGeom>
          <a:noFill/>
        </p:spPr>
        <p:txBody>
          <a:bodyPr vert="horz" wrap="none" lIns="90000" tIns="46800" rIns="90000" bIns="46800" rtlCol="0" anchor="ctr">
            <a:spAutoFit/>
          </a:bodyPr>
          <a:lstStyle/>
          <a:p>
            <a:pPr algn="l">
              <a:spcBef>
                <a:spcPct val="0"/>
              </a:spcBef>
            </a:pPr>
            <a:r>
              <a:rPr lang="en-US" sz="1100" dirty="0"/>
              <a:t>Functional Solution</a:t>
            </a:r>
          </a:p>
        </p:txBody>
      </p:sp>
      <p:sp>
        <p:nvSpPr>
          <p:cNvPr id="41" name="Rounded Rectangle 40">
            <a:extLst>
              <a:ext uri="{FF2B5EF4-FFF2-40B4-BE49-F238E27FC236}">
                <a16:creationId xmlns:a16="http://schemas.microsoft.com/office/drawing/2014/main" id="{BB98DFA7-B1BF-EDB6-6CD8-6A25440EFEE2}"/>
              </a:ext>
            </a:extLst>
          </p:cNvPr>
          <p:cNvSpPr/>
          <p:nvPr/>
        </p:nvSpPr>
        <p:spPr>
          <a:xfrm>
            <a:off x="3757722" y="674122"/>
            <a:ext cx="2262078"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39" name="TextBox 38">
            <a:extLst>
              <a:ext uri="{FF2B5EF4-FFF2-40B4-BE49-F238E27FC236}">
                <a16:creationId xmlns:a16="http://schemas.microsoft.com/office/drawing/2014/main" id="{61F9D499-C931-356B-50CE-FE7650D675B6}"/>
              </a:ext>
            </a:extLst>
          </p:cNvPr>
          <p:cNvSpPr txBox="1"/>
          <p:nvPr/>
        </p:nvSpPr>
        <p:spPr>
          <a:xfrm>
            <a:off x="3892490" y="637444"/>
            <a:ext cx="1593910" cy="263791"/>
          </a:xfrm>
          <a:prstGeom prst="rect">
            <a:avLst/>
          </a:prstGeom>
          <a:noFill/>
        </p:spPr>
        <p:txBody>
          <a:bodyPr vert="horz" wrap="square" lIns="90000" tIns="46800" rIns="90000" bIns="46800" rtlCol="0" anchor="ctr">
            <a:spAutoFit/>
          </a:bodyPr>
          <a:lstStyle/>
          <a:p>
            <a:pPr algn="l">
              <a:spcBef>
                <a:spcPct val="0"/>
              </a:spcBef>
            </a:pPr>
            <a:r>
              <a:rPr lang="en-US" sz="1100" dirty="0"/>
              <a:t>Business Challenges</a:t>
            </a:r>
          </a:p>
        </p:txBody>
      </p:sp>
      <p:sp>
        <p:nvSpPr>
          <p:cNvPr id="49" name="Rounded Rectangle 48">
            <a:extLst>
              <a:ext uri="{FF2B5EF4-FFF2-40B4-BE49-F238E27FC236}">
                <a16:creationId xmlns:a16="http://schemas.microsoft.com/office/drawing/2014/main" id="{392F7412-4824-43D8-B880-447809FF3874}"/>
              </a:ext>
            </a:extLst>
          </p:cNvPr>
          <p:cNvSpPr/>
          <p:nvPr/>
        </p:nvSpPr>
        <p:spPr>
          <a:xfrm>
            <a:off x="3657600" y="4575762"/>
            <a:ext cx="347472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0" name="TextBox 49">
            <a:extLst>
              <a:ext uri="{FF2B5EF4-FFF2-40B4-BE49-F238E27FC236}">
                <a16:creationId xmlns:a16="http://schemas.microsoft.com/office/drawing/2014/main" id="{E8659E0E-D1DB-0C16-AB8F-4E27AAE2CD22}"/>
              </a:ext>
            </a:extLst>
          </p:cNvPr>
          <p:cNvSpPr txBox="1"/>
          <p:nvPr/>
        </p:nvSpPr>
        <p:spPr>
          <a:xfrm>
            <a:off x="3909056" y="4561129"/>
            <a:ext cx="1348744" cy="263791"/>
          </a:xfrm>
          <a:prstGeom prst="rect">
            <a:avLst/>
          </a:prstGeom>
          <a:noFill/>
        </p:spPr>
        <p:txBody>
          <a:bodyPr vert="horz" wrap="none" lIns="90000" tIns="46800" rIns="90000" bIns="46800" rtlCol="0" anchor="ctr">
            <a:spAutoFit/>
          </a:bodyPr>
          <a:lstStyle/>
          <a:p>
            <a:pPr algn="l">
              <a:spcBef>
                <a:spcPct val="0"/>
              </a:spcBef>
            </a:pPr>
            <a:r>
              <a:rPr lang="en-US" sz="1100"/>
              <a:t>Technical Solution</a:t>
            </a:r>
          </a:p>
        </p:txBody>
      </p:sp>
      <p:cxnSp>
        <p:nvCxnSpPr>
          <p:cNvPr id="51" name="Straight Connector 50">
            <a:extLst>
              <a:ext uri="{FF2B5EF4-FFF2-40B4-BE49-F238E27FC236}">
                <a16:creationId xmlns:a16="http://schemas.microsoft.com/office/drawing/2014/main" id="{AC51E32A-5104-AB8F-9EBC-85EB2204E734}"/>
              </a:ext>
            </a:extLst>
          </p:cNvPr>
          <p:cNvCxnSpPr>
            <a:cxnSpLocks/>
          </p:cNvCxnSpPr>
          <p:nvPr/>
        </p:nvCxnSpPr>
        <p:spPr>
          <a:xfrm>
            <a:off x="3581400" y="4863533"/>
            <a:ext cx="0" cy="137160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53" name="Rounded Rectangle 52">
            <a:extLst>
              <a:ext uri="{FF2B5EF4-FFF2-40B4-BE49-F238E27FC236}">
                <a16:creationId xmlns:a16="http://schemas.microsoft.com/office/drawing/2014/main" id="{70AEA542-5BB8-6FFB-3A18-C6DEB1C18564}"/>
              </a:ext>
            </a:extLst>
          </p:cNvPr>
          <p:cNvSpPr/>
          <p:nvPr/>
        </p:nvSpPr>
        <p:spPr>
          <a:xfrm>
            <a:off x="6172200" y="673791"/>
            <a:ext cx="292608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55" name="TextBox 54">
            <a:extLst>
              <a:ext uri="{FF2B5EF4-FFF2-40B4-BE49-F238E27FC236}">
                <a16:creationId xmlns:a16="http://schemas.microsoft.com/office/drawing/2014/main" id="{188D893F-C300-3865-D6C1-F4A96916587D}"/>
              </a:ext>
            </a:extLst>
          </p:cNvPr>
          <p:cNvSpPr txBox="1"/>
          <p:nvPr/>
        </p:nvSpPr>
        <p:spPr>
          <a:xfrm>
            <a:off x="6475926" y="671900"/>
            <a:ext cx="1525074" cy="263791"/>
          </a:xfrm>
          <a:prstGeom prst="rect">
            <a:avLst/>
          </a:prstGeom>
          <a:noFill/>
        </p:spPr>
        <p:txBody>
          <a:bodyPr vert="horz" wrap="none" lIns="90000" tIns="46800" rIns="90000" bIns="46800" rtlCol="0" anchor="ctr">
            <a:spAutoFit/>
          </a:bodyPr>
          <a:lstStyle/>
          <a:p>
            <a:pPr algn="l">
              <a:spcBef>
                <a:spcPct val="0"/>
              </a:spcBef>
            </a:pPr>
            <a:r>
              <a:rPr lang="en-US" sz="1100" dirty="0"/>
              <a:t>Use Case Description</a:t>
            </a:r>
          </a:p>
        </p:txBody>
      </p:sp>
      <p:cxnSp>
        <p:nvCxnSpPr>
          <p:cNvPr id="56" name="Straight Connector 55">
            <a:extLst>
              <a:ext uri="{FF2B5EF4-FFF2-40B4-BE49-F238E27FC236}">
                <a16:creationId xmlns:a16="http://schemas.microsoft.com/office/drawing/2014/main" id="{E1B55769-E7F5-AEBF-1338-E94DBF7FBCB1}"/>
              </a:ext>
            </a:extLst>
          </p:cNvPr>
          <p:cNvCxnSpPr>
            <a:cxnSpLocks/>
          </p:cNvCxnSpPr>
          <p:nvPr/>
        </p:nvCxnSpPr>
        <p:spPr>
          <a:xfrm>
            <a:off x="6147931" y="1271049"/>
            <a:ext cx="0" cy="2718124"/>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61" name="Rounded Rectangle 60">
            <a:extLst>
              <a:ext uri="{FF2B5EF4-FFF2-40B4-BE49-F238E27FC236}">
                <a16:creationId xmlns:a16="http://schemas.microsoft.com/office/drawing/2014/main" id="{56EB4857-71BC-0F5D-8D31-5A71D2C9EEEF}"/>
              </a:ext>
            </a:extLst>
          </p:cNvPr>
          <p:cNvSpPr/>
          <p:nvPr/>
        </p:nvSpPr>
        <p:spPr>
          <a:xfrm>
            <a:off x="7543123" y="4588418"/>
            <a:ext cx="1737360" cy="263791"/>
          </a:xfrm>
          <a:prstGeom prst="roundRect">
            <a:avLst>
              <a:gd name="adj" fmla="val 50000"/>
            </a:avLst>
          </a:prstGeom>
          <a:solidFill>
            <a:schemeClr val="bg2">
              <a:lumMod val="85000"/>
            </a:schemeClr>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62" name="TextBox 61">
            <a:extLst>
              <a:ext uri="{FF2B5EF4-FFF2-40B4-BE49-F238E27FC236}">
                <a16:creationId xmlns:a16="http://schemas.microsoft.com/office/drawing/2014/main" id="{7347736D-D728-ACA8-2C08-C23ADF0FA6B9}"/>
              </a:ext>
            </a:extLst>
          </p:cNvPr>
          <p:cNvSpPr txBox="1"/>
          <p:nvPr/>
        </p:nvSpPr>
        <p:spPr>
          <a:xfrm>
            <a:off x="7819071" y="4573785"/>
            <a:ext cx="1020129" cy="263791"/>
          </a:xfrm>
          <a:prstGeom prst="rect">
            <a:avLst/>
          </a:prstGeom>
          <a:noFill/>
        </p:spPr>
        <p:txBody>
          <a:bodyPr vert="horz" wrap="none" lIns="90000" tIns="46800" rIns="90000" bIns="46800" rtlCol="0" anchor="ctr">
            <a:spAutoFit/>
          </a:bodyPr>
          <a:lstStyle/>
          <a:p>
            <a:pPr algn="l">
              <a:spcBef>
                <a:spcPct val="0"/>
              </a:spcBef>
            </a:pPr>
            <a:r>
              <a:rPr lang="en-US" sz="1100" dirty="0"/>
              <a:t>Stakeholders</a:t>
            </a:r>
          </a:p>
        </p:txBody>
      </p:sp>
      <p:sp>
        <p:nvSpPr>
          <p:cNvPr id="3" name="TextBox 2">
            <a:extLst>
              <a:ext uri="{FF2B5EF4-FFF2-40B4-BE49-F238E27FC236}">
                <a16:creationId xmlns:a16="http://schemas.microsoft.com/office/drawing/2014/main" id="{24922FAE-5875-4458-D774-D48AED43DDDB}"/>
              </a:ext>
            </a:extLst>
          </p:cNvPr>
          <p:cNvSpPr txBox="1"/>
          <p:nvPr/>
        </p:nvSpPr>
        <p:spPr>
          <a:xfrm>
            <a:off x="273990" y="1823027"/>
            <a:ext cx="3203220" cy="1140954"/>
          </a:xfrm>
          <a:prstGeom prst="rect">
            <a:avLst/>
          </a:prstGeom>
          <a:noFill/>
        </p:spPr>
        <p:txBody>
          <a:bodyPr vert="horz" wrap="square" lIns="90000" tIns="46800" rIns="90000" bIns="46800" rtlCol="0" anchor="ctr">
            <a:spAutoFit/>
          </a:bodyPr>
          <a:lstStyle/>
          <a:p>
            <a:pPr>
              <a:spcBef>
                <a:spcPct val="0"/>
              </a:spcBef>
            </a:pPr>
            <a:r>
              <a:rPr lang="en-IE" b="1" dirty="0">
                <a:solidFill>
                  <a:schemeClr val="bg1"/>
                </a:solidFill>
              </a:rPr>
              <a:t>AI-Enabled Clinical Workflow &amp; Patient Interaction Automation </a:t>
            </a:r>
            <a:endParaRPr lang="en-IE" dirty="0">
              <a:solidFill>
                <a:schemeClr val="bg1"/>
              </a:solidFill>
            </a:endParaRPr>
          </a:p>
          <a:p>
            <a:pPr algn="l">
              <a:spcBef>
                <a:spcPct val="0"/>
              </a:spcBef>
            </a:pPr>
            <a:endParaRPr lang="en-IE" sz="1400" dirty="0"/>
          </a:p>
        </p:txBody>
      </p:sp>
      <p:sp>
        <p:nvSpPr>
          <p:cNvPr id="6" name="TextBox 5">
            <a:extLst>
              <a:ext uri="{FF2B5EF4-FFF2-40B4-BE49-F238E27FC236}">
                <a16:creationId xmlns:a16="http://schemas.microsoft.com/office/drawing/2014/main" id="{67CB6521-14F4-C31A-4CF6-5FF8C0B24811}"/>
              </a:ext>
            </a:extLst>
          </p:cNvPr>
          <p:cNvSpPr txBox="1"/>
          <p:nvPr/>
        </p:nvSpPr>
        <p:spPr>
          <a:xfrm>
            <a:off x="3550987" y="1049833"/>
            <a:ext cx="2438397" cy="1325620"/>
          </a:xfrm>
          <a:prstGeom prst="rect">
            <a:avLst/>
          </a:prstGeom>
          <a:noFill/>
        </p:spPr>
        <p:txBody>
          <a:bodyPr vert="horz" wrap="square" lIns="90000" tIns="46800" rIns="90000" bIns="46800" rtlCol="0" anchor="ctr">
            <a:spAutoFit/>
          </a:bodyPr>
          <a:lstStyle/>
          <a:p>
            <a:pPr marL="285750" indent="-285750" algn="l">
              <a:spcBef>
                <a:spcPct val="0"/>
              </a:spcBef>
              <a:buFont typeface="Arial" panose="020B0604020202020204" pitchFamily="34" charset="0"/>
              <a:buChar char="•"/>
            </a:pPr>
            <a:r>
              <a:rPr lang="en-US" sz="1000" dirty="0"/>
              <a:t>High Administrative Overload</a:t>
            </a:r>
          </a:p>
          <a:p>
            <a:pPr marL="285750" indent="-285750" algn="l">
              <a:spcBef>
                <a:spcPct val="0"/>
              </a:spcBef>
              <a:buFont typeface="Arial" panose="020B0604020202020204" pitchFamily="34" charset="0"/>
              <a:buChar char="•"/>
            </a:pPr>
            <a:r>
              <a:rPr lang="en-US" sz="1000" dirty="0"/>
              <a:t>Slow Patient Service and Delayed Response Times</a:t>
            </a:r>
          </a:p>
          <a:p>
            <a:pPr marL="285750" indent="-285750" algn="l">
              <a:spcBef>
                <a:spcPct val="0"/>
              </a:spcBef>
              <a:buFont typeface="Arial" panose="020B0604020202020204" pitchFamily="34" charset="0"/>
              <a:buChar char="•"/>
            </a:pPr>
            <a:r>
              <a:rPr lang="en-US" sz="1000" dirty="0"/>
              <a:t>Fragmented Communication across the Channels</a:t>
            </a:r>
          </a:p>
          <a:p>
            <a:pPr marL="285750" indent="-285750" algn="l">
              <a:spcBef>
                <a:spcPct val="0"/>
              </a:spcBef>
              <a:buFont typeface="Arial" panose="020B0604020202020204" pitchFamily="34" charset="0"/>
              <a:buChar char="•"/>
            </a:pPr>
            <a:r>
              <a:rPr lang="en-US" sz="1000" dirty="0"/>
              <a:t>Inconsistent and Error-Prone Documentation.</a:t>
            </a:r>
          </a:p>
          <a:p>
            <a:pPr marL="285750" indent="-285750" algn="l">
              <a:spcBef>
                <a:spcPct val="0"/>
              </a:spcBef>
              <a:buFont typeface="Arial" panose="020B0604020202020204" pitchFamily="34" charset="0"/>
              <a:buChar char="•"/>
            </a:pPr>
            <a:r>
              <a:rPr lang="en-US" sz="1000" dirty="0"/>
              <a:t>Rising Operational Costs.</a:t>
            </a:r>
          </a:p>
        </p:txBody>
      </p:sp>
      <p:sp>
        <p:nvSpPr>
          <p:cNvPr id="8" name="TextBox 7">
            <a:extLst>
              <a:ext uri="{FF2B5EF4-FFF2-40B4-BE49-F238E27FC236}">
                <a16:creationId xmlns:a16="http://schemas.microsoft.com/office/drawing/2014/main" id="{CB07AE31-E2C9-1EF9-EBD4-F9A34BAB7ECE}"/>
              </a:ext>
            </a:extLst>
          </p:cNvPr>
          <p:cNvSpPr txBox="1"/>
          <p:nvPr/>
        </p:nvSpPr>
        <p:spPr>
          <a:xfrm>
            <a:off x="6318504" y="1195762"/>
            <a:ext cx="3125162" cy="1787285"/>
          </a:xfrm>
          <a:prstGeom prst="rect">
            <a:avLst/>
          </a:prstGeom>
          <a:noFill/>
        </p:spPr>
        <p:txBody>
          <a:bodyPr vert="horz" wrap="square" lIns="90000" tIns="46800" rIns="90000" bIns="46800" rtlCol="0" anchor="ctr">
            <a:spAutoFit/>
          </a:bodyPr>
          <a:lstStyle/>
          <a:p>
            <a:pPr>
              <a:spcBef>
                <a:spcPct val="0"/>
              </a:spcBef>
            </a:pPr>
            <a:r>
              <a:rPr lang="en-IN" sz="1000" dirty="0"/>
              <a:t>The Medical AI Assistant aims to streamline clinical workflows by automating routine administrative and documentation tasks using Microsoft 365 Copilot, Copilot Studio, and Power Platform.</a:t>
            </a:r>
            <a:br>
              <a:rPr lang="en-IN" sz="1000" dirty="0"/>
            </a:br>
            <a:r>
              <a:rPr lang="en-IN" sz="1000" dirty="0"/>
              <a:t>Healthcare providers currently spend a significant portion of their time on manual data entry, patient communication, and paperwork—leading to slower service, increased operational costs, and clinician burnout.</a:t>
            </a:r>
          </a:p>
          <a:p>
            <a:pPr>
              <a:spcBef>
                <a:spcPct val="0"/>
              </a:spcBef>
            </a:pPr>
            <a:endParaRPr lang="en-IE" sz="1000" dirty="0"/>
          </a:p>
          <a:p>
            <a:pPr algn="l">
              <a:spcBef>
                <a:spcPct val="0"/>
              </a:spcBef>
            </a:pPr>
            <a:endParaRPr lang="en-IE" sz="1000" dirty="0"/>
          </a:p>
        </p:txBody>
      </p:sp>
      <p:sp>
        <p:nvSpPr>
          <p:cNvPr id="10" name="TextBox 9">
            <a:extLst>
              <a:ext uri="{FF2B5EF4-FFF2-40B4-BE49-F238E27FC236}">
                <a16:creationId xmlns:a16="http://schemas.microsoft.com/office/drawing/2014/main" id="{4B0E1856-D01F-9436-16BF-533D409F3CA8}"/>
              </a:ext>
            </a:extLst>
          </p:cNvPr>
          <p:cNvSpPr txBox="1"/>
          <p:nvPr/>
        </p:nvSpPr>
        <p:spPr>
          <a:xfrm>
            <a:off x="9614238" y="969557"/>
            <a:ext cx="2300738" cy="1941173"/>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1000" b="1" dirty="0"/>
              <a:t>25–35% decrease</a:t>
            </a:r>
            <a:r>
              <a:rPr lang="en-IN" sz="1000" dirty="0"/>
              <a:t> in time spent on documentation, emails, referrals, and follow‑ups.</a:t>
            </a:r>
          </a:p>
          <a:p>
            <a:pPr marL="171450" indent="-171450">
              <a:spcBef>
                <a:spcPct val="0"/>
              </a:spcBef>
              <a:buFont typeface="Arial" panose="020B0604020202020204" pitchFamily="34" charset="0"/>
              <a:buChar char="•"/>
            </a:pPr>
            <a:endParaRPr lang="en-IN" sz="1000" dirty="0"/>
          </a:p>
          <a:p>
            <a:pPr marL="171450" indent="-171450">
              <a:spcBef>
                <a:spcPct val="0"/>
              </a:spcBef>
              <a:buFont typeface="Arial" panose="020B0604020202020204" pitchFamily="34" charset="0"/>
              <a:buChar char="•"/>
            </a:pPr>
            <a:r>
              <a:rPr lang="en-IN" sz="1000" b="1" dirty="0"/>
              <a:t>40–60% reduction</a:t>
            </a:r>
            <a:r>
              <a:rPr lang="en-IN" sz="1000" dirty="0"/>
              <a:t> in errors or missing clinical details</a:t>
            </a:r>
          </a:p>
          <a:p>
            <a:pPr>
              <a:spcBef>
                <a:spcPct val="0"/>
              </a:spcBef>
            </a:pPr>
            <a:endParaRPr lang="en-IN" sz="1000" dirty="0"/>
          </a:p>
          <a:p>
            <a:pPr marL="171450" indent="-171450">
              <a:spcBef>
                <a:spcPct val="0"/>
              </a:spcBef>
              <a:buFont typeface="Arial" panose="020B0604020202020204" pitchFamily="34" charset="0"/>
              <a:buChar char="•"/>
            </a:pPr>
            <a:r>
              <a:rPr lang="en-IN" sz="1000" b="1" dirty="0"/>
              <a:t>20–30% improvement</a:t>
            </a:r>
            <a:r>
              <a:rPr lang="en-IN" sz="1000" dirty="0"/>
              <a:t> in turnaround time for patient queries, appointment scheduling, and triage</a:t>
            </a:r>
          </a:p>
          <a:p>
            <a:pPr marL="171450" indent="-171450">
              <a:spcBef>
                <a:spcPct val="0"/>
              </a:spcBef>
              <a:buFont typeface="Arial" panose="020B0604020202020204" pitchFamily="34" charset="0"/>
              <a:buChar char="•"/>
            </a:pPr>
            <a:endParaRPr lang="en-IN" sz="1000" dirty="0"/>
          </a:p>
        </p:txBody>
      </p:sp>
      <p:sp>
        <p:nvSpPr>
          <p:cNvPr id="13" name="TextBox 12">
            <a:extLst>
              <a:ext uri="{FF2B5EF4-FFF2-40B4-BE49-F238E27FC236}">
                <a16:creationId xmlns:a16="http://schemas.microsoft.com/office/drawing/2014/main" id="{4E3FF759-FF77-AD7A-042C-7DA4B5563EBA}"/>
              </a:ext>
            </a:extLst>
          </p:cNvPr>
          <p:cNvSpPr txBox="1"/>
          <p:nvPr/>
        </p:nvSpPr>
        <p:spPr>
          <a:xfrm>
            <a:off x="9620970" y="3359710"/>
            <a:ext cx="2287274" cy="2402838"/>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IN" sz="1000" b="1" dirty="0"/>
              <a:t>Reduced Administrative Burden</a:t>
            </a:r>
          </a:p>
          <a:p>
            <a:pPr>
              <a:spcBef>
                <a:spcPct val="0"/>
              </a:spcBef>
            </a:pPr>
            <a:endParaRPr lang="en-IN" sz="1000" b="1" dirty="0"/>
          </a:p>
          <a:p>
            <a:pPr marL="285750" indent="-285750">
              <a:spcBef>
                <a:spcPct val="0"/>
              </a:spcBef>
              <a:buFont typeface="Arial" panose="020B0604020202020204" pitchFamily="34" charset="0"/>
              <a:buChar char="•"/>
            </a:pPr>
            <a:r>
              <a:rPr lang="en-IN" sz="1000" b="1" dirty="0"/>
              <a:t>Faster and More Efficient Patient Service</a:t>
            </a:r>
          </a:p>
          <a:p>
            <a:pPr marL="285750" indent="-285750">
              <a:spcBef>
                <a:spcPct val="0"/>
              </a:spcBef>
              <a:buFont typeface="Arial" panose="020B0604020202020204" pitchFamily="34" charset="0"/>
              <a:buChar char="•"/>
            </a:pPr>
            <a:endParaRPr lang="en-IN" sz="1000" b="1" dirty="0"/>
          </a:p>
          <a:p>
            <a:pPr marL="285750" indent="-285750">
              <a:spcBef>
                <a:spcPct val="0"/>
              </a:spcBef>
              <a:buFont typeface="Arial" panose="020B0604020202020204" pitchFamily="34" charset="0"/>
              <a:buChar char="•"/>
            </a:pPr>
            <a:r>
              <a:rPr lang="en-IN" sz="1000" b="1" dirty="0"/>
              <a:t>Improved Quality and Accuracy of Medical Documentation</a:t>
            </a:r>
          </a:p>
          <a:p>
            <a:pPr marL="285750" indent="-285750">
              <a:spcBef>
                <a:spcPct val="0"/>
              </a:spcBef>
              <a:buFont typeface="Arial" panose="020B0604020202020204" pitchFamily="34" charset="0"/>
              <a:buChar char="•"/>
            </a:pPr>
            <a:endParaRPr lang="en-IN" sz="1000" b="1" dirty="0"/>
          </a:p>
          <a:p>
            <a:pPr marL="285750" indent="-285750">
              <a:spcBef>
                <a:spcPct val="0"/>
              </a:spcBef>
              <a:buFont typeface="Arial" panose="020B0604020202020204" pitchFamily="34" charset="0"/>
              <a:buChar char="•"/>
            </a:pPr>
            <a:r>
              <a:rPr lang="en-IN" sz="1000" b="1" dirty="0"/>
              <a:t>Higher Patient Satisfaction and Engagement</a:t>
            </a:r>
          </a:p>
          <a:p>
            <a:pPr marL="285750" indent="-285750">
              <a:spcBef>
                <a:spcPct val="0"/>
              </a:spcBef>
              <a:buFont typeface="Arial" panose="020B0604020202020204" pitchFamily="34" charset="0"/>
              <a:buChar char="•"/>
            </a:pPr>
            <a:endParaRPr lang="en-IN" sz="1000" b="1" dirty="0"/>
          </a:p>
          <a:p>
            <a:pPr marL="285750" indent="-285750">
              <a:spcBef>
                <a:spcPct val="0"/>
              </a:spcBef>
              <a:buFont typeface="Arial" panose="020B0604020202020204" pitchFamily="34" charset="0"/>
              <a:buChar char="•"/>
            </a:pPr>
            <a:r>
              <a:rPr lang="en-IN" sz="1000" b="1" dirty="0"/>
              <a:t>Operational Cost Savings</a:t>
            </a:r>
          </a:p>
          <a:p>
            <a:pPr marL="285750" indent="-285750">
              <a:spcBef>
                <a:spcPct val="0"/>
              </a:spcBef>
              <a:buFont typeface="Arial" panose="020B0604020202020204" pitchFamily="34" charset="0"/>
              <a:buChar char="•"/>
            </a:pPr>
            <a:endParaRPr lang="en-IN" sz="1000" dirty="0"/>
          </a:p>
        </p:txBody>
      </p:sp>
      <p:sp>
        <p:nvSpPr>
          <p:cNvPr id="23" name="TextBox 22">
            <a:extLst>
              <a:ext uri="{FF2B5EF4-FFF2-40B4-BE49-F238E27FC236}">
                <a16:creationId xmlns:a16="http://schemas.microsoft.com/office/drawing/2014/main" id="{5257A8C0-B8C1-B77F-192E-4D7C5608D27F}"/>
              </a:ext>
            </a:extLst>
          </p:cNvPr>
          <p:cNvSpPr txBox="1"/>
          <p:nvPr/>
        </p:nvSpPr>
        <p:spPr>
          <a:xfrm>
            <a:off x="382800" y="4811034"/>
            <a:ext cx="3403486" cy="2095062"/>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IN" sz="1000" b="1" dirty="0"/>
              <a:t>Inbound Patient &amp; Staff Interactions</a:t>
            </a:r>
          </a:p>
          <a:p>
            <a:pPr marL="285750" indent="-285750">
              <a:spcBef>
                <a:spcPct val="0"/>
              </a:spcBef>
              <a:buFont typeface="Arial" panose="020B0604020202020204" pitchFamily="34" charset="0"/>
              <a:buChar char="•"/>
            </a:pPr>
            <a:r>
              <a:rPr lang="en-IN" sz="1000" b="1" dirty="0"/>
              <a:t>AI Understanding &amp; Intent Processing (Copilot + LLM Layer).</a:t>
            </a:r>
          </a:p>
          <a:p>
            <a:pPr marL="285750" indent="-285750">
              <a:spcBef>
                <a:spcPct val="0"/>
              </a:spcBef>
              <a:buFont typeface="Arial" panose="020B0604020202020204" pitchFamily="34" charset="0"/>
              <a:buChar char="•"/>
            </a:pPr>
            <a:r>
              <a:rPr lang="en-IN" sz="1000" b="1" dirty="0"/>
              <a:t>Automated Clinical Documentation</a:t>
            </a:r>
          </a:p>
          <a:p>
            <a:pPr marL="285750" indent="-285750">
              <a:spcBef>
                <a:spcPct val="0"/>
              </a:spcBef>
              <a:buFont typeface="Arial" panose="020B0604020202020204" pitchFamily="34" charset="0"/>
              <a:buChar char="•"/>
            </a:pPr>
            <a:r>
              <a:rPr lang="en-IN" sz="1000" b="1" dirty="0"/>
              <a:t>Appointment, Referral &amp; Coordination Automation</a:t>
            </a:r>
          </a:p>
          <a:p>
            <a:pPr marL="285750" indent="-285750">
              <a:spcBef>
                <a:spcPct val="0"/>
              </a:spcBef>
              <a:buFont typeface="Arial" panose="020B0604020202020204" pitchFamily="34" charset="0"/>
              <a:buChar char="•"/>
            </a:pPr>
            <a:r>
              <a:rPr lang="en-IN" sz="1000" b="1" dirty="0"/>
              <a:t>Virtual Patient Assistant (Copilot Studio Bot)</a:t>
            </a:r>
          </a:p>
          <a:p>
            <a:pPr marL="285750" indent="-285750">
              <a:spcBef>
                <a:spcPct val="0"/>
              </a:spcBef>
              <a:buFont typeface="Arial" panose="020B0604020202020204" pitchFamily="34" charset="0"/>
              <a:buChar char="•"/>
            </a:pPr>
            <a:r>
              <a:rPr lang="en-IN" sz="1000" b="1" dirty="0"/>
              <a:t>Internal Clinical Assistant (For Hospital Staff)</a:t>
            </a:r>
          </a:p>
          <a:p>
            <a:pPr marL="285750" indent="-285750">
              <a:spcBef>
                <a:spcPct val="0"/>
              </a:spcBef>
              <a:buFont typeface="Arial" panose="020B0604020202020204" pitchFamily="34" charset="0"/>
              <a:buChar char="•"/>
            </a:pPr>
            <a:r>
              <a:rPr lang="en-IN" sz="1000" b="1" dirty="0"/>
              <a:t>Decision Support (Non-Diagnostic)</a:t>
            </a:r>
            <a:endParaRPr lang="en-IN" sz="1000" dirty="0"/>
          </a:p>
          <a:p>
            <a:pPr marL="285750" indent="-285750">
              <a:spcBef>
                <a:spcPct val="0"/>
              </a:spcBef>
              <a:buFont typeface="Arial" panose="020B0604020202020204" pitchFamily="34" charset="0"/>
              <a:buChar char="•"/>
            </a:pPr>
            <a:r>
              <a:rPr lang="en-IN" sz="1000" b="1" dirty="0"/>
              <a:t>Backend Data &amp; Workflow Integration</a:t>
            </a:r>
            <a:endParaRPr lang="en-IN" sz="1000" dirty="0"/>
          </a:p>
          <a:p>
            <a:pPr marL="285750" indent="-285750">
              <a:spcBef>
                <a:spcPct val="0"/>
              </a:spcBef>
              <a:buFont typeface="Arial" panose="020B0604020202020204" pitchFamily="34" charset="0"/>
              <a:buChar char="•"/>
            </a:pPr>
            <a:endParaRPr lang="en-IN" sz="1000" dirty="0"/>
          </a:p>
          <a:p>
            <a:pPr marL="285750" indent="-285750">
              <a:spcBef>
                <a:spcPct val="0"/>
              </a:spcBef>
              <a:buFont typeface="Arial" panose="020B0604020202020204" pitchFamily="34" charset="0"/>
              <a:buChar char="•"/>
            </a:pPr>
            <a:endParaRPr lang="en-IN" sz="1000" dirty="0"/>
          </a:p>
          <a:p>
            <a:pPr marL="285750" indent="-285750">
              <a:spcBef>
                <a:spcPct val="0"/>
              </a:spcBef>
              <a:buFont typeface="Arial" panose="020B0604020202020204" pitchFamily="34" charset="0"/>
              <a:buChar char="•"/>
            </a:pPr>
            <a:endParaRPr lang="en-IN" sz="1000" dirty="0"/>
          </a:p>
        </p:txBody>
      </p:sp>
      <p:sp>
        <p:nvSpPr>
          <p:cNvPr id="34" name="TextBox 33">
            <a:extLst>
              <a:ext uri="{FF2B5EF4-FFF2-40B4-BE49-F238E27FC236}">
                <a16:creationId xmlns:a16="http://schemas.microsoft.com/office/drawing/2014/main" id="{50143FF3-4F2A-9B50-FAB7-7CF74999FF09}"/>
              </a:ext>
            </a:extLst>
          </p:cNvPr>
          <p:cNvSpPr txBox="1"/>
          <p:nvPr/>
        </p:nvSpPr>
        <p:spPr>
          <a:xfrm>
            <a:off x="3752636" y="4934919"/>
            <a:ext cx="3459528" cy="1633397"/>
          </a:xfrm>
          <a:prstGeom prst="rect">
            <a:avLst/>
          </a:prstGeom>
          <a:noFill/>
        </p:spPr>
        <p:txBody>
          <a:bodyPr vert="horz" wrap="square" lIns="90000" tIns="46800" rIns="90000" bIns="46800" rtlCol="0" anchor="ctr">
            <a:spAutoFit/>
          </a:bodyPr>
          <a:lstStyle/>
          <a:p>
            <a:pPr marL="285750" indent="-285750">
              <a:spcBef>
                <a:spcPct val="0"/>
              </a:spcBef>
              <a:buFont typeface="Arial" panose="020B0604020202020204" pitchFamily="34" charset="0"/>
              <a:buChar char="•"/>
            </a:pPr>
            <a:r>
              <a:rPr lang="en-IN" sz="1000" b="1" dirty="0"/>
              <a:t>M365 Copilot</a:t>
            </a:r>
            <a:r>
              <a:rPr lang="en-IN" sz="1000" dirty="0"/>
              <a:t> – Summaries, drafting, knowledge answers</a:t>
            </a:r>
          </a:p>
          <a:p>
            <a:pPr marL="285750" indent="-285750">
              <a:spcBef>
                <a:spcPct val="0"/>
              </a:spcBef>
              <a:buFont typeface="Arial" panose="020B0604020202020204" pitchFamily="34" charset="0"/>
              <a:buChar char="•"/>
            </a:pPr>
            <a:r>
              <a:rPr lang="en-IN" sz="1000" b="1" dirty="0"/>
              <a:t>Copilot Studio</a:t>
            </a:r>
            <a:r>
              <a:rPr lang="en-IN" sz="1000" dirty="0"/>
              <a:t> – Virtual assistant, orchestration</a:t>
            </a:r>
          </a:p>
          <a:p>
            <a:pPr marL="285750" indent="-285750">
              <a:spcBef>
                <a:spcPct val="0"/>
              </a:spcBef>
              <a:buFont typeface="Arial" panose="020B0604020202020204" pitchFamily="34" charset="0"/>
              <a:buChar char="•"/>
            </a:pPr>
            <a:r>
              <a:rPr lang="en-IN" sz="1000" b="1" dirty="0"/>
              <a:t>Power Platform (Power Automate + Power Apps + AI Builder)</a:t>
            </a:r>
            <a:r>
              <a:rPr lang="en-IN" sz="1000" dirty="0"/>
              <a:t> – Workflows, apps, extraction</a:t>
            </a:r>
          </a:p>
          <a:p>
            <a:pPr marL="285750" indent="-285750">
              <a:spcBef>
                <a:spcPct val="0"/>
              </a:spcBef>
              <a:buFont typeface="Arial" panose="020B0604020202020204" pitchFamily="34" charset="0"/>
              <a:buChar char="•"/>
            </a:pPr>
            <a:r>
              <a:rPr lang="en-IN" sz="1000" b="1" dirty="0"/>
              <a:t>Azure OpenAI</a:t>
            </a:r>
            <a:r>
              <a:rPr lang="en-IN" sz="1000" dirty="0"/>
              <a:t> – LLM intelligence layer</a:t>
            </a:r>
          </a:p>
          <a:p>
            <a:pPr marL="285750" indent="-285750">
              <a:spcBef>
                <a:spcPct val="0"/>
              </a:spcBef>
              <a:buFont typeface="Arial" panose="020B0604020202020204" pitchFamily="34" charset="0"/>
              <a:buChar char="•"/>
            </a:pPr>
            <a:r>
              <a:rPr lang="en-IN" sz="1000" b="1" dirty="0"/>
              <a:t>Microsoft Fabric</a:t>
            </a:r>
            <a:r>
              <a:rPr lang="en-IN" sz="1000" dirty="0"/>
              <a:t> – Data/analytics</a:t>
            </a:r>
          </a:p>
          <a:p>
            <a:pPr marL="285750" indent="-285750">
              <a:spcBef>
                <a:spcPct val="0"/>
              </a:spcBef>
              <a:buFont typeface="Arial" panose="020B0604020202020204" pitchFamily="34" charset="0"/>
              <a:buChar char="•"/>
            </a:pPr>
            <a:r>
              <a:rPr lang="en-IN" sz="1000" b="1" dirty="0"/>
              <a:t>Microsoft Entra ID</a:t>
            </a:r>
            <a:r>
              <a:rPr lang="en-IN" sz="1000" dirty="0"/>
              <a:t> – Security &amp; identity</a:t>
            </a:r>
          </a:p>
          <a:p>
            <a:pPr marL="285750" indent="-285750">
              <a:spcBef>
                <a:spcPct val="0"/>
              </a:spcBef>
              <a:buFont typeface="Arial" panose="020B0604020202020204" pitchFamily="34" charset="0"/>
              <a:buChar char="•"/>
            </a:pPr>
            <a:endParaRPr lang="en-IN" sz="1000" dirty="0"/>
          </a:p>
          <a:p>
            <a:pPr algn="l">
              <a:spcBef>
                <a:spcPct val="0"/>
              </a:spcBef>
            </a:pPr>
            <a:endParaRPr lang="en-IN" sz="1000" dirty="0" err="1"/>
          </a:p>
        </p:txBody>
      </p:sp>
      <p:sp>
        <p:nvSpPr>
          <p:cNvPr id="35" name="TextBox 34">
            <a:extLst>
              <a:ext uri="{FF2B5EF4-FFF2-40B4-BE49-F238E27FC236}">
                <a16:creationId xmlns:a16="http://schemas.microsoft.com/office/drawing/2014/main" id="{05DB5F41-AD4A-B4FB-F7E6-3163AE240CDF}"/>
              </a:ext>
            </a:extLst>
          </p:cNvPr>
          <p:cNvSpPr txBox="1"/>
          <p:nvPr/>
        </p:nvSpPr>
        <p:spPr>
          <a:xfrm>
            <a:off x="7627271" y="4928787"/>
            <a:ext cx="2468880" cy="1325620"/>
          </a:xfrm>
          <a:prstGeom prst="rect">
            <a:avLst/>
          </a:prstGeom>
          <a:noFill/>
        </p:spPr>
        <p:txBody>
          <a:bodyPr vert="horz" wrap="square" lIns="90000" tIns="46800" rIns="90000" bIns="46800" rtlCol="0" anchor="ctr">
            <a:spAutoFit/>
          </a:bodyPr>
          <a:lstStyle/>
          <a:p>
            <a:pPr marL="171450" indent="-171450">
              <a:spcBef>
                <a:spcPct val="0"/>
              </a:spcBef>
              <a:buFont typeface="Arial" panose="020B0604020202020204" pitchFamily="34" charset="0"/>
              <a:buChar char="•"/>
            </a:pPr>
            <a:r>
              <a:rPr lang="en-IN" sz="1000" b="1" dirty="0"/>
              <a:t>Clinicians</a:t>
            </a:r>
          </a:p>
          <a:p>
            <a:pPr marL="171450" indent="-171450">
              <a:spcBef>
                <a:spcPct val="0"/>
              </a:spcBef>
              <a:buFont typeface="Arial" panose="020B0604020202020204" pitchFamily="34" charset="0"/>
              <a:buChar char="•"/>
            </a:pPr>
            <a:r>
              <a:rPr lang="en-IN" sz="1000" b="1" dirty="0"/>
              <a:t>Nurses</a:t>
            </a:r>
            <a:r>
              <a:rPr lang="en-IN" sz="1000" dirty="0"/>
              <a:t> </a:t>
            </a:r>
          </a:p>
          <a:p>
            <a:pPr marL="171450" indent="-171450">
              <a:spcBef>
                <a:spcPct val="0"/>
              </a:spcBef>
              <a:buFont typeface="Arial" panose="020B0604020202020204" pitchFamily="34" charset="0"/>
              <a:buChar char="•"/>
            </a:pPr>
            <a:r>
              <a:rPr lang="en-IN" sz="1000" b="1" dirty="0"/>
              <a:t>Hospital Management</a:t>
            </a:r>
            <a:r>
              <a:rPr lang="en-IN" sz="1000" dirty="0"/>
              <a:t> </a:t>
            </a:r>
          </a:p>
          <a:p>
            <a:pPr marL="171450" indent="-171450">
              <a:spcBef>
                <a:spcPct val="0"/>
              </a:spcBef>
              <a:buFont typeface="Arial" panose="020B0604020202020204" pitchFamily="34" charset="0"/>
              <a:buChar char="•"/>
            </a:pPr>
            <a:r>
              <a:rPr lang="en-IN" sz="1000" b="1" dirty="0"/>
              <a:t>IT/Tech Teams</a:t>
            </a:r>
            <a:r>
              <a:rPr lang="en-IN" sz="1000" dirty="0"/>
              <a:t> </a:t>
            </a:r>
          </a:p>
          <a:p>
            <a:pPr marL="171450" indent="-171450">
              <a:spcBef>
                <a:spcPct val="0"/>
              </a:spcBef>
              <a:buFont typeface="Arial" panose="020B0604020202020204" pitchFamily="34" charset="0"/>
              <a:buChar char="•"/>
            </a:pPr>
            <a:r>
              <a:rPr lang="en-IN" sz="1000" b="1" dirty="0"/>
              <a:t>Patients</a:t>
            </a:r>
            <a:r>
              <a:rPr lang="en-IN" sz="1000" dirty="0"/>
              <a:t> </a:t>
            </a:r>
          </a:p>
          <a:p>
            <a:pPr marL="171450" indent="-171450">
              <a:spcBef>
                <a:spcPct val="0"/>
              </a:spcBef>
              <a:buFont typeface="Arial" panose="020B0604020202020204" pitchFamily="34" charset="0"/>
              <a:buChar char="•"/>
            </a:pPr>
            <a:r>
              <a:rPr lang="en-IN" sz="1000" b="1" dirty="0"/>
              <a:t>Labs/Radiology/Pharmacy</a:t>
            </a:r>
            <a:r>
              <a:rPr lang="en-IN" sz="1000" dirty="0"/>
              <a:t> </a:t>
            </a:r>
          </a:p>
          <a:p>
            <a:pPr marL="171450" indent="-171450">
              <a:spcBef>
                <a:spcPct val="0"/>
              </a:spcBef>
              <a:buFont typeface="Arial" panose="020B0604020202020204" pitchFamily="34" charset="0"/>
              <a:buChar char="•"/>
            </a:pPr>
            <a:r>
              <a:rPr lang="en-IN" sz="1000" b="1" dirty="0"/>
              <a:t>Microsoft Technology Teams</a:t>
            </a:r>
            <a:r>
              <a:rPr lang="en-IN" sz="1000" dirty="0"/>
              <a:t> </a:t>
            </a:r>
            <a:endParaRPr lang="en-IN" sz="1000" b="1" dirty="0"/>
          </a:p>
          <a:p>
            <a:pPr>
              <a:spcBef>
                <a:spcPct val="0"/>
              </a:spcBef>
            </a:pPr>
            <a:endParaRPr lang="en-IN" sz="1000" dirty="0" err="1"/>
          </a:p>
        </p:txBody>
      </p:sp>
    </p:spTree>
    <p:extLst>
      <p:ext uri="{BB962C8B-B14F-4D97-AF65-F5344CB8AC3E}">
        <p14:creationId xmlns:p14="http://schemas.microsoft.com/office/powerpoint/2010/main" val="4141162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BDFA47-3131-D41A-22C6-EEB2C4526BFF}"/>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B444B612-394F-EF2B-A1CE-A63FFD554AF0}"/>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286F9A-47A5-6B78-04AA-4A1D806EC6D7}"/>
              </a:ext>
            </a:extLst>
          </p:cNvPr>
          <p:cNvSpPr>
            <a:spLocks noGrp="1"/>
          </p:cNvSpPr>
          <p:nvPr>
            <p:ph type="sldNum" sz="quarter" idx="12"/>
          </p:nvPr>
        </p:nvSpPr>
        <p:spPr/>
        <p:txBody>
          <a:bodyPr/>
          <a:lstStyle/>
          <a:p>
            <a:pPr algn="r"/>
            <a:fld id="{5D9A5160-6218-4E5A-B9E6-B93E3DAE377C}" type="slidenum">
              <a:rPr lang="en-US" smtClean="0"/>
              <a:pPr algn="r"/>
              <a:t>2</a:t>
            </a:fld>
            <a:endParaRPr lang="en-US"/>
          </a:p>
        </p:txBody>
      </p:sp>
      <p:sp>
        <p:nvSpPr>
          <p:cNvPr id="5" name="Title 4">
            <a:extLst>
              <a:ext uri="{FF2B5EF4-FFF2-40B4-BE49-F238E27FC236}">
                <a16:creationId xmlns:a16="http://schemas.microsoft.com/office/drawing/2014/main" id="{F7C41EB7-CDC8-FDFB-88F4-67D96E0FE517}"/>
              </a:ext>
            </a:extLst>
          </p:cNvPr>
          <p:cNvSpPr>
            <a:spLocks noGrp="1"/>
          </p:cNvSpPr>
          <p:nvPr>
            <p:ph type="title"/>
          </p:nvPr>
        </p:nvSpPr>
        <p:spPr>
          <a:xfrm>
            <a:off x="3888610" y="324019"/>
            <a:ext cx="7998590" cy="666581"/>
          </a:xfrm>
        </p:spPr>
        <p:txBody>
          <a:bodyPr/>
          <a:lstStyle/>
          <a:p>
            <a:r>
              <a:rPr lang="en-US" dirty="0"/>
              <a:t>Functional Solution + AI-Human Chemistry</a:t>
            </a:r>
          </a:p>
        </p:txBody>
      </p:sp>
      <p:pic>
        <p:nvPicPr>
          <p:cNvPr id="114" name="Picture 113">
            <a:extLst>
              <a:ext uri="{FF2B5EF4-FFF2-40B4-BE49-F238E27FC236}">
                <a16:creationId xmlns:a16="http://schemas.microsoft.com/office/drawing/2014/main" id="{EF868EF8-81F5-2DB8-ABD0-7D73950DA1DF}"/>
              </a:ext>
            </a:extLst>
          </p:cNvPr>
          <p:cNvPicPr>
            <a:picLocks noChangeAspect="1"/>
          </p:cNvPicPr>
          <p:nvPr/>
        </p:nvPicPr>
        <p:blipFill>
          <a:blip r:embed="rId2"/>
          <a:stretch>
            <a:fillRect/>
          </a:stretch>
        </p:blipFill>
        <p:spPr>
          <a:xfrm>
            <a:off x="1135738" y="1215995"/>
            <a:ext cx="9920523" cy="4125804"/>
          </a:xfrm>
          <a:prstGeom prst="rect">
            <a:avLst/>
          </a:prstGeom>
        </p:spPr>
      </p:pic>
    </p:spTree>
    <p:extLst>
      <p:ext uri="{BB962C8B-B14F-4D97-AF65-F5344CB8AC3E}">
        <p14:creationId xmlns:p14="http://schemas.microsoft.com/office/powerpoint/2010/main" val="2946189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A7D2478-0CE1-75B7-CBC4-12408C2B4FB8}"/>
              </a:ext>
            </a:extLst>
          </p:cNvPr>
          <p:cNvSpPr>
            <a:spLocks noGrp="1"/>
          </p:cNvSpPr>
          <p:nvPr>
            <p:ph type="sldNum" sz="quarter" idx="12"/>
          </p:nvPr>
        </p:nvSpPr>
        <p:spPr>
          <a:xfrm>
            <a:off x="11720758" y="6427316"/>
            <a:ext cx="232665" cy="123111"/>
          </a:xfrm>
        </p:spPr>
        <p:txBody>
          <a:bodyPr/>
          <a:lstStyle/>
          <a:p>
            <a:pPr algn="r"/>
            <a:fld id="{5D9A5160-6218-4E5A-B9E6-B93E3DAE377C}" type="slidenum">
              <a:rPr lang="en-US" smtClean="0"/>
              <a:pPr algn="r"/>
              <a:t>3</a:t>
            </a:fld>
            <a:endParaRPr lang="en-US"/>
          </a:p>
        </p:txBody>
      </p:sp>
      <p:sp>
        <p:nvSpPr>
          <p:cNvPr id="5" name="Title 4">
            <a:extLst>
              <a:ext uri="{FF2B5EF4-FFF2-40B4-BE49-F238E27FC236}">
                <a16:creationId xmlns:a16="http://schemas.microsoft.com/office/drawing/2014/main" id="{DFA8D951-D978-7E73-98AC-60005C9C2E14}"/>
              </a:ext>
            </a:extLst>
          </p:cNvPr>
          <p:cNvSpPr>
            <a:spLocks noGrp="1"/>
          </p:cNvSpPr>
          <p:nvPr>
            <p:ph type="title"/>
          </p:nvPr>
        </p:nvSpPr>
        <p:spPr/>
        <p:txBody>
          <a:bodyPr/>
          <a:lstStyle/>
          <a:p>
            <a:r>
              <a:rPr lang="en-US" dirty="0"/>
              <a:t>Technical Solution</a:t>
            </a:r>
          </a:p>
        </p:txBody>
      </p:sp>
      <p:sp>
        <p:nvSpPr>
          <p:cNvPr id="18" name="TextBox 17">
            <a:extLst>
              <a:ext uri="{FF2B5EF4-FFF2-40B4-BE49-F238E27FC236}">
                <a16:creationId xmlns:a16="http://schemas.microsoft.com/office/drawing/2014/main" id="{09D395F4-7C2A-1E15-3009-B1E322836C26}"/>
              </a:ext>
            </a:extLst>
          </p:cNvPr>
          <p:cNvSpPr txBox="1"/>
          <p:nvPr/>
        </p:nvSpPr>
        <p:spPr>
          <a:xfrm>
            <a:off x="9349124" y="2049853"/>
            <a:ext cx="1007305" cy="263791"/>
          </a:xfrm>
          <a:prstGeom prst="rect">
            <a:avLst/>
          </a:prstGeom>
          <a:noFill/>
        </p:spPr>
        <p:txBody>
          <a:bodyPr vert="horz" wrap="none" lIns="90000" tIns="46800" rIns="90000" bIns="46800" rtlCol="0" anchor="ctr">
            <a:spAutoFit/>
          </a:bodyPr>
          <a:lstStyle/>
          <a:p>
            <a:pPr algn="l">
              <a:spcBef>
                <a:spcPct val="0"/>
              </a:spcBef>
            </a:pPr>
            <a:r>
              <a:rPr lang="en-US" sz="1100">
                <a:solidFill>
                  <a:schemeClr val="bg1"/>
                </a:solidFill>
              </a:rPr>
              <a:t>technologies</a:t>
            </a:r>
          </a:p>
        </p:txBody>
      </p:sp>
      <p:pic>
        <p:nvPicPr>
          <p:cNvPr id="7" name="Picture 6">
            <a:extLst>
              <a:ext uri="{FF2B5EF4-FFF2-40B4-BE49-F238E27FC236}">
                <a16:creationId xmlns:a16="http://schemas.microsoft.com/office/drawing/2014/main" id="{BDB31F21-B761-6878-A550-2812720754B3}"/>
              </a:ext>
            </a:extLst>
          </p:cNvPr>
          <p:cNvPicPr>
            <a:picLocks noChangeAspect="1"/>
          </p:cNvPicPr>
          <p:nvPr/>
        </p:nvPicPr>
        <p:blipFill>
          <a:blip r:embed="rId2"/>
          <a:stretch>
            <a:fillRect/>
          </a:stretch>
        </p:blipFill>
        <p:spPr>
          <a:xfrm>
            <a:off x="685800" y="1260162"/>
            <a:ext cx="10956521" cy="5273819"/>
          </a:xfrm>
          <a:prstGeom prst="rect">
            <a:avLst/>
          </a:prstGeom>
        </p:spPr>
      </p:pic>
    </p:spTree>
    <p:extLst>
      <p:ext uri="{BB962C8B-B14F-4D97-AF65-F5344CB8AC3E}">
        <p14:creationId xmlns:p14="http://schemas.microsoft.com/office/powerpoint/2010/main" val="3657648834"/>
      </p:ext>
    </p:extLst>
  </p:cSld>
  <p:clrMapOvr>
    <a:masterClrMapping/>
  </p:clrMapOvr>
</p:sld>
</file>

<file path=ppt/theme/theme1.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72C44C9799C9545A5261C0AF70B4333" ma:contentTypeVersion="12" ma:contentTypeDescription="Create a new document." ma:contentTypeScope="" ma:versionID="5e4cadbf8931f3a42467c8a0955d4fc4">
  <xsd:schema xmlns:xsd="http://www.w3.org/2001/XMLSchema" xmlns:xs="http://www.w3.org/2001/XMLSchema" xmlns:p="http://schemas.microsoft.com/office/2006/metadata/properties" xmlns:ns2="71ec4482-8a5f-419e-a3fb-f1ff39837bb1" xmlns:ns3="289d593b-f9da-44ad-aeed-35e8c5022e75" targetNamespace="http://schemas.microsoft.com/office/2006/metadata/properties" ma:root="true" ma:fieldsID="914513dae8da38dff2ffd10bf6795a4a" ns2:_="" ns3:_="">
    <xsd:import namespace="71ec4482-8a5f-419e-a3fb-f1ff39837bb1"/>
    <xsd:import namespace="289d593b-f9da-44ad-aeed-35e8c5022e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ec4482-8a5f-419e-a3fb-f1ff39837b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9d593b-f9da-44ad-aeed-35e8c5022e75"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21e7f45-79c5-438a-9c31-31bb88d8ed8a}" ma:internalName="TaxCatchAll" ma:showField="CatchAllData" ma:web="289d593b-f9da-44ad-aeed-35e8c5022e7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1ec4482-8a5f-419e-a3fb-f1ff39837bb1">
      <Terms xmlns="http://schemas.microsoft.com/office/infopath/2007/PartnerControls"/>
    </lcf76f155ced4ddcb4097134ff3c332f>
    <TaxCatchAll xmlns="289d593b-f9da-44ad-aeed-35e8c5022e75" xsi:nil="true"/>
  </documentManagement>
</p:properties>
</file>

<file path=customXml/itemProps1.xml><?xml version="1.0" encoding="utf-8"?>
<ds:datastoreItem xmlns:ds="http://schemas.openxmlformats.org/officeDocument/2006/customXml" ds:itemID="{ED1F2C7C-39F3-40CE-904E-E84BCC0B03BD}">
  <ds:schemaRefs>
    <ds:schemaRef ds:uri="289d593b-f9da-44ad-aeed-35e8c5022e75"/>
    <ds:schemaRef ds:uri="71ec4482-8a5f-419e-a3fb-f1ff39837bb1"/>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47CF04F0-456A-483D-A7D2-D6142AA5B354}">
  <ds:schemaRefs>
    <ds:schemaRef ds:uri="http://schemas.microsoft.com/sharepoint/v3/contenttype/forms"/>
  </ds:schemaRefs>
</ds:datastoreItem>
</file>

<file path=customXml/itemProps3.xml><?xml version="1.0" encoding="utf-8"?>
<ds:datastoreItem xmlns:ds="http://schemas.openxmlformats.org/officeDocument/2006/customXml" ds:itemID="{B0A0046D-0765-4685-8521-7D1E34B9A377}">
  <ds:schemaRefs>
    <ds:schemaRef ds:uri="289d593b-f9da-44ad-aeed-35e8c5022e75"/>
    <ds:schemaRef ds:uri="71ec4482-8a5f-419e-a3fb-f1ff39837bb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Capgemini_Bright_2025</Template>
  <TotalTime>0</TotalTime>
  <Words>343</Words>
  <Application>Microsoft Office PowerPoint</Application>
  <PresentationFormat>Widescreen</PresentationFormat>
  <Paragraphs>65</Paragraphs>
  <Slides>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Aptos</vt:lpstr>
      <vt:lpstr>Arial</vt:lpstr>
      <vt:lpstr>System Font Regular</vt:lpstr>
      <vt:lpstr>Ubuntu</vt:lpstr>
      <vt:lpstr>Ubuntu Light</vt:lpstr>
      <vt:lpstr>Ubuntu Medium</vt:lpstr>
      <vt:lpstr>Capgemini_Bright_2025</vt:lpstr>
      <vt:lpstr>PowerPoint Presentation</vt:lpstr>
      <vt:lpstr>Functional Solution + AI-Human Chemistry</vt:lpstr>
      <vt:lpstr>Technical Solution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Bartolome Ruiz, Raul</dc:creator>
  <cp:keywords/>
  <dc:description/>
  <cp:lastModifiedBy>Kumar, Kotamarthy Veerabhadra Sravan</cp:lastModifiedBy>
  <cp:revision>3</cp:revision>
  <dcterms:created xsi:type="dcterms:W3CDTF">2026-02-09T11:16:54Z</dcterms:created>
  <dcterms:modified xsi:type="dcterms:W3CDTF">2026-04-06T16:43:39Z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0x010100D72C44C9799C9545A5261C0AF70B4333</vt:lpwstr>
  </property>
  <property fmtid="{D5CDD505-2E9C-101B-9397-08002B2CF9AE}" pid="4" name="MSIP_Label_e760c494-6550-44b4-8258-77c175d778b7_Enabled">
    <vt:lpwstr>true</vt:lpwstr>
  </property>
  <property fmtid="{D5CDD505-2E9C-101B-9397-08002B2CF9AE}" pid="5" name="MSIP_Label_e760c494-6550-44b4-8258-77c175d778b7_SetDate">
    <vt:lpwstr>2026-02-09T12:25:45Z</vt:lpwstr>
  </property>
  <property fmtid="{D5CDD505-2E9C-101B-9397-08002B2CF9AE}" pid="6" name="MSIP_Label_e760c494-6550-44b4-8258-77c175d778b7_Method">
    <vt:lpwstr>Standard</vt:lpwstr>
  </property>
  <property fmtid="{D5CDD505-2E9C-101B-9397-08002B2CF9AE}" pid="7" name="MSIP_Label_e760c494-6550-44b4-8258-77c175d778b7_Name">
    <vt:lpwstr>Capgemini-SEC0-Public</vt:lpwstr>
  </property>
  <property fmtid="{D5CDD505-2E9C-101B-9397-08002B2CF9AE}" pid="8" name="MSIP_Label_e760c494-6550-44b4-8258-77c175d778b7_SiteId">
    <vt:lpwstr>76a2ae5a-9f00-4f6b-95ed-5d33d77c4d61</vt:lpwstr>
  </property>
  <property fmtid="{D5CDD505-2E9C-101B-9397-08002B2CF9AE}" pid="9" name="MSIP_Label_e760c494-6550-44b4-8258-77c175d778b7_ActionId">
    <vt:lpwstr>23bd5236-fbda-4184-9ddc-04c9b8b6f575</vt:lpwstr>
  </property>
  <property fmtid="{D5CDD505-2E9C-101B-9397-08002B2CF9AE}" pid="10" name="MSIP_Label_e760c494-6550-44b4-8258-77c175d778b7_ContentBits">
    <vt:lpwstr>0</vt:lpwstr>
  </property>
  <property fmtid="{D5CDD505-2E9C-101B-9397-08002B2CF9AE}" pid="11" name="xd_ProgID">
    <vt:lpwstr/>
  </property>
  <property fmtid="{D5CDD505-2E9C-101B-9397-08002B2CF9AE}" pid="12" name="ComplianceAssetId">
    <vt:lpwstr/>
  </property>
  <property fmtid="{D5CDD505-2E9C-101B-9397-08002B2CF9AE}" pid="13" name="TemplateUrl">
    <vt:lpwstr/>
  </property>
  <property fmtid="{D5CDD505-2E9C-101B-9397-08002B2CF9AE}" pid="14" name="_ExtendedDescription">
    <vt:lpwstr/>
  </property>
  <property fmtid="{D5CDD505-2E9C-101B-9397-08002B2CF9AE}" pid="15" name="TriggerFlowInfo">
    <vt:lpwstr/>
  </property>
  <property fmtid="{D5CDD505-2E9C-101B-9397-08002B2CF9AE}" pid="16" name="xd_Signature">
    <vt:bool>false</vt:bool>
  </property>
  <property fmtid="{D5CDD505-2E9C-101B-9397-08002B2CF9AE}" pid="17" name="docLang">
    <vt:lpwstr>en</vt:lpwstr>
  </property>
</Properties>
</file>